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2"/>
  </p:notesMasterIdLst>
  <p:sldIdLst>
    <p:sldId id="281" r:id="rId5"/>
    <p:sldId id="282" r:id="rId6"/>
    <p:sldId id="358" r:id="rId7"/>
    <p:sldId id="302" r:id="rId8"/>
    <p:sldId id="325" r:id="rId9"/>
    <p:sldId id="310" r:id="rId10"/>
    <p:sldId id="303" r:id="rId11"/>
    <p:sldId id="306" r:id="rId12"/>
    <p:sldId id="341" r:id="rId13"/>
    <p:sldId id="314" r:id="rId14"/>
    <p:sldId id="321" r:id="rId15"/>
    <p:sldId id="362" r:id="rId16"/>
    <p:sldId id="359" r:id="rId17"/>
    <p:sldId id="365" r:id="rId18"/>
    <p:sldId id="340" r:id="rId19"/>
    <p:sldId id="366" r:id="rId20"/>
    <p:sldId id="301" r:id="rId21"/>
  </p:sldIdLst>
  <p:sldSz cx="18288000" cy="10287000"/>
  <p:notesSz cx="6858000" cy="9144000"/>
  <p:embeddedFontLst>
    <p:embeddedFont>
      <p:font typeface="Abadi Extra Light" panose="020B0604020202020204" charset="0"/>
      <p:regular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CD9"/>
    <a:srgbClr val="54CF17"/>
    <a:srgbClr val="0B3040"/>
    <a:srgbClr val="003366"/>
    <a:srgbClr val="1F497D"/>
    <a:srgbClr val="F2F2F2"/>
    <a:srgbClr val="212429"/>
    <a:srgbClr val="767676"/>
    <a:srgbClr val="D9D9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0" autoAdjust="0"/>
    <p:restoredTop sz="93884" autoAdjust="0"/>
  </p:normalViewPr>
  <p:slideViewPr>
    <p:cSldViewPr snapToGrid="0">
      <p:cViewPr varScale="1">
        <p:scale>
          <a:sx n="60" d="100"/>
          <a:sy n="60" d="100"/>
        </p:scale>
        <p:origin x="504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590094-C7C1-4EE4-AF77-BFB27B4278BD}" type="datetimeFigureOut">
              <a:rPr lang="es-PE" smtClean="0"/>
              <a:t>28/05/2026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AA2E2-E11A-45C9-8B71-5D33A97DF37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79817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AA2E2-E11A-45C9-8B71-5D33A97DF377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645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AA2E2-E11A-45C9-8B71-5D33A97DF377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9336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AA2E2-E11A-45C9-8B71-5D33A97DF377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35716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65543-8FB3-7AF4-1372-EF1F4EFCF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D92640D-8CCF-E54F-34F7-771F73372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BDB3C8E-3E29-F386-84A3-AB6322883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33316C-4667-9E16-FC49-04D46E8CF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AA2E2-E11A-45C9-8B71-5D33A97DF377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8521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AA2E2-E11A-45C9-8B71-5D33A97DF377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80021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12" Type="http://schemas.openxmlformats.org/officeDocument/2006/relationships/image" Target="../media/image16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5" Type="http://schemas.microsoft.com/office/2007/relationships/hdphoto" Target="../media/hdphoto4.wdp"/><Relationship Id="rId10" Type="http://schemas.microsoft.com/office/2007/relationships/hdphoto" Target="../media/hdphoto2.wdp"/><Relationship Id="rId4" Type="http://schemas.microsoft.com/office/2007/relationships/hdphoto" Target="../media/hdphoto3.wdp"/><Relationship Id="rId9" Type="http://schemas.openxmlformats.org/officeDocument/2006/relationships/image" Target="../media/image9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hdphoto" Target="../media/hdphoto5.wdp"/><Relationship Id="rId18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12" Type="http://schemas.openxmlformats.org/officeDocument/2006/relationships/image" Target="../media/image20.png"/><Relationship Id="rId17" Type="http://schemas.openxmlformats.org/officeDocument/2006/relationships/image" Target="../media/image16.emf"/><Relationship Id="rId2" Type="http://schemas.openxmlformats.org/officeDocument/2006/relationships/notesSlide" Target="../notesSlides/notesSlide1.xml"/><Relationship Id="rId16" Type="http://schemas.microsoft.com/office/2007/relationships/hdphoto" Target="../media/hdphoto3.wdp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5" Type="http://schemas.openxmlformats.org/officeDocument/2006/relationships/image" Target="../media/image11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microsoft.com/office/2007/relationships/hdphoto" Target="../media/hdphoto2.wdp"/><Relationship Id="rId14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12" Type="http://schemas.openxmlformats.org/officeDocument/2006/relationships/image" Target="../media/image1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7.jpeg"/><Relationship Id="rId5" Type="http://schemas.openxmlformats.org/officeDocument/2006/relationships/image" Target="../media/image24.png"/><Relationship Id="rId10" Type="http://schemas.microsoft.com/office/2007/relationships/hdphoto" Target="../media/hdphoto2.wdp"/><Relationship Id="rId4" Type="http://schemas.openxmlformats.org/officeDocument/2006/relationships/image" Target="../media/image23.png"/><Relationship Id="rId9" Type="http://schemas.openxmlformats.org/officeDocument/2006/relationships/image" Target="../media/image9.png"/><Relationship Id="rId1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6.emf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27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microsoft.com/office/2007/relationships/hdphoto" Target="../media/hdphoto7.wdp"/><Relationship Id="rId1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12" Type="http://schemas.openxmlformats.org/officeDocument/2006/relationships/image" Target="../media/image30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6" Type="http://schemas.microsoft.com/office/2007/relationships/hdphoto" Target="../media/hdphoto2.wdp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29.svg"/><Relationship Id="rId5" Type="http://schemas.openxmlformats.org/officeDocument/2006/relationships/image" Target="../media/image8.png"/><Relationship Id="rId15" Type="http://schemas.openxmlformats.org/officeDocument/2006/relationships/image" Target="../media/image9.png"/><Relationship Id="rId10" Type="http://schemas.openxmlformats.org/officeDocument/2006/relationships/image" Target="../media/image19.png"/><Relationship Id="rId19" Type="http://schemas.openxmlformats.org/officeDocument/2006/relationships/image" Target="../media/image13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Relationship Id="rId14" Type="http://schemas.openxmlformats.org/officeDocument/2006/relationships/image" Target="../media/image16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12" Type="http://schemas.microsoft.com/office/2007/relationships/hdphoto" Target="../media/hdphoto7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30.png"/><Relationship Id="rId5" Type="http://schemas.microsoft.com/office/2007/relationships/hdphoto" Target="../media/hdphoto1.wdp"/><Relationship Id="rId10" Type="http://schemas.microsoft.com/office/2007/relationships/hdphoto" Target="../media/hdphoto2.wdp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jpe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microsoft.com/office/2007/relationships/hdphoto" Target="../media/hdphoto8.wdp"/><Relationship Id="rId5" Type="http://schemas.openxmlformats.org/officeDocument/2006/relationships/image" Target="../media/image35.png"/><Relationship Id="rId15" Type="http://schemas.openxmlformats.org/officeDocument/2006/relationships/image" Target="../media/image44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12" Type="http://schemas.openxmlformats.org/officeDocument/2006/relationships/image" Target="../media/image42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50.png"/><Relationship Id="rId18" Type="http://schemas.openxmlformats.org/officeDocument/2006/relationships/image" Target="../media/image54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12" Type="http://schemas.openxmlformats.org/officeDocument/2006/relationships/image" Target="../media/image49.png"/><Relationship Id="rId17" Type="http://schemas.openxmlformats.org/officeDocument/2006/relationships/image" Target="../media/image53.png"/><Relationship Id="rId2" Type="http://schemas.openxmlformats.org/officeDocument/2006/relationships/image" Target="../media/image32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5" Type="http://schemas.openxmlformats.org/officeDocument/2006/relationships/image" Target="../media/image51.png"/><Relationship Id="rId10" Type="http://schemas.openxmlformats.org/officeDocument/2006/relationships/image" Target="../media/image47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12" Type="http://schemas.openxmlformats.org/officeDocument/2006/relationships/image" Target="../media/image6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38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6924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12F5DAF-21B4-4282-BA7F-761DEB7455AB}"/>
              </a:ext>
            </a:extLst>
          </p:cNvPr>
          <p:cNvSpPr txBox="1"/>
          <p:nvPr/>
        </p:nvSpPr>
        <p:spPr>
          <a:xfrm>
            <a:off x="906969" y="2930766"/>
            <a:ext cx="11818431" cy="3157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s-MX" sz="7200" spc="61" dirty="0">
                <a:solidFill>
                  <a:schemeClr val="bg1"/>
                </a:solidFill>
                <a:latin typeface="Poppins"/>
                <a:cs typeface="Poppins"/>
              </a:rPr>
              <a:t>Aplicativo para solicitud de Insectos Benéficos </a:t>
            </a:r>
            <a:endParaRPr lang="es-ES" sz="1200" dirty="0">
              <a:solidFill>
                <a:schemeClr val="bg1"/>
              </a:solidFill>
            </a:endParaRPr>
          </a:p>
          <a:p>
            <a:pPr algn="l">
              <a:lnSpc>
                <a:spcPts val="6249"/>
              </a:lnSpc>
            </a:pPr>
            <a:endParaRPr lang="en-US" sz="9600" spc="61" dirty="0">
              <a:solidFill>
                <a:schemeClr val="bg1"/>
              </a:solidFill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6E4DB37-974C-466A-99C6-072B26C40003}"/>
              </a:ext>
            </a:extLst>
          </p:cNvPr>
          <p:cNvCxnSpPr>
            <a:cxnSpLocks/>
          </p:cNvCxnSpPr>
          <p:nvPr/>
        </p:nvCxnSpPr>
        <p:spPr>
          <a:xfrm>
            <a:off x="1173480" y="5322529"/>
            <a:ext cx="1010412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84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82CC759-459D-6031-DA83-70E2E3C7A036}"/>
              </a:ext>
            </a:extLst>
          </p:cNvPr>
          <p:cNvSpPr/>
          <p:nvPr/>
        </p:nvSpPr>
        <p:spPr>
          <a:xfrm>
            <a:off x="1128546" y="2339696"/>
            <a:ext cx="3554971" cy="383685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C7DBA9A-2C8E-A158-B1E5-3D99FE0246C9}"/>
              </a:ext>
            </a:extLst>
          </p:cNvPr>
          <p:cNvSpPr txBox="1"/>
          <p:nvPr/>
        </p:nvSpPr>
        <p:spPr>
          <a:xfrm>
            <a:off x="1128546" y="1242401"/>
            <a:ext cx="130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u="sng" dirty="0">
                <a:solidFill>
                  <a:schemeClr val="tx2"/>
                </a:solidFill>
              </a:rPr>
              <a:t>FLUJO DE ENTREGA  DE INSECTOS BENEFICOS</a:t>
            </a:r>
            <a:endParaRPr lang="es-PE" sz="2800" b="1" u="sng" dirty="0">
              <a:solidFill>
                <a:schemeClr val="tx2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8DE19D-B1FD-C965-0A30-06F837F22FC3}"/>
              </a:ext>
            </a:extLst>
          </p:cNvPr>
          <p:cNvSpPr txBox="1"/>
          <p:nvPr/>
        </p:nvSpPr>
        <p:spPr>
          <a:xfrm>
            <a:off x="1907176" y="2847703"/>
            <a:ext cx="27918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PUBLICACIÓN:</a:t>
            </a:r>
          </a:p>
          <a:p>
            <a:endParaRPr lang="es-ES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I+D carga el stock semanal disponibles para sobre y posturas en el aplicativo</a:t>
            </a:r>
            <a:endParaRPr lang="es-PE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6B61FC-CFF8-2F1C-4208-D9CECF662C81}"/>
              </a:ext>
            </a:extLst>
          </p:cNvPr>
          <p:cNvSpPr/>
          <p:nvPr/>
        </p:nvSpPr>
        <p:spPr>
          <a:xfrm>
            <a:off x="5325844" y="2339696"/>
            <a:ext cx="3554971" cy="383685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C6BE719-4282-A4C0-6047-26ECCFEDDDE6}"/>
              </a:ext>
            </a:extLst>
          </p:cNvPr>
          <p:cNvSpPr txBox="1"/>
          <p:nvPr/>
        </p:nvSpPr>
        <p:spPr>
          <a:xfrm>
            <a:off x="5674510" y="2903919"/>
            <a:ext cx="2791823" cy="25545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 REQUERIMIENTO:</a:t>
            </a:r>
          </a:p>
          <a:p>
            <a:endParaRPr lang="es-ES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Jefa de sanidad o encargado de fundo envían su requerimiento indicando fundo, lote y cantidad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68A28DA-8231-E712-BD57-5D2B1CDD612C}"/>
              </a:ext>
            </a:extLst>
          </p:cNvPr>
          <p:cNvSpPr/>
          <p:nvPr/>
        </p:nvSpPr>
        <p:spPr>
          <a:xfrm>
            <a:off x="9239560" y="2293249"/>
            <a:ext cx="3554971" cy="383685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B444736-B595-C257-A250-5358B7EA935F}"/>
              </a:ext>
            </a:extLst>
          </p:cNvPr>
          <p:cNvSpPr txBox="1"/>
          <p:nvPr/>
        </p:nvSpPr>
        <p:spPr>
          <a:xfrm>
            <a:off x="9621133" y="2886934"/>
            <a:ext cx="2791823" cy="224676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 DESPACHO:</a:t>
            </a:r>
          </a:p>
          <a:p>
            <a:endParaRPr lang="es-ES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 recibir la solicitud. El laboratorio de I+D , procede a despachar- logística de entrega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3C8358F-2196-31BF-D2AC-03F07AC66C55}"/>
              </a:ext>
            </a:extLst>
          </p:cNvPr>
          <p:cNvSpPr/>
          <p:nvPr/>
        </p:nvSpPr>
        <p:spPr>
          <a:xfrm>
            <a:off x="13200080" y="2280548"/>
            <a:ext cx="3554971" cy="3836857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5201813-2E8F-BD96-70DC-4D039C66FB76}"/>
              </a:ext>
            </a:extLst>
          </p:cNvPr>
          <p:cNvSpPr txBox="1"/>
          <p:nvPr/>
        </p:nvSpPr>
        <p:spPr>
          <a:xfrm>
            <a:off x="13751598" y="2933959"/>
            <a:ext cx="27918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 Validación</a:t>
            </a:r>
          </a:p>
          <a:p>
            <a:endParaRPr lang="es-ES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Conjuntamente I+D y sanidad  firman la conformidad.</a:t>
            </a:r>
          </a:p>
          <a:p>
            <a:r>
              <a:rPr lang="es-E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“acta de entrega</a:t>
            </a:r>
            <a:r>
              <a:rPr lang="es-E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”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49565B9-D0F5-054E-43B1-3E51B03E57FE}"/>
              </a:ext>
            </a:extLst>
          </p:cNvPr>
          <p:cNvSpPr/>
          <p:nvPr/>
        </p:nvSpPr>
        <p:spPr>
          <a:xfrm>
            <a:off x="1113064" y="2339696"/>
            <a:ext cx="3554971" cy="383685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ADE9BC8-DCC5-FB36-DD0A-448B07CE6891}"/>
              </a:ext>
            </a:extLst>
          </p:cNvPr>
          <p:cNvSpPr txBox="1"/>
          <p:nvPr/>
        </p:nvSpPr>
        <p:spPr>
          <a:xfrm>
            <a:off x="1532949" y="3004457"/>
            <a:ext cx="27918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PUBLICACIÓN:</a:t>
            </a:r>
          </a:p>
          <a:p>
            <a:endParaRPr lang="es-ES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I+D carga el stock semanal disponibles para sobre y posturas en el aplicativo</a:t>
            </a:r>
            <a:endParaRPr lang="es-PE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CB01171-7E83-5A4C-6534-5CD0D276594C}"/>
              </a:ext>
            </a:extLst>
          </p:cNvPr>
          <p:cNvSpPr/>
          <p:nvPr/>
        </p:nvSpPr>
        <p:spPr>
          <a:xfrm>
            <a:off x="7512050" y="7001748"/>
            <a:ext cx="3263900" cy="3050151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DA791BC-D556-0A19-3531-B6B3D165EC73}"/>
              </a:ext>
            </a:extLst>
          </p:cNvPr>
          <p:cNvSpPr txBox="1"/>
          <p:nvPr/>
        </p:nvSpPr>
        <p:spPr>
          <a:xfrm>
            <a:off x="7991377" y="7671627"/>
            <a:ext cx="24963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 REGISTRO:</a:t>
            </a:r>
          </a:p>
          <a:p>
            <a:endParaRPr lang="es-ES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Sanidad registra en el sistema la fecha y hora de liberación</a:t>
            </a:r>
          </a:p>
        </p:txBody>
      </p:sp>
    </p:spTree>
    <p:extLst>
      <p:ext uri="{BB962C8B-B14F-4D97-AF65-F5344CB8AC3E}">
        <p14:creationId xmlns:p14="http://schemas.microsoft.com/office/powerpoint/2010/main" val="4060840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F0A0B-4B07-BFB0-D150-296B33EB3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lecha: pentágono 35">
            <a:extLst>
              <a:ext uri="{FF2B5EF4-FFF2-40B4-BE49-F238E27FC236}">
                <a16:creationId xmlns:a16="http://schemas.microsoft.com/office/drawing/2014/main" id="{37554EC4-4A52-CF71-02E0-8D470DCC7922}"/>
              </a:ext>
            </a:extLst>
          </p:cNvPr>
          <p:cNvSpPr/>
          <p:nvPr/>
        </p:nvSpPr>
        <p:spPr>
          <a:xfrm>
            <a:off x="860442" y="239405"/>
            <a:ext cx="11533890" cy="841311"/>
          </a:xfrm>
          <a:prstGeom prst="homePlate">
            <a:avLst/>
          </a:prstGeom>
          <a:solidFill>
            <a:schemeClr val="accent5">
              <a:lumMod val="50000"/>
            </a:schemeClr>
          </a:solidFill>
          <a:ln w="57150">
            <a:solidFill>
              <a:srgbClr val="D3D3D7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3DB41465-8A99-288A-0EC5-5BE8546A4FC6}"/>
              </a:ext>
            </a:extLst>
          </p:cNvPr>
          <p:cNvGrpSpPr/>
          <p:nvPr/>
        </p:nvGrpSpPr>
        <p:grpSpPr>
          <a:xfrm>
            <a:off x="1157324" y="1366327"/>
            <a:ext cx="7646428" cy="7213793"/>
            <a:chOff x="1928312" y="1390569"/>
            <a:chExt cx="6690452" cy="7109639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E5CF8B7B-3218-E478-EE5C-BDAA70B3DF20}"/>
                </a:ext>
              </a:extLst>
            </p:cNvPr>
            <p:cNvGrpSpPr/>
            <p:nvPr/>
          </p:nvGrpSpPr>
          <p:grpSpPr>
            <a:xfrm>
              <a:off x="1928312" y="1390569"/>
              <a:ext cx="6690452" cy="7109639"/>
              <a:chOff x="4674225" y="1218869"/>
              <a:chExt cx="6690452" cy="7109639"/>
            </a:xfrm>
          </p:grpSpPr>
          <p:grpSp>
            <p:nvGrpSpPr>
              <p:cNvPr id="3" name="Grupo 2">
                <a:extLst>
                  <a:ext uri="{FF2B5EF4-FFF2-40B4-BE49-F238E27FC236}">
                    <a16:creationId xmlns:a16="http://schemas.microsoft.com/office/drawing/2014/main" id="{68DACCA3-C9C2-E8D9-F907-B9707EF42109}"/>
                  </a:ext>
                </a:extLst>
              </p:cNvPr>
              <p:cNvGrpSpPr/>
              <p:nvPr/>
            </p:nvGrpSpPr>
            <p:grpSpPr>
              <a:xfrm>
                <a:off x="4674225" y="1218869"/>
                <a:ext cx="6690452" cy="7109639"/>
                <a:chOff x="4562534" y="1378343"/>
                <a:chExt cx="6630783" cy="7308276"/>
              </a:xfrm>
            </p:grpSpPr>
            <p:grpSp>
              <p:nvGrpSpPr>
                <p:cNvPr id="4" name="Grupo 3">
                  <a:extLst>
                    <a:ext uri="{FF2B5EF4-FFF2-40B4-BE49-F238E27FC236}">
                      <a16:creationId xmlns:a16="http://schemas.microsoft.com/office/drawing/2014/main" id="{F2851C1E-2C84-D4AD-4910-2B25923B6030}"/>
                    </a:ext>
                  </a:extLst>
                </p:cNvPr>
                <p:cNvGrpSpPr/>
                <p:nvPr/>
              </p:nvGrpSpPr>
              <p:grpSpPr>
                <a:xfrm>
                  <a:off x="7471230" y="1378343"/>
                  <a:ext cx="3722087" cy="7308276"/>
                  <a:chOff x="7458531" y="1378343"/>
                  <a:chExt cx="3722088" cy="7308272"/>
                </a:xfrm>
              </p:grpSpPr>
              <p:pic>
                <p:nvPicPr>
                  <p:cNvPr id="12" name="Imagen 11">
                    <a:extLst>
                      <a:ext uri="{FF2B5EF4-FFF2-40B4-BE49-F238E27FC236}">
                        <a16:creationId xmlns:a16="http://schemas.microsoft.com/office/drawing/2014/main" id="{E287D320-C8D7-3803-166D-43D6C12192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7458531" y="1378343"/>
                    <a:ext cx="3722088" cy="7308272"/>
                  </a:xfrm>
                  <a:prstGeom prst="rect">
                    <a:avLst/>
                  </a:prstGeom>
                  <a:ln w="38100" cap="sq">
                    <a:solidFill>
                      <a:srgbClr val="000000"/>
                    </a:solidFill>
                    <a:prstDash val="solid"/>
                    <a:miter lim="800000"/>
                  </a:ln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</p:spPr>
              </p:pic>
              <p:sp>
                <p:nvSpPr>
                  <p:cNvPr id="13" name="Rectángulo 12">
                    <a:extLst>
                      <a:ext uri="{FF2B5EF4-FFF2-40B4-BE49-F238E27FC236}">
                        <a16:creationId xmlns:a16="http://schemas.microsoft.com/office/drawing/2014/main" id="{1023F439-0B53-F1A2-EA1E-88C293C16405}"/>
                      </a:ext>
                    </a:extLst>
                  </p:cNvPr>
                  <p:cNvSpPr/>
                  <p:nvPr/>
                </p:nvSpPr>
                <p:spPr>
                  <a:xfrm>
                    <a:off x="7471593" y="1600385"/>
                    <a:ext cx="3709025" cy="22009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E"/>
                  </a:p>
                </p:txBody>
              </p:sp>
            </p:grpSp>
            <p:sp>
              <p:nvSpPr>
                <p:cNvPr id="6" name="Rectángulo: esquinas redondeadas 5">
                  <a:extLst>
                    <a:ext uri="{FF2B5EF4-FFF2-40B4-BE49-F238E27FC236}">
                      <a16:creationId xmlns:a16="http://schemas.microsoft.com/office/drawing/2014/main" id="{9D347C28-565C-B184-CBC7-65D861BCC075}"/>
                    </a:ext>
                  </a:extLst>
                </p:cNvPr>
                <p:cNvSpPr/>
                <p:nvPr/>
              </p:nvSpPr>
              <p:spPr>
                <a:xfrm>
                  <a:off x="7898691" y="5143501"/>
                  <a:ext cx="2799787" cy="721723"/>
                </a:xfrm>
                <a:prstGeom prst="round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cxnSp>
              <p:nvCxnSpPr>
                <p:cNvPr id="8" name="Conector recto de flecha 7">
                  <a:extLst>
                    <a:ext uri="{FF2B5EF4-FFF2-40B4-BE49-F238E27FC236}">
                      <a16:creationId xmlns:a16="http://schemas.microsoft.com/office/drawing/2014/main" id="{E59E78D0-BCED-873A-AE3A-6104142FD42D}"/>
                    </a:ext>
                  </a:extLst>
                </p:cNvPr>
                <p:cNvCxnSpPr>
                  <a:cxnSpLocks/>
                  <a:stCxn id="10" idx="3"/>
                  <a:endCxn id="6" idx="1"/>
                </p:cNvCxnSpPr>
                <p:nvPr/>
              </p:nvCxnSpPr>
              <p:spPr>
                <a:xfrm>
                  <a:off x="6652811" y="5458529"/>
                  <a:ext cx="1245880" cy="458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Conector recto de flecha 8">
                  <a:extLst>
                    <a:ext uri="{FF2B5EF4-FFF2-40B4-BE49-F238E27FC236}">
                      <a16:creationId xmlns:a16="http://schemas.microsoft.com/office/drawing/2014/main" id="{26DDFDB6-3265-C31E-16B9-03B34C0CB3D9}"/>
                    </a:ext>
                  </a:extLst>
                </p:cNvPr>
                <p:cNvCxnSpPr>
                  <a:cxnSpLocks/>
                  <a:stCxn id="11" idx="3"/>
                  <a:endCxn id="7" idx="1"/>
                </p:cNvCxnSpPr>
                <p:nvPr/>
              </p:nvCxnSpPr>
              <p:spPr>
                <a:xfrm flipV="1">
                  <a:off x="6582547" y="6485709"/>
                  <a:ext cx="1350196" cy="241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7B2E023C-728A-CF3D-D09F-A56EBE559F3E}"/>
                    </a:ext>
                  </a:extLst>
                </p:cNvPr>
                <p:cNvSpPr txBox="1"/>
                <p:nvPr/>
              </p:nvSpPr>
              <p:spPr>
                <a:xfrm>
                  <a:off x="4568514" y="5193492"/>
                  <a:ext cx="2084297" cy="530073"/>
                </a:xfrm>
                <a:prstGeom prst="rect">
                  <a:avLst/>
                </a:prstGeom>
                <a:ln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MX" sz="1400" dirty="0">
                      <a:latin typeface="Poppins" panose="00000500000000000000" pitchFamily="2" charset="0"/>
                      <a:cs typeface="Poppins" panose="00000500000000000000" pitchFamily="2" charset="0"/>
                    </a:rPr>
                    <a:t>Ingresar nombre del usuario.</a:t>
                  </a:r>
                  <a:endParaRPr lang="es-PE" sz="1400" dirty="0"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D0B61637-73E6-FF51-3368-E301C34A3A56}"/>
                    </a:ext>
                  </a:extLst>
                </p:cNvPr>
                <p:cNvSpPr txBox="1"/>
                <p:nvPr/>
              </p:nvSpPr>
              <p:spPr>
                <a:xfrm>
                  <a:off x="4562534" y="6301044"/>
                  <a:ext cx="2020013" cy="374169"/>
                </a:xfrm>
                <a:prstGeom prst="rect">
                  <a:avLst/>
                </a:prstGeom>
                <a:ln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MX"/>
                    <a:t>Ingresar contraseña.</a:t>
                  </a:r>
                  <a:endParaRPr lang="es-PE"/>
                </a:p>
              </p:txBody>
            </p:sp>
            <p:sp>
              <p:nvSpPr>
                <p:cNvPr id="7" name="Rectángulo: esquinas redondeadas 6">
                  <a:extLst>
                    <a:ext uri="{FF2B5EF4-FFF2-40B4-BE49-F238E27FC236}">
                      <a16:creationId xmlns:a16="http://schemas.microsoft.com/office/drawing/2014/main" id="{42AD35BF-BDA1-847C-FB0A-4E27BC190CBB}"/>
                    </a:ext>
                  </a:extLst>
                </p:cNvPr>
                <p:cNvSpPr/>
                <p:nvPr/>
              </p:nvSpPr>
              <p:spPr>
                <a:xfrm>
                  <a:off x="7932743" y="6124848"/>
                  <a:ext cx="2799787" cy="721723"/>
                </a:xfrm>
                <a:prstGeom prst="round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E768B595-260E-074C-3E13-9DB993DC8079}"/>
                  </a:ext>
                </a:extLst>
              </p:cNvPr>
              <p:cNvSpPr/>
              <p:nvPr/>
            </p:nvSpPr>
            <p:spPr>
              <a:xfrm>
                <a:off x="8109341" y="3737154"/>
                <a:ext cx="2670089" cy="10698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2000" b="1">
                    <a:solidFill>
                      <a:schemeClr val="tx1"/>
                    </a:solidFill>
                    <a:latin typeface="Abadi Extra Light" panose="020B0604020202020204" pitchFamily="34" charset="0"/>
                  </a:rPr>
                  <a:t>AGROI+D</a:t>
                </a:r>
                <a:endParaRPr lang="es-PE" sz="2000" b="1">
                  <a:solidFill>
                    <a:schemeClr val="tx1"/>
                  </a:solidFill>
                  <a:latin typeface="Abadi Extra Light" panose="020B0604020202020204" pitchFamily="34" charset="0"/>
                </a:endParaRPr>
              </a:p>
            </p:txBody>
          </p:sp>
        </p:grpSp>
        <p:pic>
          <p:nvPicPr>
            <p:cNvPr id="33" name="Imagen 32" descr="Manzana verde junto a un árbol&#10;&#10;Descripción generada automáticamente con confianza media">
              <a:extLst>
                <a:ext uri="{FF2B5EF4-FFF2-40B4-BE49-F238E27FC236}">
                  <a16:creationId xmlns:a16="http://schemas.microsoft.com/office/drawing/2014/main" id="{8F5EC040-6A32-4A86-ECD5-84E12E8DC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7032" y="1544173"/>
              <a:ext cx="3755583" cy="3097206"/>
            </a:xfrm>
            <a:prstGeom prst="rect">
              <a:avLst/>
            </a:prstGeom>
            <a:effectLst>
              <a:softEdge rad="635000"/>
            </a:effectLst>
          </p:spPr>
        </p:pic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797A946-737E-3D03-C284-4B65998F628C}"/>
              </a:ext>
            </a:extLst>
          </p:cNvPr>
          <p:cNvSpPr txBox="1"/>
          <p:nvPr/>
        </p:nvSpPr>
        <p:spPr>
          <a:xfrm>
            <a:off x="1110956" y="412350"/>
            <a:ext cx="12176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bg1"/>
                </a:solidFill>
              </a:rPr>
              <a:t>VISTA INICIAL DEL ADMINISTRADOR Y DEL USUARIO DE APP I+D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600DD14-63D5-DA30-B03F-6B4CB9A5E65D}"/>
              </a:ext>
            </a:extLst>
          </p:cNvPr>
          <p:cNvGrpSpPr/>
          <p:nvPr/>
        </p:nvGrpSpPr>
        <p:grpSpPr>
          <a:xfrm>
            <a:off x="9147111" y="1402112"/>
            <a:ext cx="6249298" cy="7061154"/>
            <a:chOff x="9147111" y="1402112"/>
            <a:chExt cx="6249298" cy="7061154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1373DCF2-9F28-ABCE-0723-FB88536CD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530991" y="1402112"/>
              <a:ext cx="3865418" cy="7061154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863BCC6A-BA2F-0FCB-5DDF-45BB9AEA45E0}"/>
                </a:ext>
              </a:extLst>
            </p:cNvPr>
            <p:cNvSpPr/>
            <p:nvPr/>
          </p:nvSpPr>
          <p:spPr>
            <a:xfrm>
              <a:off x="11558700" y="1634445"/>
              <a:ext cx="3810000" cy="471451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schemeClr val="bg1"/>
                </a:solidFill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E66B6EA-472F-E2DF-CA76-9647D11E25B7}"/>
                </a:ext>
              </a:extLst>
            </p:cNvPr>
            <p:cNvSpPr/>
            <p:nvPr/>
          </p:nvSpPr>
          <p:spPr>
            <a:xfrm>
              <a:off x="11647722" y="1694033"/>
              <a:ext cx="1434667" cy="352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badi Extra Light" panose="020B0604020202020204" pitchFamily="34" charset="0"/>
                </a:rPr>
                <a:t>I+D</a:t>
              </a:r>
              <a:endParaRPr lang="es-PE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 Extra Light" panose="020B0604020202020204" pitchFamily="34" charset="0"/>
              </a:endParaRPr>
            </a:p>
          </p:txBody>
        </p:sp>
        <p:pic>
          <p:nvPicPr>
            <p:cNvPr id="22" name="Imagen 21" descr="Logotipo, nombre de la empresa">
              <a:extLst>
                <a:ext uri="{FF2B5EF4-FFF2-40B4-BE49-F238E27FC236}">
                  <a16:creationId xmlns:a16="http://schemas.microsoft.com/office/drawing/2014/main" id="{1F3C33A1-0B41-E17D-8AD1-5DAC231EB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58339" y="2217771"/>
              <a:ext cx="2513026" cy="1154630"/>
            </a:xfrm>
            <a:prstGeom prst="rect">
              <a:avLst/>
            </a:prstGeom>
          </p:spPr>
        </p:pic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57F0ADBA-BA7B-7284-C1AC-97ACD1E26BB0}"/>
                </a:ext>
              </a:extLst>
            </p:cNvPr>
            <p:cNvSpPr/>
            <p:nvPr/>
          </p:nvSpPr>
          <p:spPr>
            <a:xfrm>
              <a:off x="11726900" y="3587718"/>
              <a:ext cx="3474972" cy="29268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4BE1A81A-078C-24DE-F505-35D96331D1FF}"/>
                </a:ext>
              </a:extLst>
            </p:cNvPr>
            <p:cNvSpPr/>
            <p:nvPr/>
          </p:nvSpPr>
          <p:spPr>
            <a:xfrm>
              <a:off x="12141201" y="3894935"/>
              <a:ext cx="2839868" cy="475116"/>
            </a:xfrm>
            <a:prstGeom prst="rect">
              <a:avLst/>
            </a:prstGeom>
            <a:solidFill>
              <a:schemeClr val="tx2"/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>
                  <a:solidFill>
                    <a:schemeClr val="bg1"/>
                  </a:solidFill>
                  <a:latin typeface="Abadi Extra Light" panose="020B0204020104020204" pitchFamily="34" charset="0"/>
                </a:rPr>
                <a:t>Insectos Benéficos</a:t>
              </a:r>
              <a:endParaRPr lang="es-PE" b="1" dirty="0">
                <a:solidFill>
                  <a:schemeClr val="bg1"/>
                </a:solidFill>
                <a:latin typeface="Abadi Extra Light" panose="020B0204020104020204" pitchFamily="34" charset="0"/>
              </a:endParaRPr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EC60F362-FB93-0718-6B17-DEC24AAD9CD1}"/>
                </a:ext>
              </a:extLst>
            </p:cNvPr>
            <p:cNvSpPr/>
            <p:nvPr/>
          </p:nvSpPr>
          <p:spPr>
            <a:xfrm>
              <a:off x="12214873" y="5439222"/>
              <a:ext cx="2839868" cy="544601"/>
            </a:xfrm>
            <a:prstGeom prst="rect">
              <a:avLst/>
            </a:prstGeom>
            <a:solidFill>
              <a:schemeClr val="tx2"/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>
                  <a:solidFill>
                    <a:schemeClr val="bg1"/>
                  </a:solidFill>
                  <a:latin typeface="Abadi Extra Light" panose="020B0204020104020204" pitchFamily="34" charset="0"/>
                </a:rPr>
                <a:t>Evaluación de Nematodos</a:t>
              </a:r>
            </a:p>
          </p:txBody>
        </p:sp>
        <p:sp>
          <p:nvSpPr>
            <p:cNvPr id="29" name="Diagrama de flujo: proceso alternativo 28">
              <a:extLst>
                <a:ext uri="{FF2B5EF4-FFF2-40B4-BE49-F238E27FC236}">
                  <a16:creationId xmlns:a16="http://schemas.microsoft.com/office/drawing/2014/main" id="{7AC86A1D-8A11-E03C-1FDE-1864769465FF}"/>
                </a:ext>
              </a:extLst>
            </p:cNvPr>
            <p:cNvSpPr/>
            <p:nvPr/>
          </p:nvSpPr>
          <p:spPr>
            <a:xfrm>
              <a:off x="12125895" y="3894933"/>
              <a:ext cx="2855174" cy="1134216"/>
            </a:xfrm>
            <a:prstGeom prst="flowChartAlternateProcess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5806E357-9714-71D1-7DFD-409555DDFF86}"/>
                </a:ext>
              </a:extLst>
            </p:cNvPr>
            <p:cNvSpPr txBox="1"/>
            <p:nvPr/>
          </p:nvSpPr>
          <p:spPr>
            <a:xfrm>
              <a:off x="9147111" y="4661050"/>
              <a:ext cx="2040531" cy="92333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dirty="0"/>
                <a:t>Ingresamos a </a:t>
              </a:r>
              <a:r>
                <a:rPr lang="es-MX" b="1" dirty="0"/>
                <a:t>“Requerimiento de Insectos benéficos”</a:t>
              </a:r>
              <a:endParaRPr lang="es-PE" b="1" dirty="0"/>
            </a:p>
          </p:txBody>
        </p: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5A4E78C4-5888-BF4E-C245-437E2C33F1C8}"/>
                </a:ext>
              </a:extLst>
            </p:cNvPr>
            <p:cNvCxnSpPr>
              <a:cxnSpLocks/>
              <a:stCxn id="30" idx="3"/>
              <a:endCxn id="29" idx="1"/>
            </p:cNvCxnSpPr>
            <p:nvPr/>
          </p:nvCxnSpPr>
          <p:spPr>
            <a:xfrm flipV="1">
              <a:off x="11187642" y="4462041"/>
              <a:ext cx="938253" cy="6606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17" name="Picture 4" descr="Gráficos escalables iconos de computadora gráficos de red portátiles, icono  de salida, cdr, texto, icono de salida png | PNGWing">
              <a:extLst>
                <a:ext uri="{FF2B5EF4-FFF2-40B4-BE49-F238E27FC236}">
                  <a16:creationId xmlns:a16="http://schemas.microsoft.com/office/drawing/2014/main" id="{D21D83F1-BF40-89D1-D8A3-EB883EF3FD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895" b="96632" l="543" r="97283">
                          <a14:foregroundMark x1="50042" y1="12244" x2="36739" y2="5895"/>
                          <a14:foregroundMark x1="57985" y1="16034" x2="57540" y2="15821"/>
                          <a14:foregroundMark x1="59239" y1="16632" x2="58355" y2="16210"/>
                          <a14:foregroundMark x1="36739" y1="5895" x2="20435" y2="7158"/>
                          <a14:foregroundMark x1="12737" y1="15836" x2="6522" y2="22842"/>
                          <a14:foregroundMark x1="20435" y1="7158" x2="15617" y2="12589"/>
                          <a14:foregroundMark x1="6522" y1="22842" x2="5435" y2="74421"/>
                          <a14:foregroundMark x1="5435" y1="74421" x2="11957" y2="90842"/>
                          <a14:foregroundMark x1="11957" y1="90842" x2="33587" y2="94947"/>
                          <a14:foregroundMark x1="33587" y1="94947" x2="55435" y2="90526"/>
                          <a14:foregroundMark x1="55435" y1="90526" x2="63043" y2="80000"/>
                          <a14:foregroundMark x1="44565" y1="47263" x2="78696" y2="44632"/>
                          <a14:foregroundMark x1="77496" y1="56958" x2="76739" y2="64737"/>
                          <a14:foregroundMark x1="78696" y1="44632" x2="77613" y2="55759"/>
                          <a14:foregroundMark x1="76739" y1="64737" x2="95000" y2="53684"/>
                          <a14:foregroundMark x1="95000" y1="53684" x2="79239" y2="39368"/>
                          <a14:foregroundMark x1="79239" y1="39368" x2="77065" y2="35895"/>
                          <a14:foregroundMark x1="79130" y1="47579" x2="38804" y2="50632"/>
                          <a14:foregroundMark x1="38804" y1="50632" x2="81630" y2="47789"/>
                          <a14:foregroundMark x1="81630" y1="47789" x2="82500" y2="47789"/>
                          <a14:foregroundMark x1="75870" y1="41158" x2="90479" y2="39510"/>
                          <a14:foregroundMark x1="91797" y1="39625" x2="94783" y2="52737"/>
                          <a14:foregroundMark x1="97065" y1="49579" x2="97391" y2="52105"/>
                          <a14:foregroundMark x1="54365" y1="11816" x2="43913" y2="2526"/>
                          <a14:foregroundMark x1="59072" y1="16000" x2="57962" y2="15013"/>
                          <a14:foregroundMark x1="59783" y1="16632" x2="59072" y2="16000"/>
                          <a14:foregroundMark x1="43913" y1="2526" x2="15761" y2="3579"/>
                          <a14:foregroundMark x1="15761" y1="3579" x2="1413" y2="14842"/>
                          <a14:foregroundMark x1="1413" y1="14842" x2="978" y2="72737"/>
                          <a14:foregroundMark x1="978" y1="72737" x2="9783" y2="23579"/>
                          <a14:foregroundMark x1="23895" y1="12054" x2="24348" y2="11684"/>
                          <a14:foregroundMark x1="9783" y1="23579" x2="12657" y2="21232"/>
                          <a14:foregroundMark x1="56397" y1="12187" x2="57935" y2="12211"/>
                          <a14:foregroundMark x1="24348" y1="11684" x2="49938" y2="12086"/>
                          <a14:foregroundMark x1="58952" y1="14352" x2="60435" y2="17474"/>
                          <a14:foregroundMark x1="57935" y1="12211" x2="58861" y2="14161"/>
                          <a14:foregroundMark x1="61630" y1="17789" x2="53043" y2="3579"/>
                          <a14:foregroundMark x1="53043" y1="3579" x2="45543" y2="4947"/>
                          <a14:foregroundMark x1="53587" y1="1895" x2="67283" y2="9368"/>
                          <a14:foregroundMark x1="67283" y1="9368" x2="60978" y2="9474"/>
                          <a14:foregroundMark x1="8261" y1="8421" x2="217" y2="51579"/>
                          <a14:foregroundMark x1="217" y1="51579" x2="1087" y2="72000"/>
                          <a14:foregroundMark x1="1087" y1="72000" x2="9891" y2="34211"/>
                          <a14:foregroundMark x1="3261" y1="77684" x2="9239" y2="96842"/>
                          <a14:foregroundMark x1="9239" y1="96842" x2="35652" y2="98737"/>
                          <a14:foregroundMark x1="35652" y1="98737" x2="55435" y2="94000"/>
                          <a14:foregroundMark x1="55435" y1="94000" x2="67609" y2="84211"/>
                          <a14:foregroundMark x1="67609" y1="84211" x2="51413" y2="92632"/>
                          <a14:foregroundMark x1="13242" y1="84716" x2="652" y2="82105"/>
                          <a14:foregroundMark x1="27115" y1="87593" x2="26755" y2="87518"/>
                          <a14:foregroundMark x1="51413" y1="92632" x2="28349" y2="87849"/>
                          <a14:foregroundMark x1="652" y1="82105" x2="1304" y2="79579"/>
                          <a14:foregroundMark x1="21630" y1="94632" x2="47065" y2="96632"/>
                          <a14:foregroundMark x1="47065" y1="96632" x2="65000" y2="90211"/>
                          <a14:foregroundMark x1="65000" y1="90211" x2="69022" y2="86947"/>
                          <a14:backgroundMark x1="52717" y1="18842" x2="22500" y2="24105"/>
                          <a14:backgroundMark x1="22500" y1="24105" x2="20326" y2="44632"/>
                          <a14:backgroundMark x1="20326" y1="44632" x2="28913" y2="62842"/>
                          <a14:backgroundMark x1="28913" y1="62842" x2="42500" y2="70105"/>
                          <a14:backgroundMark x1="42500" y1="70105" x2="58152" y2="64105"/>
                          <a14:backgroundMark x1="58152" y1="64105" x2="72717" y2="74947"/>
                          <a14:backgroundMark x1="72717" y1="74947" x2="72717" y2="75053"/>
                          <a14:backgroundMark x1="24783" y1="14737" x2="14565" y2="20947"/>
                          <a14:backgroundMark x1="22391" y1="14526" x2="14348" y2="19579"/>
                          <a14:backgroundMark x1="51196" y1="13895" x2="56413" y2="16421"/>
                          <a14:backgroundMark x1="56630" y1="16421" x2="57391" y2="16105"/>
                          <a14:backgroundMark x1="57609" y1="17474" x2="55978" y2="13368"/>
                          <a14:backgroundMark x1="52065" y1="13053" x2="51304" y2="12947"/>
                          <a14:backgroundMark x1="55109" y1="13158" x2="57283" y2="16211"/>
                          <a14:backgroundMark x1="57065" y1="14632" x2="57283" y2="16000"/>
                          <a14:backgroundMark x1="57065" y1="15579" x2="57500" y2="15579"/>
                          <a14:backgroundMark x1="57500" y1="16000" x2="57500" y2="16000"/>
                          <a14:backgroundMark x1="57609" y1="16105" x2="57500" y2="15474"/>
                          <a14:backgroundMark x1="58043" y1="16211" x2="58043" y2="15263"/>
                          <a14:backgroundMark x1="57826" y1="15053" x2="57717" y2="14842"/>
                          <a14:backgroundMark x1="56413" y1="13579" x2="50652" y2="12526"/>
                          <a14:backgroundMark x1="51087" y1="12842" x2="50435" y2="12842"/>
                          <a14:backgroundMark x1="24674" y1="13263" x2="21304" y2="13158"/>
                          <a14:backgroundMark x1="15326" y1="13158" x2="13587" y2="15789"/>
                          <a14:backgroundMark x1="13587" y1="18632" x2="13478" y2="21263"/>
                          <a14:backgroundMark x1="16304" y1="13158" x2="12935" y2="16000"/>
                          <a14:backgroundMark x1="15870" y1="12842" x2="15870" y2="13053"/>
                          <a14:backgroundMark x1="92283" y1="39789" x2="91848" y2="39263"/>
                          <a14:backgroundMark x1="91087" y1="37263" x2="91848" y2="38421"/>
                          <a14:backgroundMark x1="92717" y1="39368" x2="91522" y2="38632"/>
                          <a14:backgroundMark x1="92283" y1="39368" x2="91630" y2="38421"/>
                          <a14:backgroundMark x1="90326" y1="37053" x2="92609" y2="38947"/>
                          <a14:backgroundMark x1="92609" y1="39789" x2="92283" y2="39263"/>
                          <a14:backgroundMark x1="76957" y1="57053" x2="77609" y2="56737"/>
                          <a14:backgroundMark x1="14130" y1="83579" x2="26957" y2="86737"/>
                          <a14:backgroundMark x1="27935" y1="87263" x2="26957" y2="87368"/>
                          <a14:backgroundMark x1="13587" y1="85263" x2="13587" y2="84632"/>
                          <a14:backgroundMark x1="25761" y1="87474" x2="26848" y2="87368"/>
                          <a14:backgroundMark x1="13370" y1="84842" x2="13370" y2="84737"/>
                          <a14:backgroundMark x1="13152" y1="84947" x2="13043" y2="84842"/>
                          <a14:backgroundMark x1="13261" y1="85053" x2="13152" y2="84842"/>
                          <a14:backgroundMark x1="13152" y1="84842" x2="13370" y2="8410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65763" y="1682121"/>
              <a:ext cx="341153" cy="352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909CFEAA-1EB5-7D4D-8378-610B974017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5233" t="14388" r="27148" b="24106"/>
            <a:stretch/>
          </p:blipFill>
          <p:spPr>
            <a:xfrm rot="4480346">
              <a:off x="11805933" y="4574500"/>
              <a:ext cx="407047" cy="556704"/>
            </a:xfrm>
            <a:prstGeom prst="rect">
              <a:avLst/>
            </a:prstGeom>
          </p:spPr>
        </p:pic>
      </p:grpSp>
      <p:sp>
        <p:nvSpPr>
          <p:cNvPr id="26" name="Elipse 25">
            <a:extLst>
              <a:ext uri="{FF2B5EF4-FFF2-40B4-BE49-F238E27FC236}">
                <a16:creationId xmlns:a16="http://schemas.microsoft.com/office/drawing/2014/main" id="{DF2786A9-1457-133B-B6E5-EA66871A0394}"/>
              </a:ext>
            </a:extLst>
          </p:cNvPr>
          <p:cNvSpPr/>
          <p:nvPr/>
        </p:nvSpPr>
        <p:spPr>
          <a:xfrm>
            <a:off x="7620755" y="4235208"/>
            <a:ext cx="457200" cy="59310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  <a:endParaRPr lang="es-PE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0785EECA-C8D9-0ABE-E99D-22161C4827E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3255" t="12412" r="14188" b="21436"/>
          <a:stretch/>
        </p:blipFill>
        <p:spPr>
          <a:xfrm>
            <a:off x="13023370" y="4419557"/>
            <a:ext cx="1060223" cy="552360"/>
          </a:xfrm>
          <a:prstGeom prst="rect">
            <a:avLst/>
          </a:prstGeom>
        </p:spPr>
      </p:pic>
      <p:sp>
        <p:nvSpPr>
          <p:cNvPr id="38" name="Diagrama de flujo: proceso alternativo 37">
            <a:extLst>
              <a:ext uri="{FF2B5EF4-FFF2-40B4-BE49-F238E27FC236}">
                <a16:creationId xmlns:a16="http://schemas.microsoft.com/office/drawing/2014/main" id="{BF29C29F-BADA-B9AD-DA96-D3407FAD07F6}"/>
              </a:ext>
            </a:extLst>
          </p:cNvPr>
          <p:cNvSpPr/>
          <p:nvPr/>
        </p:nvSpPr>
        <p:spPr>
          <a:xfrm>
            <a:off x="12171698" y="5388112"/>
            <a:ext cx="2855174" cy="1134216"/>
          </a:xfrm>
          <a:prstGeom prst="flowChartAlternateProcess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0086619-C4FA-F3AC-ACC6-713DDBD6B87C}"/>
              </a:ext>
            </a:extLst>
          </p:cNvPr>
          <p:cNvSpPr txBox="1"/>
          <p:nvPr/>
        </p:nvSpPr>
        <p:spPr>
          <a:xfrm>
            <a:off x="15739758" y="6589943"/>
            <a:ext cx="204053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A futuro</a:t>
            </a:r>
            <a:endParaRPr lang="es-PE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860B9E-6033-FF1C-25FD-BB384BA4AF9E}"/>
              </a:ext>
            </a:extLst>
          </p:cNvPr>
          <p:cNvSpPr txBox="1"/>
          <p:nvPr/>
        </p:nvSpPr>
        <p:spPr>
          <a:xfrm>
            <a:off x="1157323" y="3813505"/>
            <a:ext cx="2456757" cy="73866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Notificación que indica  el stock semanal y ingreso de requerimiento</a:t>
            </a:r>
            <a:endParaRPr lang="es-PE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65421AB3-A306-4B9B-B403-909D5CB49307}"/>
              </a:ext>
            </a:extLst>
          </p:cNvPr>
          <p:cNvCxnSpPr>
            <a:cxnSpLocks/>
          </p:cNvCxnSpPr>
          <p:nvPr/>
        </p:nvCxnSpPr>
        <p:spPr>
          <a:xfrm>
            <a:off x="3644134" y="4132493"/>
            <a:ext cx="4020426" cy="189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842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8" name="CuadroTexto 3167">
            <a:extLst>
              <a:ext uri="{FF2B5EF4-FFF2-40B4-BE49-F238E27FC236}">
                <a16:creationId xmlns:a16="http://schemas.microsoft.com/office/drawing/2014/main" id="{EB73A227-A206-B6D4-9312-F5C8BFE156B1}"/>
              </a:ext>
            </a:extLst>
          </p:cNvPr>
          <p:cNvSpPr txBox="1"/>
          <p:nvPr/>
        </p:nvSpPr>
        <p:spPr>
          <a:xfrm>
            <a:off x="16268149" y="2609200"/>
            <a:ext cx="1682550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/>
              <a:t>Lisa desplegable</a:t>
            </a:r>
            <a:endParaRPr lang="es-PE" sz="1400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465ABD7A-1D56-97DA-5C75-B01DF51F3D83}"/>
              </a:ext>
            </a:extLst>
          </p:cNvPr>
          <p:cNvGrpSpPr/>
          <p:nvPr/>
        </p:nvGrpSpPr>
        <p:grpSpPr>
          <a:xfrm>
            <a:off x="1465533" y="164144"/>
            <a:ext cx="8912900" cy="1226029"/>
            <a:chOff x="1465533" y="164144"/>
            <a:chExt cx="8912900" cy="1226029"/>
          </a:xfrm>
        </p:grpSpPr>
        <p:sp>
          <p:nvSpPr>
            <p:cNvPr id="2" name="Flecha: pentágono 1">
              <a:extLst>
                <a:ext uri="{FF2B5EF4-FFF2-40B4-BE49-F238E27FC236}">
                  <a16:creationId xmlns:a16="http://schemas.microsoft.com/office/drawing/2014/main" id="{4D7A02B3-D861-CD66-00BE-21F1B56FB6C1}"/>
                </a:ext>
              </a:extLst>
            </p:cNvPr>
            <p:cNvSpPr/>
            <p:nvPr/>
          </p:nvSpPr>
          <p:spPr>
            <a:xfrm>
              <a:off x="1465533" y="164144"/>
              <a:ext cx="8315739" cy="1226029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 w="57150">
              <a:solidFill>
                <a:srgbClr val="D3D3D7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DECA343A-56CE-001D-17C1-2D1431A29ADC}"/>
                </a:ext>
              </a:extLst>
            </p:cNvPr>
            <p:cNvSpPr txBox="1"/>
            <p:nvPr/>
          </p:nvSpPr>
          <p:spPr>
            <a:xfrm>
              <a:off x="1632374" y="304794"/>
              <a:ext cx="874605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3600" b="1" dirty="0">
                  <a:solidFill>
                    <a:schemeClr val="bg1"/>
                  </a:solidFill>
                </a:rPr>
                <a:t>VISTA DEL ADMINISTRADOR I+D</a:t>
              </a:r>
            </a:p>
            <a:p>
              <a:r>
                <a:rPr lang="es-MX" sz="2000" b="1" dirty="0">
                  <a:solidFill>
                    <a:schemeClr val="bg1"/>
                  </a:solidFill>
                </a:rPr>
                <a:t>(Coordinador I+D y Supervisor de insectos Benéficos )</a:t>
              </a: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0974A6B6-20B9-A87C-B4E5-1B16372D74BE}"/>
              </a:ext>
            </a:extLst>
          </p:cNvPr>
          <p:cNvGrpSpPr/>
          <p:nvPr/>
        </p:nvGrpSpPr>
        <p:grpSpPr>
          <a:xfrm>
            <a:off x="7606162" y="648657"/>
            <a:ext cx="4770460" cy="8035038"/>
            <a:chOff x="6715432" y="1100062"/>
            <a:chExt cx="4425107" cy="8035038"/>
          </a:xfrm>
        </p:grpSpPr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6D060E2F-F3D0-01BB-E9E1-ABEBE359D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15432" y="2073946"/>
              <a:ext cx="3865418" cy="7061154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22A7BA2B-06FF-55B0-5635-9B3EFE89138E}"/>
                </a:ext>
              </a:extLst>
            </p:cNvPr>
            <p:cNvSpPr/>
            <p:nvPr/>
          </p:nvSpPr>
          <p:spPr>
            <a:xfrm>
              <a:off x="6756395" y="2306279"/>
              <a:ext cx="3810000" cy="47145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581206A7-29AA-EB42-6E63-59D5699FBD2B}"/>
                </a:ext>
              </a:extLst>
            </p:cNvPr>
            <p:cNvSpPr/>
            <p:nvPr/>
          </p:nvSpPr>
          <p:spPr>
            <a:xfrm>
              <a:off x="6845417" y="2365867"/>
              <a:ext cx="1434667" cy="35227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badi Extra Light" panose="020B0604020202020204" pitchFamily="34" charset="0"/>
                </a:rPr>
                <a:t>AGROI+D</a:t>
              </a:r>
              <a:endParaRPr lang="es-PE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 Extra Light" panose="020B0604020202020204" pitchFamily="34" charset="0"/>
              </a:endParaRPr>
            </a:p>
          </p:txBody>
        </p:sp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F18527ED-8999-1DB6-38AD-7441D930DCC1}"/>
                </a:ext>
              </a:extLst>
            </p:cNvPr>
            <p:cNvSpPr/>
            <p:nvPr/>
          </p:nvSpPr>
          <p:spPr>
            <a:xfrm>
              <a:off x="6757003" y="2789634"/>
              <a:ext cx="3802787" cy="593294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pic>
          <p:nvPicPr>
            <p:cNvPr id="85" name="Picture 4" descr="Gráficos escalables iconos de computadora gráficos de red portátiles, icono  de salida, cdr, texto, icono de salida png | PNGWing">
              <a:extLst>
                <a:ext uri="{FF2B5EF4-FFF2-40B4-BE49-F238E27FC236}">
                  <a16:creationId xmlns:a16="http://schemas.microsoft.com/office/drawing/2014/main" id="{D11CABEA-79CE-D7E6-6104-DADE2EAD7C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895" b="96632" l="543" r="97283">
                          <a14:foregroundMark x1="50042" y1="12244" x2="36739" y2="5895"/>
                          <a14:foregroundMark x1="57985" y1="16034" x2="57540" y2="15821"/>
                          <a14:foregroundMark x1="59239" y1="16632" x2="58355" y2="16210"/>
                          <a14:foregroundMark x1="36739" y1="5895" x2="20435" y2="7158"/>
                          <a14:foregroundMark x1="12737" y1="15836" x2="6522" y2="22842"/>
                          <a14:foregroundMark x1="20435" y1="7158" x2="15617" y2="12589"/>
                          <a14:foregroundMark x1="6522" y1="22842" x2="5435" y2="74421"/>
                          <a14:foregroundMark x1="5435" y1="74421" x2="11957" y2="90842"/>
                          <a14:foregroundMark x1="11957" y1="90842" x2="33587" y2="94947"/>
                          <a14:foregroundMark x1="33587" y1="94947" x2="55435" y2="90526"/>
                          <a14:foregroundMark x1="55435" y1="90526" x2="63043" y2="80000"/>
                          <a14:foregroundMark x1="44565" y1="47263" x2="78696" y2="44632"/>
                          <a14:foregroundMark x1="77496" y1="56958" x2="76739" y2="64737"/>
                          <a14:foregroundMark x1="78696" y1="44632" x2="77613" y2="55759"/>
                          <a14:foregroundMark x1="76739" y1="64737" x2="95000" y2="53684"/>
                          <a14:foregroundMark x1="95000" y1="53684" x2="79239" y2="39368"/>
                          <a14:foregroundMark x1="79239" y1="39368" x2="77065" y2="35895"/>
                          <a14:foregroundMark x1="79130" y1="47579" x2="38804" y2="50632"/>
                          <a14:foregroundMark x1="38804" y1="50632" x2="81630" y2="47789"/>
                          <a14:foregroundMark x1="81630" y1="47789" x2="82500" y2="47789"/>
                          <a14:foregroundMark x1="75870" y1="41158" x2="90479" y2="39510"/>
                          <a14:foregroundMark x1="91797" y1="39625" x2="94783" y2="52737"/>
                          <a14:foregroundMark x1="97065" y1="49579" x2="97391" y2="52105"/>
                          <a14:foregroundMark x1="54365" y1="11816" x2="43913" y2="2526"/>
                          <a14:foregroundMark x1="59072" y1="16000" x2="57962" y2="15013"/>
                          <a14:foregroundMark x1="59783" y1="16632" x2="59072" y2="16000"/>
                          <a14:foregroundMark x1="43913" y1="2526" x2="15761" y2="3579"/>
                          <a14:foregroundMark x1="15761" y1="3579" x2="1413" y2="14842"/>
                          <a14:foregroundMark x1="1413" y1="14842" x2="978" y2="72737"/>
                          <a14:foregroundMark x1="978" y1="72737" x2="9783" y2="23579"/>
                          <a14:foregroundMark x1="23895" y1="12054" x2="24348" y2="11684"/>
                          <a14:foregroundMark x1="9783" y1="23579" x2="12657" y2="21232"/>
                          <a14:foregroundMark x1="56397" y1="12187" x2="57935" y2="12211"/>
                          <a14:foregroundMark x1="24348" y1="11684" x2="49938" y2="12086"/>
                          <a14:foregroundMark x1="58952" y1="14352" x2="60435" y2="17474"/>
                          <a14:foregroundMark x1="57935" y1="12211" x2="58861" y2="14161"/>
                          <a14:foregroundMark x1="61630" y1="17789" x2="53043" y2="3579"/>
                          <a14:foregroundMark x1="53043" y1="3579" x2="45543" y2="4947"/>
                          <a14:foregroundMark x1="53587" y1="1895" x2="67283" y2="9368"/>
                          <a14:foregroundMark x1="67283" y1="9368" x2="60978" y2="9474"/>
                          <a14:foregroundMark x1="8261" y1="8421" x2="217" y2="51579"/>
                          <a14:foregroundMark x1="217" y1="51579" x2="1087" y2="72000"/>
                          <a14:foregroundMark x1="1087" y1="72000" x2="9891" y2="34211"/>
                          <a14:foregroundMark x1="3261" y1="77684" x2="9239" y2="96842"/>
                          <a14:foregroundMark x1="9239" y1="96842" x2="35652" y2="98737"/>
                          <a14:foregroundMark x1="35652" y1="98737" x2="55435" y2="94000"/>
                          <a14:foregroundMark x1="55435" y1="94000" x2="67609" y2="84211"/>
                          <a14:foregroundMark x1="67609" y1="84211" x2="51413" y2="92632"/>
                          <a14:foregroundMark x1="13242" y1="84716" x2="652" y2="82105"/>
                          <a14:foregroundMark x1="27115" y1="87593" x2="26755" y2="87518"/>
                          <a14:foregroundMark x1="51413" y1="92632" x2="28349" y2="87849"/>
                          <a14:foregroundMark x1="652" y1="82105" x2="1304" y2="79579"/>
                          <a14:foregroundMark x1="21630" y1="94632" x2="47065" y2="96632"/>
                          <a14:foregroundMark x1="47065" y1="96632" x2="65000" y2="90211"/>
                          <a14:foregroundMark x1="65000" y1="90211" x2="69022" y2="86947"/>
                          <a14:backgroundMark x1="52717" y1="18842" x2="22500" y2="24105"/>
                          <a14:backgroundMark x1="22500" y1="24105" x2="20326" y2="44632"/>
                          <a14:backgroundMark x1="20326" y1="44632" x2="28913" y2="62842"/>
                          <a14:backgroundMark x1="28913" y1="62842" x2="42500" y2="70105"/>
                          <a14:backgroundMark x1="42500" y1="70105" x2="58152" y2="64105"/>
                          <a14:backgroundMark x1="58152" y1="64105" x2="72717" y2="74947"/>
                          <a14:backgroundMark x1="72717" y1="74947" x2="72717" y2="75053"/>
                          <a14:backgroundMark x1="24783" y1="14737" x2="14565" y2="20947"/>
                          <a14:backgroundMark x1="22391" y1="14526" x2="14348" y2="19579"/>
                          <a14:backgroundMark x1="51196" y1="13895" x2="56413" y2="16421"/>
                          <a14:backgroundMark x1="56630" y1="16421" x2="57391" y2="16105"/>
                          <a14:backgroundMark x1="57609" y1="17474" x2="55978" y2="13368"/>
                          <a14:backgroundMark x1="52065" y1="13053" x2="51304" y2="12947"/>
                          <a14:backgroundMark x1="55109" y1="13158" x2="57283" y2="16211"/>
                          <a14:backgroundMark x1="57065" y1="14632" x2="57283" y2="16000"/>
                          <a14:backgroundMark x1="57065" y1="15579" x2="57500" y2="15579"/>
                          <a14:backgroundMark x1="57500" y1="16000" x2="57500" y2="16000"/>
                          <a14:backgroundMark x1="57609" y1="16105" x2="57500" y2="15474"/>
                          <a14:backgroundMark x1="58043" y1="16211" x2="58043" y2="15263"/>
                          <a14:backgroundMark x1="57826" y1="15053" x2="57717" y2="14842"/>
                          <a14:backgroundMark x1="56413" y1="13579" x2="50652" y2="12526"/>
                          <a14:backgroundMark x1="51087" y1="12842" x2="50435" y2="12842"/>
                          <a14:backgroundMark x1="24674" y1="13263" x2="21304" y2="13158"/>
                          <a14:backgroundMark x1="15326" y1="13158" x2="13587" y2="15789"/>
                          <a14:backgroundMark x1="13587" y1="18632" x2="13478" y2="21263"/>
                          <a14:backgroundMark x1="16304" y1="13158" x2="12935" y2="16000"/>
                          <a14:backgroundMark x1="15870" y1="12842" x2="15870" y2="13053"/>
                          <a14:backgroundMark x1="92283" y1="39789" x2="91848" y2="39263"/>
                          <a14:backgroundMark x1="91087" y1="37263" x2="91848" y2="38421"/>
                          <a14:backgroundMark x1="92717" y1="39368" x2="91522" y2="38632"/>
                          <a14:backgroundMark x1="92283" y1="39368" x2="91630" y2="38421"/>
                          <a14:backgroundMark x1="90326" y1="37053" x2="92609" y2="38947"/>
                          <a14:backgroundMark x1="92609" y1="39789" x2="92283" y2="39263"/>
                          <a14:backgroundMark x1="76957" y1="57053" x2="77609" y2="56737"/>
                          <a14:backgroundMark x1="14130" y1="83579" x2="26957" y2="86737"/>
                          <a14:backgroundMark x1="27935" y1="87263" x2="26957" y2="87368"/>
                          <a14:backgroundMark x1="13587" y1="85263" x2="13587" y2="84632"/>
                          <a14:backgroundMark x1="25761" y1="87474" x2="26848" y2="87368"/>
                          <a14:backgroundMark x1="13370" y1="84842" x2="13370" y2="84737"/>
                          <a14:backgroundMark x1="13152" y1="84947" x2="13043" y2="84842"/>
                          <a14:backgroundMark x1="13261" y1="85053" x2="13152" y2="84842"/>
                          <a14:backgroundMark x1="13152" y1="84842" x2="13370" y2="8410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89356" y="2355569"/>
              <a:ext cx="341153" cy="35227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Imagen 86">
              <a:extLst>
                <a:ext uri="{FF2B5EF4-FFF2-40B4-BE49-F238E27FC236}">
                  <a16:creationId xmlns:a16="http://schemas.microsoft.com/office/drawing/2014/main" id="{0045FCCB-9DAE-BC9A-BFE0-83E005967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93856" y="3444272"/>
              <a:ext cx="3474972" cy="91925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E96C73FB-3DAE-1A54-8CAB-300DA5C1A056}"/>
                </a:ext>
              </a:extLst>
            </p:cNvPr>
            <p:cNvSpPr txBox="1"/>
            <p:nvPr/>
          </p:nvSpPr>
          <p:spPr>
            <a:xfrm>
              <a:off x="6989569" y="3496166"/>
              <a:ext cx="2832524" cy="83099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1600" b="1" dirty="0"/>
                <a:t>Fecha: 07/05/2026</a:t>
              </a:r>
            </a:p>
            <a:p>
              <a:r>
                <a:rPr lang="es-MX" sz="1600" b="1" dirty="0"/>
                <a:t>Mes: Mayo</a:t>
              </a:r>
            </a:p>
            <a:p>
              <a:r>
                <a:rPr lang="es-MX" sz="1600" b="1" dirty="0" err="1"/>
                <a:t>Cant</a:t>
              </a:r>
              <a:r>
                <a:rPr lang="es-MX" sz="1600" b="1" dirty="0"/>
                <a:t>. Total: 5000  millares</a:t>
              </a:r>
            </a:p>
          </p:txBody>
        </p:sp>
        <p:sp>
          <p:nvSpPr>
            <p:cNvPr id="90" name="Rectángulo 89">
              <a:extLst>
                <a:ext uri="{FF2B5EF4-FFF2-40B4-BE49-F238E27FC236}">
                  <a16:creationId xmlns:a16="http://schemas.microsoft.com/office/drawing/2014/main" id="{43AF6F6E-5238-1E7E-02EC-44315D25DB90}"/>
                </a:ext>
              </a:extLst>
            </p:cNvPr>
            <p:cNvSpPr/>
            <p:nvPr/>
          </p:nvSpPr>
          <p:spPr>
            <a:xfrm>
              <a:off x="6867096" y="3446818"/>
              <a:ext cx="3423411" cy="94445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6" name="CuadroTexto 95">
              <a:extLst>
                <a:ext uri="{FF2B5EF4-FFF2-40B4-BE49-F238E27FC236}">
                  <a16:creationId xmlns:a16="http://schemas.microsoft.com/office/drawing/2014/main" id="{CE32970B-DC6D-4231-69AE-BEDFD415CC3D}"/>
                </a:ext>
              </a:extLst>
            </p:cNvPr>
            <p:cNvSpPr txBox="1"/>
            <p:nvPr/>
          </p:nvSpPr>
          <p:spPr>
            <a:xfrm>
              <a:off x="6824495" y="7438149"/>
              <a:ext cx="2164098" cy="1169551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400" dirty="0"/>
                <a:t>Se podrá visualizar un historial mensual. Según las cantidades ingresadas, se calculará el total automáticamente. </a:t>
              </a:r>
              <a:endParaRPr lang="es-PE" sz="1400" dirty="0"/>
            </a:p>
          </p:txBody>
        </p:sp>
        <p:pic>
          <p:nvPicPr>
            <p:cNvPr id="97" name="Imagen 96">
              <a:extLst>
                <a:ext uri="{FF2B5EF4-FFF2-40B4-BE49-F238E27FC236}">
                  <a16:creationId xmlns:a16="http://schemas.microsoft.com/office/drawing/2014/main" id="{A994FDC6-0E04-858C-E455-DC857B714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85824" y="2845109"/>
              <a:ext cx="1824903" cy="35587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9521C668-63F4-6D6A-B539-931F57C4F6B4}"/>
                </a:ext>
              </a:extLst>
            </p:cNvPr>
            <p:cNvSpPr txBox="1"/>
            <p:nvPr/>
          </p:nvSpPr>
          <p:spPr>
            <a:xfrm>
              <a:off x="6744907" y="2858994"/>
              <a:ext cx="853380" cy="33855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1600" b="1" dirty="0"/>
                <a:t>FECHA:</a:t>
              </a:r>
              <a:endParaRPr lang="es-PE" sz="1600" b="1" dirty="0"/>
            </a:p>
          </p:txBody>
        </p:sp>
        <p:cxnSp>
          <p:nvCxnSpPr>
            <p:cNvPr id="104" name="Conector recto de flecha 103">
              <a:extLst>
                <a:ext uri="{FF2B5EF4-FFF2-40B4-BE49-F238E27FC236}">
                  <a16:creationId xmlns:a16="http://schemas.microsoft.com/office/drawing/2014/main" id="{380D2B38-43FE-F1B3-1A55-5E93D1814AD5}"/>
                </a:ext>
              </a:extLst>
            </p:cNvPr>
            <p:cNvCxnSpPr>
              <a:cxnSpLocks/>
            </p:cNvCxnSpPr>
            <p:nvPr/>
          </p:nvCxnSpPr>
          <p:spPr>
            <a:xfrm>
              <a:off x="9743040" y="1591776"/>
              <a:ext cx="13763" cy="118892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00" name="CuadroTexto 99">
              <a:extLst>
                <a:ext uri="{FF2B5EF4-FFF2-40B4-BE49-F238E27FC236}">
                  <a16:creationId xmlns:a16="http://schemas.microsoft.com/office/drawing/2014/main" id="{B8F6DAEA-42F4-BAFB-375D-629107D32543}"/>
                </a:ext>
              </a:extLst>
            </p:cNvPr>
            <p:cNvSpPr txBox="1"/>
            <p:nvPr/>
          </p:nvSpPr>
          <p:spPr>
            <a:xfrm>
              <a:off x="9132789" y="1100062"/>
              <a:ext cx="2007750" cy="738664"/>
            </a:xfrm>
            <a:prstGeom prst="rect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400" dirty="0"/>
                <a:t>Se podrá crear un nuevo stock cada vez que sea necesario.</a:t>
              </a:r>
              <a:endParaRPr lang="es-PE" sz="1400" dirty="0"/>
            </a:p>
          </p:txBody>
        </p:sp>
      </p:grpSp>
      <p:sp>
        <p:nvSpPr>
          <p:cNvPr id="3140" name="CuadroTexto 3139">
            <a:extLst>
              <a:ext uri="{FF2B5EF4-FFF2-40B4-BE49-F238E27FC236}">
                <a16:creationId xmlns:a16="http://schemas.microsoft.com/office/drawing/2014/main" id="{23B91423-AD49-9033-DDF5-D612144B4418}"/>
              </a:ext>
            </a:extLst>
          </p:cNvPr>
          <p:cNvSpPr txBox="1"/>
          <p:nvPr/>
        </p:nvSpPr>
        <p:spPr>
          <a:xfrm>
            <a:off x="8542701" y="8862501"/>
            <a:ext cx="3912895" cy="11695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b="1" dirty="0"/>
              <a:t>'Editar', </a:t>
            </a:r>
            <a:r>
              <a:rPr lang="es-MX" sz="1400" dirty="0"/>
              <a:t>solo se podrá modificar el campo </a:t>
            </a:r>
            <a:r>
              <a:rPr lang="es-MX" sz="1400" b="1" dirty="0"/>
              <a:t>“PROY. semanal”, </a:t>
            </a:r>
            <a:r>
              <a:rPr lang="es-MX" sz="1400" dirty="0"/>
              <a:t>donde se ingresará la cantidad real. Si esta cantidad es diferente a la Proyección Inicial, el cambio se actualizará automáticamente en la vista principal.</a:t>
            </a:r>
            <a:endParaRPr lang="es-PE" sz="1400" dirty="0"/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9F279BD-E153-9AED-81D7-CFA33F119276}"/>
              </a:ext>
            </a:extLst>
          </p:cNvPr>
          <p:cNvGrpSpPr/>
          <p:nvPr/>
        </p:nvGrpSpPr>
        <p:grpSpPr>
          <a:xfrm>
            <a:off x="6894893" y="2443199"/>
            <a:ext cx="4315916" cy="7284053"/>
            <a:chOff x="5718344" y="2443199"/>
            <a:chExt cx="4218635" cy="7284053"/>
          </a:xfrm>
        </p:grpSpPr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40E258B1-A1AF-D013-3B55-69020D481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9569" t="10214" r="39364" b="79038"/>
            <a:stretch>
              <a:fillRect/>
            </a:stretch>
          </p:blipFill>
          <p:spPr>
            <a:xfrm>
              <a:off x="7595898" y="2443199"/>
              <a:ext cx="1548102" cy="253761"/>
            </a:xfrm>
            <a:prstGeom prst="rect">
              <a:avLst/>
            </a:prstGeom>
          </p:spPr>
        </p:pic>
        <p:pic>
          <p:nvPicPr>
            <p:cNvPr id="3115" name="Imagen 3114">
              <a:extLst>
                <a:ext uri="{FF2B5EF4-FFF2-40B4-BE49-F238E27FC236}">
                  <a16:creationId xmlns:a16="http://schemas.microsoft.com/office/drawing/2014/main" id="{58C9A01F-3411-27BE-D08B-304EF2DEA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78430" y="3498957"/>
              <a:ext cx="258549" cy="259201"/>
            </a:xfrm>
            <a:prstGeom prst="rect">
              <a:avLst/>
            </a:prstGeom>
          </p:spPr>
        </p:pic>
        <p:sp>
          <p:nvSpPr>
            <p:cNvPr id="3139" name="Rectángulo 3138">
              <a:extLst>
                <a:ext uri="{FF2B5EF4-FFF2-40B4-BE49-F238E27FC236}">
                  <a16:creationId xmlns:a16="http://schemas.microsoft.com/office/drawing/2014/main" id="{C4C165EB-E27C-DC05-34AC-AA68DD5AD557}"/>
                </a:ext>
              </a:extLst>
            </p:cNvPr>
            <p:cNvSpPr/>
            <p:nvPr/>
          </p:nvSpPr>
          <p:spPr>
            <a:xfrm>
              <a:off x="9661207" y="3467445"/>
              <a:ext cx="258550" cy="259201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3142" name="Conector: angular 3141">
              <a:extLst>
                <a:ext uri="{FF2B5EF4-FFF2-40B4-BE49-F238E27FC236}">
                  <a16:creationId xmlns:a16="http://schemas.microsoft.com/office/drawing/2014/main" id="{91EE3FEE-5595-1C1D-6FF5-8F525D70BD6F}"/>
                </a:ext>
              </a:extLst>
            </p:cNvPr>
            <p:cNvCxnSpPr>
              <a:cxnSpLocks/>
              <a:endCxn id="3115" idx="2"/>
            </p:cNvCxnSpPr>
            <p:nvPr/>
          </p:nvCxnSpPr>
          <p:spPr>
            <a:xfrm rot="5400000" flipH="1" flipV="1">
              <a:off x="7255534" y="6310473"/>
              <a:ext cx="5104343" cy="1241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14" name="Conector: angular 3313">
              <a:extLst>
                <a:ext uri="{FF2B5EF4-FFF2-40B4-BE49-F238E27FC236}">
                  <a16:creationId xmlns:a16="http://schemas.microsoft.com/office/drawing/2014/main" id="{3281A54A-8295-47B7-218A-BBAE2432416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554824" y="5453550"/>
              <a:ext cx="2982014" cy="1241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315" name="CuadroTexto 3314">
              <a:extLst>
                <a:ext uri="{FF2B5EF4-FFF2-40B4-BE49-F238E27FC236}">
                  <a16:creationId xmlns:a16="http://schemas.microsoft.com/office/drawing/2014/main" id="{65FD7F78-82F4-136B-9AD9-88A3F8DB168F}"/>
                </a:ext>
              </a:extLst>
            </p:cNvPr>
            <p:cNvSpPr txBox="1"/>
            <p:nvPr/>
          </p:nvSpPr>
          <p:spPr>
            <a:xfrm>
              <a:off x="5718344" y="8988588"/>
              <a:ext cx="1271340" cy="73866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400" dirty="0"/>
                <a:t>la fecha debe generarse según registro </a:t>
              </a:r>
              <a:endParaRPr lang="es-PE" sz="1400" dirty="0"/>
            </a:p>
          </p:txBody>
        </p:sp>
        <p:sp>
          <p:nvSpPr>
            <p:cNvPr id="3321" name="Rectángulo 3320">
              <a:extLst>
                <a:ext uri="{FF2B5EF4-FFF2-40B4-BE49-F238E27FC236}">
                  <a16:creationId xmlns:a16="http://schemas.microsoft.com/office/drawing/2014/main" id="{117D3300-4513-20AE-1EF6-E2A072A41734}"/>
                </a:ext>
              </a:extLst>
            </p:cNvPr>
            <p:cNvSpPr/>
            <p:nvPr/>
          </p:nvSpPr>
          <p:spPr>
            <a:xfrm>
              <a:off x="6746676" y="3057551"/>
              <a:ext cx="1682840" cy="248419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3323" name="Conector: angular 3322">
              <a:extLst>
                <a:ext uri="{FF2B5EF4-FFF2-40B4-BE49-F238E27FC236}">
                  <a16:creationId xmlns:a16="http://schemas.microsoft.com/office/drawing/2014/main" id="{CB52705B-1500-4D2A-36A4-186E5F80BD4F}"/>
                </a:ext>
              </a:extLst>
            </p:cNvPr>
            <p:cNvCxnSpPr>
              <a:cxnSpLocks/>
              <a:stCxn id="3315" idx="0"/>
              <a:endCxn id="3321" idx="1"/>
            </p:cNvCxnSpPr>
            <p:nvPr/>
          </p:nvCxnSpPr>
          <p:spPr>
            <a:xfrm rot="5400000" flipH="1" flipV="1">
              <a:off x="3646932" y="5888844"/>
              <a:ext cx="5806827" cy="39266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328" name="Rectángulo 3327">
              <a:extLst>
                <a:ext uri="{FF2B5EF4-FFF2-40B4-BE49-F238E27FC236}">
                  <a16:creationId xmlns:a16="http://schemas.microsoft.com/office/drawing/2014/main" id="{30D0C831-5049-7241-36DB-64FCF22DAA56}"/>
                </a:ext>
              </a:extLst>
            </p:cNvPr>
            <p:cNvSpPr/>
            <p:nvPr/>
          </p:nvSpPr>
          <p:spPr>
            <a:xfrm>
              <a:off x="9234439" y="3497925"/>
              <a:ext cx="407889" cy="25920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100" b="1" dirty="0">
                  <a:solidFill>
                    <a:schemeClr val="tx1"/>
                  </a:solidFill>
                  <a:latin typeface="Abadi Extra Light" panose="020B0204020104020204" pitchFamily="34" charset="0"/>
                </a:rPr>
                <a:t>VER</a:t>
              </a:r>
              <a:r>
                <a:rPr lang="es-MX" b="1" dirty="0">
                  <a:solidFill>
                    <a:schemeClr val="tx1"/>
                  </a:solidFill>
                  <a:latin typeface="Abadi Extra Light" panose="020B0204020104020204" pitchFamily="34" charset="0"/>
                </a:rPr>
                <a:t> </a:t>
              </a:r>
            </a:p>
          </p:txBody>
        </p:sp>
        <p:sp>
          <p:nvSpPr>
            <p:cNvPr id="3338" name="CuadroTexto 3337">
              <a:extLst>
                <a:ext uri="{FF2B5EF4-FFF2-40B4-BE49-F238E27FC236}">
                  <a16:creationId xmlns:a16="http://schemas.microsoft.com/office/drawing/2014/main" id="{F86F7EA6-FA00-2215-1C58-90461FF2C8BC}"/>
                </a:ext>
              </a:extLst>
            </p:cNvPr>
            <p:cNvSpPr txBox="1"/>
            <p:nvPr/>
          </p:nvSpPr>
          <p:spPr>
            <a:xfrm>
              <a:off x="7412835" y="5378377"/>
              <a:ext cx="1271340" cy="73866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400" dirty="0"/>
                <a:t>Permitir tener una vista emergente</a:t>
              </a:r>
              <a:endParaRPr lang="es-PE" sz="1400" dirty="0"/>
            </a:p>
          </p:txBody>
        </p:sp>
      </p:grpSp>
      <p:grpSp>
        <p:nvGrpSpPr>
          <p:cNvPr id="3158" name="Grupo 3157">
            <a:extLst>
              <a:ext uri="{FF2B5EF4-FFF2-40B4-BE49-F238E27FC236}">
                <a16:creationId xmlns:a16="http://schemas.microsoft.com/office/drawing/2014/main" id="{58CE68D6-2197-8058-12B8-EBB6742409A0}"/>
              </a:ext>
            </a:extLst>
          </p:cNvPr>
          <p:cNvGrpSpPr/>
          <p:nvPr/>
        </p:nvGrpSpPr>
        <p:grpSpPr>
          <a:xfrm>
            <a:off x="276457" y="1597120"/>
            <a:ext cx="6701214" cy="7061154"/>
            <a:chOff x="-565817" y="1576407"/>
            <a:chExt cx="6701214" cy="7061154"/>
          </a:xfrm>
        </p:grpSpPr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75F2B96D-6FDC-4C86-2E0C-440D899B68AA}"/>
                </a:ext>
              </a:extLst>
            </p:cNvPr>
            <p:cNvGrpSpPr/>
            <p:nvPr/>
          </p:nvGrpSpPr>
          <p:grpSpPr>
            <a:xfrm>
              <a:off x="-565817" y="1576407"/>
              <a:ext cx="6701214" cy="7061154"/>
              <a:chOff x="-565817" y="2073946"/>
              <a:chExt cx="6701214" cy="7061154"/>
            </a:xfrm>
          </p:grpSpPr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0746CAE-1415-AA4F-0BB7-9D941ADE230F}"/>
                  </a:ext>
                </a:extLst>
              </p:cNvPr>
              <p:cNvSpPr txBox="1"/>
              <p:nvPr/>
            </p:nvSpPr>
            <p:spPr>
              <a:xfrm>
                <a:off x="-565817" y="3812295"/>
                <a:ext cx="2547879" cy="52322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MX" sz="1400" dirty="0">
                    <a:latin typeface="Poppins" panose="00000500000000000000" pitchFamily="2" charset="0"/>
                    <a:cs typeface="Poppins" panose="00000500000000000000" pitchFamily="2" charset="0"/>
                  </a:rPr>
                  <a:t>Ingresamos a </a:t>
                </a:r>
                <a:r>
                  <a:rPr lang="es-MX" sz="14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“Programación ”</a:t>
                </a:r>
                <a:endParaRPr lang="es-PE" sz="1400" b="1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grpSp>
            <p:nvGrpSpPr>
              <p:cNvPr id="4" name="Grupo 3">
                <a:extLst>
                  <a:ext uri="{FF2B5EF4-FFF2-40B4-BE49-F238E27FC236}">
                    <a16:creationId xmlns:a16="http://schemas.microsoft.com/office/drawing/2014/main" id="{D595A79B-B425-8BF7-A3FD-7528B120A1AC}"/>
                  </a:ext>
                </a:extLst>
              </p:cNvPr>
              <p:cNvGrpSpPr/>
              <p:nvPr/>
            </p:nvGrpSpPr>
            <p:grpSpPr>
              <a:xfrm>
                <a:off x="1982062" y="2073946"/>
                <a:ext cx="4153335" cy="7061154"/>
                <a:chOff x="1982062" y="2073946"/>
                <a:chExt cx="4153335" cy="7061154"/>
              </a:xfrm>
            </p:grpSpPr>
            <p:pic>
              <p:nvPicPr>
                <p:cNvPr id="9" name="Imagen 8">
                  <a:extLst>
                    <a:ext uri="{FF2B5EF4-FFF2-40B4-BE49-F238E27FC236}">
                      <a16:creationId xmlns:a16="http://schemas.microsoft.com/office/drawing/2014/main" id="{E775C68D-54DA-BE7F-C1EE-26A5D9B0F3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269979" y="2073946"/>
                  <a:ext cx="3865418" cy="7061154"/>
                </a:xfrm>
                <a:prstGeom prst="rect">
                  <a:avLst/>
                </a:prstGeom>
                <a:ln w="38100" cap="sq">
                  <a:solidFill>
                    <a:srgbClr val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p:spPr>
            </p:pic>
            <p:sp>
              <p:nvSpPr>
                <p:cNvPr id="10" name="Rectángulo 9">
                  <a:extLst>
                    <a:ext uri="{FF2B5EF4-FFF2-40B4-BE49-F238E27FC236}">
                      <a16:creationId xmlns:a16="http://schemas.microsoft.com/office/drawing/2014/main" id="{F4F45FFB-1EA7-979C-8B97-68088EC1812D}"/>
                    </a:ext>
                  </a:extLst>
                </p:cNvPr>
                <p:cNvSpPr/>
                <p:nvPr/>
              </p:nvSpPr>
              <p:spPr>
                <a:xfrm>
                  <a:off x="2269259" y="2364395"/>
                  <a:ext cx="3810000" cy="471451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1" name="Rectángulo 10">
                  <a:extLst>
                    <a:ext uri="{FF2B5EF4-FFF2-40B4-BE49-F238E27FC236}">
                      <a16:creationId xmlns:a16="http://schemas.microsoft.com/office/drawing/2014/main" id="{323C22B6-C1E4-1DC6-DAFC-5F27E180A9A9}"/>
                    </a:ext>
                  </a:extLst>
                </p:cNvPr>
                <p:cNvSpPr/>
                <p:nvPr/>
              </p:nvSpPr>
              <p:spPr>
                <a:xfrm>
                  <a:off x="2472438" y="2365867"/>
                  <a:ext cx="1434667" cy="35227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sz="2400" dirty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badi Extra Light" panose="020B0604020202020204" pitchFamily="34" charset="0"/>
                    </a:rPr>
                    <a:t>AGROI+D</a:t>
                  </a:r>
                  <a:endParaRPr lang="es-PE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badi Extra Light" panose="020B0604020202020204" pitchFamily="34" charset="0"/>
                  </a:endParaRPr>
                </a:p>
              </p:txBody>
            </p:sp>
            <p:pic>
              <p:nvPicPr>
                <p:cNvPr id="12" name="Imagen 11" descr="Logotipo, nombre de la empresa">
                  <a:extLst>
                    <a:ext uri="{FF2B5EF4-FFF2-40B4-BE49-F238E27FC236}">
                      <a16:creationId xmlns:a16="http://schemas.microsoft.com/office/drawing/2014/main" id="{9B44C9CF-549B-B05F-8813-14653A4539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68089" y="2998720"/>
                  <a:ext cx="2513026" cy="774543"/>
                </a:xfrm>
                <a:prstGeom prst="rect">
                  <a:avLst/>
                </a:prstGeom>
              </p:spPr>
            </p:pic>
            <p:sp>
              <p:nvSpPr>
                <p:cNvPr id="13" name="Rectángulo 12">
                  <a:extLst>
                    <a:ext uri="{FF2B5EF4-FFF2-40B4-BE49-F238E27FC236}">
                      <a16:creationId xmlns:a16="http://schemas.microsoft.com/office/drawing/2014/main" id="{D8828D6E-E01D-445A-00C1-11B3BB493C4D}"/>
                    </a:ext>
                  </a:extLst>
                </p:cNvPr>
                <p:cNvSpPr/>
                <p:nvPr/>
              </p:nvSpPr>
              <p:spPr>
                <a:xfrm>
                  <a:off x="2466209" y="3959827"/>
                  <a:ext cx="3562788" cy="23358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 dirty="0"/>
                </a:p>
              </p:txBody>
            </p:sp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BFE53D51-24B1-48C8-A2B6-0A19234F05B7}"/>
                    </a:ext>
                  </a:extLst>
                </p:cNvPr>
                <p:cNvSpPr/>
                <p:nvPr/>
              </p:nvSpPr>
              <p:spPr>
                <a:xfrm>
                  <a:off x="2817510" y="4657723"/>
                  <a:ext cx="2839868" cy="54460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Abadi Extra Light" panose="020B0204020104020204" pitchFamily="34" charset="0"/>
                    </a:rPr>
                    <a:t>Solicitud de Requerimientos</a:t>
                  </a:r>
                  <a:endParaRPr lang="es-PE" b="1" dirty="0">
                    <a:solidFill>
                      <a:schemeClr val="tx1"/>
                    </a:solidFill>
                    <a:latin typeface="Abadi Extra Light" panose="020B0204020104020204" pitchFamily="34" charset="0"/>
                  </a:endParaRPr>
                </a:p>
              </p:txBody>
            </p:sp>
            <p:sp>
              <p:nvSpPr>
                <p:cNvPr id="6" name="Rectángulo 5">
                  <a:extLst>
                    <a:ext uri="{FF2B5EF4-FFF2-40B4-BE49-F238E27FC236}">
                      <a16:creationId xmlns:a16="http://schemas.microsoft.com/office/drawing/2014/main" id="{AE1245DA-353F-1BC3-742C-BCC46A0B8ED8}"/>
                    </a:ext>
                  </a:extLst>
                </p:cNvPr>
                <p:cNvSpPr/>
                <p:nvPr/>
              </p:nvSpPr>
              <p:spPr>
                <a:xfrm>
                  <a:off x="2774740" y="3904973"/>
                  <a:ext cx="2839868" cy="54460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Abadi Extra Light" panose="020B0204020104020204" pitchFamily="34" charset="0"/>
                    </a:rPr>
                    <a:t>Programación </a:t>
                  </a:r>
                  <a:endParaRPr lang="es-PE" b="1" dirty="0">
                    <a:solidFill>
                      <a:schemeClr val="tx1"/>
                    </a:solidFill>
                    <a:latin typeface="Abadi Extra Light" panose="020B0204020104020204" pitchFamily="34" charset="0"/>
                  </a:endParaRPr>
                </a:p>
              </p:txBody>
            </p:sp>
            <p:cxnSp>
              <p:nvCxnSpPr>
                <p:cNvPr id="17" name="Conector recto de flecha 16">
                  <a:extLst>
                    <a:ext uri="{FF2B5EF4-FFF2-40B4-BE49-F238E27FC236}">
                      <a16:creationId xmlns:a16="http://schemas.microsoft.com/office/drawing/2014/main" id="{CAAC1BFD-2661-A0A4-8B80-180E7A85596B}"/>
                    </a:ext>
                  </a:extLst>
                </p:cNvPr>
                <p:cNvCxnSpPr>
                  <a:cxnSpLocks/>
                  <a:stCxn id="16" idx="3"/>
                </p:cNvCxnSpPr>
                <p:nvPr/>
              </p:nvCxnSpPr>
              <p:spPr>
                <a:xfrm>
                  <a:off x="1982062" y="4073905"/>
                  <a:ext cx="884303" cy="2000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15" name="Diagrama de flujo: proceso alternativo 14">
                  <a:extLst>
                    <a:ext uri="{FF2B5EF4-FFF2-40B4-BE49-F238E27FC236}">
                      <a16:creationId xmlns:a16="http://schemas.microsoft.com/office/drawing/2014/main" id="{7FD188F7-6386-22CD-B8FC-BFE0AAED591F}"/>
                    </a:ext>
                  </a:extLst>
                </p:cNvPr>
                <p:cNvSpPr/>
                <p:nvPr/>
              </p:nvSpPr>
              <p:spPr>
                <a:xfrm>
                  <a:off x="2826706" y="3934504"/>
                  <a:ext cx="2855174" cy="488398"/>
                </a:xfrm>
                <a:prstGeom prst="flowChartAlternateProcess">
                  <a:avLst/>
                </a:prstGeom>
                <a:noFill/>
                <a:ln w="285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2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pic>
              <p:nvPicPr>
                <p:cNvPr id="110" name="Imagen 109">
                  <a:extLst>
                    <a:ext uri="{FF2B5EF4-FFF2-40B4-BE49-F238E27FC236}">
                      <a16:creationId xmlns:a16="http://schemas.microsoft.com/office/drawing/2014/main" id="{1CE9B896-BA5D-7E95-7FCA-A91DDFC3B2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</a:extLst>
                </a:blip>
                <a:srcRect l="25233" t="14388" r="27148" b="24106"/>
                <a:stretch/>
              </p:blipFill>
              <p:spPr>
                <a:xfrm rot="4967358">
                  <a:off x="2549534" y="4141873"/>
                  <a:ext cx="407047" cy="556704"/>
                </a:xfrm>
                <a:prstGeom prst="rect">
                  <a:avLst/>
                </a:prstGeom>
              </p:spPr>
            </p:pic>
          </p:grpSp>
        </p:grpSp>
        <p:sp>
          <p:nvSpPr>
            <p:cNvPr id="3155" name="Rectángulo 3154">
              <a:extLst>
                <a:ext uri="{FF2B5EF4-FFF2-40B4-BE49-F238E27FC236}">
                  <a16:creationId xmlns:a16="http://schemas.microsoft.com/office/drawing/2014/main" id="{A0A4D2DC-91A9-7441-FDB0-8B46F58416CA}"/>
                </a:ext>
              </a:extLst>
            </p:cNvPr>
            <p:cNvSpPr/>
            <p:nvPr/>
          </p:nvSpPr>
          <p:spPr>
            <a:xfrm>
              <a:off x="2739169" y="5090708"/>
              <a:ext cx="3011110" cy="48222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Proyección: Mayo 5000 </a:t>
              </a:r>
              <a:r>
                <a:rPr lang="es-MX" sz="1400" b="1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mill</a:t>
              </a:r>
              <a:endParaRPr lang="es-PE" sz="1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DA5A814B-49DE-915B-220B-FE34DEBFBB3B}"/>
              </a:ext>
            </a:extLst>
          </p:cNvPr>
          <p:cNvSpPr txBox="1"/>
          <p:nvPr/>
        </p:nvSpPr>
        <p:spPr>
          <a:xfrm>
            <a:off x="24897" y="5551148"/>
            <a:ext cx="2902052" cy="18774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50" dirty="0">
                <a:latin typeface="Poppins" panose="00000500000000000000" pitchFamily="2" charset="0"/>
                <a:cs typeface="Poppins" panose="00000500000000000000" pitchFamily="2" charset="0"/>
              </a:rPr>
              <a:t>La información se actualizará automáticamente cada vez que se registre la </a:t>
            </a:r>
            <a:r>
              <a:rPr lang="es-MX" sz="1450" b="1" dirty="0">
                <a:latin typeface="Poppins" panose="00000500000000000000" pitchFamily="2" charset="0"/>
                <a:cs typeface="Poppins" panose="00000500000000000000" pitchFamily="2" charset="0"/>
              </a:rPr>
              <a:t>“Programación Semanal”</a:t>
            </a:r>
            <a:r>
              <a:rPr lang="es-MX" sz="145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br>
              <a:rPr lang="es-MX" sz="145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MX" sz="1450" dirty="0">
                <a:latin typeface="Poppins" panose="00000500000000000000" pitchFamily="2" charset="0"/>
                <a:cs typeface="Poppins" panose="00000500000000000000" pitchFamily="2" charset="0"/>
              </a:rPr>
              <a:t>Además, el sistema deberá notificar al usuario mediante una alerta o notificación a su correo electrónico.</a:t>
            </a:r>
            <a:endParaRPr lang="es-PE" sz="1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ABBEDC6-51D4-6CF7-11C7-981920894979}"/>
              </a:ext>
            </a:extLst>
          </p:cNvPr>
          <p:cNvSpPr/>
          <p:nvPr/>
        </p:nvSpPr>
        <p:spPr>
          <a:xfrm>
            <a:off x="3547316" y="5046579"/>
            <a:ext cx="3032597" cy="233587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88B9012D-628B-E3BB-2519-4FDBEA3CEFF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926949" y="6489867"/>
            <a:ext cx="627890" cy="10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DA0D7F72-3776-A8AA-CA6F-AB2609F50C41}"/>
              </a:ext>
            </a:extLst>
          </p:cNvPr>
          <p:cNvSpPr/>
          <p:nvPr/>
        </p:nvSpPr>
        <p:spPr>
          <a:xfrm>
            <a:off x="348449" y="338125"/>
            <a:ext cx="1033664" cy="7768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4400" b="1" dirty="0"/>
              <a:t>1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D66A6E58-DD09-25B1-BF39-F68113EF7D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5042" y="2016082"/>
            <a:ext cx="1284972" cy="1211260"/>
          </a:xfrm>
          <a:prstGeom prst="rect">
            <a:avLst/>
          </a:prstGeom>
        </p:spPr>
      </p:pic>
      <p:sp>
        <p:nvSpPr>
          <p:cNvPr id="35" name="Elipse 34">
            <a:extLst>
              <a:ext uri="{FF2B5EF4-FFF2-40B4-BE49-F238E27FC236}">
                <a16:creationId xmlns:a16="http://schemas.microsoft.com/office/drawing/2014/main" id="{9C8D76FE-5604-4432-6357-FE2AD2AE1F8F}"/>
              </a:ext>
            </a:extLst>
          </p:cNvPr>
          <p:cNvSpPr/>
          <p:nvPr/>
        </p:nvSpPr>
        <p:spPr>
          <a:xfrm>
            <a:off x="6389421" y="4226102"/>
            <a:ext cx="387561" cy="35285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2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2AE55CB-B0E5-55DF-5E87-744FF81098CD}"/>
              </a:ext>
            </a:extLst>
          </p:cNvPr>
          <p:cNvSpPr txBox="1"/>
          <p:nvPr/>
        </p:nvSpPr>
        <p:spPr>
          <a:xfrm>
            <a:off x="4273782" y="9012322"/>
            <a:ext cx="2294011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/>
              <a:t>Icono de notificación indica que hay solicitud de crisopas por parte del usuario</a:t>
            </a:r>
            <a:endParaRPr lang="es-PE" sz="1400" dirty="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CBD1347A-5388-92F6-571D-872073DC39D1}"/>
              </a:ext>
            </a:extLst>
          </p:cNvPr>
          <p:cNvSpPr/>
          <p:nvPr/>
        </p:nvSpPr>
        <p:spPr>
          <a:xfrm>
            <a:off x="10444788" y="2287011"/>
            <a:ext cx="422683" cy="45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dirty="0"/>
              <a:t>+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E484D0C5-5A07-AEEF-5A7D-506ED28E0D9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67967" y="5602355"/>
            <a:ext cx="2995804" cy="1755054"/>
          </a:xfrm>
          <a:prstGeom prst="rect">
            <a:avLst/>
          </a:prstGeom>
        </p:spPr>
      </p:pic>
      <p:cxnSp>
        <p:nvCxnSpPr>
          <p:cNvPr id="3136" name="Conector: angular 3135">
            <a:extLst>
              <a:ext uri="{FF2B5EF4-FFF2-40B4-BE49-F238E27FC236}">
                <a16:creationId xmlns:a16="http://schemas.microsoft.com/office/drawing/2014/main" id="{5417B499-19B5-C2E2-FA04-0C6D2C6ECCD1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6567793" y="4507175"/>
            <a:ext cx="132645" cy="48744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D8B32F45-90CE-F368-BA4B-B27225853FD9}"/>
              </a:ext>
            </a:extLst>
          </p:cNvPr>
          <p:cNvSpPr txBox="1"/>
          <p:nvPr/>
        </p:nvSpPr>
        <p:spPr>
          <a:xfrm>
            <a:off x="16268149" y="2609200"/>
            <a:ext cx="1682550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Lista desplegable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266" name="Grupo 3265">
            <a:extLst>
              <a:ext uri="{FF2B5EF4-FFF2-40B4-BE49-F238E27FC236}">
                <a16:creationId xmlns:a16="http://schemas.microsoft.com/office/drawing/2014/main" id="{B0C30725-6D64-57D7-9247-E6451076E687}"/>
              </a:ext>
            </a:extLst>
          </p:cNvPr>
          <p:cNvGrpSpPr/>
          <p:nvPr/>
        </p:nvGrpSpPr>
        <p:grpSpPr>
          <a:xfrm>
            <a:off x="3703320" y="7558141"/>
            <a:ext cx="2762295" cy="380084"/>
            <a:chOff x="10955573" y="4291145"/>
            <a:chExt cx="2095644" cy="287749"/>
          </a:xfrm>
        </p:grpSpPr>
        <p:sp>
          <p:nvSpPr>
            <p:cNvPr id="3267" name="Rectángulo 3266">
              <a:extLst>
                <a:ext uri="{FF2B5EF4-FFF2-40B4-BE49-F238E27FC236}">
                  <a16:creationId xmlns:a16="http://schemas.microsoft.com/office/drawing/2014/main" id="{32A97645-428D-F382-4736-18285A015B2C}"/>
                </a:ext>
              </a:extLst>
            </p:cNvPr>
            <p:cNvSpPr/>
            <p:nvPr/>
          </p:nvSpPr>
          <p:spPr>
            <a:xfrm>
              <a:off x="10955573" y="4291145"/>
              <a:ext cx="1439084" cy="287748"/>
            </a:xfrm>
            <a:prstGeom prst="rect">
              <a:avLst/>
            </a:prstGeom>
            <a:solidFill>
              <a:srgbClr val="54CF1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/>
                <a:t>70%</a:t>
              </a:r>
            </a:p>
          </p:txBody>
        </p:sp>
        <p:sp>
          <p:nvSpPr>
            <p:cNvPr id="3268" name="Rectángulo 3267">
              <a:extLst>
                <a:ext uri="{FF2B5EF4-FFF2-40B4-BE49-F238E27FC236}">
                  <a16:creationId xmlns:a16="http://schemas.microsoft.com/office/drawing/2014/main" id="{800575DF-F24E-C96B-ED6B-DCC5B79DD0C1}"/>
                </a:ext>
              </a:extLst>
            </p:cNvPr>
            <p:cNvSpPr/>
            <p:nvPr/>
          </p:nvSpPr>
          <p:spPr>
            <a:xfrm>
              <a:off x="12394657" y="4291145"/>
              <a:ext cx="656560" cy="28774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>
                <a:solidFill>
                  <a:srgbClr val="FF0000"/>
                </a:solidFill>
              </a:endParaRPr>
            </a:p>
          </p:txBody>
        </p:sp>
      </p:grpSp>
      <p:sp>
        <p:nvSpPr>
          <p:cNvPr id="3294" name="CuadroTexto 3293">
            <a:extLst>
              <a:ext uri="{FF2B5EF4-FFF2-40B4-BE49-F238E27FC236}">
                <a16:creationId xmlns:a16="http://schemas.microsoft.com/office/drawing/2014/main" id="{B0A2EE68-3CD0-14A5-359C-76872410807B}"/>
              </a:ext>
            </a:extLst>
          </p:cNvPr>
          <p:cNvSpPr txBox="1"/>
          <p:nvPr/>
        </p:nvSpPr>
        <p:spPr>
          <a:xfrm>
            <a:off x="1847126" y="9120044"/>
            <a:ext cx="2294011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/>
              <a:t>Es el termómetro de consumo mensual, medirá la disponibilidad de </a:t>
            </a:r>
            <a:r>
              <a:rPr lang="es-MX" sz="1400" dirty="0" err="1"/>
              <a:t>Chrisopas</a:t>
            </a:r>
            <a:endParaRPr lang="es-PE" sz="1400" dirty="0"/>
          </a:p>
        </p:txBody>
      </p:sp>
      <p:cxnSp>
        <p:nvCxnSpPr>
          <p:cNvPr id="3296" name="Conector recto de flecha 3295">
            <a:extLst>
              <a:ext uri="{FF2B5EF4-FFF2-40B4-BE49-F238E27FC236}">
                <a16:creationId xmlns:a16="http://schemas.microsoft.com/office/drawing/2014/main" id="{7F088410-CC48-8A81-A549-66C4187551DB}"/>
              </a:ext>
            </a:extLst>
          </p:cNvPr>
          <p:cNvCxnSpPr>
            <a:cxnSpLocks/>
            <a:stCxn id="3294" idx="0"/>
          </p:cNvCxnSpPr>
          <p:nvPr/>
        </p:nvCxnSpPr>
        <p:spPr>
          <a:xfrm flipV="1">
            <a:off x="2994132" y="7850747"/>
            <a:ext cx="1432463" cy="1269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307" name="Imagen 3306">
            <a:extLst>
              <a:ext uri="{FF2B5EF4-FFF2-40B4-BE49-F238E27FC236}">
                <a16:creationId xmlns:a16="http://schemas.microsoft.com/office/drawing/2014/main" id="{82E528E8-A598-2402-FB80-58462BA9743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130474" y="2491418"/>
            <a:ext cx="2049540" cy="53678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91CE7123-9074-5690-4250-EAEDA5A3A2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5042" y="2016082"/>
            <a:ext cx="1284972" cy="121126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B1C582CF-96CA-5A3F-4865-7A90705CD8B1}"/>
              </a:ext>
            </a:extLst>
          </p:cNvPr>
          <p:cNvSpPr txBox="1"/>
          <p:nvPr/>
        </p:nvSpPr>
        <p:spPr>
          <a:xfrm>
            <a:off x="16203824" y="580680"/>
            <a:ext cx="2049540" cy="16004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 ingresar el mes, deben mostrarse automáticamente los números de semana correspondientes, a si mismo la proyección  del mes.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17D314D-402F-C9CD-AE6C-89313F72D2D7}"/>
              </a:ext>
            </a:extLst>
          </p:cNvPr>
          <p:cNvSpPr txBox="1"/>
          <p:nvPr/>
        </p:nvSpPr>
        <p:spPr>
          <a:xfrm>
            <a:off x="16268149" y="2741331"/>
            <a:ext cx="1682550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Lista desplegable</a:t>
            </a: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68B5E88-A4E0-355D-6E8B-AA0029B0E659}"/>
              </a:ext>
            </a:extLst>
          </p:cNvPr>
          <p:cNvSpPr txBox="1"/>
          <p:nvPr/>
        </p:nvSpPr>
        <p:spPr>
          <a:xfrm>
            <a:off x="16224711" y="3729418"/>
            <a:ext cx="1911865" cy="16004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</a:t>
            </a:r>
            <a:r>
              <a:rPr kumimoji="0" lang="es-MX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Proy</a:t>
            </a: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lang="es-MX" sz="1400" b="1" dirty="0">
                <a:solidFill>
                  <a:prstClr val="black"/>
                </a:solidFill>
                <a:latin typeface="Calibri"/>
              </a:rPr>
              <a:t>semanal</a:t>
            </a: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” 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debe permitir ingresar las cantidades todos los 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lunes y jueves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cada semana, con hora límite hasta las 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23:59 del mismo </a:t>
            </a:r>
            <a:r>
              <a:rPr lang="es-MX" sz="1400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día. </a:t>
            </a: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95419ED2-AD52-D3E6-33FB-BA4D8B6B9740}"/>
              </a:ext>
            </a:extLst>
          </p:cNvPr>
          <p:cNvGrpSpPr/>
          <p:nvPr/>
        </p:nvGrpSpPr>
        <p:grpSpPr>
          <a:xfrm>
            <a:off x="12186881" y="1576407"/>
            <a:ext cx="4081268" cy="7061154"/>
            <a:chOff x="12186881" y="1576407"/>
            <a:chExt cx="4081268" cy="7061154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4E866CA0-F73C-1B47-0DD2-2E5C3C5A4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49281" y="1576407"/>
              <a:ext cx="3865418" cy="7061154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46ED85E6-9964-BFB7-1AAD-033DA65AE8A7}"/>
                </a:ext>
              </a:extLst>
            </p:cNvPr>
            <p:cNvSpPr/>
            <p:nvPr/>
          </p:nvSpPr>
          <p:spPr>
            <a:xfrm>
              <a:off x="12276990" y="1808740"/>
              <a:ext cx="3810000" cy="471451"/>
            </a:xfrm>
            <a:prstGeom prst="rect">
              <a:avLst/>
            </a:prstGeom>
            <a:solidFill>
              <a:srgbClr val="1F497D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B08ABEF5-2BBE-B7A1-735A-EBC5BB8D2C04}"/>
                </a:ext>
              </a:extLst>
            </p:cNvPr>
            <p:cNvSpPr/>
            <p:nvPr/>
          </p:nvSpPr>
          <p:spPr>
            <a:xfrm>
              <a:off x="12366012" y="1868328"/>
              <a:ext cx="1434667" cy="352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24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badi Extra Light" panose="020B0604020202020204" pitchFamily="34" charset="0"/>
                  <a:ea typeface="+mn-ea"/>
                  <a:cs typeface="+mn-cs"/>
                </a:rPr>
                <a:t>AGROI+D</a:t>
              </a:r>
              <a:endParaRPr kumimoji="0" lang="es-P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badi Extra Light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7708A8FE-BC31-DD90-B70C-AE075D7DDF8C}"/>
                </a:ext>
              </a:extLst>
            </p:cNvPr>
            <p:cNvSpPr/>
            <p:nvPr/>
          </p:nvSpPr>
          <p:spPr>
            <a:xfrm>
              <a:off x="12269660" y="2549315"/>
              <a:ext cx="3827736" cy="360799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21D124DF-46A5-12E5-8CA8-7C88C6B955C6}"/>
                </a:ext>
              </a:extLst>
            </p:cNvPr>
            <p:cNvSpPr txBox="1"/>
            <p:nvPr/>
          </p:nvSpPr>
          <p:spPr>
            <a:xfrm>
              <a:off x="12288642" y="3263291"/>
              <a:ext cx="32658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PLANIFICACION </a:t>
              </a:r>
              <a:r>
                <a:rPr lang="es-MX" sz="1600" b="1" dirty="0">
                  <a:solidFill>
                    <a:prstClr val="black"/>
                  </a:solidFill>
                  <a:latin typeface="Calibri"/>
                </a:rPr>
                <a:t> SEMAL</a:t>
              </a:r>
              <a:r>
                <a:rPr kumimoji="0" lang="es-MX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:</a:t>
              </a:r>
              <a:endParaRPr kumimoji="0" lang="es-P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9FA03290-95F6-640B-47A8-BFC3FDCF428A}"/>
                </a:ext>
              </a:extLst>
            </p:cNvPr>
            <p:cNvSpPr txBox="1"/>
            <p:nvPr/>
          </p:nvSpPr>
          <p:spPr>
            <a:xfrm>
              <a:off x="12186881" y="2351209"/>
              <a:ext cx="1232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*MES:</a:t>
              </a:r>
              <a:endParaRPr kumimoji="0" lang="es-P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FAF0EE54-F36D-396D-8340-03679801C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270777" y="2296345"/>
              <a:ext cx="1303863" cy="295316"/>
            </a:xfrm>
            <a:prstGeom prst="rect">
              <a:avLst/>
            </a:prstGeom>
          </p:spPr>
        </p:pic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C4C82D84-5D72-3BDD-2ABD-1EBB184EB2EA}"/>
                </a:ext>
              </a:extLst>
            </p:cNvPr>
            <p:cNvSpPr txBox="1"/>
            <p:nvPr/>
          </p:nvSpPr>
          <p:spPr>
            <a:xfrm>
              <a:off x="12970201" y="2329951"/>
              <a:ext cx="637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MX" sz="1200" dirty="0">
                  <a:solidFill>
                    <a:prstClr val="black"/>
                  </a:solidFill>
                  <a:latin typeface="Calibri"/>
                </a:rPr>
                <a:t>Mayo</a:t>
              </a:r>
              <a:endPara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DFDECFE5-7A6B-F39A-90F7-8A98008A1A6C}"/>
                </a:ext>
              </a:extLst>
            </p:cNvPr>
            <p:cNvSpPr/>
            <p:nvPr/>
          </p:nvSpPr>
          <p:spPr>
            <a:xfrm>
              <a:off x="14510538" y="6291651"/>
              <a:ext cx="1397112" cy="41770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 Stock</a:t>
              </a:r>
            </a:p>
          </p:txBody>
        </p:sp>
        <p:pic>
          <p:nvPicPr>
            <p:cNvPr id="43" name="Picture 4" descr="Gráficos escalables iconos de computadora gráficos de red portátiles, icono  de salida, cdr, texto, icono de salida png | PNGWing">
              <a:extLst>
                <a:ext uri="{FF2B5EF4-FFF2-40B4-BE49-F238E27FC236}">
                  <a16:creationId xmlns:a16="http://schemas.microsoft.com/office/drawing/2014/main" id="{C662A73F-390B-A839-D836-2D718593C6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1895" b="96632" l="543" r="97283">
                          <a14:foregroundMark x1="50042" y1="12244" x2="36739" y2="5895"/>
                          <a14:foregroundMark x1="57985" y1="16034" x2="57540" y2="15821"/>
                          <a14:foregroundMark x1="59239" y1="16632" x2="58355" y2="16210"/>
                          <a14:foregroundMark x1="36739" y1="5895" x2="20435" y2="7158"/>
                          <a14:foregroundMark x1="12737" y1="15836" x2="6522" y2="22842"/>
                          <a14:foregroundMark x1="20435" y1="7158" x2="15617" y2="12589"/>
                          <a14:foregroundMark x1="6522" y1="22842" x2="5435" y2="74421"/>
                          <a14:foregroundMark x1="5435" y1="74421" x2="11957" y2="90842"/>
                          <a14:foregroundMark x1="11957" y1="90842" x2="33587" y2="94947"/>
                          <a14:foregroundMark x1="33587" y1="94947" x2="55435" y2="90526"/>
                          <a14:foregroundMark x1="55435" y1="90526" x2="63043" y2="80000"/>
                          <a14:foregroundMark x1="44565" y1="47263" x2="78696" y2="44632"/>
                          <a14:foregroundMark x1="77496" y1="56958" x2="76739" y2="64737"/>
                          <a14:foregroundMark x1="78696" y1="44632" x2="77613" y2="55759"/>
                          <a14:foregroundMark x1="76739" y1="64737" x2="95000" y2="53684"/>
                          <a14:foregroundMark x1="95000" y1="53684" x2="79239" y2="39368"/>
                          <a14:foregroundMark x1="79239" y1="39368" x2="77065" y2="35895"/>
                          <a14:foregroundMark x1="79130" y1="47579" x2="38804" y2="50632"/>
                          <a14:foregroundMark x1="38804" y1="50632" x2="81630" y2="47789"/>
                          <a14:foregroundMark x1="81630" y1="47789" x2="82500" y2="47789"/>
                          <a14:foregroundMark x1="75870" y1="41158" x2="90479" y2="39510"/>
                          <a14:foregroundMark x1="91797" y1="39625" x2="94783" y2="52737"/>
                          <a14:foregroundMark x1="97065" y1="49579" x2="97391" y2="52105"/>
                          <a14:foregroundMark x1="54365" y1="11816" x2="43913" y2="2526"/>
                          <a14:foregroundMark x1="59072" y1="16000" x2="57962" y2="15013"/>
                          <a14:foregroundMark x1="59783" y1="16632" x2="59072" y2="16000"/>
                          <a14:foregroundMark x1="43913" y1="2526" x2="15761" y2="3579"/>
                          <a14:foregroundMark x1="15761" y1="3579" x2="1413" y2="14842"/>
                          <a14:foregroundMark x1="1413" y1="14842" x2="978" y2="72737"/>
                          <a14:foregroundMark x1="978" y1="72737" x2="9783" y2="23579"/>
                          <a14:foregroundMark x1="23895" y1="12054" x2="24348" y2="11684"/>
                          <a14:foregroundMark x1="9783" y1="23579" x2="12657" y2="21232"/>
                          <a14:foregroundMark x1="56397" y1="12187" x2="57935" y2="12211"/>
                          <a14:foregroundMark x1="24348" y1="11684" x2="49938" y2="12086"/>
                          <a14:foregroundMark x1="58952" y1="14352" x2="60435" y2="17474"/>
                          <a14:foregroundMark x1="57935" y1="12211" x2="58861" y2="14161"/>
                          <a14:foregroundMark x1="61630" y1="17789" x2="53043" y2="3579"/>
                          <a14:foregroundMark x1="53043" y1="3579" x2="45543" y2="4947"/>
                          <a14:foregroundMark x1="53587" y1="1895" x2="67283" y2="9368"/>
                          <a14:foregroundMark x1="67283" y1="9368" x2="60978" y2="9474"/>
                          <a14:foregroundMark x1="8261" y1="8421" x2="217" y2="51579"/>
                          <a14:foregroundMark x1="217" y1="51579" x2="1087" y2="72000"/>
                          <a14:foregroundMark x1="1087" y1="72000" x2="9891" y2="34211"/>
                          <a14:foregroundMark x1="3261" y1="77684" x2="9239" y2="96842"/>
                          <a14:foregroundMark x1="9239" y1="96842" x2="35652" y2="98737"/>
                          <a14:foregroundMark x1="35652" y1="98737" x2="55435" y2="94000"/>
                          <a14:foregroundMark x1="55435" y1="94000" x2="67609" y2="84211"/>
                          <a14:foregroundMark x1="67609" y1="84211" x2="51413" y2="92632"/>
                          <a14:foregroundMark x1="13242" y1="84716" x2="652" y2="82105"/>
                          <a14:foregroundMark x1="27115" y1="87593" x2="26755" y2="87518"/>
                          <a14:foregroundMark x1="51413" y1="92632" x2="28349" y2="87849"/>
                          <a14:foregroundMark x1="652" y1="82105" x2="1304" y2="79579"/>
                          <a14:foregroundMark x1="21630" y1="94632" x2="47065" y2="96632"/>
                          <a14:foregroundMark x1="47065" y1="96632" x2="65000" y2="90211"/>
                          <a14:foregroundMark x1="65000" y1="90211" x2="69022" y2="86947"/>
                          <a14:backgroundMark x1="52717" y1="18842" x2="22500" y2="24105"/>
                          <a14:backgroundMark x1="22500" y1="24105" x2="20326" y2="44632"/>
                          <a14:backgroundMark x1="20326" y1="44632" x2="28913" y2="62842"/>
                          <a14:backgroundMark x1="28913" y1="62842" x2="42500" y2="70105"/>
                          <a14:backgroundMark x1="42500" y1="70105" x2="58152" y2="64105"/>
                          <a14:backgroundMark x1="58152" y1="64105" x2="72717" y2="74947"/>
                          <a14:backgroundMark x1="72717" y1="74947" x2="72717" y2="75053"/>
                          <a14:backgroundMark x1="24783" y1="14737" x2="14565" y2="20947"/>
                          <a14:backgroundMark x1="22391" y1="14526" x2="14348" y2="19579"/>
                          <a14:backgroundMark x1="51196" y1="13895" x2="56413" y2="16421"/>
                          <a14:backgroundMark x1="56630" y1="16421" x2="57391" y2="16105"/>
                          <a14:backgroundMark x1="57609" y1="17474" x2="55978" y2="13368"/>
                          <a14:backgroundMark x1="52065" y1="13053" x2="51304" y2="12947"/>
                          <a14:backgroundMark x1="55109" y1="13158" x2="57283" y2="16211"/>
                          <a14:backgroundMark x1="57065" y1="14632" x2="57283" y2="16000"/>
                          <a14:backgroundMark x1="57065" y1="15579" x2="57500" y2="15579"/>
                          <a14:backgroundMark x1="57500" y1="16000" x2="57500" y2="16000"/>
                          <a14:backgroundMark x1="57609" y1="16105" x2="57500" y2="15474"/>
                          <a14:backgroundMark x1="58043" y1="16211" x2="58043" y2="15263"/>
                          <a14:backgroundMark x1="57826" y1="15053" x2="57717" y2="14842"/>
                          <a14:backgroundMark x1="56413" y1="13579" x2="50652" y2="12526"/>
                          <a14:backgroundMark x1="51087" y1="12842" x2="50435" y2="12842"/>
                          <a14:backgroundMark x1="24674" y1="13263" x2="21304" y2="13158"/>
                          <a14:backgroundMark x1="15326" y1="13158" x2="13587" y2="15789"/>
                          <a14:backgroundMark x1="13587" y1="18632" x2="13478" y2="21263"/>
                          <a14:backgroundMark x1="16304" y1="13158" x2="12935" y2="16000"/>
                          <a14:backgroundMark x1="15870" y1="12842" x2="15870" y2="13053"/>
                          <a14:backgroundMark x1="92283" y1="39789" x2="91848" y2="39263"/>
                          <a14:backgroundMark x1="91087" y1="37263" x2="91848" y2="38421"/>
                          <a14:backgroundMark x1="92717" y1="39368" x2="91522" y2="38632"/>
                          <a14:backgroundMark x1="92283" y1="39368" x2="91630" y2="38421"/>
                          <a14:backgroundMark x1="90326" y1="37053" x2="92609" y2="38947"/>
                          <a14:backgroundMark x1="92609" y1="39789" x2="92283" y2="39263"/>
                          <a14:backgroundMark x1="76957" y1="57053" x2="77609" y2="56737"/>
                          <a14:backgroundMark x1="14130" y1="83579" x2="26957" y2="86737"/>
                          <a14:backgroundMark x1="27935" y1="87263" x2="26957" y2="87368"/>
                          <a14:backgroundMark x1="13587" y1="85263" x2="13587" y2="84632"/>
                          <a14:backgroundMark x1="25761" y1="87474" x2="26848" y2="87368"/>
                          <a14:backgroundMark x1="13370" y1="84842" x2="13370" y2="84737"/>
                          <a14:backgroundMark x1="13152" y1="84947" x2="13043" y2="84842"/>
                          <a14:backgroundMark x1="13261" y1="85053" x2="13152" y2="84842"/>
                          <a14:backgroundMark x1="13152" y1="84842" x2="13370" y2="8410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96465" y="1858030"/>
              <a:ext cx="341153" cy="352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Imagen 43">
              <a:extLst>
                <a:ext uri="{FF2B5EF4-FFF2-40B4-BE49-F238E27FC236}">
                  <a16:creationId xmlns:a16="http://schemas.microsoft.com/office/drawing/2014/main" id="{0BF86ECF-8BD5-F348-D233-F53562BB94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5233" t="14388" r="27148" b="24106"/>
            <a:stretch/>
          </p:blipFill>
          <p:spPr>
            <a:xfrm>
              <a:off x="14990547" y="6871881"/>
              <a:ext cx="407047" cy="556704"/>
            </a:xfrm>
            <a:prstGeom prst="rect">
              <a:avLst/>
            </a:prstGeom>
          </p:spPr>
        </p:pic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38AE216B-0A05-0733-03E4-21AD1A423107}"/>
                </a:ext>
              </a:extLst>
            </p:cNvPr>
            <p:cNvSpPr txBox="1"/>
            <p:nvPr/>
          </p:nvSpPr>
          <p:spPr>
            <a:xfrm>
              <a:off x="12330984" y="2741331"/>
              <a:ext cx="10065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*ESPECIE:</a:t>
              </a:r>
              <a:endParaRPr kumimoji="0" lang="es-P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48" name="Imagen 47">
              <a:extLst>
                <a:ext uri="{FF2B5EF4-FFF2-40B4-BE49-F238E27FC236}">
                  <a16:creationId xmlns:a16="http://schemas.microsoft.com/office/drawing/2014/main" id="{509252C4-99ED-F9D8-EE17-4D0574512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249245" y="2730869"/>
              <a:ext cx="1324774" cy="319763"/>
            </a:xfrm>
            <a:prstGeom prst="rect">
              <a:avLst/>
            </a:prstGeom>
          </p:spPr>
        </p:pic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9D5BE65D-AE15-31B5-9140-2DB1B552A0C4}"/>
                </a:ext>
              </a:extLst>
            </p:cNvPr>
            <p:cNvSpPr txBox="1"/>
            <p:nvPr/>
          </p:nvSpPr>
          <p:spPr>
            <a:xfrm>
              <a:off x="13259758" y="2789550"/>
              <a:ext cx="9538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CHRYSOPAS</a:t>
              </a:r>
              <a:endPara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C6A160E0-7B77-223C-AB38-C26569093C09}"/>
                </a:ext>
              </a:extLst>
            </p:cNvPr>
            <p:cNvSpPr/>
            <p:nvPr/>
          </p:nvSpPr>
          <p:spPr>
            <a:xfrm>
              <a:off x="14350868" y="2731365"/>
              <a:ext cx="223773" cy="270486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</a:t>
              </a:r>
              <a:endPara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199A0058-E53C-9F0C-EFF3-44FDED9A5853}"/>
                </a:ext>
              </a:extLst>
            </p:cNvPr>
            <p:cNvSpPr/>
            <p:nvPr/>
          </p:nvSpPr>
          <p:spPr>
            <a:xfrm>
              <a:off x="12233401" y="3225539"/>
              <a:ext cx="3881297" cy="5623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504AE1A3-DA99-CB07-9292-2A40AABCB9E3}"/>
                </a:ext>
              </a:extLst>
            </p:cNvPr>
            <p:cNvSpPr/>
            <p:nvPr/>
          </p:nvSpPr>
          <p:spPr>
            <a:xfrm>
              <a:off x="12241237" y="5556907"/>
              <a:ext cx="3881297" cy="27031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DB7C185F-CC66-E6DD-C150-B2CE2D3D15DA}"/>
                </a:ext>
              </a:extLst>
            </p:cNvPr>
            <p:cNvSpPr/>
            <p:nvPr/>
          </p:nvSpPr>
          <p:spPr>
            <a:xfrm>
              <a:off x="14253753" y="2320960"/>
              <a:ext cx="286549" cy="28142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</a:t>
              </a:r>
              <a:endPara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31F606DE-83B4-23F7-68F5-A1767160D7CE}"/>
                </a:ext>
              </a:extLst>
            </p:cNvPr>
            <p:cNvSpPr/>
            <p:nvPr/>
          </p:nvSpPr>
          <p:spPr>
            <a:xfrm>
              <a:off x="12290676" y="2317491"/>
              <a:ext cx="2236191" cy="29409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919D87E3-B21A-0A81-E566-12CD295351F4}"/>
                </a:ext>
              </a:extLst>
            </p:cNvPr>
            <p:cNvSpPr/>
            <p:nvPr/>
          </p:nvSpPr>
          <p:spPr>
            <a:xfrm>
              <a:off x="12280810" y="2723148"/>
              <a:ext cx="2265514" cy="339847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0F0D93CB-E4E2-06B7-066B-E34BBD703023}"/>
                </a:ext>
              </a:extLst>
            </p:cNvPr>
            <p:cNvCxnSpPr>
              <a:cxnSpLocks/>
              <a:stCxn id="20" idx="1"/>
              <a:endCxn id="56" idx="3"/>
            </p:cNvCxnSpPr>
            <p:nvPr/>
          </p:nvCxnSpPr>
          <p:spPr>
            <a:xfrm flipH="1" flipV="1">
              <a:off x="14546324" y="2893072"/>
              <a:ext cx="1721825" cy="21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52" name="Conector: angular 3151">
              <a:extLst>
                <a:ext uri="{FF2B5EF4-FFF2-40B4-BE49-F238E27FC236}">
                  <a16:creationId xmlns:a16="http://schemas.microsoft.com/office/drawing/2014/main" id="{58EAF9F8-D625-A851-FC94-E22F518947DC}"/>
                </a:ext>
              </a:extLst>
            </p:cNvPr>
            <p:cNvCxnSpPr>
              <a:cxnSpLocks/>
              <a:stCxn id="55" idx="1"/>
            </p:cNvCxnSpPr>
            <p:nvPr/>
          </p:nvCxnSpPr>
          <p:spPr>
            <a:xfrm rot="10800000" flipH="1" flipV="1">
              <a:off x="12290675" y="2464537"/>
              <a:ext cx="146603" cy="2280912"/>
            </a:xfrm>
            <a:prstGeom prst="bentConnector4">
              <a:avLst>
                <a:gd name="adj1" fmla="val -155931"/>
                <a:gd name="adj2" fmla="val 99994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164" name="Cerrar llave 3163">
              <a:extLst>
                <a:ext uri="{FF2B5EF4-FFF2-40B4-BE49-F238E27FC236}">
                  <a16:creationId xmlns:a16="http://schemas.microsoft.com/office/drawing/2014/main" id="{7104AFA7-B4E0-4195-27F7-1278DE96E6B0}"/>
                </a:ext>
              </a:extLst>
            </p:cNvPr>
            <p:cNvSpPr/>
            <p:nvPr/>
          </p:nvSpPr>
          <p:spPr>
            <a:xfrm>
              <a:off x="15533574" y="3510822"/>
              <a:ext cx="573596" cy="2008959"/>
            </a:xfrm>
            <a:prstGeom prst="rightBrace">
              <a:avLst>
                <a:gd name="adj1" fmla="val 8333"/>
                <a:gd name="adj2" fmla="val 50632"/>
              </a:avLst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3166" name="Imagen 3165">
            <a:extLst>
              <a:ext uri="{FF2B5EF4-FFF2-40B4-BE49-F238E27FC236}">
                <a16:creationId xmlns:a16="http://schemas.microsoft.com/office/drawing/2014/main" id="{8D09D728-550B-C200-4A1A-C57860EB2C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19990" y="3639300"/>
            <a:ext cx="2995804" cy="1755054"/>
          </a:xfrm>
          <a:prstGeom prst="rect">
            <a:avLst/>
          </a:prstGeom>
        </p:spPr>
      </p:pic>
      <p:sp>
        <p:nvSpPr>
          <p:cNvPr id="3167" name="Rectángulo 3166">
            <a:extLst>
              <a:ext uri="{FF2B5EF4-FFF2-40B4-BE49-F238E27FC236}">
                <a16:creationId xmlns:a16="http://schemas.microsoft.com/office/drawing/2014/main" id="{3AEA70CD-ABD7-FC9D-DE56-2800CDB9B0E4}"/>
              </a:ext>
            </a:extLst>
          </p:cNvPr>
          <p:cNvSpPr/>
          <p:nvPr/>
        </p:nvSpPr>
        <p:spPr>
          <a:xfrm>
            <a:off x="14647611" y="2312808"/>
            <a:ext cx="1345077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5000 </a:t>
            </a:r>
            <a:r>
              <a:rPr lang="es-MX" sz="1200" b="1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mill</a:t>
            </a:r>
            <a:r>
              <a:rPr lang="es-MX" sz="1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s-PE" sz="12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74" name="CuadroTexto 3173">
            <a:extLst>
              <a:ext uri="{FF2B5EF4-FFF2-40B4-BE49-F238E27FC236}">
                <a16:creationId xmlns:a16="http://schemas.microsoft.com/office/drawing/2014/main" id="{DD795FDF-349A-2169-D965-FC33C0A7AF8B}"/>
              </a:ext>
            </a:extLst>
          </p:cNvPr>
          <p:cNvSpPr txBox="1"/>
          <p:nvPr/>
        </p:nvSpPr>
        <p:spPr>
          <a:xfrm>
            <a:off x="16248879" y="5811588"/>
            <a:ext cx="1911865" cy="33239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Una vez </a:t>
            </a:r>
            <a:r>
              <a:rPr lang="es-MX" sz="1400" dirty="0">
                <a:solidFill>
                  <a:prstClr val="black"/>
                </a:solidFill>
                <a:latin typeface="Calibri"/>
              </a:rPr>
              <a:t>publicado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la proyección de la semana debe  llegar una notificación al usuario sanidad 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s-MX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autobot-watsap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)al instante.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sz="1400" dirty="0">
              <a:solidFill>
                <a:prstClr val="black"/>
              </a:solidFill>
              <a:highlight>
                <a:srgbClr val="FFFF00"/>
              </a:highlight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 no hay respuesta hasta las 12 pm del mismo día, la notificación sea lo mismo al </a:t>
            </a:r>
            <a:r>
              <a:rPr kumimoji="0" lang="es-MX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watsap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 por </a:t>
            </a:r>
            <a:r>
              <a:rPr kumimoji="0" lang="es-MX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autoboot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 + un correo electrónico .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riángulo isósceles 52">
            <a:extLst>
              <a:ext uri="{FF2B5EF4-FFF2-40B4-BE49-F238E27FC236}">
                <a16:creationId xmlns:a16="http://schemas.microsoft.com/office/drawing/2014/main" id="{4C91F39C-2C21-8E07-F726-5D5E4EC91545}"/>
              </a:ext>
            </a:extLst>
          </p:cNvPr>
          <p:cNvSpPr/>
          <p:nvPr/>
        </p:nvSpPr>
        <p:spPr>
          <a:xfrm rot="16200000">
            <a:off x="4945788" y="2741374"/>
            <a:ext cx="3308740" cy="1795851"/>
          </a:xfrm>
          <a:prstGeom prst="triangle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cxnSp>
        <p:nvCxnSpPr>
          <p:cNvPr id="62" name="Conector: angular 61">
            <a:extLst>
              <a:ext uri="{FF2B5EF4-FFF2-40B4-BE49-F238E27FC236}">
                <a16:creationId xmlns:a16="http://schemas.microsoft.com/office/drawing/2014/main" id="{AA5A8C87-C6DA-A710-AC40-C2F389C8607E}"/>
              </a:ext>
            </a:extLst>
          </p:cNvPr>
          <p:cNvCxnSpPr>
            <a:cxnSpLocks/>
            <a:stCxn id="19" idx="1"/>
          </p:cNvCxnSpPr>
          <p:nvPr/>
        </p:nvCxnSpPr>
        <p:spPr>
          <a:xfrm rot="10800000" flipV="1">
            <a:off x="13182600" y="1380899"/>
            <a:ext cx="3021224" cy="906108"/>
          </a:xfrm>
          <a:prstGeom prst="bentConnector3">
            <a:avLst>
              <a:gd name="adj1" fmla="val 99939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145" name="Imagen 3144">
            <a:extLst>
              <a:ext uri="{FF2B5EF4-FFF2-40B4-BE49-F238E27FC236}">
                <a16:creationId xmlns:a16="http://schemas.microsoft.com/office/drawing/2014/main" id="{85F01995-5CE6-F796-302B-1AA1ED4E8B0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5233" t="14388" r="27148" b="24106"/>
          <a:stretch/>
        </p:blipFill>
        <p:spPr>
          <a:xfrm rot="16454462">
            <a:off x="10845021" y="2137886"/>
            <a:ext cx="407047" cy="556704"/>
          </a:xfrm>
          <a:prstGeom prst="rect">
            <a:avLst/>
          </a:prstGeom>
        </p:spPr>
      </p:pic>
      <p:cxnSp>
        <p:nvCxnSpPr>
          <p:cNvPr id="3154" name="Conector: angular 3153">
            <a:extLst>
              <a:ext uri="{FF2B5EF4-FFF2-40B4-BE49-F238E27FC236}">
                <a16:creationId xmlns:a16="http://schemas.microsoft.com/office/drawing/2014/main" id="{31651415-0D6B-B28C-585D-FE7D9B3D440E}"/>
              </a:ext>
            </a:extLst>
          </p:cNvPr>
          <p:cNvCxnSpPr>
            <a:cxnSpLocks/>
            <a:stCxn id="3338" idx="3"/>
            <a:endCxn id="3328" idx="2"/>
          </p:cNvCxnSpPr>
          <p:nvPr/>
        </p:nvCxnSpPr>
        <p:spPr>
          <a:xfrm flipV="1">
            <a:off x="9929115" y="3757126"/>
            <a:ext cx="771600" cy="199058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82" name="Conector: angular 3181">
            <a:extLst>
              <a:ext uri="{FF2B5EF4-FFF2-40B4-BE49-F238E27FC236}">
                <a16:creationId xmlns:a16="http://schemas.microsoft.com/office/drawing/2014/main" id="{6A812656-F3A0-19AB-0321-330B93916456}"/>
              </a:ext>
            </a:extLst>
          </p:cNvPr>
          <p:cNvCxnSpPr/>
          <p:nvPr/>
        </p:nvCxnSpPr>
        <p:spPr>
          <a:xfrm rot="10800000">
            <a:off x="13472161" y="5379114"/>
            <a:ext cx="2752551" cy="1106150"/>
          </a:xfrm>
          <a:prstGeom prst="bentConnector3">
            <a:avLst>
              <a:gd name="adj1" fmla="val 100937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271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4B2F5193-93CC-9BB6-43B9-9BED81B36B1C}"/>
              </a:ext>
            </a:extLst>
          </p:cNvPr>
          <p:cNvCxnSpPr>
            <a:cxnSpLocks/>
          </p:cNvCxnSpPr>
          <p:nvPr/>
        </p:nvCxnSpPr>
        <p:spPr>
          <a:xfrm flipV="1">
            <a:off x="8188037" y="6088920"/>
            <a:ext cx="2885" cy="379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58" name="Grupo 257">
            <a:extLst>
              <a:ext uri="{FF2B5EF4-FFF2-40B4-BE49-F238E27FC236}">
                <a16:creationId xmlns:a16="http://schemas.microsoft.com/office/drawing/2014/main" id="{7BB03ACB-A143-2B2B-727E-31BF4F863C90}"/>
              </a:ext>
            </a:extLst>
          </p:cNvPr>
          <p:cNvGrpSpPr/>
          <p:nvPr/>
        </p:nvGrpSpPr>
        <p:grpSpPr>
          <a:xfrm>
            <a:off x="4748379" y="1670075"/>
            <a:ext cx="13569278" cy="7061154"/>
            <a:chOff x="6065691" y="1612923"/>
            <a:chExt cx="13569278" cy="7061154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4A10D4B6-45DC-6EF8-EC5E-036523F90087}"/>
                </a:ext>
              </a:extLst>
            </p:cNvPr>
            <p:cNvGrpSpPr/>
            <p:nvPr/>
          </p:nvGrpSpPr>
          <p:grpSpPr>
            <a:xfrm>
              <a:off x="6065691" y="1612923"/>
              <a:ext cx="13569278" cy="7061154"/>
              <a:chOff x="7007019" y="1458674"/>
              <a:chExt cx="13569278" cy="7061154"/>
            </a:xfrm>
          </p:grpSpPr>
          <p:grpSp>
            <p:nvGrpSpPr>
              <p:cNvPr id="28" name="Grupo 27">
                <a:extLst>
                  <a:ext uri="{FF2B5EF4-FFF2-40B4-BE49-F238E27FC236}">
                    <a16:creationId xmlns:a16="http://schemas.microsoft.com/office/drawing/2014/main" id="{A6A4E93F-2DE2-632D-A52A-FEDF0DDAD0FE}"/>
                  </a:ext>
                </a:extLst>
              </p:cNvPr>
              <p:cNvGrpSpPr/>
              <p:nvPr/>
            </p:nvGrpSpPr>
            <p:grpSpPr>
              <a:xfrm>
                <a:off x="7007019" y="1458674"/>
                <a:ext cx="3898669" cy="7061154"/>
                <a:chOff x="7261168" y="1054648"/>
                <a:chExt cx="3898669" cy="7061154"/>
              </a:xfrm>
            </p:grpSpPr>
            <p:grpSp>
              <p:nvGrpSpPr>
                <p:cNvPr id="30" name="Grupo 29">
                  <a:extLst>
                    <a:ext uri="{FF2B5EF4-FFF2-40B4-BE49-F238E27FC236}">
                      <a16:creationId xmlns:a16="http://schemas.microsoft.com/office/drawing/2014/main" id="{4262F1F4-C24D-B629-0F99-D036EC845CE6}"/>
                    </a:ext>
                  </a:extLst>
                </p:cNvPr>
                <p:cNvGrpSpPr/>
                <p:nvPr/>
              </p:nvGrpSpPr>
              <p:grpSpPr>
                <a:xfrm>
                  <a:off x="7261168" y="1054648"/>
                  <a:ext cx="3898669" cy="7061154"/>
                  <a:chOff x="8772468" y="1270548"/>
                  <a:chExt cx="3898669" cy="7061154"/>
                </a:xfrm>
              </p:grpSpPr>
              <p:pic>
                <p:nvPicPr>
                  <p:cNvPr id="32" name="Imagen 31">
                    <a:extLst>
                      <a:ext uri="{FF2B5EF4-FFF2-40B4-BE49-F238E27FC236}">
                        <a16:creationId xmlns:a16="http://schemas.microsoft.com/office/drawing/2014/main" id="{35787C05-333E-6127-BC51-D63BDA8695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8772468" y="1270548"/>
                    <a:ext cx="3758066" cy="7061154"/>
                  </a:xfrm>
                  <a:prstGeom prst="rect">
                    <a:avLst/>
                  </a:prstGeom>
                  <a:ln w="38100" cap="sq">
                    <a:solidFill>
                      <a:srgbClr val="000000"/>
                    </a:solidFill>
                    <a:prstDash val="solid"/>
                    <a:miter lim="800000"/>
                  </a:ln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</p:spPr>
              </p:pic>
              <p:sp>
                <p:nvSpPr>
                  <p:cNvPr id="33" name="Rectángulo 32">
                    <a:extLst>
                      <a:ext uri="{FF2B5EF4-FFF2-40B4-BE49-F238E27FC236}">
                        <a16:creationId xmlns:a16="http://schemas.microsoft.com/office/drawing/2014/main" id="{8CB3BD4B-CA7E-4F32-DE3E-BA9332A697AB}"/>
                      </a:ext>
                    </a:extLst>
                  </p:cNvPr>
                  <p:cNvSpPr/>
                  <p:nvPr/>
                </p:nvSpPr>
                <p:spPr>
                  <a:xfrm>
                    <a:off x="8861137" y="1502881"/>
                    <a:ext cx="3810000" cy="471451"/>
                  </a:xfrm>
                  <a:prstGeom prst="rect">
                    <a:avLst/>
                  </a:prstGeom>
                  <a:solidFill>
                    <a:srgbClr val="1F497D"/>
                  </a:solidFill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E"/>
                  </a:p>
                </p:txBody>
              </p:sp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C4025758-C526-C7A8-B01D-297CF20D1DCB}"/>
                      </a:ext>
                    </a:extLst>
                  </p:cNvPr>
                  <p:cNvSpPr/>
                  <p:nvPr/>
                </p:nvSpPr>
                <p:spPr>
                  <a:xfrm>
                    <a:off x="8950159" y="1562469"/>
                    <a:ext cx="1434667" cy="3522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sz="2400" dirty="0">
                        <a:ln w="0"/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 Extra Light" panose="020B0604020202020204" pitchFamily="34" charset="0"/>
                      </a:rPr>
                      <a:t>AGROI+D</a:t>
                    </a:r>
                    <a:endParaRPr lang="es-PE" sz="2400" dirty="0">
                      <a:ln w="0"/>
                      <a:solidFill>
                        <a:schemeClr val="bg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badi Extra Light" panose="020B0604020202020204" pitchFamily="34" charset="0"/>
                    </a:endParaRPr>
                  </a:p>
                </p:txBody>
              </p:sp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7AFA28C6-1DFE-340F-B433-87593904D71D}"/>
                      </a:ext>
                    </a:extLst>
                  </p:cNvPr>
                  <p:cNvSpPr/>
                  <p:nvPr/>
                </p:nvSpPr>
                <p:spPr>
                  <a:xfrm>
                    <a:off x="9029337" y="2184034"/>
                    <a:ext cx="3474972" cy="360799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E"/>
                  </a:p>
                </p:txBody>
              </p:sp>
            </p:grpSp>
            <p:pic>
              <p:nvPicPr>
                <p:cNvPr id="31" name="Imagen 30">
                  <a:extLst>
                    <a:ext uri="{FF2B5EF4-FFF2-40B4-BE49-F238E27FC236}">
                      <a16:creationId xmlns:a16="http://schemas.microsoft.com/office/drawing/2014/main" id="{4ADC27B8-E61F-7C30-EAE6-F622513836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38859" y="2304884"/>
                  <a:ext cx="3474972" cy="1077218"/>
                </a:xfrm>
                <a:prstGeom prst="rect">
                  <a:avLst/>
                </a:prstGeom>
              </p:spPr>
            </p:pic>
          </p:grpSp>
          <p:pic>
            <p:nvPicPr>
              <p:cNvPr id="29" name="Picture 4" descr="Gráficos escalables iconos de computadora gráficos de red portátiles, icono  de salida, cdr, texto, icono de salida png | PNGWing">
                <a:extLst>
                  <a:ext uri="{FF2B5EF4-FFF2-40B4-BE49-F238E27FC236}">
                    <a16:creationId xmlns:a16="http://schemas.microsoft.com/office/drawing/2014/main" id="{A2AF5C68-8CE3-1DA6-3802-9AA0C26F5D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895" b="96632" l="543" r="97283">
                            <a14:foregroundMark x1="50042" y1="12244" x2="36739" y2="5895"/>
                            <a14:foregroundMark x1="57985" y1="16034" x2="57540" y2="15821"/>
                            <a14:foregroundMark x1="59239" y1="16632" x2="58355" y2="16210"/>
                            <a14:foregroundMark x1="36739" y1="5895" x2="20435" y2="7158"/>
                            <a14:foregroundMark x1="12737" y1="15836" x2="6522" y2="22842"/>
                            <a14:foregroundMark x1="20435" y1="7158" x2="15617" y2="12589"/>
                            <a14:foregroundMark x1="6522" y1="22842" x2="5435" y2="74421"/>
                            <a14:foregroundMark x1="5435" y1="74421" x2="11957" y2="90842"/>
                            <a14:foregroundMark x1="11957" y1="90842" x2="33587" y2="94947"/>
                            <a14:foregroundMark x1="33587" y1="94947" x2="55435" y2="90526"/>
                            <a14:foregroundMark x1="55435" y1="90526" x2="63043" y2="80000"/>
                            <a14:foregroundMark x1="44565" y1="47263" x2="78696" y2="44632"/>
                            <a14:foregroundMark x1="77496" y1="56958" x2="76739" y2="64737"/>
                            <a14:foregroundMark x1="78696" y1="44632" x2="77613" y2="55759"/>
                            <a14:foregroundMark x1="76739" y1="64737" x2="95000" y2="53684"/>
                            <a14:foregroundMark x1="95000" y1="53684" x2="79239" y2="39368"/>
                            <a14:foregroundMark x1="79239" y1="39368" x2="77065" y2="35895"/>
                            <a14:foregroundMark x1="79130" y1="47579" x2="38804" y2="50632"/>
                            <a14:foregroundMark x1="38804" y1="50632" x2="81630" y2="47789"/>
                            <a14:foregroundMark x1="81630" y1="47789" x2="82500" y2="47789"/>
                            <a14:foregroundMark x1="75870" y1="41158" x2="90479" y2="39510"/>
                            <a14:foregroundMark x1="91797" y1="39625" x2="94783" y2="52737"/>
                            <a14:foregroundMark x1="97065" y1="49579" x2="97391" y2="52105"/>
                            <a14:foregroundMark x1="54365" y1="11816" x2="43913" y2="2526"/>
                            <a14:foregroundMark x1="59072" y1="16000" x2="57962" y2="15013"/>
                            <a14:foregroundMark x1="59783" y1="16632" x2="59072" y2="16000"/>
                            <a14:foregroundMark x1="43913" y1="2526" x2="15761" y2="3579"/>
                            <a14:foregroundMark x1="15761" y1="3579" x2="1413" y2="14842"/>
                            <a14:foregroundMark x1="1413" y1="14842" x2="978" y2="72737"/>
                            <a14:foregroundMark x1="978" y1="72737" x2="9783" y2="23579"/>
                            <a14:foregroundMark x1="23895" y1="12054" x2="24348" y2="11684"/>
                            <a14:foregroundMark x1="9783" y1="23579" x2="12657" y2="21232"/>
                            <a14:foregroundMark x1="56397" y1="12187" x2="57935" y2="12211"/>
                            <a14:foregroundMark x1="24348" y1="11684" x2="49938" y2="12086"/>
                            <a14:foregroundMark x1="58952" y1="14352" x2="60435" y2="17474"/>
                            <a14:foregroundMark x1="57935" y1="12211" x2="58861" y2="14161"/>
                            <a14:foregroundMark x1="61630" y1="17789" x2="53043" y2="3579"/>
                            <a14:foregroundMark x1="53043" y1="3579" x2="45543" y2="4947"/>
                            <a14:foregroundMark x1="53587" y1="1895" x2="67283" y2="9368"/>
                            <a14:foregroundMark x1="67283" y1="9368" x2="60978" y2="9474"/>
                            <a14:foregroundMark x1="8261" y1="8421" x2="217" y2="51579"/>
                            <a14:foregroundMark x1="217" y1="51579" x2="1087" y2="72000"/>
                            <a14:foregroundMark x1="1087" y1="72000" x2="9891" y2="34211"/>
                            <a14:foregroundMark x1="3261" y1="77684" x2="9239" y2="96842"/>
                            <a14:foregroundMark x1="9239" y1="96842" x2="35652" y2="98737"/>
                            <a14:foregroundMark x1="35652" y1="98737" x2="55435" y2="94000"/>
                            <a14:foregroundMark x1="55435" y1="94000" x2="67609" y2="84211"/>
                            <a14:foregroundMark x1="67609" y1="84211" x2="51413" y2="92632"/>
                            <a14:foregroundMark x1="13242" y1="84716" x2="652" y2="82105"/>
                            <a14:foregroundMark x1="27115" y1="87593" x2="26755" y2="87518"/>
                            <a14:foregroundMark x1="51413" y1="92632" x2="28349" y2="87849"/>
                            <a14:foregroundMark x1="652" y1="82105" x2="1304" y2="79579"/>
                            <a14:foregroundMark x1="21630" y1="94632" x2="47065" y2="96632"/>
                            <a14:foregroundMark x1="47065" y1="96632" x2="65000" y2="90211"/>
                            <a14:foregroundMark x1="65000" y1="90211" x2="69022" y2="86947"/>
                            <a14:backgroundMark x1="52717" y1="18842" x2="22500" y2="24105"/>
                            <a14:backgroundMark x1="22500" y1="24105" x2="20326" y2="44632"/>
                            <a14:backgroundMark x1="20326" y1="44632" x2="28913" y2="62842"/>
                            <a14:backgroundMark x1="28913" y1="62842" x2="42500" y2="70105"/>
                            <a14:backgroundMark x1="42500" y1="70105" x2="58152" y2="64105"/>
                            <a14:backgroundMark x1="58152" y1="64105" x2="72717" y2="74947"/>
                            <a14:backgroundMark x1="72717" y1="74947" x2="72717" y2="75053"/>
                            <a14:backgroundMark x1="24783" y1="14737" x2="14565" y2="20947"/>
                            <a14:backgroundMark x1="22391" y1="14526" x2="14348" y2="19579"/>
                            <a14:backgroundMark x1="51196" y1="13895" x2="56413" y2="16421"/>
                            <a14:backgroundMark x1="56630" y1="16421" x2="57391" y2="16105"/>
                            <a14:backgroundMark x1="57609" y1="17474" x2="55978" y2="13368"/>
                            <a14:backgroundMark x1="52065" y1="13053" x2="51304" y2="12947"/>
                            <a14:backgroundMark x1="55109" y1="13158" x2="57283" y2="16211"/>
                            <a14:backgroundMark x1="57065" y1="14632" x2="57283" y2="16000"/>
                            <a14:backgroundMark x1="57065" y1="15579" x2="57500" y2="15579"/>
                            <a14:backgroundMark x1="57500" y1="16000" x2="57500" y2="16000"/>
                            <a14:backgroundMark x1="57609" y1="16105" x2="57500" y2="15474"/>
                            <a14:backgroundMark x1="58043" y1="16211" x2="58043" y2="15263"/>
                            <a14:backgroundMark x1="57826" y1="15053" x2="57717" y2="14842"/>
                            <a14:backgroundMark x1="56413" y1="13579" x2="50652" y2="12526"/>
                            <a14:backgroundMark x1="51087" y1="12842" x2="50435" y2="12842"/>
                            <a14:backgroundMark x1="24674" y1="13263" x2="21304" y2="13158"/>
                            <a14:backgroundMark x1="15326" y1="13158" x2="13587" y2="15789"/>
                            <a14:backgroundMark x1="13587" y1="18632" x2="13478" y2="21263"/>
                            <a14:backgroundMark x1="16304" y1="13158" x2="12935" y2="16000"/>
                            <a14:backgroundMark x1="15870" y1="12842" x2="15870" y2="13053"/>
                            <a14:backgroundMark x1="92283" y1="39789" x2="91848" y2="39263"/>
                            <a14:backgroundMark x1="91087" y1="37263" x2="91848" y2="38421"/>
                            <a14:backgroundMark x1="92717" y1="39368" x2="91522" y2="38632"/>
                            <a14:backgroundMark x1="92283" y1="39368" x2="91630" y2="38421"/>
                            <a14:backgroundMark x1="90326" y1="37053" x2="92609" y2="38947"/>
                            <a14:backgroundMark x1="92609" y1="39789" x2="92283" y2="39263"/>
                            <a14:backgroundMark x1="76957" y1="57053" x2="77609" y2="56737"/>
                            <a14:backgroundMark x1="14130" y1="83579" x2="26957" y2="86737"/>
                            <a14:backgroundMark x1="27935" y1="87263" x2="26957" y2="87368"/>
                            <a14:backgroundMark x1="13587" y1="85263" x2="13587" y2="84632"/>
                            <a14:backgroundMark x1="25761" y1="87474" x2="26848" y2="87368"/>
                            <a14:backgroundMark x1="13370" y1="84842" x2="13370" y2="84737"/>
                            <a14:backgroundMark x1="13152" y1="84947" x2="13043" y2="84842"/>
                            <a14:backgroundMark x1="13261" y1="85053" x2="13152" y2="84842"/>
                            <a14:backgroundMark x1="13152" y1="84842" x2="13370" y2="8410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09972" y="1738760"/>
                <a:ext cx="341153" cy="3522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8DF233BE-2C08-7BD9-A8DE-8FE149BEEE2D}"/>
                  </a:ext>
                </a:extLst>
              </p:cNvPr>
              <p:cNvSpPr txBox="1"/>
              <p:nvPr/>
            </p:nvSpPr>
            <p:spPr>
              <a:xfrm>
                <a:off x="7421283" y="2783285"/>
                <a:ext cx="283252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600" b="1"/>
                  <a:t>Fecha de Solicitud: 08/07/2025</a:t>
                </a:r>
              </a:p>
              <a:p>
                <a:r>
                  <a:rPr lang="es-MX" sz="1600" b="1"/>
                  <a:t>Especie: Chrysopas</a:t>
                </a:r>
              </a:p>
              <a:p>
                <a:r>
                  <a:rPr lang="es-MX" sz="1600" b="1"/>
                  <a:t>Estado: PENDIENTE</a:t>
                </a:r>
              </a:p>
            </p:txBody>
          </p:sp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A60317E9-5984-AB23-FDBF-5F9EB79013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53807" y="3315212"/>
                <a:ext cx="378733" cy="379688"/>
              </a:xfrm>
              <a:prstGeom prst="rect">
                <a:avLst/>
              </a:prstGeom>
            </p:spPr>
          </p:pic>
          <p:pic>
            <p:nvPicPr>
              <p:cNvPr id="144" name="Imagen 143">
                <a:extLst>
                  <a:ext uri="{FF2B5EF4-FFF2-40B4-BE49-F238E27FC236}">
                    <a16:creationId xmlns:a16="http://schemas.microsoft.com/office/drawing/2014/main" id="{0E78548B-28AA-74ED-84AE-98C9ACB4DC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73344" y="3800989"/>
                <a:ext cx="3474972" cy="1077218"/>
              </a:xfrm>
              <a:prstGeom prst="rect">
                <a:avLst/>
              </a:prstGeom>
            </p:spPr>
          </p:pic>
          <p:pic>
            <p:nvPicPr>
              <p:cNvPr id="146" name="Imagen 145">
                <a:extLst>
                  <a:ext uri="{FF2B5EF4-FFF2-40B4-BE49-F238E27FC236}">
                    <a16:creationId xmlns:a16="http://schemas.microsoft.com/office/drawing/2014/main" id="{8E3820CB-2FCE-EDA7-DA4A-9259C00D47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42441" y="4342417"/>
                <a:ext cx="378733" cy="379688"/>
              </a:xfrm>
              <a:prstGeom prst="rect">
                <a:avLst/>
              </a:prstGeom>
            </p:spPr>
          </p:pic>
          <p:sp>
            <p:nvSpPr>
              <p:cNvPr id="162" name="CuadroTexto 161">
                <a:extLst>
                  <a:ext uri="{FF2B5EF4-FFF2-40B4-BE49-F238E27FC236}">
                    <a16:creationId xmlns:a16="http://schemas.microsoft.com/office/drawing/2014/main" id="{F0649BE9-040E-6D1D-71A5-CC855CFFB0B5}"/>
                  </a:ext>
                </a:extLst>
              </p:cNvPr>
              <p:cNvSpPr txBox="1"/>
              <p:nvPr/>
            </p:nvSpPr>
            <p:spPr>
              <a:xfrm>
                <a:off x="7361863" y="3833837"/>
                <a:ext cx="278493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600" b="1"/>
                  <a:t>Fecha de Solicitud:01/07/2025</a:t>
                </a:r>
              </a:p>
              <a:p>
                <a:r>
                  <a:rPr lang="es-MX" sz="1600" b="1"/>
                  <a:t>Especie: Chrysopas</a:t>
                </a:r>
              </a:p>
              <a:p>
                <a:r>
                  <a:rPr lang="es-MX" sz="1600" b="1"/>
                  <a:t>Estado: APROBADO</a:t>
                </a:r>
              </a:p>
            </p:txBody>
          </p:sp>
          <p:sp>
            <p:nvSpPr>
              <p:cNvPr id="176" name="CuadroTexto 175">
                <a:extLst>
                  <a:ext uri="{FF2B5EF4-FFF2-40B4-BE49-F238E27FC236}">
                    <a16:creationId xmlns:a16="http://schemas.microsoft.com/office/drawing/2014/main" id="{F545DDF1-3B63-DE08-9D4D-57232A7FE754}"/>
                  </a:ext>
                </a:extLst>
              </p:cNvPr>
              <p:cNvSpPr txBox="1"/>
              <p:nvPr/>
            </p:nvSpPr>
            <p:spPr>
              <a:xfrm>
                <a:off x="7157063" y="2220116"/>
                <a:ext cx="11675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600" b="1"/>
                  <a:t>FECHA:</a:t>
                </a:r>
                <a:endParaRPr lang="es-PE" sz="1600" b="1"/>
              </a:p>
            </p:txBody>
          </p:sp>
          <p:sp>
            <p:nvSpPr>
              <p:cNvPr id="204" name="Rectángulo: esquinas redondeadas 203">
                <a:extLst>
                  <a:ext uri="{FF2B5EF4-FFF2-40B4-BE49-F238E27FC236}">
                    <a16:creationId xmlns:a16="http://schemas.microsoft.com/office/drawing/2014/main" id="{93B10260-29BA-0EB9-AC51-99F911BF2096}"/>
                  </a:ext>
                </a:extLst>
              </p:cNvPr>
              <p:cNvSpPr/>
              <p:nvPr/>
            </p:nvSpPr>
            <p:spPr>
              <a:xfrm>
                <a:off x="7254542" y="2756492"/>
                <a:ext cx="3380312" cy="1019384"/>
              </a:xfrm>
              <a:prstGeom prst="roundRect">
                <a:avLst/>
              </a:prstGeom>
              <a:solidFill>
                <a:srgbClr val="FFFF69">
                  <a:alpha val="5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dirty="0"/>
              </a:p>
            </p:txBody>
          </p:sp>
          <p:sp>
            <p:nvSpPr>
              <p:cNvPr id="227" name="CuadroTexto 226">
                <a:extLst>
                  <a:ext uri="{FF2B5EF4-FFF2-40B4-BE49-F238E27FC236}">
                    <a16:creationId xmlns:a16="http://schemas.microsoft.com/office/drawing/2014/main" id="{674F005D-3098-9217-F407-02392AC8BE99}"/>
                  </a:ext>
                </a:extLst>
              </p:cNvPr>
              <p:cNvSpPr txBox="1"/>
              <p:nvPr/>
            </p:nvSpPr>
            <p:spPr>
              <a:xfrm>
                <a:off x="10983479" y="2523527"/>
                <a:ext cx="2193899" cy="289310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MX" sz="1400" b="1" dirty="0"/>
                  <a:t>Amarillo</a:t>
                </a:r>
                <a:r>
                  <a:rPr lang="es-MX" sz="1400" dirty="0"/>
                  <a:t>: Cada vez que se genere una nueva solicitud se debe poner en automático el estado en </a:t>
                </a:r>
                <a:r>
                  <a:rPr lang="es-MX" sz="1400" b="1" dirty="0"/>
                  <a:t>Pendiente</a:t>
                </a:r>
                <a:r>
                  <a:rPr lang="es-MX" sz="1400" dirty="0"/>
                  <a:t>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MX" sz="1400" dirty="0"/>
                  <a:t>Si al editar la solicitud se selecciona la opción a </a:t>
                </a:r>
                <a:r>
                  <a:rPr lang="es-MX" sz="1400" b="1" dirty="0"/>
                  <a:t>"Aprobado"</a:t>
                </a:r>
                <a:r>
                  <a:rPr lang="es-MX" sz="1400" dirty="0"/>
                  <a:t>, el color debe cambiar </a:t>
                </a:r>
                <a:r>
                  <a:rPr lang="es-MX" sz="1400" dirty="0">
                    <a:highlight>
                      <a:srgbClr val="54CF17"/>
                    </a:highlight>
                  </a:rPr>
                  <a:t>a </a:t>
                </a:r>
                <a:r>
                  <a:rPr lang="es-MX" sz="1400" b="1" dirty="0">
                    <a:highlight>
                      <a:srgbClr val="54CF17"/>
                    </a:highlight>
                  </a:rPr>
                  <a:t>verde</a:t>
                </a:r>
                <a:r>
                  <a:rPr lang="es-MX" sz="1400" dirty="0">
                    <a:highlight>
                      <a:srgbClr val="54CF17"/>
                    </a:highlight>
                  </a:rPr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MX" sz="1400" dirty="0"/>
                  <a:t>Cuando la solicitud se marque como </a:t>
                </a:r>
                <a:r>
                  <a:rPr lang="es-MX" sz="1400" b="1" dirty="0"/>
                  <a:t>“Entregado"</a:t>
                </a:r>
                <a:r>
                  <a:rPr lang="es-MX" sz="1400" dirty="0"/>
                  <a:t>, ya no debe tener </a:t>
                </a:r>
                <a:r>
                  <a:rPr lang="es-MX" sz="1400" b="1" dirty="0"/>
                  <a:t>ningún color.</a:t>
                </a:r>
              </a:p>
            </p:txBody>
          </p:sp>
          <p:pic>
            <p:nvPicPr>
              <p:cNvPr id="231" name="Imagen 230">
                <a:extLst>
                  <a:ext uri="{FF2B5EF4-FFF2-40B4-BE49-F238E27FC236}">
                    <a16:creationId xmlns:a16="http://schemas.microsoft.com/office/drawing/2014/main" id="{8E35F4EA-3D75-C5A2-337F-160BDAECAD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06973" y="4943702"/>
                <a:ext cx="3474972" cy="1218297"/>
              </a:xfrm>
              <a:prstGeom prst="rect">
                <a:avLst/>
              </a:prstGeom>
            </p:spPr>
          </p:pic>
          <p:sp>
            <p:nvSpPr>
              <p:cNvPr id="228" name="Rectángulo: esquinas redondeadas 227">
                <a:extLst>
                  <a:ext uri="{FF2B5EF4-FFF2-40B4-BE49-F238E27FC236}">
                    <a16:creationId xmlns:a16="http://schemas.microsoft.com/office/drawing/2014/main" id="{BEC7F30E-4800-20B7-1BAB-7CBB0CDCD7B3}"/>
                  </a:ext>
                </a:extLst>
              </p:cNvPr>
              <p:cNvSpPr/>
              <p:nvPr/>
            </p:nvSpPr>
            <p:spPr>
              <a:xfrm>
                <a:off x="7230377" y="3843848"/>
                <a:ext cx="3419255" cy="979942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pic>
            <p:nvPicPr>
              <p:cNvPr id="232" name="Imagen 231">
                <a:extLst>
                  <a:ext uri="{FF2B5EF4-FFF2-40B4-BE49-F238E27FC236}">
                    <a16:creationId xmlns:a16="http://schemas.microsoft.com/office/drawing/2014/main" id="{8A43EF63-7CD3-8F88-0CE8-65CE361F5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60195" y="5497831"/>
                <a:ext cx="378733" cy="379688"/>
              </a:xfrm>
              <a:prstGeom prst="rect">
                <a:avLst/>
              </a:prstGeom>
            </p:spPr>
          </p:pic>
          <p:sp>
            <p:nvSpPr>
              <p:cNvPr id="233" name="CuadroTexto 232">
                <a:extLst>
                  <a:ext uri="{FF2B5EF4-FFF2-40B4-BE49-F238E27FC236}">
                    <a16:creationId xmlns:a16="http://schemas.microsoft.com/office/drawing/2014/main" id="{6DBBCCA3-5AD3-3A15-6D99-6C6630D5A96D}"/>
                  </a:ext>
                </a:extLst>
              </p:cNvPr>
              <p:cNvSpPr txBox="1"/>
              <p:nvPr/>
            </p:nvSpPr>
            <p:spPr>
              <a:xfrm>
                <a:off x="7408192" y="4989251"/>
                <a:ext cx="2784930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600" b="1" dirty="0"/>
                  <a:t>Fecha de Solicitud:01/07/2025</a:t>
                </a:r>
              </a:p>
              <a:p>
                <a:r>
                  <a:rPr lang="es-MX" sz="1600" b="1" dirty="0"/>
                  <a:t>Especie: </a:t>
                </a:r>
                <a:r>
                  <a:rPr lang="es-MX" sz="1600" b="1" dirty="0" err="1"/>
                  <a:t>Chrysopas</a:t>
                </a:r>
                <a:endParaRPr lang="es-MX" sz="1600" b="1" dirty="0"/>
              </a:p>
              <a:p>
                <a:r>
                  <a:rPr lang="es-MX" sz="1600" b="1" dirty="0"/>
                  <a:t>Estado: ENTREGADO</a:t>
                </a:r>
              </a:p>
              <a:p>
                <a:endParaRPr lang="es-MX" sz="1600" b="1" dirty="0"/>
              </a:p>
            </p:txBody>
          </p:sp>
          <p:sp>
            <p:nvSpPr>
              <p:cNvPr id="174" name="Rectángulo 173">
                <a:extLst>
                  <a:ext uri="{FF2B5EF4-FFF2-40B4-BE49-F238E27FC236}">
                    <a16:creationId xmlns:a16="http://schemas.microsoft.com/office/drawing/2014/main" id="{98929ACB-9951-FC28-9658-533F22DCE482}"/>
                  </a:ext>
                </a:extLst>
              </p:cNvPr>
              <p:cNvSpPr/>
              <p:nvPr/>
            </p:nvSpPr>
            <p:spPr>
              <a:xfrm>
                <a:off x="7252522" y="2692365"/>
                <a:ext cx="3416276" cy="3442842"/>
              </a:xfrm>
              <a:prstGeom prst="rect">
                <a:avLst/>
              </a:prstGeom>
              <a:noFill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194" name="Rectángulo 193">
                <a:extLst>
                  <a:ext uri="{FF2B5EF4-FFF2-40B4-BE49-F238E27FC236}">
                    <a16:creationId xmlns:a16="http://schemas.microsoft.com/office/drawing/2014/main" id="{79B6771E-F068-3E2D-C73E-E8F66B7A0572}"/>
                  </a:ext>
                </a:extLst>
              </p:cNvPr>
              <p:cNvSpPr/>
              <p:nvPr/>
            </p:nvSpPr>
            <p:spPr>
              <a:xfrm>
                <a:off x="10241338" y="5508532"/>
                <a:ext cx="378733" cy="379688"/>
              </a:xfrm>
              <a:prstGeom prst="rect">
                <a:avLst/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cxnSp>
            <p:nvCxnSpPr>
              <p:cNvPr id="237" name="Conector recto de flecha 236">
                <a:extLst>
                  <a:ext uri="{FF2B5EF4-FFF2-40B4-BE49-F238E27FC236}">
                    <a16:creationId xmlns:a16="http://schemas.microsoft.com/office/drawing/2014/main" id="{38842EFE-31C4-FFE9-6986-4E5E77688B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497694" y="3249717"/>
                <a:ext cx="553310" cy="1646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Conector recto de flecha 238">
                <a:extLst>
                  <a:ext uri="{FF2B5EF4-FFF2-40B4-BE49-F238E27FC236}">
                    <a16:creationId xmlns:a16="http://schemas.microsoft.com/office/drawing/2014/main" id="{B3BE6B9E-8B7D-8DAA-23B5-47B9473E04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542952" y="4288099"/>
                <a:ext cx="508052" cy="87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1" name="Conector recto de flecha 240">
                <a:extLst>
                  <a:ext uri="{FF2B5EF4-FFF2-40B4-BE49-F238E27FC236}">
                    <a16:creationId xmlns:a16="http://schemas.microsoft.com/office/drawing/2014/main" id="{688A56A8-1E84-451F-CDDA-0AB841EFAB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72092" y="5276234"/>
                <a:ext cx="540810" cy="2949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pic>
            <p:nvPicPr>
              <p:cNvPr id="242" name="Imagen 241">
                <a:extLst>
                  <a:ext uri="{FF2B5EF4-FFF2-40B4-BE49-F238E27FC236}">
                    <a16:creationId xmlns:a16="http://schemas.microsoft.com/office/drawing/2014/main" id="{05F8E80B-FC7D-FA23-8D68-456669544E4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rcRect l="25233" t="14388" r="27148" b="24106"/>
              <a:stretch/>
            </p:blipFill>
            <p:spPr>
              <a:xfrm>
                <a:off x="10446677" y="5665796"/>
                <a:ext cx="407047" cy="556704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D8CAEB96-DA6A-B937-1E0E-7D3DF29141FC}"/>
                  </a:ext>
                </a:extLst>
              </p:cNvPr>
              <p:cNvSpPr txBox="1"/>
              <p:nvPr/>
            </p:nvSpPr>
            <p:spPr>
              <a:xfrm>
                <a:off x="18395740" y="4539725"/>
                <a:ext cx="2180557" cy="1323439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MX" sz="1600" dirty="0"/>
                  <a:t>El administrador podrá subir una </a:t>
                </a:r>
                <a:r>
                  <a:rPr lang="es-MX" sz="1600" b="1" dirty="0"/>
                  <a:t>foto</a:t>
                </a:r>
                <a:r>
                  <a:rPr lang="es-MX" sz="1600" dirty="0"/>
                  <a:t> del </a:t>
                </a:r>
                <a:r>
                  <a:rPr lang="es-MX" sz="1600" b="1" dirty="0">
                    <a:highlight>
                      <a:srgbClr val="00FFFF"/>
                    </a:highlight>
                  </a:rPr>
                  <a:t>acta de entre </a:t>
                </a:r>
                <a:r>
                  <a:rPr lang="es-MX" sz="1600" dirty="0"/>
                  <a:t>para que el usuario tenga visualización.</a:t>
                </a:r>
                <a:endParaRPr lang="es-PE" sz="1600" dirty="0"/>
              </a:p>
            </p:txBody>
          </p:sp>
        </p:grpSp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917D77F6-1776-2FC9-67E6-619360D9F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47807" y="2374294"/>
              <a:ext cx="1731359" cy="295316"/>
            </a:xfrm>
            <a:prstGeom prst="rect">
              <a:avLst/>
            </a:prstGeom>
          </p:spPr>
        </p:pic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E4C5E2F5-5C08-5711-DBD0-229002161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9569" t="10214" r="39364" b="79038"/>
            <a:stretch>
              <a:fillRect/>
            </a:stretch>
          </p:blipFill>
          <p:spPr>
            <a:xfrm>
              <a:off x="7046954" y="2391098"/>
              <a:ext cx="1548102" cy="253761"/>
            </a:xfrm>
            <a:prstGeom prst="rect">
              <a:avLst/>
            </a:prstGeom>
          </p:spPr>
        </p:pic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337DA62-136B-07FA-B9DF-33F1ADB3327A}"/>
              </a:ext>
            </a:extLst>
          </p:cNvPr>
          <p:cNvGrpSpPr/>
          <p:nvPr/>
        </p:nvGrpSpPr>
        <p:grpSpPr>
          <a:xfrm>
            <a:off x="11904258" y="1547478"/>
            <a:ext cx="5323122" cy="7061154"/>
            <a:chOff x="12816177" y="1447462"/>
            <a:chExt cx="5326079" cy="7061154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63448F97-1ED1-04B8-AE50-00BDB7FFFDEC}"/>
                </a:ext>
              </a:extLst>
            </p:cNvPr>
            <p:cNvGrpSpPr/>
            <p:nvPr/>
          </p:nvGrpSpPr>
          <p:grpSpPr>
            <a:xfrm>
              <a:off x="12816177" y="1447462"/>
              <a:ext cx="5326079" cy="7061154"/>
              <a:chOff x="13453698" y="1443673"/>
              <a:chExt cx="5326079" cy="7061154"/>
            </a:xfrm>
          </p:grpSpPr>
          <p:grpSp>
            <p:nvGrpSpPr>
              <p:cNvPr id="181" name="Grupo 180">
                <a:extLst>
                  <a:ext uri="{FF2B5EF4-FFF2-40B4-BE49-F238E27FC236}">
                    <a16:creationId xmlns:a16="http://schemas.microsoft.com/office/drawing/2014/main" id="{7A7FDB77-4BDC-0E0D-BB01-E1A8FFD005CC}"/>
                  </a:ext>
                </a:extLst>
              </p:cNvPr>
              <p:cNvGrpSpPr/>
              <p:nvPr/>
            </p:nvGrpSpPr>
            <p:grpSpPr>
              <a:xfrm>
                <a:off x="13453698" y="1443673"/>
                <a:ext cx="3865418" cy="7061154"/>
                <a:chOff x="12275795" y="1255725"/>
                <a:chExt cx="3865418" cy="7061154"/>
              </a:xfrm>
            </p:grpSpPr>
            <p:grpSp>
              <p:nvGrpSpPr>
                <p:cNvPr id="42" name="Grupo 41">
                  <a:extLst>
                    <a:ext uri="{FF2B5EF4-FFF2-40B4-BE49-F238E27FC236}">
                      <a16:creationId xmlns:a16="http://schemas.microsoft.com/office/drawing/2014/main" id="{E2D375E3-23AD-3447-0CAF-2357EFAF78B6}"/>
                    </a:ext>
                  </a:extLst>
                </p:cNvPr>
                <p:cNvGrpSpPr/>
                <p:nvPr/>
              </p:nvGrpSpPr>
              <p:grpSpPr>
                <a:xfrm>
                  <a:off x="12275795" y="1255725"/>
                  <a:ext cx="3865418" cy="7061154"/>
                  <a:chOff x="9344819" y="1270548"/>
                  <a:chExt cx="3865418" cy="7061154"/>
                </a:xfrm>
              </p:grpSpPr>
              <p:grpSp>
                <p:nvGrpSpPr>
                  <p:cNvPr id="46" name="Grupo 45">
                    <a:extLst>
                      <a:ext uri="{FF2B5EF4-FFF2-40B4-BE49-F238E27FC236}">
                        <a16:creationId xmlns:a16="http://schemas.microsoft.com/office/drawing/2014/main" id="{F803ADD3-4BC8-D83C-B27C-42D3672723FF}"/>
                      </a:ext>
                    </a:extLst>
                  </p:cNvPr>
                  <p:cNvGrpSpPr/>
                  <p:nvPr/>
                </p:nvGrpSpPr>
                <p:grpSpPr>
                  <a:xfrm>
                    <a:off x="9344819" y="1270548"/>
                    <a:ext cx="3865418" cy="7061154"/>
                    <a:chOff x="8833428" y="1270548"/>
                    <a:chExt cx="3865418" cy="7061154"/>
                  </a:xfrm>
                </p:grpSpPr>
                <p:pic>
                  <p:nvPicPr>
                    <p:cNvPr id="48" name="Imagen 47">
                      <a:extLst>
                        <a:ext uri="{FF2B5EF4-FFF2-40B4-BE49-F238E27FC236}">
                          <a16:creationId xmlns:a16="http://schemas.microsoft.com/office/drawing/2014/main" id="{32B2AB3F-E6F9-F120-FBB3-A7582CF2935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8833428" y="1270548"/>
                      <a:ext cx="3865418" cy="7061154"/>
                    </a:xfrm>
                    <a:prstGeom prst="rect">
                      <a:avLst/>
                    </a:prstGeom>
                    <a:ln w="38100" cap="sq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>
                      <a:outerShdw blurRad="50800" dist="38100" dir="2700000" algn="tl" rotWithShape="0">
                        <a:srgbClr val="000000">
                          <a:alpha val="43000"/>
                        </a:srgbClr>
                      </a:outerShdw>
                    </a:effectLst>
                  </p:spPr>
                </p:pic>
                <p:sp>
                  <p:nvSpPr>
                    <p:cNvPr id="49" name="Rectángulo 48">
                      <a:extLst>
                        <a:ext uri="{FF2B5EF4-FFF2-40B4-BE49-F238E27FC236}">
                          <a16:creationId xmlns:a16="http://schemas.microsoft.com/office/drawing/2014/main" id="{6AD3A12D-5275-4CB9-0837-4E93E550C7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61137" y="1502881"/>
                      <a:ext cx="3810000" cy="471451"/>
                    </a:xfrm>
                    <a:prstGeom prst="rect">
                      <a:avLst/>
                    </a:prstGeom>
                    <a:solidFill>
                      <a:srgbClr val="1F497D"/>
                    </a:solidFill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PE"/>
                    </a:p>
                  </p:txBody>
                </p:sp>
                <p:sp>
                  <p:nvSpPr>
                    <p:cNvPr id="50" name="Rectángulo 49">
                      <a:extLst>
                        <a:ext uri="{FF2B5EF4-FFF2-40B4-BE49-F238E27FC236}">
                          <a16:creationId xmlns:a16="http://schemas.microsoft.com/office/drawing/2014/main" id="{9E0CB705-E8C7-1D46-84B2-04116B6934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0159" y="1562469"/>
                      <a:ext cx="1434667" cy="35227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MX" sz="240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 Extra Light" panose="020B0604020202020204" pitchFamily="34" charset="0"/>
                        </a:rPr>
                        <a:t>AGROI+D</a:t>
                      </a:r>
                      <a:endParaRPr lang="es-PE" sz="2400" dirty="0">
                        <a:ln w="0"/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 Extra Light" panose="020B0604020202020204" pitchFamily="34" charset="0"/>
                      </a:endParaRPr>
                    </a:p>
                  </p:txBody>
                </p:sp>
                <p:sp>
                  <p:nvSpPr>
                    <p:cNvPr id="51" name="Rectángulo 50">
                      <a:extLst>
                        <a:ext uri="{FF2B5EF4-FFF2-40B4-BE49-F238E27FC236}">
                          <a16:creationId xmlns:a16="http://schemas.microsoft.com/office/drawing/2014/main" id="{07C6498B-4B87-DD31-C6BF-4330238E80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5604" y="2184034"/>
                      <a:ext cx="3601761" cy="360799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PE" dirty="0"/>
                    </a:p>
                  </p:txBody>
                </p:sp>
              </p:grpSp>
              <p:pic>
                <p:nvPicPr>
                  <p:cNvPr id="45" name="Picture 4" descr="Gráficos escalables iconos de computadora gráficos de red portátiles, icono  de salida, cdr, texto, icono de salida png | PNGWing">
                    <a:extLst>
                      <a:ext uri="{FF2B5EF4-FFF2-40B4-BE49-F238E27FC236}">
                        <a16:creationId xmlns:a16="http://schemas.microsoft.com/office/drawing/2014/main" id="{FFF52C78-A61B-A05D-31A3-C4417D51AA8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ackgroundRemoval t="1895" b="96632" l="543" r="97283">
                                <a14:foregroundMark x1="50042" y1="12244" x2="36739" y2="5895"/>
                                <a14:foregroundMark x1="57985" y1="16034" x2="57540" y2="15821"/>
                                <a14:foregroundMark x1="59239" y1="16632" x2="58355" y2="16210"/>
                                <a14:foregroundMark x1="36739" y1="5895" x2="20435" y2="7158"/>
                                <a14:foregroundMark x1="12737" y1="15836" x2="6522" y2="22842"/>
                                <a14:foregroundMark x1="20435" y1="7158" x2="15617" y2="12589"/>
                                <a14:foregroundMark x1="6522" y1="22842" x2="5435" y2="74421"/>
                                <a14:foregroundMark x1="5435" y1="74421" x2="11957" y2="90842"/>
                                <a14:foregroundMark x1="11957" y1="90842" x2="33587" y2="94947"/>
                                <a14:foregroundMark x1="33587" y1="94947" x2="55435" y2="90526"/>
                                <a14:foregroundMark x1="55435" y1="90526" x2="63043" y2="80000"/>
                                <a14:foregroundMark x1="44565" y1="47263" x2="78696" y2="44632"/>
                                <a14:foregroundMark x1="77496" y1="56958" x2="76739" y2="64737"/>
                                <a14:foregroundMark x1="78696" y1="44632" x2="77613" y2="55759"/>
                                <a14:foregroundMark x1="76739" y1="64737" x2="95000" y2="53684"/>
                                <a14:foregroundMark x1="95000" y1="53684" x2="79239" y2="39368"/>
                                <a14:foregroundMark x1="79239" y1="39368" x2="77065" y2="35895"/>
                                <a14:foregroundMark x1="79130" y1="47579" x2="38804" y2="50632"/>
                                <a14:foregroundMark x1="38804" y1="50632" x2="81630" y2="47789"/>
                                <a14:foregroundMark x1="81630" y1="47789" x2="82500" y2="47789"/>
                                <a14:foregroundMark x1="75870" y1="41158" x2="90479" y2="39510"/>
                                <a14:foregroundMark x1="91797" y1="39625" x2="94783" y2="52737"/>
                                <a14:foregroundMark x1="97065" y1="49579" x2="97391" y2="52105"/>
                                <a14:foregroundMark x1="54365" y1="11816" x2="43913" y2="2526"/>
                                <a14:foregroundMark x1="59072" y1="16000" x2="57962" y2="15013"/>
                                <a14:foregroundMark x1="59783" y1="16632" x2="59072" y2="16000"/>
                                <a14:foregroundMark x1="43913" y1="2526" x2="15761" y2="3579"/>
                                <a14:foregroundMark x1="15761" y1="3579" x2="1413" y2="14842"/>
                                <a14:foregroundMark x1="1413" y1="14842" x2="978" y2="72737"/>
                                <a14:foregroundMark x1="978" y1="72737" x2="9783" y2="23579"/>
                                <a14:foregroundMark x1="23895" y1="12054" x2="24348" y2="11684"/>
                                <a14:foregroundMark x1="9783" y1="23579" x2="12657" y2="21232"/>
                                <a14:foregroundMark x1="56397" y1="12187" x2="57935" y2="12211"/>
                                <a14:foregroundMark x1="24348" y1="11684" x2="49938" y2="12086"/>
                                <a14:foregroundMark x1="58952" y1="14352" x2="60435" y2="17474"/>
                                <a14:foregroundMark x1="57935" y1="12211" x2="58861" y2="14161"/>
                                <a14:foregroundMark x1="61630" y1="17789" x2="53043" y2="3579"/>
                                <a14:foregroundMark x1="53043" y1="3579" x2="45543" y2="4947"/>
                                <a14:foregroundMark x1="53587" y1="1895" x2="67283" y2="9368"/>
                                <a14:foregroundMark x1="67283" y1="9368" x2="60978" y2="9474"/>
                                <a14:foregroundMark x1="8261" y1="8421" x2="217" y2="51579"/>
                                <a14:foregroundMark x1="217" y1="51579" x2="1087" y2="72000"/>
                                <a14:foregroundMark x1="1087" y1="72000" x2="9891" y2="34211"/>
                                <a14:foregroundMark x1="3261" y1="77684" x2="9239" y2="96842"/>
                                <a14:foregroundMark x1="9239" y1="96842" x2="35652" y2="98737"/>
                                <a14:foregroundMark x1="35652" y1="98737" x2="55435" y2="94000"/>
                                <a14:foregroundMark x1="55435" y1="94000" x2="67609" y2="84211"/>
                                <a14:foregroundMark x1="67609" y1="84211" x2="51413" y2="92632"/>
                                <a14:foregroundMark x1="13242" y1="84716" x2="652" y2="82105"/>
                                <a14:foregroundMark x1="27115" y1="87593" x2="26755" y2="87518"/>
                                <a14:foregroundMark x1="51413" y1="92632" x2="28349" y2="87849"/>
                                <a14:foregroundMark x1="652" y1="82105" x2="1304" y2="79579"/>
                                <a14:foregroundMark x1="21630" y1="94632" x2="47065" y2="96632"/>
                                <a14:foregroundMark x1="47065" y1="96632" x2="65000" y2="90211"/>
                                <a14:foregroundMark x1="65000" y1="90211" x2="69022" y2="86947"/>
                                <a14:backgroundMark x1="52717" y1="18842" x2="22500" y2="24105"/>
                                <a14:backgroundMark x1="22500" y1="24105" x2="20326" y2="44632"/>
                                <a14:backgroundMark x1="20326" y1="44632" x2="28913" y2="62842"/>
                                <a14:backgroundMark x1="28913" y1="62842" x2="42500" y2="70105"/>
                                <a14:backgroundMark x1="42500" y1="70105" x2="58152" y2="64105"/>
                                <a14:backgroundMark x1="58152" y1="64105" x2="72717" y2="74947"/>
                                <a14:backgroundMark x1="72717" y1="74947" x2="72717" y2="75053"/>
                                <a14:backgroundMark x1="24783" y1="14737" x2="14565" y2="20947"/>
                                <a14:backgroundMark x1="22391" y1="14526" x2="14348" y2="19579"/>
                                <a14:backgroundMark x1="51196" y1="13895" x2="56413" y2="16421"/>
                                <a14:backgroundMark x1="56630" y1="16421" x2="57391" y2="16105"/>
                                <a14:backgroundMark x1="57609" y1="17474" x2="55978" y2="13368"/>
                                <a14:backgroundMark x1="52065" y1="13053" x2="51304" y2="12947"/>
                                <a14:backgroundMark x1="55109" y1="13158" x2="57283" y2="16211"/>
                                <a14:backgroundMark x1="57065" y1="14632" x2="57283" y2="16000"/>
                                <a14:backgroundMark x1="57065" y1="15579" x2="57500" y2="15579"/>
                                <a14:backgroundMark x1="57500" y1="16000" x2="57500" y2="16000"/>
                                <a14:backgroundMark x1="57609" y1="16105" x2="57500" y2="15474"/>
                                <a14:backgroundMark x1="58043" y1="16211" x2="58043" y2="15263"/>
                                <a14:backgroundMark x1="57826" y1="15053" x2="57717" y2="14842"/>
                                <a14:backgroundMark x1="56413" y1="13579" x2="50652" y2="12526"/>
                                <a14:backgroundMark x1="51087" y1="12842" x2="50435" y2="12842"/>
                                <a14:backgroundMark x1="24674" y1="13263" x2="21304" y2="13158"/>
                                <a14:backgroundMark x1="15326" y1="13158" x2="13587" y2="15789"/>
                                <a14:backgroundMark x1="13587" y1="18632" x2="13478" y2="21263"/>
                                <a14:backgroundMark x1="16304" y1="13158" x2="12935" y2="16000"/>
                                <a14:backgroundMark x1="15870" y1="12842" x2="15870" y2="13053"/>
                                <a14:backgroundMark x1="92283" y1="39789" x2="91848" y2="39263"/>
                                <a14:backgroundMark x1="91087" y1="37263" x2="91848" y2="38421"/>
                                <a14:backgroundMark x1="92717" y1="39368" x2="91522" y2="38632"/>
                                <a14:backgroundMark x1="92283" y1="39368" x2="91630" y2="38421"/>
                                <a14:backgroundMark x1="90326" y1="37053" x2="92609" y2="38947"/>
                                <a14:backgroundMark x1="92609" y1="39789" x2="92283" y2="39263"/>
                                <a14:backgroundMark x1="76957" y1="57053" x2="77609" y2="56737"/>
                                <a14:backgroundMark x1="14130" y1="83579" x2="26957" y2="86737"/>
                                <a14:backgroundMark x1="27935" y1="87263" x2="26957" y2="87368"/>
                                <a14:backgroundMark x1="13587" y1="85263" x2="13587" y2="84632"/>
                                <a14:backgroundMark x1="25761" y1="87474" x2="26848" y2="87368"/>
                                <a14:backgroundMark x1="13370" y1="84842" x2="13370" y2="84737"/>
                                <a14:backgroundMark x1="13152" y1="84947" x2="13043" y2="84842"/>
                                <a14:backgroundMark x1="13261" y1="85053" x2="13152" y2="84842"/>
                                <a14:backgroundMark x1="13152" y1="84842" x2="13370" y2="84105"/>
                              </a14:backgroundRemoval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2786812" y="1550634"/>
                    <a:ext cx="341153" cy="35227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129" name="Grupo 128">
                  <a:extLst>
                    <a:ext uri="{FF2B5EF4-FFF2-40B4-BE49-F238E27FC236}">
                      <a16:creationId xmlns:a16="http://schemas.microsoft.com/office/drawing/2014/main" id="{0779303A-56D4-F4FF-4789-DB40EFAE9005}"/>
                    </a:ext>
                  </a:extLst>
                </p:cNvPr>
                <p:cNvGrpSpPr/>
                <p:nvPr/>
              </p:nvGrpSpPr>
              <p:grpSpPr>
                <a:xfrm>
                  <a:off x="12374248" y="1997800"/>
                  <a:ext cx="2096432" cy="1645011"/>
                  <a:chOff x="12554043" y="2498741"/>
                  <a:chExt cx="2096432" cy="1645011"/>
                </a:xfrm>
              </p:grpSpPr>
              <p:sp>
                <p:nvSpPr>
                  <p:cNvPr id="113" name="CuadroTexto 112">
                    <a:extLst>
                      <a:ext uri="{FF2B5EF4-FFF2-40B4-BE49-F238E27FC236}">
                        <a16:creationId xmlns:a16="http://schemas.microsoft.com/office/drawing/2014/main" id="{3B7B7B17-CEE5-867D-827D-2D254B20AD59}"/>
                      </a:ext>
                    </a:extLst>
                  </p:cNvPr>
                  <p:cNvSpPr txBox="1"/>
                  <p:nvPr/>
                </p:nvSpPr>
                <p:spPr>
                  <a:xfrm>
                    <a:off x="12580487" y="2797785"/>
                    <a:ext cx="115570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MX" sz="1600" b="1"/>
                      <a:t>FUNDO:</a:t>
                    </a:r>
                    <a:endParaRPr lang="es-PE" sz="1600" b="1"/>
                  </a:p>
                </p:txBody>
              </p:sp>
              <p:sp>
                <p:nvSpPr>
                  <p:cNvPr id="114" name="CuadroTexto 113">
                    <a:extLst>
                      <a:ext uri="{FF2B5EF4-FFF2-40B4-BE49-F238E27FC236}">
                        <a16:creationId xmlns:a16="http://schemas.microsoft.com/office/drawing/2014/main" id="{B17CF684-2846-EF01-0F85-9F167A8BCC81}"/>
                      </a:ext>
                    </a:extLst>
                  </p:cNvPr>
                  <p:cNvSpPr txBox="1"/>
                  <p:nvPr/>
                </p:nvSpPr>
                <p:spPr>
                  <a:xfrm>
                    <a:off x="12593934" y="3119577"/>
                    <a:ext cx="115570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MX" sz="1600" b="1"/>
                      <a:t>LOTE:</a:t>
                    </a:r>
                    <a:endParaRPr lang="es-PE" sz="1600" b="1"/>
                  </a:p>
                </p:txBody>
              </p:sp>
              <p:sp>
                <p:nvSpPr>
                  <p:cNvPr id="119" name="CuadroTexto 118">
                    <a:extLst>
                      <a:ext uri="{FF2B5EF4-FFF2-40B4-BE49-F238E27FC236}">
                        <a16:creationId xmlns:a16="http://schemas.microsoft.com/office/drawing/2014/main" id="{624C6011-A47F-6748-A507-7AC624CC47FD}"/>
                      </a:ext>
                    </a:extLst>
                  </p:cNvPr>
                  <p:cNvSpPr txBox="1"/>
                  <p:nvPr/>
                </p:nvSpPr>
                <p:spPr>
                  <a:xfrm>
                    <a:off x="12580486" y="2498741"/>
                    <a:ext cx="115570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MX" sz="1600" b="1"/>
                      <a:t>FECHA:</a:t>
                    </a:r>
                    <a:endParaRPr lang="es-PE" sz="1600" b="1"/>
                  </a:p>
                </p:txBody>
              </p:sp>
              <p:sp>
                <p:nvSpPr>
                  <p:cNvPr id="121" name="CuadroTexto 120">
                    <a:extLst>
                      <a:ext uri="{FF2B5EF4-FFF2-40B4-BE49-F238E27FC236}">
                        <a16:creationId xmlns:a16="http://schemas.microsoft.com/office/drawing/2014/main" id="{D1C3A945-870E-0EF1-DB96-7A112CFF5EC0}"/>
                      </a:ext>
                    </a:extLst>
                  </p:cNvPr>
                  <p:cNvSpPr txBox="1"/>
                  <p:nvPr/>
                </p:nvSpPr>
                <p:spPr>
                  <a:xfrm>
                    <a:off x="12567422" y="3483259"/>
                    <a:ext cx="115570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MX" sz="1600" b="1"/>
                      <a:t>ESPECIE:</a:t>
                    </a:r>
                    <a:endParaRPr lang="es-PE" sz="1600" b="1"/>
                  </a:p>
                </p:txBody>
              </p:sp>
              <p:sp>
                <p:nvSpPr>
                  <p:cNvPr id="124" name="CuadroTexto 123">
                    <a:extLst>
                      <a:ext uri="{FF2B5EF4-FFF2-40B4-BE49-F238E27FC236}">
                        <a16:creationId xmlns:a16="http://schemas.microsoft.com/office/drawing/2014/main" id="{EE1078CA-6786-563E-BCB4-62018E8EAC01}"/>
                      </a:ext>
                    </a:extLst>
                  </p:cNvPr>
                  <p:cNvSpPr txBox="1"/>
                  <p:nvPr/>
                </p:nvSpPr>
                <p:spPr>
                  <a:xfrm>
                    <a:off x="12554043" y="3805198"/>
                    <a:ext cx="115570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MX" sz="1600" b="1"/>
                      <a:t>CANTIDAD:</a:t>
                    </a:r>
                    <a:endParaRPr lang="es-PE" sz="1600" b="1"/>
                  </a:p>
                </p:txBody>
              </p:sp>
              <p:pic>
                <p:nvPicPr>
                  <p:cNvPr id="128" name="Imagen 127">
                    <a:extLst>
                      <a:ext uri="{FF2B5EF4-FFF2-40B4-BE49-F238E27FC236}">
                        <a16:creationId xmlns:a16="http://schemas.microsoft.com/office/drawing/2014/main" id="{75DCFD9A-D987-2E99-B799-76D2C9ACC5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3612105" y="3824722"/>
                    <a:ext cx="1038370" cy="295316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30" name="CuadroTexto 129">
                  <a:extLst>
                    <a:ext uri="{FF2B5EF4-FFF2-40B4-BE49-F238E27FC236}">
                      <a16:creationId xmlns:a16="http://schemas.microsoft.com/office/drawing/2014/main" id="{B9EB91EE-4BA8-A097-1B5D-81F7675DBA11}"/>
                    </a:ext>
                  </a:extLst>
                </p:cNvPr>
                <p:cNvSpPr txBox="1"/>
                <p:nvPr/>
              </p:nvSpPr>
              <p:spPr>
                <a:xfrm>
                  <a:off x="12354852" y="3481457"/>
                  <a:ext cx="1307255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 dirty="0"/>
                    <a:t>PLAGA OBJETIVO:</a:t>
                  </a:r>
                  <a:endParaRPr lang="es-PE" sz="1600" b="1" dirty="0"/>
                </a:p>
              </p:txBody>
            </p:sp>
            <p:sp>
              <p:nvSpPr>
                <p:cNvPr id="131" name="CuadroTexto 130">
                  <a:extLst>
                    <a:ext uri="{FF2B5EF4-FFF2-40B4-BE49-F238E27FC236}">
                      <a16:creationId xmlns:a16="http://schemas.microsoft.com/office/drawing/2014/main" id="{7121FA65-C023-C1FF-BD8E-B6D3D1E207A7}"/>
                    </a:ext>
                  </a:extLst>
                </p:cNvPr>
                <p:cNvSpPr txBox="1"/>
                <p:nvPr/>
              </p:nvSpPr>
              <p:spPr>
                <a:xfrm>
                  <a:off x="12443258" y="3961101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 dirty="0">
                      <a:highlight>
                        <a:srgbClr val="FFFF00"/>
                      </a:highlight>
                    </a:rPr>
                    <a:t>ESTADO</a:t>
                  </a:r>
                  <a:r>
                    <a:rPr lang="es-MX" sz="1600" b="1" dirty="0"/>
                    <a:t>:</a:t>
                  </a:r>
                  <a:endParaRPr lang="es-PE" sz="1600" b="1" dirty="0"/>
                </a:p>
              </p:txBody>
            </p:sp>
            <p:sp>
              <p:nvSpPr>
                <p:cNvPr id="135" name="Rectángulo 134">
                  <a:extLst>
                    <a:ext uri="{FF2B5EF4-FFF2-40B4-BE49-F238E27FC236}">
                      <a16:creationId xmlns:a16="http://schemas.microsoft.com/office/drawing/2014/main" id="{BC0D6A2C-CA62-B1A1-DAE5-FDD37D8D7CE0}"/>
                    </a:ext>
                  </a:extLst>
                </p:cNvPr>
                <p:cNvSpPr/>
                <p:nvPr/>
              </p:nvSpPr>
              <p:spPr>
                <a:xfrm>
                  <a:off x="15070807" y="4217481"/>
                  <a:ext cx="223773" cy="270486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dirty="0"/>
                    <a:t>v</a:t>
                  </a:r>
                  <a:endParaRPr lang="es-PE" dirty="0"/>
                </a:p>
              </p:txBody>
            </p:sp>
            <p:sp>
              <p:nvSpPr>
                <p:cNvPr id="136" name="CuadroTexto 135">
                  <a:extLst>
                    <a:ext uri="{FF2B5EF4-FFF2-40B4-BE49-F238E27FC236}">
                      <a16:creationId xmlns:a16="http://schemas.microsoft.com/office/drawing/2014/main" id="{B56A3D86-04D4-6CBE-9019-1C8956640412}"/>
                    </a:ext>
                  </a:extLst>
                </p:cNvPr>
                <p:cNvSpPr txBox="1"/>
                <p:nvPr/>
              </p:nvSpPr>
              <p:spPr>
                <a:xfrm>
                  <a:off x="12360801" y="5808233"/>
                  <a:ext cx="195180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OBSERVACIONES:</a:t>
                  </a:r>
                  <a:endParaRPr lang="es-PE" sz="1600" b="1"/>
                </a:p>
              </p:txBody>
            </p:sp>
            <p:pic>
              <p:nvPicPr>
                <p:cNvPr id="139" name="Imagen 138">
                  <a:extLst>
                    <a:ext uri="{FF2B5EF4-FFF2-40B4-BE49-F238E27FC236}">
                      <a16:creationId xmlns:a16="http://schemas.microsoft.com/office/drawing/2014/main" id="{6EFE9E5F-533D-3C75-27FF-703572A175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015756" y="5762274"/>
                  <a:ext cx="1846187" cy="384513"/>
                </a:xfrm>
                <a:prstGeom prst="rect">
                  <a:avLst/>
                </a:prstGeom>
              </p:spPr>
            </p:pic>
            <p:pic>
              <p:nvPicPr>
                <p:cNvPr id="140" name="Imagen 139">
                  <a:extLst>
                    <a:ext uri="{FF2B5EF4-FFF2-40B4-BE49-F238E27FC236}">
                      <a16:creationId xmlns:a16="http://schemas.microsoft.com/office/drawing/2014/main" id="{095C52F7-B6F3-B17B-C415-48E7947E0D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340232" y="2306815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141" name="Imagen 140">
                  <a:extLst>
                    <a:ext uri="{FF2B5EF4-FFF2-40B4-BE49-F238E27FC236}">
                      <a16:creationId xmlns:a16="http://schemas.microsoft.com/office/drawing/2014/main" id="{F933E7A4-6954-F45C-E734-99DBED7CB5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369558" y="2639669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142" name="Imagen 141">
                  <a:extLst>
                    <a:ext uri="{FF2B5EF4-FFF2-40B4-BE49-F238E27FC236}">
                      <a16:creationId xmlns:a16="http://schemas.microsoft.com/office/drawing/2014/main" id="{D674CB90-F309-E218-A05B-757E610932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363530" y="2975733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143" name="Imagen 142">
                  <a:extLst>
                    <a:ext uri="{FF2B5EF4-FFF2-40B4-BE49-F238E27FC236}">
                      <a16:creationId xmlns:a16="http://schemas.microsoft.com/office/drawing/2014/main" id="{2B2063CE-E51F-4BB0-1CE3-837CAC673B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380819" y="3654138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159" name="Imagen 158">
                  <a:extLst>
                    <a:ext uri="{FF2B5EF4-FFF2-40B4-BE49-F238E27FC236}">
                      <a16:creationId xmlns:a16="http://schemas.microsoft.com/office/drawing/2014/main" id="{4A9D1378-6E92-D237-3F88-0E4298D44F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544226" y="7419288"/>
                  <a:ext cx="514715" cy="514715"/>
                </a:xfrm>
                <a:prstGeom prst="rect">
                  <a:avLst/>
                </a:prstGeom>
              </p:spPr>
            </p:pic>
            <p:sp>
              <p:nvSpPr>
                <p:cNvPr id="165" name="CuadroTexto 164">
                  <a:extLst>
                    <a:ext uri="{FF2B5EF4-FFF2-40B4-BE49-F238E27FC236}">
                      <a16:creationId xmlns:a16="http://schemas.microsoft.com/office/drawing/2014/main" id="{D1275FA9-9AD8-9D2C-E881-5FE36FF74F77}"/>
                    </a:ext>
                  </a:extLst>
                </p:cNvPr>
                <p:cNvSpPr txBox="1"/>
                <p:nvPr/>
              </p:nvSpPr>
              <p:spPr>
                <a:xfrm>
                  <a:off x="13399368" y="2324398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Los laureles</a:t>
                  </a:r>
                  <a:endParaRPr lang="es-PE" sz="1200"/>
                </a:p>
              </p:txBody>
            </p:sp>
            <p:sp>
              <p:nvSpPr>
                <p:cNvPr id="166" name="CuadroTexto 165">
                  <a:extLst>
                    <a:ext uri="{FF2B5EF4-FFF2-40B4-BE49-F238E27FC236}">
                      <a16:creationId xmlns:a16="http://schemas.microsoft.com/office/drawing/2014/main" id="{51C71240-312B-B802-0DD7-A997DE3FADD5}"/>
                    </a:ext>
                  </a:extLst>
                </p:cNvPr>
                <p:cNvSpPr txBox="1"/>
                <p:nvPr/>
              </p:nvSpPr>
              <p:spPr>
                <a:xfrm>
                  <a:off x="13418702" y="2667960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LL06</a:t>
                  </a:r>
                  <a:endParaRPr lang="es-PE" sz="1200"/>
                </a:p>
              </p:txBody>
            </p:sp>
            <p:sp>
              <p:nvSpPr>
                <p:cNvPr id="167" name="CuadroTexto 166">
                  <a:extLst>
                    <a:ext uri="{FF2B5EF4-FFF2-40B4-BE49-F238E27FC236}">
                      <a16:creationId xmlns:a16="http://schemas.microsoft.com/office/drawing/2014/main" id="{0ECF9D22-E0AC-9053-A664-2821ED0DA3F2}"/>
                    </a:ext>
                  </a:extLst>
                </p:cNvPr>
                <p:cNvSpPr txBox="1"/>
                <p:nvPr/>
              </p:nvSpPr>
              <p:spPr>
                <a:xfrm>
                  <a:off x="13374459" y="2973735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CHRYSOPAS</a:t>
                  </a:r>
                  <a:endParaRPr lang="es-PE" sz="1200"/>
                </a:p>
              </p:txBody>
            </p:sp>
            <p:sp>
              <p:nvSpPr>
                <p:cNvPr id="168" name="CuadroTexto 167">
                  <a:extLst>
                    <a:ext uri="{FF2B5EF4-FFF2-40B4-BE49-F238E27FC236}">
                      <a16:creationId xmlns:a16="http://schemas.microsoft.com/office/drawing/2014/main" id="{8E21AF69-9EEB-9D09-AD7F-66C1C18CBEA4}"/>
                    </a:ext>
                  </a:extLst>
                </p:cNvPr>
                <p:cNvSpPr txBox="1"/>
                <p:nvPr/>
              </p:nvSpPr>
              <p:spPr>
                <a:xfrm>
                  <a:off x="13451834" y="3295189"/>
                  <a:ext cx="81542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1210</a:t>
                  </a:r>
                  <a:endParaRPr lang="es-PE" sz="1200"/>
                </a:p>
              </p:txBody>
            </p:sp>
            <p:sp>
              <p:nvSpPr>
                <p:cNvPr id="169" name="CuadroTexto 168">
                  <a:extLst>
                    <a:ext uri="{FF2B5EF4-FFF2-40B4-BE49-F238E27FC236}">
                      <a16:creationId xmlns:a16="http://schemas.microsoft.com/office/drawing/2014/main" id="{B5C624A0-0555-0DD3-2A84-3E423201370D}"/>
                    </a:ext>
                  </a:extLst>
                </p:cNvPr>
                <p:cNvSpPr txBox="1"/>
                <p:nvPr/>
              </p:nvSpPr>
              <p:spPr>
                <a:xfrm>
                  <a:off x="13413006" y="3648809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 dirty="0"/>
                    <a:t>TRIPS</a:t>
                  </a:r>
                  <a:endParaRPr lang="es-PE" sz="1200" dirty="0"/>
                </a:p>
              </p:txBody>
            </p:sp>
            <p:pic>
              <p:nvPicPr>
                <p:cNvPr id="171" name="Imagen 170">
                  <a:extLst>
                    <a:ext uri="{FF2B5EF4-FFF2-40B4-BE49-F238E27FC236}">
                      <a16:creationId xmlns:a16="http://schemas.microsoft.com/office/drawing/2014/main" id="{F450461D-BA3F-150E-0340-31E02936CC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363598" y="4153415"/>
                  <a:ext cx="1757228" cy="663069"/>
                </a:xfrm>
                <a:prstGeom prst="rect">
                  <a:avLst/>
                </a:prstGeom>
              </p:spPr>
            </p:pic>
            <p:sp>
              <p:nvSpPr>
                <p:cNvPr id="172" name="CuadroTexto 171">
                  <a:extLst>
                    <a:ext uri="{FF2B5EF4-FFF2-40B4-BE49-F238E27FC236}">
                      <a16:creationId xmlns:a16="http://schemas.microsoft.com/office/drawing/2014/main" id="{880EDBE2-29E4-8F92-4B97-817DA7BF88B2}"/>
                    </a:ext>
                  </a:extLst>
                </p:cNvPr>
                <p:cNvSpPr txBox="1"/>
                <p:nvPr/>
              </p:nvSpPr>
              <p:spPr>
                <a:xfrm>
                  <a:off x="13428338" y="4230468"/>
                  <a:ext cx="117314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100"/>
                    <a:t>- APROBADO</a:t>
                  </a:r>
                </a:p>
                <a:p>
                  <a:r>
                    <a:rPr lang="es-MX" sz="1100"/>
                    <a:t>- ENTREGADO   </a:t>
                  </a:r>
                  <a:endParaRPr lang="es-PE" sz="1100"/>
                </a:p>
              </p:txBody>
            </p:sp>
            <p:sp>
              <p:nvSpPr>
                <p:cNvPr id="173" name="Rectángulo: esquinas redondeadas 172">
                  <a:extLst>
                    <a:ext uri="{FF2B5EF4-FFF2-40B4-BE49-F238E27FC236}">
                      <a16:creationId xmlns:a16="http://schemas.microsoft.com/office/drawing/2014/main" id="{48ADD382-DACC-F635-F1D0-F8E37CFDA580}"/>
                    </a:ext>
                  </a:extLst>
                </p:cNvPr>
                <p:cNvSpPr/>
                <p:nvPr/>
              </p:nvSpPr>
              <p:spPr>
                <a:xfrm>
                  <a:off x="13425821" y="4457150"/>
                  <a:ext cx="1678275" cy="195259"/>
                </a:xfrm>
                <a:prstGeom prst="roundRect">
                  <a:avLst/>
                </a:prstGeom>
                <a:solidFill>
                  <a:schemeClr val="accent1">
                    <a:lumMod val="75000"/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 dirty="0">
                    <a:highlight>
                      <a:srgbClr val="00FFFF"/>
                    </a:highlight>
                  </a:endParaRPr>
                </a:p>
              </p:txBody>
            </p:sp>
          </p:grpSp>
          <p:sp>
            <p:nvSpPr>
              <p:cNvPr id="182" name="CuadroTexto 181">
                <a:extLst>
                  <a:ext uri="{FF2B5EF4-FFF2-40B4-BE49-F238E27FC236}">
                    <a16:creationId xmlns:a16="http://schemas.microsoft.com/office/drawing/2014/main" id="{92852099-301B-9384-331D-10751097FE62}"/>
                  </a:ext>
                </a:extLst>
              </p:cNvPr>
              <p:cNvSpPr txBox="1"/>
              <p:nvPr/>
            </p:nvSpPr>
            <p:spPr>
              <a:xfrm>
                <a:off x="13578594" y="4903609"/>
                <a:ext cx="147460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600" b="1" dirty="0"/>
                  <a:t>FECHA DE LIBERACION :</a:t>
                </a:r>
                <a:endParaRPr lang="es-PE" sz="1600" b="1" dirty="0"/>
              </a:p>
            </p:txBody>
          </p:sp>
          <p:pic>
            <p:nvPicPr>
              <p:cNvPr id="184" name="Imagen 183">
                <a:extLst>
                  <a:ext uri="{FF2B5EF4-FFF2-40B4-BE49-F238E27FC236}">
                    <a16:creationId xmlns:a16="http://schemas.microsoft.com/office/drawing/2014/main" id="{CF82E9B2-7E07-5F61-D920-C23685790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25166" y="5098905"/>
                <a:ext cx="2018828" cy="295316"/>
              </a:xfrm>
              <a:prstGeom prst="rect">
                <a:avLst/>
              </a:prstGeom>
            </p:spPr>
          </p:pic>
          <p:sp>
            <p:nvSpPr>
              <p:cNvPr id="198" name="Rectángulo 197">
                <a:extLst>
                  <a:ext uri="{FF2B5EF4-FFF2-40B4-BE49-F238E27FC236}">
                    <a16:creationId xmlns:a16="http://schemas.microsoft.com/office/drawing/2014/main" id="{A12736FF-7D92-1AAE-B1A3-759605853DE8}"/>
                  </a:ext>
                </a:extLst>
              </p:cNvPr>
              <p:cNvSpPr/>
              <p:nvPr/>
            </p:nvSpPr>
            <p:spPr>
              <a:xfrm>
                <a:off x="13573120" y="4198813"/>
                <a:ext cx="3460101" cy="813765"/>
              </a:xfrm>
              <a:prstGeom prst="rect">
                <a:avLst/>
              </a:prstGeom>
              <a:noFill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EAD45292-0D89-C169-9FD6-7AD92191FA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46712" y="2175911"/>
                <a:ext cx="1731359" cy="295316"/>
              </a:xfrm>
              <a:prstGeom prst="rect">
                <a:avLst/>
              </a:prstGeom>
            </p:spPr>
          </p:pic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4A36BBFE-66AC-9DE3-EDC7-7E72AA8EBCC7}"/>
                  </a:ext>
                </a:extLst>
              </p:cNvPr>
              <p:cNvSpPr txBox="1"/>
              <p:nvPr/>
            </p:nvSpPr>
            <p:spPr>
              <a:xfrm>
                <a:off x="14560172" y="2158888"/>
                <a:ext cx="11557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400"/>
                  <a:t>08/07/2025</a:t>
                </a:r>
                <a:endParaRPr lang="es-PE" sz="1400"/>
              </a:p>
            </p:txBody>
          </p:sp>
          <p:sp>
            <p:nvSpPr>
              <p:cNvPr id="40" name="Rectángulo 39">
                <a:extLst>
                  <a:ext uri="{FF2B5EF4-FFF2-40B4-BE49-F238E27FC236}">
                    <a16:creationId xmlns:a16="http://schemas.microsoft.com/office/drawing/2014/main" id="{3353A8BC-B17A-2490-A616-988BF9E2CCF4}"/>
                  </a:ext>
                </a:extLst>
              </p:cNvPr>
              <p:cNvSpPr/>
              <p:nvPr/>
            </p:nvSpPr>
            <p:spPr>
              <a:xfrm>
                <a:off x="16549805" y="4290305"/>
                <a:ext cx="344648" cy="377586"/>
              </a:xfrm>
              <a:prstGeom prst="rect">
                <a:avLst/>
              </a:prstGeom>
              <a:noFill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pic>
            <p:nvPicPr>
              <p:cNvPr id="92" name="Picture 2" descr="Kerr center pdf iconos de computadora, lonas toldo, ángulo, texto png |  PNGEgg">
                <a:extLst>
                  <a:ext uri="{FF2B5EF4-FFF2-40B4-BE49-F238E27FC236}">
                    <a16:creationId xmlns:a16="http://schemas.microsoft.com/office/drawing/2014/main" id="{682B4914-0533-7E99-3108-54ABFE557F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 cstate="print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10000" b="90000" l="10000" r="90000">
                            <a14:foregroundMark x1="44333" y1="54430" x2="48889" y2="42563"/>
                            <a14:foregroundMark x1="48889" y1="42563" x2="48000" y2="32753"/>
                            <a14:foregroundMark x1="48000" y1="32753" x2="52000" y2="44937"/>
                            <a14:foregroundMark x1="52000" y1="44937" x2="58667" y2="53639"/>
                            <a14:foregroundMark x1="58667" y1="53639" x2="52333" y2="50475"/>
                            <a14:foregroundMark x1="52333" y1="50475" x2="43889" y2="55380"/>
                            <a14:foregroundMark x1="43889" y1="55380" x2="48778" y2="50791"/>
                            <a14:foregroundMark x1="48778" y1="50791" x2="50000" y2="50475"/>
                            <a14:foregroundMark x1="60222" y1="17563" x2="59111" y2="26266"/>
                            <a14:foregroundMark x1="59111" y1="26266" x2="65778" y2="28165"/>
                            <a14:foregroundMark x1="65778" y1="28165" x2="63778" y2="19304"/>
                            <a14:foregroundMark x1="63778" y1="19304" x2="59000" y2="17880"/>
                            <a14:foregroundMark x1="57000" y1="63449" x2="50444" y2="62500"/>
                            <a14:foregroundMark x1="50444" y1="62500" x2="43000" y2="67247"/>
                            <a14:foregroundMark x1="43000" y1="67247" x2="54000" y2="6376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754" t="15503" r="33075" b="19871"/>
              <a:stretch>
                <a:fillRect/>
              </a:stretch>
            </p:blipFill>
            <p:spPr bwMode="auto">
              <a:xfrm>
                <a:off x="16586566" y="4305566"/>
                <a:ext cx="277239" cy="3577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43" name="Conector: angular 42">
                <a:extLst>
                  <a:ext uri="{FF2B5EF4-FFF2-40B4-BE49-F238E27FC236}">
                    <a16:creationId xmlns:a16="http://schemas.microsoft.com/office/drawing/2014/main" id="{CD643513-1BF2-AA96-2DBC-16612D451657}"/>
                  </a:ext>
                </a:extLst>
              </p:cNvPr>
              <p:cNvCxnSpPr>
                <a:cxnSpLocks/>
                <a:stCxn id="37" idx="0"/>
                <a:endCxn id="40" idx="3"/>
              </p:cNvCxnSpPr>
              <p:nvPr/>
            </p:nvCxnSpPr>
            <p:spPr>
              <a:xfrm rot="16200000" flipV="1">
                <a:off x="17753004" y="3620549"/>
                <a:ext cx="168223" cy="1885323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850B99DB-65EA-C09B-A737-893DFDEABD73}"/>
                </a:ext>
              </a:extLst>
            </p:cNvPr>
            <p:cNvSpPr txBox="1"/>
            <p:nvPr/>
          </p:nvSpPr>
          <p:spPr>
            <a:xfrm>
              <a:off x="12888881" y="6397164"/>
              <a:ext cx="30745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PRESENTACIONES ENTREGADAS:</a:t>
              </a:r>
              <a:endParaRPr lang="es-PE" sz="1600" b="1"/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97394701-7282-4101-5E5E-1FC3E3DF27A1}"/>
                </a:ext>
              </a:extLst>
            </p:cNvPr>
            <p:cNvSpPr txBox="1"/>
            <p:nvPr/>
          </p:nvSpPr>
          <p:spPr>
            <a:xfrm>
              <a:off x="12881663" y="6773989"/>
              <a:ext cx="18020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200"/>
                <a:t>PAPEL CON POSTURA :</a:t>
              </a:r>
              <a:endParaRPr lang="es-PE" sz="1200"/>
            </a:p>
          </p:txBody>
        </p: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8573C15C-3389-4627-51C7-6C7E51723321}"/>
                </a:ext>
              </a:extLst>
            </p:cNvPr>
            <p:cNvSpPr txBox="1"/>
            <p:nvPr/>
          </p:nvSpPr>
          <p:spPr>
            <a:xfrm>
              <a:off x="12883541" y="7116615"/>
              <a:ext cx="18226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200"/>
                <a:t>SOBRE CON CASCARILLA DE ARROZ:</a:t>
              </a:r>
              <a:endParaRPr lang="es-PE" sz="1200"/>
            </a:p>
          </p:txBody>
        </p:sp>
        <p:pic>
          <p:nvPicPr>
            <p:cNvPr id="58" name="Imagen 57">
              <a:extLst>
                <a:ext uri="{FF2B5EF4-FFF2-40B4-BE49-F238E27FC236}">
                  <a16:creationId xmlns:a16="http://schemas.microsoft.com/office/drawing/2014/main" id="{E8ADE12F-FCA4-DD4C-C239-EBF794F3F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58414" y="6729896"/>
              <a:ext cx="1493033" cy="323496"/>
            </a:xfrm>
            <a:prstGeom prst="rect">
              <a:avLst/>
            </a:prstGeom>
          </p:spPr>
        </p:pic>
        <p:pic>
          <p:nvPicPr>
            <p:cNvPr id="59" name="Imagen 58">
              <a:extLst>
                <a:ext uri="{FF2B5EF4-FFF2-40B4-BE49-F238E27FC236}">
                  <a16:creationId xmlns:a16="http://schemas.microsoft.com/office/drawing/2014/main" id="{A603E100-0805-4D92-176E-49616AED6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95089" y="7221369"/>
              <a:ext cx="1493033" cy="323496"/>
            </a:xfrm>
            <a:prstGeom prst="rect">
              <a:avLst/>
            </a:prstGeom>
          </p:spPr>
        </p:pic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9D67D999-0A4D-364A-DC68-1875EF14AB8D}"/>
                </a:ext>
              </a:extLst>
            </p:cNvPr>
            <p:cNvSpPr txBox="1"/>
            <p:nvPr/>
          </p:nvSpPr>
          <p:spPr>
            <a:xfrm>
              <a:off x="14640237" y="6749335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1110</a:t>
              </a:r>
              <a:endParaRPr lang="es-PE" sz="1200"/>
            </a:p>
          </p:txBody>
        </p:sp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BEAB0CC3-27AE-53FB-8DB9-3E86CDE6F2F1}"/>
                </a:ext>
              </a:extLst>
            </p:cNvPr>
            <p:cNvSpPr txBox="1"/>
            <p:nvPr/>
          </p:nvSpPr>
          <p:spPr>
            <a:xfrm>
              <a:off x="14667597" y="7252179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100</a:t>
              </a:r>
              <a:endParaRPr lang="es-PE" sz="1200"/>
            </a:p>
          </p:txBody>
        </p:sp>
        <p:sp>
          <p:nvSpPr>
            <p:cNvPr id="62" name="Rectángulo 61">
              <a:extLst>
                <a:ext uri="{FF2B5EF4-FFF2-40B4-BE49-F238E27FC236}">
                  <a16:creationId xmlns:a16="http://schemas.microsoft.com/office/drawing/2014/main" id="{EF0008F9-6613-416F-292A-0425474D0B38}"/>
                </a:ext>
              </a:extLst>
            </p:cNvPr>
            <p:cNvSpPr/>
            <p:nvPr/>
          </p:nvSpPr>
          <p:spPr>
            <a:xfrm>
              <a:off x="12895235" y="6377819"/>
              <a:ext cx="3634515" cy="1236086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7" name="CuadroTexto 136">
              <a:extLst>
                <a:ext uri="{FF2B5EF4-FFF2-40B4-BE49-F238E27FC236}">
                  <a16:creationId xmlns:a16="http://schemas.microsoft.com/office/drawing/2014/main" id="{7E7D591E-6977-669A-56A1-57C3EBADED2C}"/>
                </a:ext>
              </a:extLst>
            </p:cNvPr>
            <p:cNvSpPr txBox="1"/>
            <p:nvPr/>
          </p:nvSpPr>
          <p:spPr>
            <a:xfrm>
              <a:off x="12951538" y="5428121"/>
              <a:ext cx="14746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 dirty="0"/>
                <a:t>HORA DE LIBERACION:</a:t>
              </a:r>
              <a:endParaRPr lang="es-PE" sz="1600" b="1" dirty="0"/>
            </a:p>
          </p:txBody>
        </p:sp>
        <p:pic>
          <p:nvPicPr>
            <p:cNvPr id="138" name="Imagen 137">
              <a:extLst>
                <a:ext uri="{FF2B5EF4-FFF2-40B4-BE49-F238E27FC236}">
                  <a16:creationId xmlns:a16="http://schemas.microsoft.com/office/drawing/2014/main" id="{D5149EAF-BCA4-BAB5-74D3-35D06033A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00501" y="5607913"/>
              <a:ext cx="2018828" cy="295316"/>
            </a:xfrm>
            <a:prstGeom prst="rect">
              <a:avLst/>
            </a:prstGeom>
          </p:spPr>
        </p:pic>
      </p:grpSp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B349061A-CBEB-9928-E6A3-05DE004978F3}"/>
              </a:ext>
            </a:extLst>
          </p:cNvPr>
          <p:cNvSpPr/>
          <p:nvPr/>
        </p:nvSpPr>
        <p:spPr>
          <a:xfrm rot="15445096">
            <a:off x="7413632" y="850086"/>
            <a:ext cx="1280181" cy="1948482"/>
          </a:xfrm>
          <a:prstGeom prst="triangle">
            <a:avLst>
              <a:gd name="adj" fmla="val 5155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7FECDDEB-DBFE-E250-E7F2-F829484E855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547" t="24110"/>
          <a:stretch>
            <a:fillRect/>
          </a:stretch>
        </p:blipFill>
        <p:spPr>
          <a:xfrm>
            <a:off x="8644105" y="1064238"/>
            <a:ext cx="2837856" cy="13840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3" name="CuadroTexto 62">
            <a:extLst>
              <a:ext uri="{FF2B5EF4-FFF2-40B4-BE49-F238E27FC236}">
                <a16:creationId xmlns:a16="http://schemas.microsoft.com/office/drawing/2014/main" id="{602BBB44-0F26-5EA0-692E-BBCE51DF06CB}"/>
              </a:ext>
            </a:extLst>
          </p:cNvPr>
          <p:cNvSpPr txBox="1"/>
          <p:nvPr/>
        </p:nvSpPr>
        <p:spPr>
          <a:xfrm>
            <a:off x="8375371" y="6132201"/>
            <a:ext cx="3035130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200" dirty="0">
                <a:latin typeface="Poppins" panose="00000500000000000000" pitchFamily="2" charset="0"/>
                <a:cs typeface="Poppins" panose="00000500000000000000" pitchFamily="2" charset="0"/>
              </a:rPr>
              <a:t>La opción “</a:t>
            </a:r>
            <a:r>
              <a:rPr lang="es-MX" sz="1200" dirty="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Editar”, Solo </a:t>
            </a:r>
            <a:r>
              <a:rPr lang="es-MX" sz="1200" dirty="0">
                <a:latin typeface="Poppins" panose="00000500000000000000" pitchFamily="2" charset="0"/>
                <a:cs typeface="Poppins" panose="00000500000000000000" pitchFamily="2" charset="0"/>
              </a:rPr>
              <a:t>se podrá modificar el campo </a:t>
            </a:r>
            <a:r>
              <a:rPr lang="es-MX" sz="1200" dirty="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“Estado”</a:t>
            </a:r>
            <a:r>
              <a:rPr lang="es-MX" sz="1200" dirty="0">
                <a:latin typeface="Poppins" panose="00000500000000000000" pitchFamily="2" charset="0"/>
                <a:cs typeface="Poppins" panose="00000500000000000000" pitchFamily="2" charset="0"/>
              </a:rPr>
              <a:t>, el cual podrá establecerse en:</a:t>
            </a:r>
          </a:p>
          <a:p>
            <a:r>
              <a:rPr lang="es-MX" sz="1200" dirty="0">
                <a:latin typeface="Poppins" panose="00000500000000000000" pitchFamily="2" charset="0"/>
                <a:cs typeface="Poppins" panose="00000500000000000000" pitchFamily="2" charset="0"/>
              </a:rPr>
              <a:t>-Aprobado</a:t>
            </a:r>
          </a:p>
          <a:p>
            <a:r>
              <a:rPr lang="es-MX" sz="1200" dirty="0">
                <a:latin typeface="Poppins" panose="00000500000000000000" pitchFamily="2" charset="0"/>
                <a:cs typeface="Poppins" panose="00000500000000000000" pitchFamily="2" charset="0"/>
              </a:rPr>
              <a:t>-Entregado</a:t>
            </a:r>
          </a:p>
          <a:p>
            <a:r>
              <a:rPr lang="es-MX" sz="1200" dirty="0">
                <a:highlight>
                  <a:srgbClr val="FF00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Cada vez que se realice un cambio en el estado, el sistema deberá enviar una notificación por correo electrónico al usuario correspondiente</a:t>
            </a:r>
            <a:r>
              <a:rPr lang="es-MX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s-PE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68" name="Conector: angular 67">
            <a:extLst>
              <a:ext uri="{FF2B5EF4-FFF2-40B4-BE49-F238E27FC236}">
                <a16:creationId xmlns:a16="http://schemas.microsoft.com/office/drawing/2014/main" id="{934AC743-C504-B77A-699E-ACF4846FF641}"/>
              </a:ext>
            </a:extLst>
          </p:cNvPr>
          <p:cNvCxnSpPr>
            <a:cxnSpLocks/>
            <a:stCxn id="63" idx="1"/>
          </p:cNvCxnSpPr>
          <p:nvPr/>
        </p:nvCxnSpPr>
        <p:spPr>
          <a:xfrm rot="10800000">
            <a:off x="8168297" y="6040411"/>
            <a:ext cx="207075" cy="1061287"/>
          </a:xfrm>
          <a:prstGeom prst="bent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9" name="CuadroTexto 68">
            <a:extLst>
              <a:ext uri="{FF2B5EF4-FFF2-40B4-BE49-F238E27FC236}">
                <a16:creationId xmlns:a16="http://schemas.microsoft.com/office/drawing/2014/main" id="{08196892-E339-11C8-AE05-A97C8359F99D}"/>
              </a:ext>
            </a:extLst>
          </p:cNvPr>
          <p:cNvSpPr txBox="1"/>
          <p:nvPr/>
        </p:nvSpPr>
        <p:spPr>
          <a:xfrm>
            <a:off x="8001555" y="8898013"/>
            <a:ext cx="6755500" cy="105413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250" dirty="0">
                <a:latin typeface="Poppins" panose="00000500000000000000" pitchFamily="2" charset="0"/>
                <a:cs typeface="Poppins" panose="00000500000000000000" pitchFamily="2" charset="0"/>
              </a:rPr>
              <a:t>También se podrá modificar el campo </a:t>
            </a:r>
            <a:r>
              <a:rPr lang="es-MX" sz="1250" b="1" dirty="0">
                <a:latin typeface="Poppins" panose="00000500000000000000" pitchFamily="2" charset="0"/>
                <a:cs typeface="Poppins" panose="00000500000000000000" pitchFamily="2" charset="0"/>
              </a:rPr>
              <a:t>“Presentaciones entregadas”. </a:t>
            </a:r>
          </a:p>
          <a:p>
            <a:r>
              <a:rPr lang="es-MX" sz="1250" dirty="0">
                <a:latin typeface="Poppins" panose="00000500000000000000" pitchFamily="2" charset="0"/>
                <a:cs typeface="Poppins" panose="00000500000000000000" pitchFamily="2" charset="0"/>
              </a:rPr>
              <a:t>Una vez que el estado se actualice a </a:t>
            </a:r>
            <a:r>
              <a:rPr lang="es-MX" sz="1250" b="1" dirty="0">
                <a:latin typeface="Poppins" panose="00000500000000000000" pitchFamily="2" charset="0"/>
                <a:cs typeface="Poppins" panose="00000500000000000000" pitchFamily="2" charset="0"/>
              </a:rPr>
              <a:t>“ENTREGADO”, </a:t>
            </a:r>
            <a:r>
              <a:rPr lang="es-MX" sz="1250" dirty="0">
                <a:latin typeface="Poppins" panose="00000500000000000000" pitchFamily="2" charset="0"/>
                <a:cs typeface="Poppins" panose="00000500000000000000" pitchFamily="2" charset="0"/>
              </a:rPr>
              <a:t>será obligatorio registrar las cantidades entregadas según la presentación correspondiente.</a:t>
            </a:r>
          </a:p>
          <a:p>
            <a:r>
              <a:rPr lang="es-MX" sz="1250" dirty="0">
                <a:latin typeface="Poppins" panose="00000500000000000000" pitchFamily="2" charset="0"/>
                <a:cs typeface="Poppins" panose="00000500000000000000" pitchFamily="2" charset="0"/>
              </a:rPr>
              <a:t>Las cantidades ingresadas en el campo de presentaciones deben coincidir con la </a:t>
            </a:r>
            <a:r>
              <a:rPr lang="es-MX" sz="1250" b="1" dirty="0">
                <a:latin typeface="Poppins" panose="00000500000000000000" pitchFamily="2" charset="0"/>
                <a:cs typeface="Poppins" panose="00000500000000000000" pitchFamily="2" charset="0"/>
              </a:rPr>
              <a:t>cantidad</a:t>
            </a:r>
            <a:r>
              <a:rPr lang="es-MX" sz="1250" dirty="0">
                <a:latin typeface="Poppins" panose="00000500000000000000" pitchFamily="2" charset="0"/>
                <a:cs typeface="Poppins" panose="00000500000000000000" pitchFamily="2" charset="0"/>
              </a:rPr>
              <a:t> solicitada, es decir, la suma total debe ser exacta</a:t>
            </a:r>
            <a:endParaRPr lang="es-PE" sz="12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71" name="Conector: angular 70">
            <a:extLst>
              <a:ext uri="{FF2B5EF4-FFF2-40B4-BE49-F238E27FC236}">
                <a16:creationId xmlns:a16="http://schemas.microsoft.com/office/drawing/2014/main" id="{726490E1-FFCE-C3C9-F4D4-50A0F645A0F3}"/>
              </a:ext>
            </a:extLst>
          </p:cNvPr>
          <p:cNvCxnSpPr>
            <a:cxnSpLocks/>
            <a:endCxn id="69" idx="1"/>
          </p:cNvCxnSpPr>
          <p:nvPr/>
        </p:nvCxnSpPr>
        <p:spPr>
          <a:xfrm rot="10800000" flipH="1" flipV="1">
            <a:off x="7982697" y="5909777"/>
            <a:ext cx="18857" cy="3515304"/>
          </a:xfrm>
          <a:prstGeom prst="bentConnector3">
            <a:avLst>
              <a:gd name="adj1" fmla="val -1212282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C3E4DB5A-480F-EDEA-E134-DE7AD282D925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14757055" y="7728532"/>
            <a:ext cx="282285" cy="16965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812F8DB9-DC49-C4FA-3853-F341CD5267EE}"/>
              </a:ext>
            </a:extLst>
          </p:cNvPr>
          <p:cNvSpPr txBox="1"/>
          <p:nvPr/>
        </p:nvSpPr>
        <p:spPr>
          <a:xfrm>
            <a:off x="10567631" y="235521"/>
            <a:ext cx="71488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s-MX" sz="2700" b="1" u="sng" dirty="0">
                <a:solidFill>
                  <a:srgbClr val="558BA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INGRESO DE REQUERIMIENTO POR EL USURIO</a:t>
            </a:r>
            <a:endParaRPr lang="es-PE" sz="2700" b="1" u="sng" dirty="0">
              <a:solidFill>
                <a:srgbClr val="558BA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Flecha: pentágono 14">
            <a:extLst>
              <a:ext uri="{FF2B5EF4-FFF2-40B4-BE49-F238E27FC236}">
                <a16:creationId xmlns:a16="http://schemas.microsoft.com/office/drawing/2014/main" id="{8A2E8BB7-2CC9-EE23-DF7B-C910F5ABA827}"/>
              </a:ext>
            </a:extLst>
          </p:cNvPr>
          <p:cNvSpPr/>
          <p:nvPr/>
        </p:nvSpPr>
        <p:spPr>
          <a:xfrm>
            <a:off x="921475" y="149461"/>
            <a:ext cx="8315739" cy="1226029"/>
          </a:xfrm>
          <a:prstGeom prst="homePlate">
            <a:avLst/>
          </a:prstGeom>
          <a:solidFill>
            <a:schemeClr val="tx2">
              <a:lumMod val="75000"/>
              <a:lumOff val="25000"/>
            </a:schemeClr>
          </a:solidFill>
          <a:ln w="57150">
            <a:solidFill>
              <a:srgbClr val="D3D3D7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29D4A87-C2A2-8A4F-E5BB-4BDCF1FBE380}"/>
              </a:ext>
            </a:extLst>
          </p:cNvPr>
          <p:cNvSpPr txBox="1"/>
          <p:nvPr/>
        </p:nvSpPr>
        <p:spPr>
          <a:xfrm>
            <a:off x="920229" y="261706"/>
            <a:ext cx="7804610" cy="954107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3600" b="1" dirty="0">
                <a:solidFill>
                  <a:schemeClr val="bg1"/>
                </a:solidFill>
              </a:rPr>
              <a:t>VISTA DEL ADMINISTRADOR I+D</a:t>
            </a:r>
          </a:p>
          <a:p>
            <a:r>
              <a:rPr lang="es-MX" sz="2000" b="1" dirty="0">
                <a:solidFill>
                  <a:schemeClr val="bg1"/>
                </a:solidFill>
              </a:rPr>
              <a:t>(Coordinado I+D y Supervisor de insectos Benéficos )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20480D82-6F8A-0931-2A9F-77490E327642}"/>
              </a:ext>
            </a:extLst>
          </p:cNvPr>
          <p:cNvSpPr txBox="1"/>
          <p:nvPr/>
        </p:nvSpPr>
        <p:spPr>
          <a:xfrm>
            <a:off x="298678" y="8886451"/>
            <a:ext cx="2139552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Notificación que  indica que hay solicitud de crisopas por parte del usuario</a:t>
            </a:r>
            <a:endParaRPr lang="es-PE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86" name="Grupo 85">
            <a:extLst>
              <a:ext uri="{FF2B5EF4-FFF2-40B4-BE49-F238E27FC236}">
                <a16:creationId xmlns:a16="http://schemas.microsoft.com/office/drawing/2014/main" id="{3B39EDDE-9F1A-5820-0181-FDF943DFAD34}"/>
              </a:ext>
            </a:extLst>
          </p:cNvPr>
          <p:cNvGrpSpPr/>
          <p:nvPr/>
        </p:nvGrpSpPr>
        <p:grpSpPr>
          <a:xfrm>
            <a:off x="611791" y="1670075"/>
            <a:ext cx="3621966" cy="7000541"/>
            <a:chOff x="1412021" y="1576407"/>
            <a:chExt cx="3866138" cy="7061154"/>
          </a:xfrm>
        </p:grpSpPr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162B20A0-6790-EC96-40A5-70637A9DF177}"/>
                </a:ext>
              </a:extLst>
            </p:cNvPr>
            <p:cNvGrpSpPr/>
            <p:nvPr/>
          </p:nvGrpSpPr>
          <p:grpSpPr>
            <a:xfrm>
              <a:off x="1412021" y="1576407"/>
              <a:ext cx="3866138" cy="7061154"/>
              <a:chOff x="2269259" y="2073946"/>
              <a:chExt cx="3866138" cy="7061154"/>
            </a:xfrm>
          </p:grpSpPr>
          <p:pic>
            <p:nvPicPr>
              <p:cNvPr id="47" name="Imagen 46">
                <a:extLst>
                  <a:ext uri="{FF2B5EF4-FFF2-40B4-BE49-F238E27FC236}">
                    <a16:creationId xmlns:a16="http://schemas.microsoft.com/office/drawing/2014/main" id="{16685748-4FE2-5482-68FE-519A0C3426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69979" y="2073946"/>
                <a:ext cx="3865418" cy="7061154"/>
              </a:xfrm>
              <a:prstGeom prst="rect">
                <a:avLst/>
              </a:prstGeom>
              <a:ln w="3810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sp>
            <p:nvSpPr>
              <p:cNvPr id="52" name="Rectángulo 51">
                <a:extLst>
                  <a:ext uri="{FF2B5EF4-FFF2-40B4-BE49-F238E27FC236}">
                    <a16:creationId xmlns:a16="http://schemas.microsoft.com/office/drawing/2014/main" id="{63047BDD-27B9-DA22-67A4-016EE9277024}"/>
                  </a:ext>
                </a:extLst>
              </p:cNvPr>
              <p:cNvSpPr/>
              <p:nvPr/>
            </p:nvSpPr>
            <p:spPr>
              <a:xfrm>
                <a:off x="2269259" y="2364395"/>
                <a:ext cx="3810000" cy="471451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54" name="Rectángulo 53">
                <a:extLst>
                  <a:ext uri="{FF2B5EF4-FFF2-40B4-BE49-F238E27FC236}">
                    <a16:creationId xmlns:a16="http://schemas.microsoft.com/office/drawing/2014/main" id="{5EBFE4DA-7965-AB11-E28B-302A614117F6}"/>
                  </a:ext>
                </a:extLst>
              </p:cNvPr>
              <p:cNvSpPr/>
              <p:nvPr/>
            </p:nvSpPr>
            <p:spPr>
              <a:xfrm>
                <a:off x="2472438" y="2396612"/>
                <a:ext cx="1549698" cy="2917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240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badi Extra Light" panose="020B0604020202020204" pitchFamily="34" charset="0"/>
                  </a:rPr>
                  <a:t>AGROI+D</a:t>
                </a:r>
                <a:endParaRPr lang="es-PE" sz="24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badi Extra Light" panose="020B0604020202020204" pitchFamily="34" charset="0"/>
                </a:endParaRPr>
              </a:p>
            </p:txBody>
          </p:sp>
          <p:pic>
            <p:nvPicPr>
              <p:cNvPr id="64" name="Imagen 63" descr="Logotipo, nombre de la empresa">
                <a:extLst>
                  <a:ext uri="{FF2B5EF4-FFF2-40B4-BE49-F238E27FC236}">
                    <a16:creationId xmlns:a16="http://schemas.microsoft.com/office/drawing/2014/main" id="{C4BEF277-2072-E1FC-8975-2FBA231CDA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95344" y="2911364"/>
                <a:ext cx="2513026" cy="798499"/>
              </a:xfrm>
              <a:prstGeom prst="rect">
                <a:avLst/>
              </a:prstGeom>
            </p:spPr>
          </p:pic>
          <p:sp>
            <p:nvSpPr>
              <p:cNvPr id="65" name="Rectángulo 64">
                <a:extLst>
                  <a:ext uri="{FF2B5EF4-FFF2-40B4-BE49-F238E27FC236}">
                    <a16:creationId xmlns:a16="http://schemas.microsoft.com/office/drawing/2014/main" id="{CFB91E6A-44E3-7291-2C0B-FFDA90BAF2E5}"/>
                  </a:ext>
                </a:extLst>
              </p:cNvPr>
              <p:cNvSpPr/>
              <p:nvPr/>
            </p:nvSpPr>
            <p:spPr>
              <a:xfrm>
                <a:off x="2466209" y="3959827"/>
                <a:ext cx="3562788" cy="23358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dirty="0"/>
              </a:p>
            </p:txBody>
          </p:sp>
          <p:sp>
            <p:nvSpPr>
              <p:cNvPr id="66" name="Rectángulo 65">
                <a:extLst>
                  <a:ext uri="{FF2B5EF4-FFF2-40B4-BE49-F238E27FC236}">
                    <a16:creationId xmlns:a16="http://schemas.microsoft.com/office/drawing/2014/main" id="{49F23571-0AB9-B964-77CC-EBF8B4327A19}"/>
                  </a:ext>
                </a:extLst>
              </p:cNvPr>
              <p:cNvSpPr/>
              <p:nvPr/>
            </p:nvSpPr>
            <p:spPr>
              <a:xfrm>
                <a:off x="2826772" y="4810932"/>
                <a:ext cx="2839868" cy="54460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Solicitud de Requerimientos</a:t>
                </a:r>
                <a:endParaRPr lang="es-PE" b="1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  <p:pic>
            <p:nvPicPr>
              <p:cNvPr id="67" name="Picture 4" descr="Gráficos escalables iconos de computadora gráficos de red portátiles, icono  de salida, cdr, texto, icono de salida png | PNGWing">
                <a:extLst>
                  <a:ext uri="{FF2B5EF4-FFF2-40B4-BE49-F238E27FC236}">
                    <a16:creationId xmlns:a16="http://schemas.microsoft.com/office/drawing/2014/main" id="{71CA5319-8DF5-EC9A-450C-5D95AF86C1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backgroundRemoval t="1895" b="96632" l="543" r="97283">
                            <a14:foregroundMark x1="50042" y1="12244" x2="36739" y2="5895"/>
                            <a14:foregroundMark x1="57985" y1="16034" x2="57540" y2="15821"/>
                            <a14:foregroundMark x1="59239" y1="16632" x2="58355" y2="16210"/>
                            <a14:foregroundMark x1="36739" y1="5895" x2="20435" y2="7158"/>
                            <a14:foregroundMark x1="12737" y1="15836" x2="6522" y2="22842"/>
                            <a14:foregroundMark x1="20435" y1="7158" x2="15617" y2="12589"/>
                            <a14:foregroundMark x1="6522" y1="22842" x2="5435" y2="74421"/>
                            <a14:foregroundMark x1="5435" y1="74421" x2="11957" y2="90842"/>
                            <a14:foregroundMark x1="11957" y1="90842" x2="33587" y2="94947"/>
                            <a14:foregroundMark x1="33587" y1="94947" x2="55435" y2="90526"/>
                            <a14:foregroundMark x1="55435" y1="90526" x2="63043" y2="80000"/>
                            <a14:foregroundMark x1="44565" y1="47263" x2="78696" y2="44632"/>
                            <a14:foregroundMark x1="77496" y1="56958" x2="76739" y2="64737"/>
                            <a14:foregroundMark x1="78696" y1="44632" x2="77613" y2="55759"/>
                            <a14:foregroundMark x1="76739" y1="64737" x2="95000" y2="53684"/>
                            <a14:foregroundMark x1="95000" y1="53684" x2="79239" y2="39368"/>
                            <a14:foregroundMark x1="79239" y1="39368" x2="77065" y2="35895"/>
                            <a14:foregroundMark x1="79130" y1="47579" x2="38804" y2="50632"/>
                            <a14:foregroundMark x1="38804" y1="50632" x2="81630" y2="47789"/>
                            <a14:foregroundMark x1="81630" y1="47789" x2="82500" y2="47789"/>
                            <a14:foregroundMark x1="75870" y1="41158" x2="90479" y2="39510"/>
                            <a14:foregroundMark x1="91797" y1="39625" x2="94783" y2="52737"/>
                            <a14:foregroundMark x1="97065" y1="49579" x2="97391" y2="52105"/>
                            <a14:foregroundMark x1="54365" y1="11816" x2="43913" y2="2526"/>
                            <a14:foregroundMark x1="59072" y1="16000" x2="57962" y2="15013"/>
                            <a14:foregroundMark x1="59783" y1="16632" x2="59072" y2="16000"/>
                            <a14:foregroundMark x1="43913" y1="2526" x2="15761" y2="3579"/>
                            <a14:foregroundMark x1="15761" y1="3579" x2="1413" y2="14842"/>
                            <a14:foregroundMark x1="1413" y1="14842" x2="978" y2="72737"/>
                            <a14:foregroundMark x1="978" y1="72737" x2="9783" y2="23579"/>
                            <a14:foregroundMark x1="23895" y1="12054" x2="24348" y2="11684"/>
                            <a14:foregroundMark x1="9783" y1="23579" x2="12657" y2="21232"/>
                            <a14:foregroundMark x1="56397" y1="12187" x2="57935" y2="12211"/>
                            <a14:foregroundMark x1="24348" y1="11684" x2="49938" y2="12086"/>
                            <a14:foregroundMark x1="58952" y1="14352" x2="60435" y2="17474"/>
                            <a14:foregroundMark x1="57935" y1="12211" x2="58861" y2="14161"/>
                            <a14:foregroundMark x1="61630" y1="17789" x2="53043" y2="3579"/>
                            <a14:foregroundMark x1="53043" y1="3579" x2="45543" y2="4947"/>
                            <a14:foregroundMark x1="53587" y1="1895" x2="67283" y2="9368"/>
                            <a14:foregroundMark x1="67283" y1="9368" x2="60978" y2="9474"/>
                            <a14:foregroundMark x1="8261" y1="8421" x2="217" y2="51579"/>
                            <a14:foregroundMark x1="217" y1="51579" x2="1087" y2="72000"/>
                            <a14:foregroundMark x1="1087" y1="72000" x2="9891" y2="34211"/>
                            <a14:foregroundMark x1="3261" y1="77684" x2="9239" y2="96842"/>
                            <a14:foregroundMark x1="9239" y1="96842" x2="35652" y2="98737"/>
                            <a14:foregroundMark x1="35652" y1="98737" x2="55435" y2="94000"/>
                            <a14:foregroundMark x1="55435" y1="94000" x2="67609" y2="84211"/>
                            <a14:foregroundMark x1="67609" y1="84211" x2="51413" y2="92632"/>
                            <a14:foregroundMark x1="13242" y1="84716" x2="652" y2="82105"/>
                            <a14:foregroundMark x1="27115" y1="87593" x2="26755" y2="87518"/>
                            <a14:foregroundMark x1="51413" y1="92632" x2="28349" y2="87849"/>
                            <a14:foregroundMark x1="652" y1="82105" x2="1304" y2="79579"/>
                            <a14:foregroundMark x1="21630" y1="94632" x2="47065" y2="96632"/>
                            <a14:foregroundMark x1="47065" y1="96632" x2="65000" y2="90211"/>
                            <a14:foregroundMark x1="65000" y1="90211" x2="69022" y2="86947"/>
                            <a14:backgroundMark x1="52717" y1="18842" x2="22500" y2="24105"/>
                            <a14:backgroundMark x1="22500" y1="24105" x2="20326" y2="44632"/>
                            <a14:backgroundMark x1="20326" y1="44632" x2="28913" y2="62842"/>
                            <a14:backgroundMark x1="28913" y1="62842" x2="42500" y2="70105"/>
                            <a14:backgroundMark x1="42500" y1="70105" x2="58152" y2="64105"/>
                            <a14:backgroundMark x1="58152" y1="64105" x2="72717" y2="74947"/>
                            <a14:backgroundMark x1="72717" y1="74947" x2="72717" y2="75053"/>
                            <a14:backgroundMark x1="24783" y1="14737" x2="14565" y2="20947"/>
                            <a14:backgroundMark x1="22391" y1="14526" x2="14348" y2="19579"/>
                            <a14:backgroundMark x1="51196" y1="13895" x2="56413" y2="16421"/>
                            <a14:backgroundMark x1="56630" y1="16421" x2="57391" y2="16105"/>
                            <a14:backgroundMark x1="57609" y1="17474" x2="55978" y2="13368"/>
                            <a14:backgroundMark x1="52065" y1="13053" x2="51304" y2="12947"/>
                            <a14:backgroundMark x1="55109" y1="13158" x2="57283" y2="16211"/>
                            <a14:backgroundMark x1="57065" y1="14632" x2="57283" y2="16000"/>
                            <a14:backgroundMark x1="57065" y1="15579" x2="57500" y2="15579"/>
                            <a14:backgroundMark x1="57500" y1="16000" x2="57500" y2="16000"/>
                            <a14:backgroundMark x1="57609" y1="16105" x2="57500" y2="15474"/>
                            <a14:backgroundMark x1="58043" y1="16211" x2="58043" y2="15263"/>
                            <a14:backgroundMark x1="57826" y1="15053" x2="57717" y2="14842"/>
                            <a14:backgroundMark x1="56413" y1="13579" x2="50652" y2="12526"/>
                            <a14:backgroundMark x1="51087" y1="12842" x2="50435" y2="12842"/>
                            <a14:backgroundMark x1="24674" y1="13263" x2="21304" y2="13158"/>
                            <a14:backgroundMark x1="15326" y1="13158" x2="13587" y2="15789"/>
                            <a14:backgroundMark x1="13587" y1="18632" x2="13478" y2="21263"/>
                            <a14:backgroundMark x1="16304" y1="13158" x2="12935" y2="16000"/>
                            <a14:backgroundMark x1="15870" y1="12842" x2="15870" y2="13053"/>
                            <a14:backgroundMark x1="92283" y1="39789" x2="91848" y2="39263"/>
                            <a14:backgroundMark x1="91087" y1="37263" x2="91848" y2="38421"/>
                            <a14:backgroundMark x1="92717" y1="39368" x2="91522" y2="38632"/>
                            <a14:backgroundMark x1="92283" y1="39368" x2="91630" y2="38421"/>
                            <a14:backgroundMark x1="90326" y1="37053" x2="92609" y2="38947"/>
                            <a14:backgroundMark x1="92609" y1="39789" x2="92283" y2="39263"/>
                            <a14:backgroundMark x1="76957" y1="57053" x2="77609" y2="56737"/>
                            <a14:backgroundMark x1="14130" y1="83579" x2="26957" y2="86737"/>
                            <a14:backgroundMark x1="27935" y1="87263" x2="26957" y2="87368"/>
                            <a14:backgroundMark x1="13587" y1="85263" x2="13587" y2="84632"/>
                            <a14:backgroundMark x1="25761" y1="87474" x2="26848" y2="87368"/>
                            <a14:backgroundMark x1="13370" y1="84842" x2="13370" y2="84737"/>
                            <a14:backgroundMark x1="13152" y1="84947" x2="13043" y2="84842"/>
                            <a14:backgroundMark x1="13261" y1="85053" x2="13152" y2="84842"/>
                            <a14:backgroundMark x1="13152" y1="84842" x2="13370" y2="8410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90479" y="2353955"/>
                <a:ext cx="341153" cy="3522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3327B3EE-FC74-4A94-6E88-D56DCA8F71DD}"/>
                  </a:ext>
                </a:extLst>
              </p:cNvPr>
              <p:cNvSpPr/>
              <p:nvPr/>
            </p:nvSpPr>
            <p:spPr>
              <a:xfrm>
                <a:off x="2789980" y="3935453"/>
                <a:ext cx="2839868" cy="54460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Programación semanal</a:t>
                </a:r>
                <a:endParaRPr lang="es-PE" b="1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  <p:sp>
            <p:nvSpPr>
              <p:cNvPr id="75" name="Diagrama de flujo: proceso alternativo 74">
                <a:extLst>
                  <a:ext uri="{FF2B5EF4-FFF2-40B4-BE49-F238E27FC236}">
                    <a16:creationId xmlns:a16="http://schemas.microsoft.com/office/drawing/2014/main" id="{BDF2A900-85B3-F9C3-AFAD-99B9127589EF}"/>
                  </a:ext>
                </a:extLst>
              </p:cNvPr>
              <p:cNvSpPr/>
              <p:nvPr/>
            </p:nvSpPr>
            <p:spPr>
              <a:xfrm>
                <a:off x="2811466" y="3964984"/>
                <a:ext cx="2855174" cy="488398"/>
              </a:xfrm>
              <a:prstGeom prst="flowChartAlternateProcess">
                <a:avLst/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pic>
            <p:nvPicPr>
              <p:cNvPr id="76" name="Imagen 75">
                <a:extLst>
                  <a:ext uri="{FF2B5EF4-FFF2-40B4-BE49-F238E27FC236}">
                    <a16:creationId xmlns:a16="http://schemas.microsoft.com/office/drawing/2014/main" id="{762E7B1D-E0BA-E81D-702B-95C914E7858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rcRect l="25233" t="14388" r="27148" b="24106"/>
              <a:stretch/>
            </p:blipFill>
            <p:spPr>
              <a:xfrm rot="4160401">
                <a:off x="2611570" y="5174395"/>
                <a:ext cx="391599" cy="578665"/>
              </a:xfrm>
              <a:prstGeom prst="rect">
                <a:avLst/>
              </a:prstGeom>
            </p:spPr>
          </p:pic>
        </p:grp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A2B43ED8-FD09-61CA-3520-E694382F3062}"/>
                </a:ext>
              </a:extLst>
            </p:cNvPr>
            <p:cNvSpPr/>
            <p:nvPr/>
          </p:nvSpPr>
          <p:spPr>
            <a:xfrm>
              <a:off x="2025160" y="4059869"/>
              <a:ext cx="387561" cy="352851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2000" b="1" dirty="0"/>
                <a:t>2</a:t>
              </a:r>
            </a:p>
          </p:txBody>
        </p:sp>
      </p:grpSp>
      <p:cxnSp>
        <p:nvCxnSpPr>
          <p:cNvPr id="99" name="Conector: angular 98">
            <a:extLst>
              <a:ext uri="{FF2B5EF4-FFF2-40B4-BE49-F238E27FC236}">
                <a16:creationId xmlns:a16="http://schemas.microsoft.com/office/drawing/2014/main" id="{458B20E7-2E3B-E9FA-8BE9-94E2E4721BB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848366" y="5046703"/>
            <a:ext cx="1582553" cy="549866"/>
          </a:xfrm>
          <a:prstGeom prst="bentConnector3">
            <a:avLst>
              <a:gd name="adj1" fmla="val 98150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4" name="Triángulo isósceles 103">
            <a:extLst>
              <a:ext uri="{FF2B5EF4-FFF2-40B4-BE49-F238E27FC236}">
                <a16:creationId xmlns:a16="http://schemas.microsoft.com/office/drawing/2014/main" id="{4D238E82-B411-D92B-DB03-321E3A8A5C4C}"/>
              </a:ext>
            </a:extLst>
          </p:cNvPr>
          <p:cNvSpPr/>
          <p:nvPr/>
        </p:nvSpPr>
        <p:spPr>
          <a:xfrm rot="16200000">
            <a:off x="2732694" y="4138395"/>
            <a:ext cx="3008918" cy="913534"/>
          </a:xfrm>
          <a:prstGeom prst="triangle">
            <a:avLst>
              <a:gd name="adj" fmla="val 4898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97" name="Imagen 96">
            <a:extLst>
              <a:ext uri="{FF2B5EF4-FFF2-40B4-BE49-F238E27FC236}">
                <a16:creationId xmlns:a16="http://schemas.microsoft.com/office/drawing/2014/main" id="{8792FA10-52BB-D7F0-EE6A-7E35D9DD02A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0621" y="5847571"/>
            <a:ext cx="2995804" cy="1755054"/>
          </a:xfrm>
          <a:prstGeom prst="rect">
            <a:avLst/>
          </a:prstGeom>
        </p:spPr>
      </p:pic>
      <p:sp>
        <p:nvSpPr>
          <p:cNvPr id="98" name="Rectángulo 97">
            <a:extLst>
              <a:ext uri="{FF2B5EF4-FFF2-40B4-BE49-F238E27FC236}">
                <a16:creationId xmlns:a16="http://schemas.microsoft.com/office/drawing/2014/main" id="{E9918301-5197-785D-FCDA-CDFF47110B5A}"/>
              </a:ext>
            </a:extLst>
          </p:cNvPr>
          <p:cNvSpPr/>
          <p:nvPr/>
        </p:nvSpPr>
        <p:spPr>
          <a:xfrm>
            <a:off x="1034191" y="5346119"/>
            <a:ext cx="2973609" cy="482225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Proyección: Mayo 5000 </a:t>
            </a:r>
            <a:r>
              <a:rPr lang="es-MX" sz="14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mll</a:t>
            </a:r>
            <a:endParaRPr lang="es-PE" sz="1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AA95E8FD-EF90-95A5-467B-AC16F39B79C3}"/>
              </a:ext>
            </a:extLst>
          </p:cNvPr>
          <p:cNvGrpSpPr/>
          <p:nvPr/>
        </p:nvGrpSpPr>
        <p:grpSpPr>
          <a:xfrm>
            <a:off x="1364906" y="7728532"/>
            <a:ext cx="2095644" cy="291934"/>
            <a:chOff x="10955573" y="4291145"/>
            <a:chExt cx="2095644" cy="287749"/>
          </a:xfrm>
        </p:grpSpPr>
        <p:sp>
          <p:nvSpPr>
            <p:cNvPr id="101" name="Rectángulo 100">
              <a:extLst>
                <a:ext uri="{FF2B5EF4-FFF2-40B4-BE49-F238E27FC236}">
                  <a16:creationId xmlns:a16="http://schemas.microsoft.com/office/drawing/2014/main" id="{65378CF0-1FFC-6676-D1DB-AE99CA3E876B}"/>
                </a:ext>
              </a:extLst>
            </p:cNvPr>
            <p:cNvSpPr/>
            <p:nvPr/>
          </p:nvSpPr>
          <p:spPr>
            <a:xfrm>
              <a:off x="10955573" y="4291145"/>
              <a:ext cx="1439084" cy="287748"/>
            </a:xfrm>
            <a:prstGeom prst="rect">
              <a:avLst/>
            </a:prstGeom>
            <a:solidFill>
              <a:srgbClr val="54CF1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/>
                <a:t>70%</a:t>
              </a:r>
            </a:p>
          </p:txBody>
        </p:sp>
        <p:sp>
          <p:nvSpPr>
            <p:cNvPr id="102" name="Rectángulo 101">
              <a:extLst>
                <a:ext uri="{FF2B5EF4-FFF2-40B4-BE49-F238E27FC236}">
                  <a16:creationId xmlns:a16="http://schemas.microsoft.com/office/drawing/2014/main" id="{8D633B75-0442-E3B1-C7EF-A681B68C9768}"/>
                </a:ext>
              </a:extLst>
            </p:cNvPr>
            <p:cNvSpPr/>
            <p:nvPr/>
          </p:nvSpPr>
          <p:spPr>
            <a:xfrm>
              <a:off x="12394657" y="4291145"/>
              <a:ext cx="656560" cy="28774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5F04761D-7A09-4501-66E1-CC9390390C54}"/>
              </a:ext>
            </a:extLst>
          </p:cNvPr>
          <p:cNvCxnSpPr>
            <a:cxnSpLocks/>
            <a:endCxn id="79" idx="2"/>
          </p:cNvCxnSpPr>
          <p:nvPr/>
        </p:nvCxnSpPr>
        <p:spPr>
          <a:xfrm rot="5400000" flipH="1" flipV="1">
            <a:off x="-1321328" y="6378917"/>
            <a:ext cx="4579321" cy="43574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7" name="Rectángulo 76">
            <a:extLst>
              <a:ext uri="{FF2B5EF4-FFF2-40B4-BE49-F238E27FC236}">
                <a16:creationId xmlns:a16="http://schemas.microsoft.com/office/drawing/2014/main" id="{01B905B3-B0AD-B505-7164-6EB9A647B9D0}"/>
              </a:ext>
            </a:extLst>
          </p:cNvPr>
          <p:cNvSpPr/>
          <p:nvPr/>
        </p:nvSpPr>
        <p:spPr>
          <a:xfrm>
            <a:off x="1021044" y="5347587"/>
            <a:ext cx="3032597" cy="222455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DAA2D11-8E39-BEFE-9535-E83E2DC7F764}"/>
              </a:ext>
            </a:extLst>
          </p:cNvPr>
          <p:cNvGrpSpPr/>
          <p:nvPr/>
        </p:nvGrpSpPr>
        <p:grpSpPr>
          <a:xfrm>
            <a:off x="14912465" y="1498163"/>
            <a:ext cx="3413818" cy="4023496"/>
            <a:chOff x="14912465" y="1498163"/>
            <a:chExt cx="3413818" cy="4023496"/>
          </a:xfrm>
        </p:grpSpPr>
        <p:sp>
          <p:nvSpPr>
            <p:cNvPr id="12" name="Triángulo isósceles 11">
              <a:extLst>
                <a:ext uri="{FF2B5EF4-FFF2-40B4-BE49-F238E27FC236}">
                  <a16:creationId xmlns:a16="http://schemas.microsoft.com/office/drawing/2014/main" id="{04CC9A5E-96E0-0EF4-6FFB-3BAAA41654D0}"/>
                </a:ext>
              </a:extLst>
            </p:cNvPr>
            <p:cNvSpPr/>
            <p:nvPr/>
          </p:nvSpPr>
          <p:spPr>
            <a:xfrm rot="14239092">
              <a:off x="14386741" y="2356165"/>
              <a:ext cx="3691218" cy="2639769"/>
            </a:xfrm>
            <a:prstGeom prst="triangle">
              <a:avLst>
                <a:gd name="adj" fmla="val 48987"/>
              </a:avLst>
            </a:prstGeom>
            <a:solidFill>
              <a:srgbClr val="FFDCD9"/>
            </a:solidFill>
            <a:ln>
              <a:solidFill>
                <a:schemeClr val="bg2"/>
              </a:solidFill>
            </a:ln>
            <a:effectLst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FE44D6FF-B294-C0A3-822D-7F4CA3431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l="2183" t="4344" r="6103" b="5895"/>
            <a:stretch>
              <a:fillRect/>
            </a:stretch>
          </p:blipFill>
          <p:spPr>
            <a:xfrm>
              <a:off x="16306526" y="1498163"/>
              <a:ext cx="2019757" cy="2972469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532828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lecha: pentágono 110">
            <a:extLst>
              <a:ext uri="{FF2B5EF4-FFF2-40B4-BE49-F238E27FC236}">
                <a16:creationId xmlns:a16="http://schemas.microsoft.com/office/drawing/2014/main" id="{4551E292-EB0C-AA9A-601E-D919998386C3}"/>
              </a:ext>
            </a:extLst>
          </p:cNvPr>
          <p:cNvSpPr/>
          <p:nvPr/>
        </p:nvSpPr>
        <p:spPr>
          <a:xfrm>
            <a:off x="1150362" y="213173"/>
            <a:ext cx="8181897" cy="1133107"/>
          </a:xfrm>
          <a:prstGeom prst="homePlate">
            <a:avLst/>
          </a:prstGeom>
          <a:solidFill>
            <a:srgbClr val="1F497D"/>
          </a:solidFill>
          <a:ln w="57150">
            <a:solidFill>
              <a:srgbClr val="D3D3D7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3C2D1DC-1A57-6FF2-5AB4-84C6F6DAA7A2}"/>
              </a:ext>
            </a:extLst>
          </p:cNvPr>
          <p:cNvSpPr txBox="1"/>
          <p:nvPr/>
        </p:nvSpPr>
        <p:spPr>
          <a:xfrm>
            <a:off x="4538273" y="1476589"/>
            <a:ext cx="12123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 usurario al ingresar nuevo requerimiento llenara el formulario</a:t>
            </a:r>
          </a:p>
        </p:txBody>
      </p:sp>
      <p:grpSp>
        <p:nvGrpSpPr>
          <p:cNvPr id="89" name="Grupo 88">
            <a:extLst>
              <a:ext uri="{FF2B5EF4-FFF2-40B4-BE49-F238E27FC236}">
                <a16:creationId xmlns:a16="http://schemas.microsoft.com/office/drawing/2014/main" id="{007356DE-6249-5939-059A-8E33FDBB1FC9}"/>
              </a:ext>
            </a:extLst>
          </p:cNvPr>
          <p:cNvGrpSpPr/>
          <p:nvPr/>
        </p:nvGrpSpPr>
        <p:grpSpPr>
          <a:xfrm>
            <a:off x="8146035" y="2220830"/>
            <a:ext cx="8344251" cy="7061154"/>
            <a:chOff x="9289035" y="1356910"/>
            <a:chExt cx="8344251" cy="7061154"/>
          </a:xfrm>
        </p:grpSpPr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D5145956-A9F5-7029-97B4-16B1D27B9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3209" y="1356910"/>
              <a:ext cx="3865418" cy="70611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D3624F0E-AAAD-02D6-3808-1C3DFB3A3F7F}"/>
                </a:ext>
              </a:extLst>
            </p:cNvPr>
            <p:cNvSpPr/>
            <p:nvPr/>
          </p:nvSpPr>
          <p:spPr>
            <a:xfrm>
              <a:off x="9289035" y="1710917"/>
              <a:ext cx="3832106" cy="4714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6EC2CB60-090B-ED6E-EC23-B029C90F3633}"/>
                </a:ext>
              </a:extLst>
            </p:cNvPr>
            <p:cNvSpPr/>
            <p:nvPr/>
          </p:nvSpPr>
          <p:spPr>
            <a:xfrm>
              <a:off x="9429940" y="1679674"/>
              <a:ext cx="1434667" cy="352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badi Extra Light" panose="020B0604020202020204" pitchFamily="34" charset="0"/>
                </a:rPr>
                <a:t>AGROI+D</a:t>
              </a:r>
              <a:endParaRPr lang="es-PE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 Extra Light" panose="020B0604020202020204" pitchFamily="34" charset="0"/>
              </a:endParaRP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8CA92F46-CE02-FE6B-66D1-7D63BE5A2428}"/>
                </a:ext>
              </a:extLst>
            </p:cNvPr>
            <p:cNvSpPr/>
            <p:nvPr/>
          </p:nvSpPr>
          <p:spPr>
            <a:xfrm>
              <a:off x="9438575" y="2294385"/>
              <a:ext cx="3628067" cy="36079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555CF34A-9844-1463-6C5A-259410D9A58D}"/>
                </a:ext>
              </a:extLst>
            </p:cNvPr>
            <p:cNvSpPr txBox="1"/>
            <p:nvPr/>
          </p:nvSpPr>
          <p:spPr>
            <a:xfrm>
              <a:off x="9522181" y="2803796"/>
              <a:ext cx="1155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*FUNDO:</a:t>
              </a:r>
              <a:endParaRPr lang="es-PE" sz="1600" b="1">
                <a:solidFill>
                  <a:srgbClr val="FF0000"/>
                </a:solidFill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386C7483-9C24-1AF5-6727-DF597796BD57}"/>
                </a:ext>
              </a:extLst>
            </p:cNvPr>
            <p:cNvSpPr txBox="1"/>
            <p:nvPr/>
          </p:nvSpPr>
          <p:spPr>
            <a:xfrm>
              <a:off x="9522181" y="3165929"/>
              <a:ext cx="1155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*LOTE:</a:t>
              </a:r>
              <a:endParaRPr lang="es-PE" sz="1600" b="1"/>
            </a:p>
          </p:txBody>
        </p:sp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C7A18F1A-D676-9E92-EE48-857C7789C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77600" y="2826427"/>
              <a:ext cx="2519554" cy="304843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3D3D69CB-B0A9-3D59-C103-70AE67826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77600" y="3215519"/>
              <a:ext cx="2519554" cy="304843"/>
            </a:xfrm>
            <a:prstGeom prst="rect">
              <a:avLst/>
            </a:prstGeom>
          </p:spPr>
        </p:pic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5485D12C-3D55-44CF-61EF-0BD856DF6325}"/>
                </a:ext>
              </a:extLst>
            </p:cNvPr>
            <p:cNvSpPr/>
            <p:nvPr/>
          </p:nvSpPr>
          <p:spPr>
            <a:xfrm>
              <a:off x="12773380" y="2854962"/>
              <a:ext cx="223773" cy="270486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v</a:t>
              </a:r>
              <a:endParaRPr lang="es-PE"/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0824581F-C22F-6887-539F-9C50D19A9CA2}"/>
                </a:ext>
              </a:extLst>
            </p:cNvPr>
            <p:cNvSpPr/>
            <p:nvPr/>
          </p:nvSpPr>
          <p:spPr>
            <a:xfrm>
              <a:off x="12773380" y="3243829"/>
              <a:ext cx="223773" cy="270486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v</a:t>
              </a:r>
              <a:endParaRPr lang="es-PE" dirty="0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27B26466-19F2-151C-FF81-61369B848FA6}"/>
                </a:ext>
              </a:extLst>
            </p:cNvPr>
            <p:cNvSpPr txBox="1"/>
            <p:nvPr/>
          </p:nvSpPr>
          <p:spPr>
            <a:xfrm>
              <a:off x="9522180" y="2437517"/>
              <a:ext cx="1155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*FECHA:</a:t>
              </a:r>
              <a:endParaRPr lang="es-PE" sz="1600" b="1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61361320-09A1-2CE6-6EE7-78AC9B601D87}"/>
                </a:ext>
              </a:extLst>
            </p:cNvPr>
            <p:cNvSpPr txBox="1"/>
            <p:nvPr/>
          </p:nvSpPr>
          <p:spPr>
            <a:xfrm>
              <a:off x="9471016" y="3658394"/>
              <a:ext cx="1155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*ESPECIE:</a:t>
              </a:r>
              <a:endParaRPr lang="es-PE" sz="1600" b="1"/>
            </a:p>
          </p:txBody>
        </p:sp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1F7AC335-58CF-94F6-ABA1-43A2C97B3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77599" y="3666705"/>
              <a:ext cx="2519554" cy="304843"/>
            </a:xfrm>
            <a:prstGeom prst="rect">
              <a:avLst/>
            </a:prstGeom>
          </p:spPr>
        </p:pic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B45BC48E-DBC8-575B-DE7A-C507C67684EE}"/>
                </a:ext>
              </a:extLst>
            </p:cNvPr>
            <p:cNvSpPr/>
            <p:nvPr/>
          </p:nvSpPr>
          <p:spPr>
            <a:xfrm>
              <a:off x="12773379" y="3695015"/>
              <a:ext cx="223773" cy="270486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v</a:t>
              </a:r>
              <a:endParaRPr lang="es-PE"/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9E3F3630-3BBA-CC5E-76AD-939DB9E3A948}"/>
                </a:ext>
              </a:extLst>
            </p:cNvPr>
            <p:cNvSpPr txBox="1"/>
            <p:nvPr/>
          </p:nvSpPr>
          <p:spPr>
            <a:xfrm>
              <a:off x="9445980" y="4777624"/>
              <a:ext cx="12855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 dirty="0"/>
                <a:t>*CANTIDAD:</a:t>
              </a:r>
              <a:endParaRPr lang="es-PE" sz="1600" b="1" dirty="0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506064AD-DE9F-D7C6-735E-2AF8C4E9E60D}"/>
                </a:ext>
              </a:extLst>
            </p:cNvPr>
            <p:cNvSpPr txBox="1"/>
            <p:nvPr/>
          </p:nvSpPr>
          <p:spPr>
            <a:xfrm>
              <a:off x="9421652" y="5286235"/>
              <a:ext cx="11557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*PLAGA OBJETIVO:</a:t>
              </a:r>
              <a:endParaRPr lang="es-PE" sz="1600" b="1"/>
            </a:p>
          </p:txBody>
        </p:sp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25474782-12F7-388F-D6E6-323898412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15926" y="5559581"/>
              <a:ext cx="2519554" cy="304843"/>
            </a:xfrm>
            <a:prstGeom prst="rect">
              <a:avLst/>
            </a:prstGeom>
          </p:spPr>
        </p:pic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81BD99C8-86D7-20B4-4F12-C56A4E508DBE}"/>
                </a:ext>
              </a:extLst>
            </p:cNvPr>
            <p:cNvSpPr/>
            <p:nvPr/>
          </p:nvSpPr>
          <p:spPr>
            <a:xfrm>
              <a:off x="12711706" y="5587891"/>
              <a:ext cx="223773" cy="270486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v</a:t>
              </a:r>
              <a:endParaRPr lang="es-PE" dirty="0"/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586E51E-D300-7494-39E5-CE36CCB9210A}"/>
                </a:ext>
              </a:extLst>
            </p:cNvPr>
            <p:cNvSpPr txBox="1"/>
            <p:nvPr/>
          </p:nvSpPr>
          <p:spPr>
            <a:xfrm>
              <a:off x="9452131" y="6055499"/>
              <a:ext cx="16677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 dirty="0"/>
                <a:t>OBSERVACIONES:</a:t>
              </a:r>
              <a:endParaRPr lang="es-PE" sz="1600" b="1" dirty="0"/>
            </a:p>
          </p:txBody>
        </p: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42E856BE-6D67-EE37-67FC-55AB55613279}"/>
                </a:ext>
              </a:extLst>
            </p:cNvPr>
            <p:cNvSpPr/>
            <p:nvPr/>
          </p:nvSpPr>
          <p:spPr>
            <a:xfrm>
              <a:off x="10446406" y="6430572"/>
              <a:ext cx="2590316" cy="104480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4123E76E-76FA-A551-7FFD-7F79A9A8F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86946" y="6535997"/>
              <a:ext cx="408005" cy="408005"/>
            </a:xfrm>
            <a:prstGeom prst="rect">
              <a:avLst/>
            </a:prstGeom>
          </p:spPr>
        </p:pic>
        <p:pic>
          <p:nvPicPr>
            <p:cNvPr id="11" name="Picture 4" descr="Gráficos escalables iconos de computadora gráficos de red portátiles, icono  de salida, cdr, texto, icono de salida png | PNGWing">
              <a:extLst>
                <a:ext uri="{FF2B5EF4-FFF2-40B4-BE49-F238E27FC236}">
                  <a16:creationId xmlns:a16="http://schemas.microsoft.com/office/drawing/2014/main" id="{2B7042D6-1292-455E-E9D7-B94FDF39F0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895" b="96632" l="543" r="97283">
                          <a14:foregroundMark x1="50042" y1="12244" x2="36739" y2="5895"/>
                          <a14:foregroundMark x1="57985" y1="16034" x2="57540" y2="15821"/>
                          <a14:foregroundMark x1="59239" y1="16632" x2="58355" y2="16210"/>
                          <a14:foregroundMark x1="36739" y1="5895" x2="20435" y2="7158"/>
                          <a14:foregroundMark x1="12737" y1="15836" x2="6522" y2="22842"/>
                          <a14:foregroundMark x1="20435" y1="7158" x2="15617" y2="12589"/>
                          <a14:foregroundMark x1="6522" y1="22842" x2="5435" y2="74421"/>
                          <a14:foregroundMark x1="5435" y1="74421" x2="11957" y2="90842"/>
                          <a14:foregroundMark x1="11957" y1="90842" x2="33587" y2="94947"/>
                          <a14:foregroundMark x1="33587" y1="94947" x2="55435" y2="90526"/>
                          <a14:foregroundMark x1="55435" y1="90526" x2="63043" y2="80000"/>
                          <a14:foregroundMark x1="44565" y1="47263" x2="78696" y2="44632"/>
                          <a14:foregroundMark x1="77496" y1="56958" x2="76739" y2="64737"/>
                          <a14:foregroundMark x1="78696" y1="44632" x2="77613" y2="55759"/>
                          <a14:foregroundMark x1="76739" y1="64737" x2="95000" y2="53684"/>
                          <a14:foregroundMark x1="95000" y1="53684" x2="79239" y2="39368"/>
                          <a14:foregroundMark x1="79239" y1="39368" x2="77065" y2="35895"/>
                          <a14:foregroundMark x1="79130" y1="47579" x2="38804" y2="50632"/>
                          <a14:foregroundMark x1="38804" y1="50632" x2="81630" y2="47789"/>
                          <a14:foregroundMark x1="81630" y1="47789" x2="82500" y2="47789"/>
                          <a14:foregroundMark x1="75870" y1="41158" x2="90479" y2="39510"/>
                          <a14:foregroundMark x1="91797" y1="39625" x2="94783" y2="52737"/>
                          <a14:foregroundMark x1="97065" y1="49579" x2="97391" y2="52105"/>
                          <a14:foregroundMark x1="54365" y1="11816" x2="43913" y2="2526"/>
                          <a14:foregroundMark x1="59072" y1="16000" x2="57962" y2="15013"/>
                          <a14:foregroundMark x1="59783" y1="16632" x2="59072" y2="16000"/>
                          <a14:foregroundMark x1="43913" y1="2526" x2="15761" y2="3579"/>
                          <a14:foregroundMark x1="15761" y1="3579" x2="1413" y2="14842"/>
                          <a14:foregroundMark x1="1413" y1="14842" x2="978" y2="72737"/>
                          <a14:foregroundMark x1="978" y1="72737" x2="9783" y2="23579"/>
                          <a14:foregroundMark x1="23895" y1="12054" x2="24348" y2="11684"/>
                          <a14:foregroundMark x1="9783" y1="23579" x2="12657" y2="21232"/>
                          <a14:foregroundMark x1="56397" y1="12187" x2="57935" y2="12211"/>
                          <a14:foregroundMark x1="24348" y1="11684" x2="49938" y2="12086"/>
                          <a14:foregroundMark x1="58952" y1="14352" x2="60435" y2="17474"/>
                          <a14:foregroundMark x1="57935" y1="12211" x2="58861" y2="14161"/>
                          <a14:foregroundMark x1="61630" y1="17789" x2="53043" y2="3579"/>
                          <a14:foregroundMark x1="53043" y1="3579" x2="45543" y2="4947"/>
                          <a14:foregroundMark x1="53587" y1="1895" x2="67283" y2="9368"/>
                          <a14:foregroundMark x1="67283" y1="9368" x2="60978" y2="9474"/>
                          <a14:foregroundMark x1="8261" y1="8421" x2="217" y2="51579"/>
                          <a14:foregroundMark x1="217" y1="51579" x2="1087" y2="72000"/>
                          <a14:foregroundMark x1="1087" y1="72000" x2="9891" y2="34211"/>
                          <a14:foregroundMark x1="3261" y1="77684" x2="9239" y2="96842"/>
                          <a14:foregroundMark x1="9239" y1="96842" x2="35652" y2="98737"/>
                          <a14:foregroundMark x1="35652" y1="98737" x2="55435" y2="94000"/>
                          <a14:foregroundMark x1="55435" y1="94000" x2="67609" y2="84211"/>
                          <a14:foregroundMark x1="67609" y1="84211" x2="51413" y2="92632"/>
                          <a14:foregroundMark x1="13242" y1="84716" x2="652" y2="82105"/>
                          <a14:foregroundMark x1="27115" y1="87593" x2="26755" y2="87518"/>
                          <a14:foregroundMark x1="51413" y1="92632" x2="28349" y2="87849"/>
                          <a14:foregroundMark x1="652" y1="82105" x2="1304" y2="79579"/>
                          <a14:foregroundMark x1="21630" y1="94632" x2="47065" y2="96632"/>
                          <a14:foregroundMark x1="47065" y1="96632" x2="65000" y2="90211"/>
                          <a14:foregroundMark x1="65000" y1="90211" x2="69022" y2="86947"/>
                          <a14:backgroundMark x1="52717" y1="18842" x2="22500" y2="24105"/>
                          <a14:backgroundMark x1="22500" y1="24105" x2="20326" y2="44632"/>
                          <a14:backgroundMark x1="20326" y1="44632" x2="28913" y2="62842"/>
                          <a14:backgroundMark x1="28913" y1="62842" x2="42500" y2="70105"/>
                          <a14:backgroundMark x1="42500" y1="70105" x2="58152" y2="64105"/>
                          <a14:backgroundMark x1="58152" y1="64105" x2="72717" y2="74947"/>
                          <a14:backgroundMark x1="72717" y1="74947" x2="72717" y2="75053"/>
                          <a14:backgroundMark x1="24783" y1="14737" x2="14565" y2="20947"/>
                          <a14:backgroundMark x1="22391" y1="14526" x2="14348" y2="19579"/>
                          <a14:backgroundMark x1="51196" y1="13895" x2="56413" y2="16421"/>
                          <a14:backgroundMark x1="56630" y1="16421" x2="57391" y2="16105"/>
                          <a14:backgroundMark x1="57609" y1="17474" x2="55978" y2="13368"/>
                          <a14:backgroundMark x1="52065" y1="13053" x2="51304" y2="12947"/>
                          <a14:backgroundMark x1="55109" y1="13158" x2="57283" y2="16211"/>
                          <a14:backgroundMark x1="57065" y1="14632" x2="57283" y2="16000"/>
                          <a14:backgroundMark x1="57065" y1="15579" x2="57500" y2="15579"/>
                          <a14:backgroundMark x1="57500" y1="16000" x2="57500" y2="16000"/>
                          <a14:backgroundMark x1="57609" y1="16105" x2="57500" y2="15474"/>
                          <a14:backgroundMark x1="58043" y1="16211" x2="58043" y2="15263"/>
                          <a14:backgroundMark x1="57826" y1="15053" x2="57717" y2="14842"/>
                          <a14:backgroundMark x1="56413" y1="13579" x2="50652" y2="12526"/>
                          <a14:backgroundMark x1="51087" y1="12842" x2="50435" y2="12842"/>
                          <a14:backgroundMark x1="24674" y1="13263" x2="21304" y2="13158"/>
                          <a14:backgroundMark x1="15326" y1="13158" x2="13587" y2="15789"/>
                          <a14:backgroundMark x1="13587" y1="18632" x2="13478" y2="21263"/>
                          <a14:backgroundMark x1="16304" y1="13158" x2="12935" y2="16000"/>
                          <a14:backgroundMark x1="15870" y1="12842" x2="15870" y2="13053"/>
                          <a14:backgroundMark x1="92283" y1="39789" x2="91848" y2="39263"/>
                          <a14:backgroundMark x1="91087" y1="37263" x2="91848" y2="38421"/>
                          <a14:backgroundMark x1="92717" y1="39368" x2="91522" y2="38632"/>
                          <a14:backgroundMark x1="92283" y1="39368" x2="91630" y2="38421"/>
                          <a14:backgroundMark x1="90326" y1="37053" x2="92609" y2="38947"/>
                          <a14:backgroundMark x1="92609" y1="39789" x2="92283" y2="39263"/>
                          <a14:backgroundMark x1="76957" y1="57053" x2="77609" y2="56737"/>
                          <a14:backgroundMark x1="14130" y1="83579" x2="26957" y2="86737"/>
                          <a14:backgroundMark x1="27935" y1="87263" x2="26957" y2="87368"/>
                          <a14:backgroundMark x1="13587" y1="85263" x2="13587" y2="84632"/>
                          <a14:backgroundMark x1="25761" y1="87474" x2="26848" y2="87368"/>
                          <a14:backgroundMark x1="13370" y1="84842" x2="13370" y2="84737"/>
                          <a14:backgroundMark x1="13152" y1="84947" x2="13043" y2="84842"/>
                          <a14:backgroundMark x1="13261" y1="85053" x2="13152" y2="84842"/>
                          <a14:backgroundMark x1="13152" y1="84842" x2="13370" y2="8410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55202" y="1681446"/>
              <a:ext cx="341153" cy="352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D35ED6E0-076A-8FDD-B0F2-A75A85764C55}"/>
                </a:ext>
              </a:extLst>
            </p:cNvPr>
            <p:cNvSpPr/>
            <p:nvPr/>
          </p:nvSpPr>
          <p:spPr>
            <a:xfrm>
              <a:off x="10532677" y="7667783"/>
              <a:ext cx="1397112" cy="29531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600" b="1" dirty="0">
                  <a:solidFill>
                    <a:schemeClr val="tx1"/>
                  </a:solidFill>
                  <a:latin typeface="Abadi Extra Light" panose="020B0204020104020204" pitchFamily="34" charset="0"/>
                </a:rPr>
                <a:t>Enviar solicitud</a:t>
              </a:r>
            </a:p>
          </p:txBody>
        </p:sp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22461980-7172-1BBD-FF52-6A4A27D72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81079" y="4798104"/>
              <a:ext cx="1038370" cy="295316"/>
            </a:xfrm>
            <a:prstGeom prst="rect">
              <a:avLst/>
            </a:prstGeom>
          </p:spPr>
        </p:pic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2114D933-71FF-8085-70FD-94C6D2E567C5}"/>
                </a:ext>
              </a:extLst>
            </p:cNvPr>
            <p:cNvSpPr txBox="1"/>
            <p:nvPr/>
          </p:nvSpPr>
          <p:spPr>
            <a:xfrm>
              <a:off x="10486555" y="2857136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LOS LAURELES</a:t>
              </a:r>
              <a:endParaRPr lang="es-PE" sz="1200"/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3A7D26A5-973B-7C61-351B-F55AFFE0771A}"/>
                </a:ext>
              </a:extLst>
            </p:cNvPr>
            <p:cNvSpPr txBox="1"/>
            <p:nvPr/>
          </p:nvSpPr>
          <p:spPr>
            <a:xfrm>
              <a:off x="10492442" y="3241039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LL06</a:t>
              </a:r>
              <a:endParaRPr lang="es-PE" sz="1200"/>
            </a:p>
          </p:txBody>
        </p: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67F89E60-2BE9-65D7-82B9-23AE816B255F}"/>
                </a:ext>
              </a:extLst>
            </p:cNvPr>
            <p:cNvSpPr txBox="1"/>
            <p:nvPr/>
          </p:nvSpPr>
          <p:spPr>
            <a:xfrm>
              <a:off x="10448946" y="3684298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CHRYSOPAS</a:t>
              </a:r>
              <a:endParaRPr lang="es-PE" sz="1200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71AF4F5C-54E9-A3BB-E5FC-670E175216C4}"/>
                </a:ext>
              </a:extLst>
            </p:cNvPr>
            <p:cNvSpPr txBox="1"/>
            <p:nvPr/>
          </p:nvSpPr>
          <p:spPr>
            <a:xfrm>
              <a:off x="10640621" y="4838657"/>
              <a:ext cx="8070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highlight>
                    <a:srgbClr val="00FF00"/>
                  </a:highlight>
                </a:rPr>
                <a:t>550 </a:t>
              </a:r>
              <a:r>
                <a:rPr lang="es-MX" sz="1200" dirty="0" err="1">
                  <a:highlight>
                    <a:srgbClr val="00FF00"/>
                  </a:highlight>
                </a:rPr>
                <a:t>mill</a:t>
              </a:r>
              <a:endParaRPr lang="es-PE" sz="1200" dirty="0">
                <a:highlight>
                  <a:srgbClr val="00FF00"/>
                </a:highlight>
              </a:endParaRP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FBDE7477-8BBE-F200-51AF-1AEE806A4161}"/>
                </a:ext>
              </a:extLst>
            </p:cNvPr>
            <p:cNvSpPr txBox="1"/>
            <p:nvPr/>
          </p:nvSpPr>
          <p:spPr>
            <a:xfrm>
              <a:off x="10429799" y="5546851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/>
                <a:t>TRIPS</a:t>
              </a:r>
              <a:endParaRPr lang="es-PE" sz="1200" dirty="0"/>
            </a:p>
          </p:txBody>
        </p: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7E9D1B85-3FCD-B39E-DA1E-1C3378FA21D4}"/>
                </a:ext>
              </a:extLst>
            </p:cNvPr>
            <p:cNvSpPr/>
            <p:nvPr/>
          </p:nvSpPr>
          <p:spPr>
            <a:xfrm>
              <a:off x="9522179" y="2385060"/>
              <a:ext cx="2696229" cy="369146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C377E244-799B-3A11-8D60-8656B1906CBF}"/>
                </a:ext>
              </a:extLst>
            </p:cNvPr>
            <p:cNvSpPr/>
            <p:nvPr/>
          </p:nvSpPr>
          <p:spPr>
            <a:xfrm>
              <a:off x="9529432" y="2808431"/>
              <a:ext cx="3522530" cy="336375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209CB2D2-D42B-4B33-CB2F-96A1AA4D38C1}"/>
                </a:ext>
              </a:extLst>
            </p:cNvPr>
            <p:cNvSpPr/>
            <p:nvPr/>
          </p:nvSpPr>
          <p:spPr>
            <a:xfrm>
              <a:off x="9531207" y="3208594"/>
              <a:ext cx="3522530" cy="336375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4CD588F5-52B2-508F-FA3C-275F0453D0B8}"/>
                </a:ext>
              </a:extLst>
            </p:cNvPr>
            <p:cNvSpPr/>
            <p:nvPr/>
          </p:nvSpPr>
          <p:spPr>
            <a:xfrm>
              <a:off x="9529237" y="3622473"/>
              <a:ext cx="3522530" cy="479627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3CA73B5F-0900-693E-B827-B77A4953CF6C}"/>
                </a:ext>
              </a:extLst>
            </p:cNvPr>
            <p:cNvSpPr/>
            <p:nvPr/>
          </p:nvSpPr>
          <p:spPr>
            <a:xfrm>
              <a:off x="9539962" y="4816335"/>
              <a:ext cx="1807672" cy="275932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C780B4FE-CE77-CC62-2097-C4EC1CD22847}"/>
                </a:ext>
              </a:extLst>
            </p:cNvPr>
            <p:cNvSpPr/>
            <p:nvPr/>
          </p:nvSpPr>
          <p:spPr>
            <a:xfrm>
              <a:off x="9476460" y="5324522"/>
              <a:ext cx="3522530" cy="613209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E51EA763-24E3-2113-0362-358FAF2CE8D8}"/>
                </a:ext>
              </a:extLst>
            </p:cNvPr>
            <p:cNvSpPr/>
            <p:nvPr/>
          </p:nvSpPr>
          <p:spPr>
            <a:xfrm>
              <a:off x="9506940" y="6051690"/>
              <a:ext cx="3556610" cy="1416402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65" name="Conector recto de flecha 64">
              <a:extLst>
                <a:ext uri="{FF2B5EF4-FFF2-40B4-BE49-F238E27FC236}">
                  <a16:creationId xmlns:a16="http://schemas.microsoft.com/office/drawing/2014/main" id="{30D3E53B-9D0A-6F51-3A36-CB4AFD26FD30}"/>
                </a:ext>
              </a:extLst>
            </p:cNvPr>
            <p:cNvCxnSpPr>
              <a:cxnSpLocks/>
              <a:stCxn id="69" idx="1"/>
              <a:endCxn id="52" idx="3"/>
            </p:cNvCxnSpPr>
            <p:nvPr/>
          </p:nvCxnSpPr>
          <p:spPr>
            <a:xfrm flipH="1">
              <a:off x="12218408" y="2008832"/>
              <a:ext cx="1200856" cy="5608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C9C36D6C-B5C1-DAC3-6677-B1680D3B04FC}"/>
                </a:ext>
              </a:extLst>
            </p:cNvPr>
            <p:cNvSpPr/>
            <p:nvPr/>
          </p:nvSpPr>
          <p:spPr>
            <a:xfrm>
              <a:off x="13419264" y="1753130"/>
              <a:ext cx="4214022" cy="511403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MX" sz="1500" dirty="0">
                  <a:latin typeface="Poppins" panose="00000500000000000000" pitchFamily="2" charset="0"/>
                  <a:cs typeface="Poppins" panose="00000500000000000000" pitchFamily="2" charset="0"/>
                </a:rPr>
                <a:t>La fecha debe aparecer por defecto.</a:t>
              </a:r>
              <a:endParaRPr lang="es-PE" sz="15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75" name="Conector recto de flecha 74">
              <a:extLst>
                <a:ext uri="{FF2B5EF4-FFF2-40B4-BE49-F238E27FC236}">
                  <a16:creationId xmlns:a16="http://schemas.microsoft.com/office/drawing/2014/main" id="{3654155E-CD56-2BA7-4F5A-306502065FBF}"/>
                </a:ext>
              </a:extLst>
            </p:cNvPr>
            <p:cNvCxnSpPr>
              <a:cxnSpLocks/>
              <a:stCxn id="83" idx="1"/>
              <a:endCxn id="53" idx="3"/>
            </p:cNvCxnSpPr>
            <p:nvPr/>
          </p:nvCxnSpPr>
          <p:spPr>
            <a:xfrm flipH="1">
              <a:off x="13051962" y="2597066"/>
              <a:ext cx="367302" cy="37955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C9054B14-94CA-1844-3E07-ACDAFEDFCADE}"/>
                </a:ext>
              </a:extLst>
            </p:cNvPr>
            <p:cNvSpPr txBox="1"/>
            <p:nvPr/>
          </p:nvSpPr>
          <p:spPr>
            <a:xfrm>
              <a:off x="13419264" y="2435483"/>
              <a:ext cx="3542856" cy="32316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500" dirty="0">
                  <a:latin typeface="Poppins" panose="00000500000000000000" pitchFamily="2" charset="0"/>
                  <a:cs typeface="Poppins" panose="00000500000000000000" pitchFamily="2" charset="0"/>
                </a:rPr>
                <a:t>Lista desplegable de los fundos </a:t>
              </a:r>
              <a:endParaRPr lang="es-PE" sz="15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90" name="Conector recto de flecha 89">
              <a:extLst>
                <a:ext uri="{FF2B5EF4-FFF2-40B4-BE49-F238E27FC236}">
                  <a16:creationId xmlns:a16="http://schemas.microsoft.com/office/drawing/2014/main" id="{12A0743C-BBD1-55E6-BEA6-836CA5FA6A89}"/>
                </a:ext>
              </a:extLst>
            </p:cNvPr>
            <p:cNvCxnSpPr>
              <a:cxnSpLocks/>
              <a:stCxn id="91" idx="1"/>
              <a:endCxn id="54" idx="3"/>
            </p:cNvCxnSpPr>
            <p:nvPr/>
          </p:nvCxnSpPr>
          <p:spPr>
            <a:xfrm flipH="1">
              <a:off x="13053737" y="3237949"/>
              <a:ext cx="358274" cy="1388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3E170705-39C6-A75D-BA1B-C300F8ADBB2E}"/>
                </a:ext>
              </a:extLst>
            </p:cNvPr>
            <p:cNvSpPr txBox="1"/>
            <p:nvPr/>
          </p:nvSpPr>
          <p:spPr>
            <a:xfrm>
              <a:off x="13412011" y="2960950"/>
              <a:ext cx="4203832" cy="553998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500" dirty="0">
                  <a:latin typeface="Poppins" panose="00000500000000000000" pitchFamily="2" charset="0"/>
                  <a:cs typeface="Poppins" panose="00000500000000000000" pitchFamily="2" charset="0"/>
                </a:rPr>
                <a:t>Lista desplegable de los lotes según el fundo seleccionado</a:t>
              </a:r>
              <a:endParaRPr lang="es-PE" sz="15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7032150F-C524-3C76-C37A-76E4EC916FF8}"/>
                </a:ext>
              </a:extLst>
            </p:cNvPr>
            <p:cNvSpPr txBox="1"/>
            <p:nvPr/>
          </p:nvSpPr>
          <p:spPr>
            <a:xfrm>
              <a:off x="13419263" y="3583859"/>
              <a:ext cx="3558097" cy="553998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500" dirty="0">
                  <a:latin typeface="Poppins" panose="00000500000000000000" pitchFamily="2" charset="0"/>
                  <a:cs typeface="Poppins" panose="00000500000000000000" pitchFamily="2" charset="0"/>
                </a:rPr>
                <a:t>Lista desplegable de cada tipo de Insectos Benéficos.</a:t>
              </a:r>
              <a:endParaRPr lang="es-PE" sz="15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95" name="Conector recto de flecha 94">
              <a:extLst>
                <a:ext uri="{FF2B5EF4-FFF2-40B4-BE49-F238E27FC236}">
                  <a16:creationId xmlns:a16="http://schemas.microsoft.com/office/drawing/2014/main" id="{776FCE7F-93F7-6E1A-CBFD-55BD9721EAFA}"/>
                </a:ext>
              </a:extLst>
            </p:cNvPr>
            <p:cNvCxnSpPr>
              <a:cxnSpLocks/>
              <a:stCxn id="94" idx="1"/>
              <a:endCxn id="55" idx="3"/>
            </p:cNvCxnSpPr>
            <p:nvPr/>
          </p:nvCxnSpPr>
          <p:spPr>
            <a:xfrm flipH="1">
              <a:off x="13051767" y="3860858"/>
              <a:ext cx="367496" cy="14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E985F0EA-6941-CA92-081C-997335AC82DF}"/>
                </a:ext>
              </a:extLst>
            </p:cNvPr>
            <p:cNvSpPr txBox="1"/>
            <p:nvPr/>
          </p:nvSpPr>
          <p:spPr>
            <a:xfrm>
              <a:off x="13419263" y="4676512"/>
              <a:ext cx="3710497" cy="73866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400" dirty="0">
                  <a:latin typeface="Poppins" panose="00000500000000000000" pitchFamily="2" charset="0"/>
                  <a:cs typeface="Poppins" panose="00000500000000000000" pitchFamily="2" charset="0"/>
                </a:rPr>
                <a:t>El campo de cantidad debe ser editable, además, no se puede ingresar una cantidad mayor a la total.</a:t>
              </a:r>
              <a:endParaRPr lang="es-PE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100" name="Conector recto de flecha 99">
              <a:extLst>
                <a:ext uri="{FF2B5EF4-FFF2-40B4-BE49-F238E27FC236}">
                  <a16:creationId xmlns:a16="http://schemas.microsoft.com/office/drawing/2014/main" id="{EDD7D22B-C577-4417-E018-2B07D3DE55F8}"/>
                </a:ext>
              </a:extLst>
            </p:cNvPr>
            <p:cNvCxnSpPr>
              <a:cxnSpLocks/>
              <a:stCxn id="99" idx="1"/>
              <a:endCxn id="1082" idx="3"/>
            </p:cNvCxnSpPr>
            <p:nvPr/>
          </p:nvCxnSpPr>
          <p:spPr>
            <a:xfrm flipH="1" flipV="1">
              <a:off x="12824238" y="4946641"/>
              <a:ext cx="595025" cy="992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02" name="CuadroTexto 101">
              <a:extLst>
                <a:ext uri="{FF2B5EF4-FFF2-40B4-BE49-F238E27FC236}">
                  <a16:creationId xmlns:a16="http://schemas.microsoft.com/office/drawing/2014/main" id="{9A251C42-7A88-734F-A89B-83E708239768}"/>
                </a:ext>
              </a:extLst>
            </p:cNvPr>
            <p:cNvSpPr txBox="1"/>
            <p:nvPr/>
          </p:nvSpPr>
          <p:spPr>
            <a:xfrm>
              <a:off x="13419264" y="5523098"/>
              <a:ext cx="3136799" cy="92333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dirty="0"/>
                <a:t>Lista desplegable de las plagas objetivo, que permita seleccionar 2 o mas plagas</a:t>
              </a:r>
              <a:endParaRPr lang="es-PE" dirty="0"/>
            </a:p>
          </p:txBody>
        </p:sp>
        <p:cxnSp>
          <p:nvCxnSpPr>
            <p:cNvPr id="103" name="Conector recto de flecha 102">
              <a:extLst>
                <a:ext uri="{FF2B5EF4-FFF2-40B4-BE49-F238E27FC236}">
                  <a16:creationId xmlns:a16="http://schemas.microsoft.com/office/drawing/2014/main" id="{B1BB03C2-40D0-5E2E-6D99-673BBBE65BFD}"/>
                </a:ext>
              </a:extLst>
            </p:cNvPr>
            <p:cNvCxnSpPr>
              <a:cxnSpLocks/>
              <a:stCxn id="102" idx="1"/>
              <a:endCxn id="57" idx="3"/>
            </p:cNvCxnSpPr>
            <p:nvPr/>
          </p:nvCxnSpPr>
          <p:spPr>
            <a:xfrm flipH="1" flipV="1">
              <a:off x="12998990" y="5631127"/>
              <a:ext cx="420274" cy="3536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5" name="Conector recto de flecha 104">
              <a:extLst>
                <a:ext uri="{FF2B5EF4-FFF2-40B4-BE49-F238E27FC236}">
                  <a16:creationId xmlns:a16="http://schemas.microsoft.com/office/drawing/2014/main" id="{BB851AF0-43C6-0A86-BDBC-8573183443C5}"/>
                </a:ext>
              </a:extLst>
            </p:cNvPr>
            <p:cNvCxnSpPr>
              <a:cxnSpLocks/>
              <a:stCxn id="107" idx="1"/>
            </p:cNvCxnSpPr>
            <p:nvPr/>
          </p:nvCxnSpPr>
          <p:spPr>
            <a:xfrm flipH="1">
              <a:off x="13045440" y="6945432"/>
              <a:ext cx="4078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07" name="CuadroTexto 106">
              <a:extLst>
                <a:ext uri="{FF2B5EF4-FFF2-40B4-BE49-F238E27FC236}">
                  <a16:creationId xmlns:a16="http://schemas.microsoft.com/office/drawing/2014/main" id="{0F4F8C0B-7296-2BB6-BA8B-A586DBA371DD}"/>
                </a:ext>
              </a:extLst>
            </p:cNvPr>
            <p:cNvSpPr txBox="1"/>
            <p:nvPr/>
          </p:nvSpPr>
          <p:spPr>
            <a:xfrm>
              <a:off x="13453273" y="6483767"/>
              <a:ext cx="3539327" cy="92333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dirty="0"/>
                <a:t>Campo editable de observaciones.</a:t>
              </a:r>
            </a:p>
            <a:p>
              <a:r>
                <a:rPr lang="es-MX" dirty="0"/>
                <a:t>La cantidad máxima de fotos que se pueden realizar son </a:t>
              </a:r>
              <a:r>
                <a:rPr lang="es-MX" b="1" dirty="0"/>
                <a:t>2</a:t>
              </a:r>
              <a:r>
                <a:rPr lang="es-MX" dirty="0"/>
                <a:t>.</a:t>
              </a:r>
              <a:endParaRPr lang="es-PE" dirty="0"/>
            </a:p>
          </p:txBody>
        </p:sp>
        <p:cxnSp>
          <p:nvCxnSpPr>
            <p:cNvPr id="108" name="Conector recto de flecha 107">
              <a:extLst>
                <a:ext uri="{FF2B5EF4-FFF2-40B4-BE49-F238E27FC236}">
                  <a16:creationId xmlns:a16="http://schemas.microsoft.com/office/drawing/2014/main" id="{37EACCBF-B677-F828-73DE-F8BFC109D69B}"/>
                </a:ext>
              </a:extLst>
            </p:cNvPr>
            <p:cNvCxnSpPr>
              <a:cxnSpLocks/>
              <a:stCxn id="110" idx="1"/>
              <a:endCxn id="42" idx="2"/>
            </p:cNvCxnSpPr>
            <p:nvPr/>
          </p:nvCxnSpPr>
          <p:spPr>
            <a:xfrm flipH="1" flipV="1">
              <a:off x="11231233" y="7963099"/>
              <a:ext cx="2198220" cy="208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9CF967B5-DE16-022F-4DBB-47097BF7C772}"/>
                </a:ext>
              </a:extLst>
            </p:cNvPr>
            <p:cNvSpPr txBox="1"/>
            <p:nvPr/>
          </p:nvSpPr>
          <p:spPr>
            <a:xfrm>
              <a:off x="13429453" y="7614621"/>
              <a:ext cx="3608159" cy="73866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400" dirty="0">
                  <a:latin typeface="Poppins" panose="00000500000000000000" pitchFamily="2" charset="0"/>
                  <a:cs typeface="Poppins" panose="00000500000000000000" pitchFamily="2" charset="0"/>
                </a:rPr>
                <a:t>Una vez llenado toda la información hacemos </a:t>
              </a:r>
              <a:r>
                <a:rPr lang="es-MX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click</a:t>
              </a:r>
              <a:r>
                <a:rPr lang="es-MX" sz="1400" dirty="0">
                  <a:latin typeface="Poppins" panose="00000500000000000000" pitchFamily="2" charset="0"/>
                  <a:cs typeface="Poppins" panose="00000500000000000000" pitchFamily="2" charset="0"/>
                </a:rPr>
                <a:t> en </a:t>
              </a:r>
              <a:r>
                <a:rPr lang="es-MX" sz="1400" b="1" dirty="0">
                  <a:latin typeface="Poppins" panose="00000500000000000000" pitchFamily="2" charset="0"/>
                  <a:cs typeface="Poppins" panose="00000500000000000000" pitchFamily="2" charset="0"/>
                </a:rPr>
                <a:t>“enviar solicitud“ </a:t>
              </a:r>
              <a:r>
                <a:rPr lang="es-MX" sz="1400" dirty="0">
                  <a:latin typeface="Poppins" panose="00000500000000000000" pitchFamily="2" charset="0"/>
                  <a:cs typeface="Poppins" panose="00000500000000000000" pitchFamily="2" charset="0"/>
                </a:rPr>
                <a:t>el requerimiento se guardará.</a:t>
              </a:r>
              <a:endParaRPr lang="es-PE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115" name="Imagen 114">
              <a:extLst>
                <a:ext uri="{FF2B5EF4-FFF2-40B4-BE49-F238E27FC236}">
                  <a16:creationId xmlns:a16="http://schemas.microsoft.com/office/drawing/2014/main" id="{E1D7B804-066F-6217-AE59-B37BC90D0E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5233" t="14388" r="27148" b="24106"/>
            <a:stretch/>
          </p:blipFill>
          <p:spPr>
            <a:xfrm>
              <a:off x="11601702" y="7776641"/>
              <a:ext cx="407047" cy="556704"/>
            </a:xfrm>
            <a:prstGeom prst="rect">
              <a:avLst/>
            </a:prstGeom>
          </p:spPr>
        </p:pic>
        <p:sp>
          <p:nvSpPr>
            <p:cNvPr id="118" name="CuadroTexto 117">
              <a:extLst>
                <a:ext uri="{FF2B5EF4-FFF2-40B4-BE49-F238E27FC236}">
                  <a16:creationId xmlns:a16="http://schemas.microsoft.com/office/drawing/2014/main" id="{6DBF346A-8017-6FAA-5F92-3F7E7F0AFD22}"/>
                </a:ext>
              </a:extLst>
            </p:cNvPr>
            <p:cNvSpPr txBox="1"/>
            <p:nvPr/>
          </p:nvSpPr>
          <p:spPr>
            <a:xfrm>
              <a:off x="9463775" y="4206469"/>
              <a:ext cx="1853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*ET.FENOLOGICA:</a:t>
              </a:r>
              <a:endParaRPr lang="es-PE" sz="1600" b="1"/>
            </a:p>
          </p:txBody>
        </p:sp>
        <p:pic>
          <p:nvPicPr>
            <p:cNvPr id="120" name="Imagen 119">
              <a:extLst>
                <a:ext uri="{FF2B5EF4-FFF2-40B4-BE49-F238E27FC236}">
                  <a16:creationId xmlns:a16="http://schemas.microsoft.com/office/drawing/2014/main" id="{BB52C761-FDDB-FA71-068D-2FE58B988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006131" y="4241659"/>
              <a:ext cx="1903294" cy="295316"/>
            </a:xfrm>
            <a:prstGeom prst="rect">
              <a:avLst/>
            </a:prstGeom>
          </p:spPr>
        </p:pic>
        <p:sp>
          <p:nvSpPr>
            <p:cNvPr id="119" name="CuadroTexto 118">
              <a:extLst>
                <a:ext uri="{FF2B5EF4-FFF2-40B4-BE49-F238E27FC236}">
                  <a16:creationId xmlns:a16="http://schemas.microsoft.com/office/drawing/2014/main" id="{465EE143-EC47-7567-5D1C-BAB8DB505B68}"/>
                </a:ext>
              </a:extLst>
            </p:cNvPr>
            <p:cNvSpPr txBox="1"/>
            <p:nvPr/>
          </p:nvSpPr>
          <p:spPr>
            <a:xfrm>
              <a:off x="10972349" y="4267749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POST COSECHA</a:t>
              </a:r>
              <a:endParaRPr lang="es-PE" sz="1200"/>
            </a:p>
          </p:txBody>
        </p:sp>
        <p:sp>
          <p:nvSpPr>
            <p:cNvPr id="121" name="Rectángulo 120">
              <a:extLst>
                <a:ext uri="{FF2B5EF4-FFF2-40B4-BE49-F238E27FC236}">
                  <a16:creationId xmlns:a16="http://schemas.microsoft.com/office/drawing/2014/main" id="{E73894B8-BC31-1B26-CC18-1199B8179C5B}"/>
                </a:ext>
              </a:extLst>
            </p:cNvPr>
            <p:cNvSpPr/>
            <p:nvPr/>
          </p:nvSpPr>
          <p:spPr>
            <a:xfrm>
              <a:off x="9509481" y="4221788"/>
              <a:ext cx="3542286" cy="34411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A4CCBFBC-7320-F119-EB49-790F8F1DA3D2}"/>
                </a:ext>
              </a:extLst>
            </p:cNvPr>
            <p:cNvSpPr/>
            <p:nvPr/>
          </p:nvSpPr>
          <p:spPr>
            <a:xfrm>
              <a:off x="12661493" y="4250230"/>
              <a:ext cx="223773" cy="270486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v</a:t>
              </a:r>
              <a:endParaRPr lang="es-PE" dirty="0"/>
            </a:p>
          </p:txBody>
        </p:sp>
        <p:sp>
          <p:nvSpPr>
            <p:cNvPr id="125" name="CuadroTexto 124">
              <a:extLst>
                <a:ext uri="{FF2B5EF4-FFF2-40B4-BE49-F238E27FC236}">
                  <a16:creationId xmlns:a16="http://schemas.microsoft.com/office/drawing/2014/main" id="{9C73558E-4A16-6E17-1320-281EB1976DAD}"/>
                </a:ext>
              </a:extLst>
            </p:cNvPr>
            <p:cNvSpPr txBox="1"/>
            <p:nvPr/>
          </p:nvSpPr>
          <p:spPr>
            <a:xfrm>
              <a:off x="13429453" y="4242911"/>
              <a:ext cx="4203833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/>
                <a:t>Lista desplegable de las etapas fenológicas.</a:t>
              </a:r>
              <a:endParaRPr lang="es-PE"/>
            </a:p>
          </p:txBody>
        </p:sp>
        <p:cxnSp>
          <p:nvCxnSpPr>
            <p:cNvPr id="126" name="Conector recto de flecha 125">
              <a:extLst>
                <a:ext uri="{FF2B5EF4-FFF2-40B4-BE49-F238E27FC236}">
                  <a16:creationId xmlns:a16="http://schemas.microsoft.com/office/drawing/2014/main" id="{B997AF17-45AF-449C-F05A-1B4DE25471DA}"/>
                </a:ext>
              </a:extLst>
            </p:cNvPr>
            <p:cNvCxnSpPr>
              <a:cxnSpLocks/>
              <a:stCxn id="125" idx="1"/>
              <a:endCxn id="121" idx="3"/>
            </p:cNvCxnSpPr>
            <p:nvPr/>
          </p:nvCxnSpPr>
          <p:spPr>
            <a:xfrm flipH="1" flipV="1">
              <a:off x="13051767" y="4393843"/>
              <a:ext cx="377686" cy="337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64" name="Imagen 63">
              <a:extLst>
                <a:ext uri="{FF2B5EF4-FFF2-40B4-BE49-F238E27FC236}">
                  <a16:creationId xmlns:a16="http://schemas.microsoft.com/office/drawing/2014/main" id="{31C15CEB-2353-6C6C-C36A-13C4B3CB6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450211" y="2443031"/>
              <a:ext cx="1038370" cy="295316"/>
            </a:xfrm>
            <a:prstGeom prst="rect">
              <a:avLst/>
            </a:prstGeom>
          </p:spPr>
        </p:pic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3ED377E0-635B-DE8D-4821-F84176EC4EB6}"/>
                </a:ext>
              </a:extLst>
            </p:cNvPr>
            <p:cNvSpPr txBox="1"/>
            <p:nvPr/>
          </p:nvSpPr>
          <p:spPr>
            <a:xfrm>
              <a:off x="10456018" y="2428408"/>
              <a:ext cx="1155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400"/>
                <a:t>08/07/2025</a:t>
              </a:r>
              <a:endParaRPr lang="es-PE" sz="1400"/>
            </a:p>
          </p:txBody>
        </p:sp>
      </p:grp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06F2809-71B1-D88D-FE45-7B501C61E9BF}"/>
              </a:ext>
            </a:extLst>
          </p:cNvPr>
          <p:cNvSpPr txBox="1"/>
          <p:nvPr/>
        </p:nvSpPr>
        <p:spPr>
          <a:xfrm>
            <a:off x="1940125" y="9483259"/>
            <a:ext cx="10495715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Cuando el administrador registre el stock, la cantidad ingresada deberá mostrarse en esta vista.</a:t>
            </a:r>
            <a:b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A medida que se realicen solicitudes eh ingresen las cantidades en el campo </a:t>
            </a:r>
            <a:r>
              <a:rPr lang="es-MX" sz="1400" b="1" dirty="0">
                <a:latin typeface="Poppins" panose="00000500000000000000" pitchFamily="2" charset="0"/>
                <a:cs typeface="Poppins" panose="00000500000000000000" pitchFamily="2" charset="0"/>
              </a:rPr>
              <a:t>“CANTIDAD”</a:t>
            </a:r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, el stock se irá descontando automáticamente hasta llegar a cero y no se podrán realizar nuevos requerimientos.</a:t>
            </a:r>
            <a:endParaRPr lang="es-PE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03D1FB-1D96-F9DE-7911-A1C7A365C136}"/>
              </a:ext>
            </a:extLst>
          </p:cNvPr>
          <p:cNvSpPr txBox="1"/>
          <p:nvPr/>
        </p:nvSpPr>
        <p:spPr>
          <a:xfrm>
            <a:off x="209613" y="4293891"/>
            <a:ext cx="2170127" cy="86177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 dirty="0">
                <a:latin typeface="Poppins" panose="00000500000000000000" pitchFamily="2" charset="0"/>
                <a:cs typeface="Poppins" panose="00000500000000000000" pitchFamily="2" charset="0"/>
              </a:rPr>
              <a:t>Ingresamos a </a:t>
            </a:r>
            <a:r>
              <a:rPr lang="es-MX" sz="1600" b="1" dirty="0">
                <a:latin typeface="Poppins" panose="00000500000000000000" pitchFamily="2" charset="0"/>
                <a:cs typeface="Poppins" panose="00000500000000000000" pitchFamily="2" charset="0"/>
              </a:rPr>
              <a:t>“Nuevo Requerimiento</a:t>
            </a:r>
            <a:r>
              <a:rPr lang="es-MX" b="1" dirty="0"/>
              <a:t>”</a:t>
            </a:r>
            <a:endParaRPr lang="es-PE" b="1" dirty="0"/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464929A6-C060-FA6C-6572-B3E6D5B4E53D}"/>
              </a:ext>
            </a:extLst>
          </p:cNvPr>
          <p:cNvSpPr txBox="1"/>
          <p:nvPr/>
        </p:nvSpPr>
        <p:spPr>
          <a:xfrm>
            <a:off x="215766" y="6512671"/>
            <a:ext cx="2654434" cy="16004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La información se actualizará automáticamente cada vez que el administrador ingrese el stock </a:t>
            </a:r>
            <a:r>
              <a:rPr lang="es-MX" sz="1400" b="1" dirty="0">
                <a:latin typeface="Poppins" panose="00000500000000000000" pitchFamily="2" charset="0"/>
                <a:cs typeface="Poppins" panose="00000500000000000000" pitchFamily="2" charset="0"/>
              </a:rPr>
              <a:t>“Programación Semanal”</a:t>
            </a:r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b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s-PE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377E222A-4631-0EC4-0CE9-54EE9B67AA50}"/>
              </a:ext>
            </a:extLst>
          </p:cNvPr>
          <p:cNvGrpSpPr/>
          <p:nvPr/>
        </p:nvGrpSpPr>
        <p:grpSpPr>
          <a:xfrm>
            <a:off x="2379740" y="2106394"/>
            <a:ext cx="4508795" cy="7061154"/>
            <a:chOff x="2321349" y="1478726"/>
            <a:chExt cx="4508795" cy="7061154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BB88B1F5-4F8A-8579-1704-2B458DB8A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64726" y="1478726"/>
              <a:ext cx="3865418" cy="7061154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A706338-6709-E8A9-89EA-DEED47053F7A}"/>
                </a:ext>
              </a:extLst>
            </p:cNvPr>
            <p:cNvSpPr/>
            <p:nvPr/>
          </p:nvSpPr>
          <p:spPr>
            <a:xfrm>
              <a:off x="2992435" y="1711059"/>
              <a:ext cx="3810000" cy="4714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CD5A709C-6521-D48B-E083-98E9D9DF7690}"/>
                </a:ext>
              </a:extLst>
            </p:cNvPr>
            <p:cNvSpPr/>
            <p:nvPr/>
          </p:nvSpPr>
          <p:spPr>
            <a:xfrm>
              <a:off x="3081457" y="1770647"/>
              <a:ext cx="1434667" cy="352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badi Extra Light" panose="020B0604020202020204" pitchFamily="34" charset="0"/>
                </a:rPr>
                <a:t>AGROI+D</a:t>
              </a:r>
              <a:endParaRPr lang="es-PE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 Extra Light" panose="020B0604020202020204" pitchFamily="34" charset="0"/>
              </a:endParaRPr>
            </a:p>
          </p:txBody>
        </p:sp>
        <p:pic>
          <p:nvPicPr>
            <p:cNvPr id="60" name="Imagen 59" descr="Logotipo, nombre de la empresa">
              <a:extLst>
                <a:ext uri="{FF2B5EF4-FFF2-40B4-BE49-F238E27FC236}">
                  <a16:creationId xmlns:a16="http://schemas.microsoft.com/office/drawing/2014/main" id="{1BBA8E07-A07F-08CC-875A-C722FC52A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2074" y="2294385"/>
              <a:ext cx="2513026" cy="929870"/>
            </a:xfrm>
            <a:prstGeom prst="rect">
              <a:avLst/>
            </a:prstGeom>
          </p:spPr>
        </p:pic>
        <p:sp>
          <p:nvSpPr>
            <p:cNvPr id="66" name="Rectángulo 65">
              <a:extLst>
                <a:ext uri="{FF2B5EF4-FFF2-40B4-BE49-F238E27FC236}">
                  <a16:creationId xmlns:a16="http://schemas.microsoft.com/office/drawing/2014/main" id="{019DA534-EA46-8A4F-7FC6-935D04F016CE}"/>
                </a:ext>
              </a:extLst>
            </p:cNvPr>
            <p:cNvSpPr/>
            <p:nvPr/>
          </p:nvSpPr>
          <p:spPr>
            <a:xfrm>
              <a:off x="3144177" y="3293322"/>
              <a:ext cx="3474972" cy="23358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ABD82EB9-7BA3-2AE5-8A6D-20E1A2B242C3}"/>
                </a:ext>
              </a:extLst>
            </p:cNvPr>
            <p:cNvSpPr/>
            <p:nvPr/>
          </p:nvSpPr>
          <p:spPr>
            <a:xfrm>
              <a:off x="3574936" y="3483868"/>
              <a:ext cx="2640439" cy="54460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>
                  <a:solidFill>
                    <a:schemeClr val="tx1"/>
                  </a:solidFill>
                  <a:latin typeface="Abadi Extra Light" panose="020B0204020104020204" pitchFamily="34" charset="0"/>
                </a:rPr>
                <a:t>Nuevo Requerimiento</a:t>
              </a:r>
              <a:endParaRPr lang="es-PE" b="1" dirty="0">
                <a:solidFill>
                  <a:schemeClr val="tx1"/>
                </a:solidFill>
                <a:latin typeface="Abadi Extra Light" panose="020B0204020104020204" pitchFamily="34" charset="0"/>
              </a:endParaRPr>
            </a:p>
          </p:txBody>
        </p:sp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49EA6AD9-B1C5-702A-C448-87AFA0C659AD}"/>
                </a:ext>
              </a:extLst>
            </p:cNvPr>
            <p:cNvSpPr/>
            <p:nvPr/>
          </p:nvSpPr>
          <p:spPr>
            <a:xfrm>
              <a:off x="3574936" y="4205622"/>
              <a:ext cx="2640439" cy="54460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>
                  <a:solidFill>
                    <a:schemeClr val="tx1"/>
                  </a:solidFill>
                  <a:latin typeface="Abadi Extra Light" panose="020B0204020104020204" pitchFamily="34" charset="0"/>
                </a:rPr>
                <a:t>Historial de Requerimiento</a:t>
              </a:r>
              <a:endParaRPr lang="es-PE" b="1" dirty="0">
                <a:solidFill>
                  <a:schemeClr val="tx1"/>
                </a:solidFill>
                <a:latin typeface="Abadi Extra Light" panose="020B0204020104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E01FF6EE-C84D-0609-AA06-2EC37D5A9082}"/>
                </a:ext>
              </a:extLst>
            </p:cNvPr>
            <p:cNvCxnSpPr>
              <a:cxnSpLocks/>
              <a:stCxn id="14" idx="3"/>
              <a:endCxn id="61" idx="1"/>
            </p:cNvCxnSpPr>
            <p:nvPr/>
          </p:nvCxnSpPr>
          <p:spPr>
            <a:xfrm flipV="1">
              <a:off x="2321349" y="3756169"/>
              <a:ext cx="1253587" cy="1275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1028" name="Picture 4" descr="Gráficos escalables iconos de computadora gráficos de red portátiles, icono  de salida, cdr, texto, icono de salida png | PNGWing">
              <a:extLst>
                <a:ext uri="{FF2B5EF4-FFF2-40B4-BE49-F238E27FC236}">
                  <a16:creationId xmlns:a16="http://schemas.microsoft.com/office/drawing/2014/main" id="{AD02AFBA-DA56-E809-EBBE-0E0075CA1A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895" b="96632" l="543" r="97283">
                          <a14:foregroundMark x1="50042" y1="12244" x2="36739" y2="5895"/>
                          <a14:foregroundMark x1="57985" y1="16034" x2="57540" y2="15821"/>
                          <a14:foregroundMark x1="59239" y1="16632" x2="58355" y2="16210"/>
                          <a14:foregroundMark x1="36739" y1="5895" x2="20435" y2="7158"/>
                          <a14:foregroundMark x1="12737" y1="15836" x2="6522" y2="22842"/>
                          <a14:foregroundMark x1="20435" y1="7158" x2="15617" y2="12589"/>
                          <a14:foregroundMark x1="6522" y1="22842" x2="5435" y2="74421"/>
                          <a14:foregroundMark x1="5435" y1="74421" x2="11957" y2="90842"/>
                          <a14:foregroundMark x1="11957" y1="90842" x2="33587" y2="94947"/>
                          <a14:foregroundMark x1="33587" y1="94947" x2="55435" y2="90526"/>
                          <a14:foregroundMark x1="55435" y1="90526" x2="63043" y2="80000"/>
                          <a14:foregroundMark x1="44565" y1="47263" x2="78696" y2="44632"/>
                          <a14:foregroundMark x1="77496" y1="56958" x2="76739" y2="64737"/>
                          <a14:foregroundMark x1="78696" y1="44632" x2="77613" y2="55759"/>
                          <a14:foregroundMark x1="76739" y1="64737" x2="95000" y2="53684"/>
                          <a14:foregroundMark x1="95000" y1="53684" x2="79239" y2="39368"/>
                          <a14:foregroundMark x1="79239" y1="39368" x2="77065" y2="35895"/>
                          <a14:foregroundMark x1="79130" y1="47579" x2="38804" y2="50632"/>
                          <a14:foregroundMark x1="38804" y1="50632" x2="81630" y2="47789"/>
                          <a14:foregroundMark x1="81630" y1="47789" x2="82500" y2="47789"/>
                          <a14:foregroundMark x1="75870" y1="41158" x2="90479" y2="39510"/>
                          <a14:foregroundMark x1="91797" y1="39625" x2="94783" y2="52737"/>
                          <a14:foregroundMark x1="97065" y1="49579" x2="97391" y2="52105"/>
                          <a14:foregroundMark x1="54365" y1="11816" x2="43913" y2="2526"/>
                          <a14:foregroundMark x1="59072" y1="16000" x2="57962" y2="15013"/>
                          <a14:foregroundMark x1="59783" y1="16632" x2="59072" y2="16000"/>
                          <a14:foregroundMark x1="43913" y1="2526" x2="15761" y2="3579"/>
                          <a14:foregroundMark x1="15761" y1="3579" x2="1413" y2="14842"/>
                          <a14:foregroundMark x1="1413" y1="14842" x2="978" y2="72737"/>
                          <a14:foregroundMark x1="978" y1="72737" x2="9783" y2="23579"/>
                          <a14:foregroundMark x1="23895" y1="12054" x2="24348" y2="11684"/>
                          <a14:foregroundMark x1="9783" y1="23579" x2="12657" y2="21232"/>
                          <a14:foregroundMark x1="56397" y1="12187" x2="57935" y2="12211"/>
                          <a14:foregroundMark x1="24348" y1="11684" x2="49938" y2="12086"/>
                          <a14:foregroundMark x1="58952" y1="14352" x2="60435" y2="17474"/>
                          <a14:foregroundMark x1="57935" y1="12211" x2="58861" y2="14161"/>
                          <a14:foregroundMark x1="61630" y1="17789" x2="53043" y2="3579"/>
                          <a14:foregroundMark x1="53043" y1="3579" x2="45543" y2="4947"/>
                          <a14:foregroundMark x1="53587" y1="1895" x2="67283" y2="9368"/>
                          <a14:foregroundMark x1="67283" y1="9368" x2="60978" y2="9474"/>
                          <a14:foregroundMark x1="8261" y1="8421" x2="217" y2="51579"/>
                          <a14:foregroundMark x1="217" y1="51579" x2="1087" y2="72000"/>
                          <a14:foregroundMark x1="1087" y1="72000" x2="9891" y2="34211"/>
                          <a14:foregroundMark x1="3261" y1="77684" x2="9239" y2="96842"/>
                          <a14:foregroundMark x1="9239" y1="96842" x2="35652" y2="98737"/>
                          <a14:foregroundMark x1="35652" y1="98737" x2="55435" y2="94000"/>
                          <a14:foregroundMark x1="55435" y1="94000" x2="67609" y2="84211"/>
                          <a14:foregroundMark x1="67609" y1="84211" x2="51413" y2="92632"/>
                          <a14:foregroundMark x1="13242" y1="84716" x2="652" y2="82105"/>
                          <a14:foregroundMark x1="27115" y1="87593" x2="26755" y2="87518"/>
                          <a14:foregroundMark x1="51413" y1="92632" x2="28349" y2="87849"/>
                          <a14:foregroundMark x1="652" y1="82105" x2="1304" y2="79579"/>
                          <a14:foregroundMark x1="21630" y1="94632" x2="47065" y2="96632"/>
                          <a14:foregroundMark x1="47065" y1="96632" x2="65000" y2="90211"/>
                          <a14:foregroundMark x1="65000" y1="90211" x2="69022" y2="86947"/>
                          <a14:backgroundMark x1="52717" y1="18842" x2="22500" y2="24105"/>
                          <a14:backgroundMark x1="22500" y1="24105" x2="20326" y2="44632"/>
                          <a14:backgroundMark x1="20326" y1="44632" x2="28913" y2="62842"/>
                          <a14:backgroundMark x1="28913" y1="62842" x2="42500" y2="70105"/>
                          <a14:backgroundMark x1="42500" y1="70105" x2="58152" y2="64105"/>
                          <a14:backgroundMark x1="58152" y1="64105" x2="72717" y2="74947"/>
                          <a14:backgroundMark x1="72717" y1="74947" x2="72717" y2="75053"/>
                          <a14:backgroundMark x1="24783" y1="14737" x2="14565" y2="20947"/>
                          <a14:backgroundMark x1="22391" y1="14526" x2="14348" y2="19579"/>
                          <a14:backgroundMark x1="51196" y1="13895" x2="56413" y2="16421"/>
                          <a14:backgroundMark x1="56630" y1="16421" x2="57391" y2="16105"/>
                          <a14:backgroundMark x1="57609" y1="17474" x2="55978" y2="13368"/>
                          <a14:backgroundMark x1="52065" y1="13053" x2="51304" y2="12947"/>
                          <a14:backgroundMark x1="55109" y1="13158" x2="57283" y2="16211"/>
                          <a14:backgroundMark x1="57065" y1="14632" x2="57283" y2="16000"/>
                          <a14:backgroundMark x1="57065" y1="15579" x2="57500" y2="15579"/>
                          <a14:backgroundMark x1="57500" y1="16000" x2="57500" y2="16000"/>
                          <a14:backgroundMark x1="57609" y1="16105" x2="57500" y2="15474"/>
                          <a14:backgroundMark x1="58043" y1="16211" x2="58043" y2="15263"/>
                          <a14:backgroundMark x1="57826" y1="15053" x2="57717" y2="14842"/>
                          <a14:backgroundMark x1="56413" y1="13579" x2="50652" y2="12526"/>
                          <a14:backgroundMark x1="51087" y1="12842" x2="50435" y2="12842"/>
                          <a14:backgroundMark x1="24674" y1="13263" x2="21304" y2="13158"/>
                          <a14:backgroundMark x1="15326" y1="13158" x2="13587" y2="15789"/>
                          <a14:backgroundMark x1="13587" y1="18632" x2="13478" y2="21263"/>
                          <a14:backgroundMark x1="16304" y1="13158" x2="12935" y2="16000"/>
                          <a14:backgroundMark x1="15870" y1="12842" x2="15870" y2="13053"/>
                          <a14:backgroundMark x1="92283" y1="39789" x2="91848" y2="39263"/>
                          <a14:backgroundMark x1="91087" y1="37263" x2="91848" y2="38421"/>
                          <a14:backgroundMark x1="92717" y1="39368" x2="91522" y2="38632"/>
                          <a14:backgroundMark x1="92283" y1="39368" x2="91630" y2="38421"/>
                          <a14:backgroundMark x1="90326" y1="37053" x2="92609" y2="38947"/>
                          <a14:backgroundMark x1="92609" y1="39789" x2="92283" y2="39263"/>
                          <a14:backgroundMark x1="76957" y1="57053" x2="77609" y2="56737"/>
                          <a14:backgroundMark x1="14130" y1="83579" x2="26957" y2="86737"/>
                          <a14:backgroundMark x1="27935" y1="87263" x2="26957" y2="87368"/>
                          <a14:backgroundMark x1="13587" y1="85263" x2="13587" y2="84632"/>
                          <a14:backgroundMark x1="25761" y1="87474" x2="26848" y2="87368"/>
                          <a14:backgroundMark x1="13370" y1="84842" x2="13370" y2="84737"/>
                          <a14:backgroundMark x1="13152" y1="84947" x2="13043" y2="84842"/>
                          <a14:backgroundMark x1="13261" y1="85053" x2="13152" y2="84842"/>
                          <a14:backgroundMark x1="13152" y1="84842" x2="13370" y2="8410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9498" y="1758735"/>
              <a:ext cx="341153" cy="352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90A5D7A0-7332-B1EB-454F-9651EDF4FF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5233" t="14388" r="27148" b="24106"/>
            <a:stretch/>
          </p:blipFill>
          <p:spPr>
            <a:xfrm rot="4183318">
              <a:off x="3182117" y="3895525"/>
              <a:ext cx="407047" cy="556704"/>
            </a:xfrm>
            <a:prstGeom prst="rect">
              <a:avLst/>
            </a:prstGeom>
          </p:spPr>
        </p:pic>
        <p:cxnSp>
          <p:nvCxnSpPr>
            <p:cNvPr id="101" name="Conector recto de flecha 100">
              <a:extLst>
                <a:ext uri="{FF2B5EF4-FFF2-40B4-BE49-F238E27FC236}">
                  <a16:creationId xmlns:a16="http://schemas.microsoft.com/office/drawing/2014/main" id="{930DE29E-F02C-9C58-C564-23F496FBDFD0}"/>
                </a:ext>
              </a:extLst>
            </p:cNvPr>
            <p:cNvCxnSpPr>
              <a:cxnSpLocks/>
              <a:stCxn id="98" idx="3"/>
              <a:endCxn id="117" idx="1"/>
            </p:cNvCxnSpPr>
            <p:nvPr/>
          </p:nvCxnSpPr>
          <p:spPr>
            <a:xfrm flipV="1">
              <a:off x="2811809" y="6584210"/>
              <a:ext cx="685122" cy="10101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17" name="Rectángulo: esquinas redondeadas 116">
              <a:extLst>
                <a:ext uri="{FF2B5EF4-FFF2-40B4-BE49-F238E27FC236}">
                  <a16:creationId xmlns:a16="http://schemas.microsoft.com/office/drawing/2014/main" id="{B69EF631-38A7-A33B-BE42-C714CC341977}"/>
                </a:ext>
              </a:extLst>
            </p:cNvPr>
            <p:cNvSpPr/>
            <p:nvPr/>
          </p:nvSpPr>
          <p:spPr>
            <a:xfrm>
              <a:off x="3496931" y="5454796"/>
              <a:ext cx="3013304" cy="2258827"/>
            </a:xfrm>
            <a:prstGeom prst="roundRect">
              <a:avLst>
                <a:gd name="adj" fmla="val 5270"/>
              </a:avLst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484907C-9EDC-A5DE-4D3E-414DEE7A1CFE}"/>
              </a:ext>
            </a:extLst>
          </p:cNvPr>
          <p:cNvSpPr txBox="1"/>
          <p:nvPr/>
        </p:nvSpPr>
        <p:spPr>
          <a:xfrm>
            <a:off x="1446116" y="227820"/>
            <a:ext cx="7340698" cy="954107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bg1"/>
                </a:solidFill>
              </a:rPr>
              <a:t>VISTA DEL USUARIO </a:t>
            </a:r>
          </a:p>
          <a:p>
            <a:r>
              <a:rPr lang="es-MX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Sanidad (jefa de sanidad,…………………)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B496D9E-DBF1-B5AA-57D6-CF14BE0708DF}"/>
              </a:ext>
            </a:extLst>
          </p:cNvPr>
          <p:cNvSpPr/>
          <p:nvPr/>
        </p:nvSpPr>
        <p:spPr>
          <a:xfrm>
            <a:off x="34623" y="228103"/>
            <a:ext cx="1033664" cy="776825"/>
          </a:xfrm>
          <a:prstGeom prst="ellipse">
            <a:avLst/>
          </a:prstGeom>
          <a:solidFill>
            <a:srgbClr val="1F49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4400" b="1" dirty="0"/>
              <a:t>2</a:t>
            </a:r>
          </a:p>
        </p:txBody>
      </p:sp>
      <p:cxnSp>
        <p:nvCxnSpPr>
          <p:cNvPr id="88" name="Conector: angular 87">
            <a:extLst>
              <a:ext uri="{FF2B5EF4-FFF2-40B4-BE49-F238E27FC236}">
                <a16:creationId xmlns:a16="http://schemas.microsoft.com/office/drawing/2014/main" id="{C0F4D0E8-BCB5-9C51-B79F-537EE1311E3E}"/>
              </a:ext>
            </a:extLst>
          </p:cNvPr>
          <p:cNvCxnSpPr>
            <a:cxnSpLocks/>
          </p:cNvCxnSpPr>
          <p:nvPr/>
        </p:nvCxnSpPr>
        <p:spPr>
          <a:xfrm rot="16200000" flipV="1">
            <a:off x="5770964" y="8148263"/>
            <a:ext cx="2203628" cy="554644"/>
          </a:xfrm>
          <a:prstGeom prst="bentConnector3">
            <a:avLst>
              <a:gd name="adj1" fmla="val 99564"/>
            </a:avLst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6" name="Imagen 1055">
            <a:extLst>
              <a:ext uri="{FF2B5EF4-FFF2-40B4-BE49-F238E27FC236}">
                <a16:creationId xmlns:a16="http://schemas.microsoft.com/office/drawing/2014/main" id="{2C79D052-A541-1EF8-E4DF-E08D330730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53788" y="6614595"/>
            <a:ext cx="2995804" cy="1755054"/>
          </a:xfrm>
          <a:prstGeom prst="rect">
            <a:avLst/>
          </a:prstGeom>
        </p:spPr>
      </p:pic>
      <p:grpSp>
        <p:nvGrpSpPr>
          <p:cNvPr id="1057" name="Grupo 1056">
            <a:extLst>
              <a:ext uri="{FF2B5EF4-FFF2-40B4-BE49-F238E27FC236}">
                <a16:creationId xmlns:a16="http://schemas.microsoft.com/office/drawing/2014/main" id="{D1C8CF0A-C925-650B-6233-CD4A634434A7}"/>
              </a:ext>
            </a:extLst>
          </p:cNvPr>
          <p:cNvGrpSpPr/>
          <p:nvPr/>
        </p:nvGrpSpPr>
        <p:grpSpPr>
          <a:xfrm>
            <a:off x="4113293" y="8552675"/>
            <a:ext cx="2095644" cy="291934"/>
            <a:chOff x="10955573" y="4291145"/>
            <a:chExt cx="2095644" cy="287749"/>
          </a:xfrm>
        </p:grpSpPr>
        <p:sp>
          <p:nvSpPr>
            <p:cNvPr id="1058" name="Rectángulo 1057">
              <a:extLst>
                <a:ext uri="{FF2B5EF4-FFF2-40B4-BE49-F238E27FC236}">
                  <a16:creationId xmlns:a16="http://schemas.microsoft.com/office/drawing/2014/main" id="{EE7DA4F0-27C1-F2B4-1444-883E9818BC22}"/>
                </a:ext>
              </a:extLst>
            </p:cNvPr>
            <p:cNvSpPr/>
            <p:nvPr/>
          </p:nvSpPr>
          <p:spPr>
            <a:xfrm>
              <a:off x="10955573" y="4291145"/>
              <a:ext cx="1439084" cy="287748"/>
            </a:xfrm>
            <a:prstGeom prst="rect">
              <a:avLst/>
            </a:prstGeom>
            <a:solidFill>
              <a:srgbClr val="54CF1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/>
                <a:t>70%</a:t>
              </a:r>
            </a:p>
          </p:txBody>
        </p:sp>
        <p:sp>
          <p:nvSpPr>
            <p:cNvPr id="1059" name="Rectángulo 1058">
              <a:extLst>
                <a:ext uri="{FF2B5EF4-FFF2-40B4-BE49-F238E27FC236}">
                  <a16:creationId xmlns:a16="http://schemas.microsoft.com/office/drawing/2014/main" id="{33029008-24B6-13CE-6448-533B7A787C65}"/>
                </a:ext>
              </a:extLst>
            </p:cNvPr>
            <p:cNvSpPr/>
            <p:nvPr/>
          </p:nvSpPr>
          <p:spPr>
            <a:xfrm>
              <a:off x="12394657" y="4291145"/>
              <a:ext cx="656560" cy="28774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>
                <a:solidFill>
                  <a:srgbClr val="FF0000"/>
                </a:solidFill>
              </a:endParaRPr>
            </a:p>
          </p:txBody>
        </p:sp>
      </p:grpSp>
      <p:sp>
        <p:nvSpPr>
          <p:cNvPr id="1061" name="Rectángulo 1060">
            <a:extLst>
              <a:ext uri="{FF2B5EF4-FFF2-40B4-BE49-F238E27FC236}">
                <a16:creationId xmlns:a16="http://schemas.microsoft.com/office/drawing/2014/main" id="{4BCA4497-8F10-6B42-4C33-64D20031613E}"/>
              </a:ext>
            </a:extLst>
          </p:cNvPr>
          <p:cNvSpPr/>
          <p:nvPr/>
        </p:nvSpPr>
        <p:spPr>
          <a:xfrm>
            <a:off x="3528493" y="6117581"/>
            <a:ext cx="3011110" cy="482225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Proyección: Mayo 5000 </a:t>
            </a:r>
            <a:r>
              <a:rPr lang="es-MX" sz="14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mill</a:t>
            </a:r>
            <a:endParaRPr lang="es-PE" sz="1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2" name="CuadroTexto 1061">
            <a:extLst>
              <a:ext uri="{FF2B5EF4-FFF2-40B4-BE49-F238E27FC236}">
                <a16:creationId xmlns:a16="http://schemas.microsoft.com/office/drawing/2014/main" id="{9345C0C0-3887-452C-56D9-10AA927E110D}"/>
              </a:ext>
            </a:extLst>
          </p:cNvPr>
          <p:cNvSpPr txBox="1"/>
          <p:nvPr/>
        </p:nvSpPr>
        <p:spPr>
          <a:xfrm>
            <a:off x="553967" y="8696154"/>
            <a:ext cx="1709618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/>
              <a:t>Es el termómetro de consumo mensual</a:t>
            </a:r>
            <a:endParaRPr lang="es-PE" sz="1400" dirty="0"/>
          </a:p>
        </p:txBody>
      </p:sp>
      <p:cxnSp>
        <p:nvCxnSpPr>
          <p:cNvPr id="1063" name="Conector recto de flecha 1062">
            <a:extLst>
              <a:ext uri="{FF2B5EF4-FFF2-40B4-BE49-F238E27FC236}">
                <a16:creationId xmlns:a16="http://schemas.microsoft.com/office/drawing/2014/main" id="{92EB567C-201A-0B96-195D-B34FABB9FC8B}"/>
              </a:ext>
            </a:extLst>
          </p:cNvPr>
          <p:cNvCxnSpPr>
            <a:cxnSpLocks/>
            <a:stCxn id="1062" idx="3"/>
          </p:cNvCxnSpPr>
          <p:nvPr/>
        </p:nvCxnSpPr>
        <p:spPr>
          <a:xfrm flipV="1">
            <a:off x="2263585" y="8703043"/>
            <a:ext cx="1794900" cy="2547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68" name="Triángulo isósceles 1067">
            <a:extLst>
              <a:ext uri="{FF2B5EF4-FFF2-40B4-BE49-F238E27FC236}">
                <a16:creationId xmlns:a16="http://schemas.microsoft.com/office/drawing/2014/main" id="{39C5C5FB-9339-82CA-469B-261432A76D3E}"/>
              </a:ext>
            </a:extLst>
          </p:cNvPr>
          <p:cNvSpPr/>
          <p:nvPr/>
        </p:nvSpPr>
        <p:spPr>
          <a:xfrm rot="16200000">
            <a:off x="5939511" y="3408866"/>
            <a:ext cx="2495613" cy="2483093"/>
          </a:xfrm>
          <a:prstGeom prst="triangl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1082" name="Imagen 1081">
            <a:extLst>
              <a:ext uri="{FF2B5EF4-FFF2-40B4-BE49-F238E27FC236}">
                <a16:creationId xmlns:a16="http://schemas.microsoft.com/office/drawing/2014/main" id="{A6B7CC29-8843-673A-AD08-0B8C195F21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2868" y="5662903"/>
            <a:ext cx="1038370" cy="295316"/>
          </a:xfrm>
          <a:prstGeom prst="rect">
            <a:avLst/>
          </a:prstGeom>
        </p:spPr>
      </p:pic>
      <p:sp>
        <p:nvSpPr>
          <p:cNvPr id="1083" name="CuadroTexto 1082">
            <a:extLst>
              <a:ext uri="{FF2B5EF4-FFF2-40B4-BE49-F238E27FC236}">
                <a16:creationId xmlns:a16="http://schemas.microsoft.com/office/drawing/2014/main" id="{B8D5C068-5CDE-BD44-D164-A63A1097B96B}"/>
              </a:ext>
            </a:extLst>
          </p:cNvPr>
          <p:cNvSpPr txBox="1"/>
          <p:nvPr/>
        </p:nvSpPr>
        <p:spPr>
          <a:xfrm>
            <a:off x="10599952" y="5698759"/>
            <a:ext cx="807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300 </a:t>
            </a:r>
            <a:r>
              <a:rPr lang="es-MX" sz="1200" dirty="0" err="1"/>
              <a:t>mill</a:t>
            </a:r>
            <a:endParaRPr lang="es-PE" sz="1200" dirty="0"/>
          </a:p>
        </p:txBody>
      </p:sp>
      <p:pic>
        <p:nvPicPr>
          <p:cNvPr id="1084" name="Imagen 1083">
            <a:extLst>
              <a:ext uri="{FF2B5EF4-FFF2-40B4-BE49-F238E27FC236}">
                <a16:creationId xmlns:a16="http://schemas.microsoft.com/office/drawing/2014/main" id="{B58A663F-1DDF-D9CC-4402-59706F541C9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44054" t="21866" r="40079" b="16403"/>
          <a:stretch/>
        </p:blipFill>
        <p:spPr>
          <a:xfrm flipV="1">
            <a:off x="11488305" y="5636543"/>
            <a:ext cx="242269" cy="318267"/>
          </a:xfrm>
          <a:prstGeom prst="rect">
            <a:avLst/>
          </a:prstGeom>
        </p:spPr>
      </p:pic>
      <p:pic>
        <p:nvPicPr>
          <p:cNvPr id="85" name="Imagen 84">
            <a:extLst>
              <a:ext uri="{FF2B5EF4-FFF2-40B4-BE49-F238E27FC236}">
                <a16:creationId xmlns:a16="http://schemas.microsoft.com/office/drawing/2014/main" id="{0B6D4ED7-5FF6-AC7E-AA95-4F67B572E56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223622" y="6335732"/>
            <a:ext cx="1643330" cy="1141487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sp>
        <p:nvSpPr>
          <p:cNvPr id="45" name="Triángulo isósceles 44">
            <a:extLst>
              <a:ext uri="{FF2B5EF4-FFF2-40B4-BE49-F238E27FC236}">
                <a16:creationId xmlns:a16="http://schemas.microsoft.com/office/drawing/2014/main" id="{FF3D8528-4FAD-D778-1290-8AE59A7F9010}"/>
              </a:ext>
            </a:extLst>
          </p:cNvPr>
          <p:cNvSpPr/>
          <p:nvPr/>
        </p:nvSpPr>
        <p:spPr>
          <a:xfrm rot="16200000">
            <a:off x="14920821" y="6174419"/>
            <a:ext cx="1141487" cy="1464115"/>
          </a:xfrm>
          <a:prstGeom prst="triangl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20295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Flecha: pentágono 2202">
            <a:extLst>
              <a:ext uri="{FF2B5EF4-FFF2-40B4-BE49-F238E27FC236}">
                <a16:creationId xmlns:a16="http://schemas.microsoft.com/office/drawing/2014/main" id="{CF937D7D-D1BE-5514-69C3-87791BB60584}"/>
              </a:ext>
            </a:extLst>
          </p:cNvPr>
          <p:cNvSpPr/>
          <p:nvPr/>
        </p:nvSpPr>
        <p:spPr>
          <a:xfrm>
            <a:off x="822060" y="293001"/>
            <a:ext cx="6663764" cy="841311"/>
          </a:xfrm>
          <a:prstGeom prst="homePlate">
            <a:avLst/>
          </a:prstGeom>
          <a:solidFill>
            <a:srgbClr val="1F497D"/>
          </a:solidFill>
          <a:ln>
            <a:solidFill>
              <a:srgbClr val="D3D3D7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bg1"/>
              </a:solidFill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C101DFA2-8C71-AED4-96A7-913684634308}"/>
              </a:ext>
            </a:extLst>
          </p:cNvPr>
          <p:cNvSpPr txBox="1"/>
          <p:nvPr/>
        </p:nvSpPr>
        <p:spPr>
          <a:xfrm>
            <a:off x="1241584" y="448269"/>
            <a:ext cx="3762585" cy="584775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bg1"/>
                </a:solidFill>
              </a:rPr>
              <a:t>VISTA DEL USUARIO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475A565-9917-247E-40C7-95B55F28664B}"/>
              </a:ext>
            </a:extLst>
          </p:cNvPr>
          <p:cNvGrpSpPr/>
          <p:nvPr/>
        </p:nvGrpSpPr>
        <p:grpSpPr>
          <a:xfrm>
            <a:off x="1212938" y="1499797"/>
            <a:ext cx="3865418" cy="7061154"/>
            <a:chOff x="1212938" y="1499797"/>
            <a:chExt cx="3865418" cy="7061154"/>
          </a:xfrm>
        </p:grpSpPr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653FBD11-81BE-B833-016B-D911547D34F0}"/>
                </a:ext>
              </a:extLst>
            </p:cNvPr>
            <p:cNvGrpSpPr/>
            <p:nvPr/>
          </p:nvGrpSpPr>
          <p:grpSpPr>
            <a:xfrm>
              <a:off x="1212938" y="1499797"/>
              <a:ext cx="3865418" cy="7061154"/>
              <a:chOff x="4968636" y="1248414"/>
              <a:chExt cx="3865418" cy="7061154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9CA73C2B-571A-336E-5E75-6A833311EBB7}"/>
                  </a:ext>
                </a:extLst>
              </p:cNvPr>
              <p:cNvGrpSpPr/>
              <p:nvPr/>
            </p:nvGrpSpPr>
            <p:grpSpPr>
              <a:xfrm>
                <a:off x="4968636" y="1248414"/>
                <a:ext cx="3865418" cy="7061154"/>
                <a:chOff x="8833428" y="1270548"/>
                <a:chExt cx="3865418" cy="7061154"/>
              </a:xfrm>
            </p:grpSpPr>
            <p:pic>
              <p:nvPicPr>
                <p:cNvPr id="8" name="Imagen 7">
                  <a:extLst>
                    <a:ext uri="{FF2B5EF4-FFF2-40B4-BE49-F238E27FC236}">
                      <a16:creationId xmlns:a16="http://schemas.microsoft.com/office/drawing/2014/main" id="{388BBEF6-4F85-213E-39EE-55DA94BF6B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833428" y="1270548"/>
                  <a:ext cx="3865418" cy="7061154"/>
                </a:xfrm>
                <a:prstGeom prst="rect">
                  <a:avLst/>
                </a:prstGeom>
                <a:ln w="38100" cap="sq">
                  <a:solidFill>
                    <a:srgbClr val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p:spPr>
            </p:pic>
            <p:sp>
              <p:nvSpPr>
                <p:cNvPr id="9" name="Rectángulo 8">
                  <a:extLst>
                    <a:ext uri="{FF2B5EF4-FFF2-40B4-BE49-F238E27FC236}">
                      <a16:creationId xmlns:a16="http://schemas.microsoft.com/office/drawing/2014/main" id="{DB824B83-8B08-3157-9C17-2453BCDD92EC}"/>
                    </a:ext>
                  </a:extLst>
                </p:cNvPr>
                <p:cNvSpPr/>
                <p:nvPr/>
              </p:nvSpPr>
              <p:spPr>
                <a:xfrm>
                  <a:off x="8861137" y="1502881"/>
                  <a:ext cx="3810000" cy="4714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0" name="Rectángulo 9">
                  <a:extLst>
                    <a:ext uri="{FF2B5EF4-FFF2-40B4-BE49-F238E27FC236}">
                      <a16:creationId xmlns:a16="http://schemas.microsoft.com/office/drawing/2014/main" id="{05AB7B4C-4F6F-DC4A-3AE1-5E7A7D5CC0AD}"/>
                    </a:ext>
                  </a:extLst>
                </p:cNvPr>
                <p:cNvSpPr/>
                <p:nvPr/>
              </p:nvSpPr>
              <p:spPr>
                <a:xfrm>
                  <a:off x="8950159" y="1562469"/>
                  <a:ext cx="1434667" cy="35227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sz="240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badi Extra Light" panose="020B0604020202020204" pitchFamily="34" charset="0"/>
                    </a:rPr>
                    <a:t>AGROI+D</a:t>
                  </a:r>
                  <a:endParaRPr lang="es-PE" sz="24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badi Extra Light" panose="020B0604020202020204" pitchFamily="34" charset="0"/>
                  </a:endParaRPr>
                </a:p>
              </p:txBody>
            </p:sp>
            <p:pic>
              <p:nvPicPr>
                <p:cNvPr id="11" name="Imagen 10" descr="Logotipo, nombre de la empresa">
                  <a:extLst>
                    <a:ext uri="{FF2B5EF4-FFF2-40B4-BE49-F238E27FC236}">
                      <a16:creationId xmlns:a16="http://schemas.microsoft.com/office/drawing/2014/main" id="{8852AECC-72E4-6D26-AECC-FD56EA10B6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60776" y="2086207"/>
                  <a:ext cx="2513026" cy="1154630"/>
                </a:xfrm>
                <a:prstGeom prst="rect">
                  <a:avLst/>
                </a:prstGeom>
              </p:spPr>
            </p:pic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D086FCF0-4FEB-D9AF-4979-950522DBE2A5}"/>
                    </a:ext>
                  </a:extLst>
                </p:cNvPr>
                <p:cNvSpPr/>
                <p:nvPr/>
              </p:nvSpPr>
              <p:spPr>
                <a:xfrm>
                  <a:off x="9029337" y="3410434"/>
                  <a:ext cx="3474972" cy="23358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3" name="Rectángulo 12">
                  <a:extLst>
                    <a:ext uri="{FF2B5EF4-FFF2-40B4-BE49-F238E27FC236}">
                      <a16:creationId xmlns:a16="http://schemas.microsoft.com/office/drawing/2014/main" id="{3EF91D91-2BE7-1DBE-2B63-A927A7D25D13}"/>
                    </a:ext>
                  </a:extLst>
                </p:cNvPr>
                <p:cNvSpPr/>
                <p:nvPr/>
              </p:nvSpPr>
              <p:spPr>
                <a:xfrm>
                  <a:off x="9501988" y="3387045"/>
                  <a:ext cx="2839868" cy="54460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b="1">
                      <a:solidFill>
                        <a:schemeClr val="tx1"/>
                      </a:solidFill>
                      <a:latin typeface="Abadi Extra Light" panose="020B0204020104020204" pitchFamily="34" charset="0"/>
                    </a:rPr>
                    <a:t>Nuevo Requerimiento</a:t>
                  </a:r>
                  <a:endParaRPr lang="es-PE" b="1">
                    <a:solidFill>
                      <a:schemeClr val="tx1"/>
                    </a:solidFill>
                    <a:latin typeface="Abadi Extra Light" panose="020B0204020104020204" pitchFamily="34" charset="0"/>
                  </a:endParaRPr>
                </a:p>
              </p:txBody>
            </p:sp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E0AC20CE-2BD2-F90A-F561-00E9174221C2}"/>
                    </a:ext>
                  </a:extLst>
                </p:cNvPr>
                <p:cNvSpPr/>
                <p:nvPr/>
              </p:nvSpPr>
              <p:spPr>
                <a:xfrm>
                  <a:off x="9504533" y="4107739"/>
                  <a:ext cx="2839868" cy="544601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b="1" dirty="0">
                      <a:solidFill>
                        <a:schemeClr val="tx1"/>
                      </a:solidFill>
                      <a:latin typeface="Abadi Extra Light" panose="020B0204020104020204" pitchFamily="34" charset="0"/>
                    </a:rPr>
                    <a:t>Historial de Requerimiento</a:t>
                  </a:r>
                  <a:endParaRPr lang="es-PE" b="1" dirty="0">
                    <a:solidFill>
                      <a:schemeClr val="tx1"/>
                    </a:solidFill>
                    <a:latin typeface="Abadi Extra Light" panose="020B0204020104020204" pitchFamily="34" charset="0"/>
                  </a:endParaRPr>
                </a:p>
              </p:txBody>
            </p:sp>
            <p:cxnSp>
              <p:nvCxnSpPr>
                <p:cNvPr id="27" name="Conector recto de flecha 26">
                  <a:extLst>
                    <a:ext uri="{FF2B5EF4-FFF2-40B4-BE49-F238E27FC236}">
                      <a16:creationId xmlns:a16="http://schemas.microsoft.com/office/drawing/2014/main" id="{5FC0FA6B-4FF3-AFCF-4635-C9EB18ACBA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33401" y="4438759"/>
                  <a:ext cx="863183" cy="720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43" name="Picture 4" descr="Gráficos escalables iconos de computadora gráficos de red portátiles, icono  de salida, cdr, texto, icono de salida png | PNGWing">
                <a:extLst>
                  <a:ext uri="{FF2B5EF4-FFF2-40B4-BE49-F238E27FC236}">
                    <a16:creationId xmlns:a16="http://schemas.microsoft.com/office/drawing/2014/main" id="{A0D68368-959B-5BF8-C293-91E29471BE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895" b="96632" l="543" r="97283">
                            <a14:foregroundMark x1="50042" y1="12244" x2="36739" y2="5895"/>
                            <a14:foregroundMark x1="57985" y1="16034" x2="57540" y2="15821"/>
                            <a14:foregroundMark x1="59239" y1="16632" x2="58355" y2="16210"/>
                            <a14:foregroundMark x1="36739" y1="5895" x2="20435" y2="7158"/>
                            <a14:foregroundMark x1="12737" y1="15836" x2="6522" y2="22842"/>
                            <a14:foregroundMark x1="20435" y1="7158" x2="15617" y2="12589"/>
                            <a14:foregroundMark x1="6522" y1="22842" x2="5435" y2="74421"/>
                            <a14:foregroundMark x1="5435" y1="74421" x2="11957" y2="90842"/>
                            <a14:foregroundMark x1="11957" y1="90842" x2="33587" y2="94947"/>
                            <a14:foregroundMark x1="33587" y1="94947" x2="55435" y2="90526"/>
                            <a14:foregroundMark x1="55435" y1="90526" x2="63043" y2="80000"/>
                            <a14:foregroundMark x1="44565" y1="47263" x2="78696" y2="44632"/>
                            <a14:foregroundMark x1="77496" y1="56958" x2="76739" y2="64737"/>
                            <a14:foregroundMark x1="78696" y1="44632" x2="77613" y2="55759"/>
                            <a14:foregroundMark x1="76739" y1="64737" x2="95000" y2="53684"/>
                            <a14:foregroundMark x1="95000" y1="53684" x2="79239" y2="39368"/>
                            <a14:foregroundMark x1="79239" y1="39368" x2="77065" y2="35895"/>
                            <a14:foregroundMark x1="79130" y1="47579" x2="38804" y2="50632"/>
                            <a14:foregroundMark x1="38804" y1="50632" x2="81630" y2="47789"/>
                            <a14:foregroundMark x1="81630" y1="47789" x2="82500" y2="47789"/>
                            <a14:foregroundMark x1="75870" y1="41158" x2="90479" y2="39510"/>
                            <a14:foregroundMark x1="91797" y1="39625" x2="94783" y2="52737"/>
                            <a14:foregroundMark x1="97065" y1="49579" x2="97391" y2="52105"/>
                            <a14:foregroundMark x1="54365" y1="11816" x2="43913" y2="2526"/>
                            <a14:foregroundMark x1="59072" y1="16000" x2="57962" y2="15013"/>
                            <a14:foregroundMark x1="59783" y1="16632" x2="59072" y2="16000"/>
                            <a14:foregroundMark x1="43913" y1="2526" x2="15761" y2="3579"/>
                            <a14:foregroundMark x1="15761" y1="3579" x2="1413" y2="14842"/>
                            <a14:foregroundMark x1="1413" y1="14842" x2="978" y2="72737"/>
                            <a14:foregroundMark x1="978" y1="72737" x2="9783" y2="23579"/>
                            <a14:foregroundMark x1="23895" y1="12054" x2="24348" y2="11684"/>
                            <a14:foregroundMark x1="9783" y1="23579" x2="12657" y2="21232"/>
                            <a14:foregroundMark x1="56397" y1="12187" x2="57935" y2="12211"/>
                            <a14:foregroundMark x1="24348" y1="11684" x2="49938" y2="12086"/>
                            <a14:foregroundMark x1="58952" y1="14352" x2="60435" y2="17474"/>
                            <a14:foregroundMark x1="57935" y1="12211" x2="58861" y2="14161"/>
                            <a14:foregroundMark x1="61630" y1="17789" x2="53043" y2="3579"/>
                            <a14:foregroundMark x1="53043" y1="3579" x2="45543" y2="4947"/>
                            <a14:foregroundMark x1="53587" y1="1895" x2="67283" y2="9368"/>
                            <a14:foregroundMark x1="67283" y1="9368" x2="60978" y2="9474"/>
                            <a14:foregroundMark x1="8261" y1="8421" x2="217" y2="51579"/>
                            <a14:foregroundMark x1="217" y1="51579" x2="1087" y2="72000"/>
                            <a14:foregroundMark x1="1087" y1="72000" x2="9891" y2="34211"/>
                            <a14:foregroundMark x1="3261" y1="77684" x2="9239" y2="96842"/>
                            <a14:foregroundMark x1="9239" y1="96842" x2="35652" y2="98737"/>
                            <a14:foregroundMark x1="35652" y1="98737" x2="55435" y2="94000"/>
                            <a14:foregroundMark x1="55435" y1="94000" x2="67609" y2="84211"/>
                            <a14:foregroundMark x1="67609" y1="84211" x2="51413" y2="92632"/>
                            <a14:foregroundMark x1="13242" y1="84716" x2="652" y2="82105"/>
                            <a14:foregroundMark x1="27115" y1="87593" x2="26755" y2="87518"/>
                            <a14:foregroundMark x1="51413" y1="92632" x2="28349" y2="87849"/>
                            <a14:foregroundMark x1="652" y1="82105" x2="1304" y2="79579"/>
                            <a14:foregroundMark x1="21630" y1="94632" x2="47065" y2="96632"/>
                            <a14:foregroundMark x1="47065" y1="96632" x2="65000" y2="90211"/>
                            <a14:foregroundMark x1="65000" y1="90211" x2="69022" y2="86947"/>
                            <a14:backgroundMark x1="52717" y1="18842" x2="22500" y2="24105"/>
                            <a14:backgroundMark x1="22500" y1="24105" x2="20326" y2="44632"/>
                            <a14:backgroundMark x1="20326" y1="44632" x2="28913" y2="62842"/>
                            <a14:backgroundMark x1="28913" y1="62842" x2="42500" y2="70105"/>
                            <a14:backgroundMark x1="42500" y1="70105" x2="58152" y2="64105"/>
                            <a14:backgroundMark x1="58152" y1="64105" x2="72717" y2="74947"/>
                            <a14:backgroundMark x1="72717" y1="74947" x2="72717" y2="75053"/>
                            <a14:backgroundMark x1="24783" y1="14737" x2="14565" y2="20947"/>
                            <a14:backgroundMark x1="22391" y1="14526" x2="14348" y2="19579"/>
                            <a14:backgroundMark x1="51196" y1="13895" x2="56413" y2="16421"/>
                            <a14:backgroundMark x1="56630" y1="16421" x2="57391" y2="16105"/>
                            <a14:backgroundMark x1="57609" y1="17474" x2="55978" y2="13368"/>
                            <a14:backgroundMark x1="52065" y1="13053" x2="51304" y2="12947"/>
                            <a14:backgroundMark x1="55109" y1="13158" x2="57283" y2="16211"/>
                            <a14:backgroundMark x1="57065" y1="14632" x2="57283" y2="16000"/>
                            <a14:backgroundMark x1="57065" y1="15579" x2="57500" y2="15579"/>
                            <a14:backgroundMark x1="57500" y1="16000" x2="57500" y2="16000"/>
                            <a14:backgroundMark x1="57609" y1="16105" x2="57500" y2="15474"/>
                            <a14:backgroundMark x1="58043" y1="16211" x2="58043" y2="15263"/>
                            <a14:backgroundMark x1="57826" y1="15053" x2="57717" y2="14842"/>
                            <a14:backgroundMark x1="56413" y1="13579" x2="50652" y2="12526"/>
                            <a14:backgroundMark x1="51087" y1="12842" x2="50435" y2="12842"/>
                            <a14:backgroundMark x1="24674" y1="13263" x2="21304" y2="13158"/>
                            <a14:backgroundMark x1="15326" y1="13158" x2="13587" y2="15789"/>
                            <a14:backgroundMark x1="13587" y1="18632" x2="13478" y2="21263"/>
                            <a14:backgroundMark x1="16304" y1="13158" x2="12935" y2="16000"/>
                            <a14:backgroundMark x1="15870" y1="12842" x2="15870" y2="13053"/>
                            <a14:backgroundMark x1="92283" y1="39789" x2="91848" y2="39263"/>
                            <a14:backgroundMark x1="91087" y1="37263" x2="91848" y2="38421"/>
                            <a14:backgroundMark x1="92717" y1="39368" x2="91522" y2="38632"/>
                            <a14:backgroundMark x1="92283" y1="39368" x2="91630" y2="38421"/>
                            <a14:backgroundMark x1="90326" y1="37053" x2="92609" y2="38947"/>
                            <a14:backgroundMark x1="92609" y1="39789" x2="92283" y2="39263"/>
                            <a14:backgroundMark x1="76957" y1="57053" x2="77609" y2="56737"/>
                            <a14:backgroundMark x1="14130" y1="83579" x2="26957" y2="86737"/>
                            <a14:backgroundMark x1="27935" y1="87263" x2="26957" y2="87368"/>
                            <a14:backgroundMark x1="13587" y1="85263" x2="13587" y2="84632"/>
                            <a14:backgroundMark x1="25761" y1="87474" x2="26848" y2="87368"/>
                            <a14:backgroundMark x1="13370" y1="84842" x2="13370" y2="84737"/>
                            <a14:backgroundMark x1="13152" y1="84947" x2="13043" y2="84842"/>
                            <a14:backgroundMark x1="13261" y1="85053" x2="13152" y2="84842"/>
                            <a14:backgroundMark x1="13152" y1="84842" x2="13370" y2="8410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18714" y="1540333"/>
                <a:ext cx="341153" cy="3522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24B91DDD-17B8-7490-03D4-BACE99FADC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5233" t="14388" r="27148" b="24106"/>
            <a:stretch/>
          </p:blipFill>
          <p:spPr>
            <a:xfrm rot="4782351">
              <a:off x="1658702" y="4404188"/>
              <a:ext cx="407047" cy="556704"/>
            </a:xfrm>
            <a:prstGeom prst="rect">
              <a:avLst/>
            </a:prstGeom>
          </p:spPr>
        </p:pic>
      </p:grpSp>
      <p:grpSp>
        <p:nvGrpSpPr>
          <p:cNvPr id="2097" name="Grupo 2096">
            <a:extLst>
              <a:ext uri="{FF2B5EF4-FFF2-40B4-BE49-F238E27FC236}">
                <a16:creationId xmlns:a16="http://schemas.microsoft.com/office/drawing/2014/main" id="{BBD4B174-633D-7714-2175-C44D8F776AEF}"/>
              </a:ext>
            </a:extLst>
          </p:cNvPr>
          <p:cNvGrpSpPr/>
          <p:nvPr/>
        </p:nvGrpSpPr>
        <p:grpSpPr>
          <a:xfrm>
            <a:off x="11526465" y="1499797"/>
            <a:ext cx="3865418" cy="7061154"/>
            <a:chOff x="9495593" y="1248414"/>
            <a:chExt cx="3865418" cy="7061154"/>
          </a:xfrm>
        </p:grpSpPr>
        <p:grpSp>
          <p:nvGrpSpPr>
            <p:cNvPr id="2098" name="Grupo 2097">
              <a:extLst>
                <a:ext uri="{FF2B5EF4-FFF2-40B4-BE49-F238E27FC236}">
                  <a16:creationId xmlns:a16="http://schemas.microsoft.com/office/drawing/2014/main" id="{78BE8053-73EB-D7FF-FCBA-D95E46CCF36E}"/>
                </a:ext>
              </a:extLst>
            </p:cNvPr>
            <p:cNvGrpSpPr/>
            <p:nvPr/>
          </p:nvGrpSpPr>
          <p:grpSpPr>
            <a:xfrm>
              <a:off x="9495593" y="1248414"/>
              <a:ext cx="3865418" cy="7061154"/>
              <a:chOff x="9660570" y="1248414"/>
              <a:chExt cx="3865418" cy="7061154"/>
            </a:xfrm>
          </p:grpSpPr>
          <p:grpSp>
            <p:nvGrpSpPr>
              <p:cNvPr id="2119" name="Grupo 2118">
                <a:extLst>
                  <a:ext uri="{FF2B5EF4-FFF2-40B4-BE49-F238E27FC236}">
                    <a16:creationId xmlns:a16="http://schemas.microsoft.com/office/drawing/2014/main" id="{BDECDCB3-51B7-44BA-8502-F73FA1902775}"/>
                  </a:ext>
                </a:extLst>
              </p:cNvPr>
              <p:cNvGrpSpPr/>
              <p:nvPr/>
            </p:nvGrpSpPr>
            <p:grpSpPr>
              <a:xfrm>
                <a:off x="9660570" y="1248414"/>
                <a:ext cx="3865418" cy="7061154"/>
                <a:chOff x="9306719" y="1270548"/>
                <a:chExt cx="3865418" cy="7061154"/>
              </a:xfrm>
            </p:grpSpPr>
            <p:grpSp>
              <p:nvGrpSpPr>
                <p:cNvPr id="2121" name="Grupo 2120">
                  <a:extLst>
                    <a:ext uri="{FF2B5EF4-FFF2-40B4-BE49-F238E27FC236}">
                      <a16:creationId xmlns:a16="http://schemas.microsoft.com/office/drawing/2014/main" id="{BAF63159-070A-788A-703A-8D70DED56E58}"/>
                    </a:ext>
                  </a:extLst>
                </p:cNvPr>
                <p:cNvGrpSpPr/>
                <p:nvPr/>
              </p:nvGrpSpPr>
              <p:grpSpPr>
                <a:xfrm>
                  <a:off x="9306719" y="1270548"/>
                  <a:ext cx="3865418" cy="7061154"/>
                  <a:chOff x="7284028" y="1054648"/>
                  <a:chExt cx="3865418" cy="7061154"/>
                </a:xfrm>
              </p:grpSpPr>
              <p:grpSp>
                <p:nvGrpSpPr>
                  <p:cNvPr id="2123" name="Grupo 2122">
                    <a:extLst>
                      <a:ext uri="{FF2B5EF4-FFF2-40B4-BE49-F238E27FC236}">
                        <a16:creationId xmlns:a16="http://schemas.microsoft.com/office/drawing/2014/main" id="{403E0C91-B69B-BC18-F3A1-FEECF471B4F5}"/>
                      </a:ext>
                    </a:extLst>
                  </p:cNvPr>
                  <p:cNvGrpSpPr/>
                  <p:nvPr/>
                </p:nvGrpSpPr>
                <p:grpSpPr>
                  <a:xfrm>
                    <a:off x="7284028" y="1054648"/>
                    <a:ext cx="3865418" cy="7061154"/>
                    <a:chOff x="8795328" y="1270548"/>
                    <a:chExt cx="3865418" cy="7061154"/>
                  </a:xfrm>
                </p:grpSpPr>
                <p:pic>
                  <p:nvPicPr>
                    <p:cNvPr id="2125" name="Imagen 2124">
                      <a:extLst>
                        <a:ext uri="{FF2B5EF4-FFF2-40B4-BE49-F238E27FC236}">
                          <a16:creationId xmlns:a16="http://schemas.microsoft.com/office/drawing/2014/main" id="{F6F5CD6A-474F-AD70-ACFD-7BEB68B8C04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8795328" y="1270548"/>
                      <a:ext cx="3865418" cy="7061154"/>
                    </a:xfrm>
                    <a:prstGeom prst="rect">
                      <a:avLst/>
                    </a:prstGeom>
                    <a:ln w="38100" cap="sq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>
                      <a:outerShdw blurRad="50800" dist="38100" dir="2700000" algn="tl" rotWithShape="0">
                        <a:srgbClr val="000000">
                          <a:alpha val="43000"/>
                        </a:srgbClr>
                      </a:outerShdw>
                    </a:effectLst>
                  </p:spPr>
                </p:pic>
                <p:sp>
                  <p:nvSpPr>
                    <p:cNvPr id="2126" name="Rectángulo 2125">
                      <a:extLst>
                        <a:ext uri="{FF2B5EF4-FFF2-40B4-BE49-F238E27FC236}">
                          <a16:creationId xmlns:a16="http://schemas.microsoft.com/office/drawing/2014/main" id="{0494409D-00F2-6C5D-8D23-9A9054C486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3037" y="1502881"/>
                      <a:ext cx="3810000" cy="471451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PE"/>
                    </a:p>
                  </p:txBody>
                </p:sp>
                <p:sp>
                  <p:nvSpPr>
                    <p:cNvPr id="2127" name="Rectángulo 2126">
                      <a:extLst>
                        <a:ext uri="{FF2B5EF4-FFF2-40B4-BE49-F238E27FC236}">
                          <a16:creationId xmlns:a16="http://schemas.microsoft.com/office/drawing/2014/main" id="{5A42C38E-AC93-B576-F45E-E36079F537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0159" y="1562469"/>
                      <a:ext cx="1434667" cy="35227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MX" sz="240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 Extra Light" panose="020B0604020202020204" pitchFamily="34" charset="0"/>
                        </a:rPr>
                        <a:t>AGROI+D</a:t>
                      </a:r>
                      <a:endParaRPr lang="es-PE" sz="240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 Extra Light" panose="020B0604020202020204" pitchFamily="34" charset="0"/>
                      </a:endParaRPr>
                    </a:p>
                  </p:txBody>
                </p:sp>
                <p:sp>
                  <p:nvSpPr>
                    <p:cNvPr id="2128" name="Rectángulo 2127">
                      <a:extLst>
                        <a:ext uri="{FF2B5EF4-FFF2-40B4-BE49-F238E27FC236}">
                          <a16:creationId xmlns:a16="http://schemas.microsoft.com/office/drawing/2014/main" id="{3FDE8174-4A04-6466-B85F-A16FE4D417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9337" y="2184034"/>
                      <a:ext cx="3474972" cy="360799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PE"/>
                    </a:p>
                  </p:txBody>
                </p:sp>
              </p:grpSp>
              <p:pic>
                <p:nvPicPr>
                  <p:cNvPr id="2124" name="Imagen 2123">
                    <a:extLst>
                      <a:ext uri="{FF2B5EF4-FFF2-40B4-BE49-F238E27FC236}">
                        <a16:creationId xmlns:a16="http://schemas.microsoft.com/office/drawing/2014/main" id="{84FE0211-31BC-32A2-56BB-518E68ABC8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7454394" y="2397218"/>
                    <a:ext cx="3474972" cy="113880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122" name="Picture 4" descr="Gráficos escalables iconos de computadora gráficos de red portátiles, icono  de salida, cdr, texto, icono de salida png | PNGWing">
                  <a:extLst>
                    <a:ext uri="{FF2B5EF4-FFF2-40B4-BE49-F238E27FC236}">
                      <a16:creationId xmlns:a16="http://schemas.microsoft.com/office/drawing/2014/main" id="{886196C7-5FC4-4A90-3ABA-0703F6C39F2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895" b="96632" l="543" r="97283">
                              <a14:foregroundMark x1="50042" y1="12244" x2="36739" y2="5895"/>
                              <a14:foregroundMark x1="57985" y1="16034" x2="57540" y2="15821"/>
                              <a14:foregroundMark x1="59239" y1="16632" x2="58355" y2="16210"/>
                              <a14:foregroundMark x1="36739" y1="5895" x2="20435" y2="7158"/>
                              <a14:foregroundMark x1="12737" y1="15836" x2="6522" y2="22842"/>
                              <a14:foregroundMark x1="20435" y1="7158" x2="15617" y2="12589"/>
                              <a14:foregroundMark x1="6522" y1="22842" x2="5435" y2="74421"/>
                              <a14:foregroundMark x1="5435" y1="74421" x2="11957" y2="90842"/>
                              <a14:foregroundMark x1="11957" y1="90842" x2="33587" y2="94947"/>
                              <a14:foregroundMark x1="33587" y1="94947" x2="55435" y2="90526"/>
                              <a14:foregroundMark x1="55435" y1="90526" x2="63043" y2="80000"/>
                              <a14:foregroundMark x1="44565" y1="47263" x2="78696" y2="44632"/>
                              <a14:foregroundMark x1="77496" y1="56958" x2="76739" y2="64737"/>
                              <a14:foregroundMark x1="78696" y1="44632" x2="77613" y2="55759"/>
                              <a14:foregroundMark x1="76739" y1="64737" x2="95000" y2="53684"/>
                              <a14:foregroundMark x1="95000" y1="53684" x2="79239" y2="39368"/>
                              <a14:foregroundMark x1="79239" y1="39368" x2="77065" y2="35895"/>
                              <a14:foregroundMark x1="79130" y1="47579" x2="38804" y2="50632"/>
                              <a14:foregroundMark x1="38804" y1="50632" x2="81630" y2="47789"/>
                              <a14:foregroundMark x1="81630" y1="47789" x2="82500" y2="47789"/>
                              <a14:foregroundMark x1="75870" y1="41158" x2="90479" y2="39510"/>
                              <a14:foregroundMark x1="91797" y1="39625" x2="94783" y2="52737"/>
                              <a14:foregroundMark x1="97065" y1="49579" x2="97391" y2="52105"/>
                              <a14:foregroundMark x1="54365" y1="11816" x2="43913" y2="2526"/>
                              <a14:foregroundMark x1="59072" y1="16000" x2="57962" y2="15013"/>
                              <a14:foregroundMark x1="59783" y1="16632" x2="59072" y2="16000"/>
                              <a14:foregroundMark x1="43913" y1="2526" x2="15761" y2="3579"/>
                              <a14:foregroundMark x1="15761" y1="3579" x2="1413" y2="14842"/>
                              <a14:foregroundMark x1="1413" y1="14842" x2="978" y2="72737"/>
                              <a14:foregroundMark x1="978" y1="72737" x2="9783" y2="23579"/>
                              <a14:foregroundMark x1="23895" y1="12054" x2="24348" y2="11684"/>
                              <a14:foregroundMark x1="9783" y1="23579" x2="12657" y2="21232"/>
                              <a14:foregroundMark x1="56397" y1="12187" x2="57935" y2="12211"/>
                              <a14:foregroundMark x1="24348" y1="11684" x2="49938" y2="12086"/>
                              <a14:foregroundMark x1="58952" y1="14352" x2="60435" y2="17474"/>
                              <a14:foregroundMark x1="57935" y1="12211" x2="58861" y2="14161"/>
                              <a14:foregroundMark x1="61630" y1="17789" x2="53043" y2="3579"/>
                              <a14:foregroundMark x1="53043" y1="3579" x2="45543" y2="4947"/>
                              <a14:foregroundMark x1="53587" y1="1895" x2="67283" y2="9368"/>
                              <a14:foregroundMark x1="67283" y1="9368" x2="60978" y2="9474"/>
                              <a14:foregroundMark x1="8261" y1="8421" x2="217" y2="51579"/>
                              <a14:foregroundMark x1="217" y1="51579" x2="1087" y2="72000"/>
                              <a14:foregroundMark x1="1087" y1="72000" x2="9891" y2="34211"/>
                              <a14:foregroundMark x1="3261" y1="77684" x2="9239" y2="96842"/>
                              <a14:foregroundMark x1="9239" y1="96842" x2="35652" y2="98737"/>
                              <a14:foregroundMark x1="35652" y1="98737" x2="55435" y2="94000"/>
                              <a14:foregroundMark x1="55435" y1="94000" x2="67609" y2="84211"/>
                              <a14:foregroundMark x1="67609" y1="84211" x2="51413" y2="92632"/>
                              <a14:foregroundMark x1="13242" y1="84716" x2="652" y2="82105"/>
                              <a14:foregroundMark x1="27115" y1="87593" x2="26755" y2="87518"/>
                              <a14:foregroundMark x1="51413" y1="92632" x2="28349" y2="87849"/>
                              <a14:foregroundMark x1="652" y1="82105" x2="1304" y2="79579"/>
                              <a14:foregroundMark x1="21630" y1="94632" x2="47065" y2="96632"/>
                              <a14:foregroundMark x1="47065" y1="96632" x2="65000" y2="90211"/>
                              <a14:foregroundMark x1="65000" y1="90211" x2="69022" y2="86947"/>
                              <a14:backgroundMark x1="52717" y1="18842" x2="22500" y2="24105"/>
                              <a14:backgroundMark x1="22500" y1="24105" x2="20326" y2="44632"/>
                              <a14:backgroundMark x1="20326" y1="44632" x2="28913" y2="62842"/>
                              <a14:backgroundMark x1="28913" y1="62842" x2="42500" y2="70105"/>
                              <a14:backgroundMark x1="42500" y1="70105" x2="58152" y2="64105"/>
                              <a14:backgroundMark x1="58152" y1="64105" x2="72717" y2="74947"/>
                              <a14:backgroundMark x1="72717" y1="74947" x2="72717" y2="75053"/>
                              <a14:backgroundMark x1="24783" y1="14737" x2="14565" y2="20947"/>
                              <a14:backgroundMark x1="22391" y1="14526" x2="14348" y2="19579"/>
                              <a14:backgroundMark x1="51196" y1="13895" x2="56413" y2="16421"/>
                              <a14:backgroundMark x1="56630" y1="16421" x2="57391" y2="16105"/>
                              <a14:backgroundMark x1="57609" y1="17474" x2="55978" y2="13368"/>
                              <a14:backgroundMark x1="52065" y1="13053" x2="51304" y2="12947"/>
                              <a14:backgroundMark x1="55109" y1="13158" x2="57283" y2="16211"/>
                              <a14:backgroundMark x1="57065" y1="14632" x2="57283" y2="16000"/>
                              <a14:backgroundMark x1="57065" y1="15579" x2="57500" y2="15579"/>
                              <a14:backgroundMark x1="57500" y1="16000" x2="57500" y2="16000"/>
                              <a14:backgroundMark x1="57609" y1="16105" x2="57500" y2="15474"/>
                              <a14:backgroundMark x1="58043" y1="16211" x2="58043" y2="15263"/>
                              <a14:backgroundMark x1="57826" y1="15053" x2="57717" y2="14842"/>
                              <a14:backgroundMark x1="56413" y1="13579" x2="50652" y2="12526"/>
                              <a14:backgroundMark x1="51087" y1="12842" x2="50435" y2="12842"/>
                              <a14:backgroundMark x1="24674" y1="13263" x2="21304" y2="13158"/>
                              <a14:backgroundMark x1="15326" y1="13158" x2="13587" y2="15789"/>
                              <a14:backgroundMark x1="13587" y1="18632" x2="13478" y2="21263"/>
                              <a14:backgroundMark x1="16304" y1="13158" x2="12935" y2="16000"/>
                              <a14:backgroundMark x1="15870" y1="12842" x2="15870" y2="13053"/>
                              <a14:backgroundMark x1="92283" y1="39789" x2="91848" y2="39263"/>
                              <a14:backgroundMark x1="91087" y1="37263" x2="91848" y2="38421"/>
                              <a14:backgroundMark x1="92717" y1="39368" x2="91522" y2="38632"/>
                              <a14:backgroundMark x1="92283" y1="39368" x2="91630" y2="38421"/>
                              <a14:backgroundMark x1="90326" y1="37053" x2="92609" y2="38947"/>
                              <a14:backgroundMark x1="92609" y1="39789" x2="92283" y2="39263"/>
                              <a14:backgroundMark x1="76957" y1="57053" x2="77609" y2="56737"/>
                              <a14:backgroundMark x1="14130" y1="83579" x2="26957" y2="86737"/>
                              <a14:backgroundMark x1="27935" y1="87263" x2="26957" y2="87368"/>
                              <a14:backgroundMark x1="13587" y1="85263" x2="13587" y2="84632"/>
                              <a14:backgroundMark x1="25761" y1="87474" x2="26848" y2="87368"/>
                              <a14:backgroundMark x1="13370" y1="84842" x2="13370" y2="84737"/>
                              <a14:backgroundMark x1="13152" y1="84947" x2="13043" y2="84842"/>
                              <a14:backgroundMark x1="13261" y1="85053" x2="13152" y2="84842"/>
                              <a14:backgroundMark x1="13152" y1="84842" x2="13370" y2="8410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786812" y="1550634"/>
                  <a:ext cx="341153" cy="3522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2120" name="Rectángulo 2119">
                <a:extLst>
                  <a:ext uri="{FF2B5EF4-FFF2-40B4-BE49-F238E27FC236}">
                    <a16:creationId xmlns:a16="http://schemas.microsoft.com/office/drawing/2014/main" id="{F5307FFA-3796-7002-C9AB-394ED0E1F5CC}"/>
                  </a:ext>
                </a:extLst>
              </p:cNvPr>
              <p:cNvSpPr/>
              <p:nvPr/>
            </p:nvSpPr>
            <p:spPr>
              <a:xfrm>
                <a:off x="12737977" y="3402686"/>
                <a:ext cx="411504" cy="19095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100" b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VER</a:t>
                </a:r>
                <a:r>
                  <a:rPr lang="es-MX" b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</a:t>
                </a:r>
              </a:p>
            </p:txBody>
          </p:sp>
        </p:grpSp>
        <p:pic>
          <p:nvPicPr>
            <p:cNvPr id="2099" name="Imagen 2098">
              <a:extLst>
                <a:ext uri="{FF2B5EF4-FFF2-40B4-BE49-F238E27FC236}">
                  <a16:creationId xmlns:a16="http://schemas.microsoft.com/office/drawing/2014/main" id="{5E20E625-0473-E945-86F2-927DAED84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50424" y="3700032"/>
              <a:ext cx="3474972" cy="1232763"/>
            </a:xfrm>
            <a:prstGeom prst="rect">
              <a:avLst/>
            </a:prstGeom>
          </p:spPr>
        </p:pic>
        <p:sp>
          <p:nvSpPr>
            <p:cNvPr id="2100" name="CuadroTexto 2099">
              <a:extLst>
                <a:ext uri="{FF2B5EF4-FFF2-40B4-BE49-F238E27FC236}">
                  <a16:creationId xmlns:a16="http://schemas.microsoft.com/office/drawing/2014/main" id="{95ADF0EF-1EAD-4052-FEBB-31C93F3E2647}"/>
                </a:ext>
              </a:extLst>
            </p:cNvPr>
            <p:cNvSpPr txBox="1"/>
            <p:nvPr/>
          </p:nvSpPr>
          <p:spPr>
            <a:xfrm>
              <a:off x="9861672" y="3763928"/>
              <a:ext cx="278493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/>
                <a:t>Fecha de Solicitud:01/07/2025</a:t>
              </a:r>
            </a:p>
            <a:p>
              <a:r>
                <a:rPr lang="es-MX" sz="1600" b="1"/>
                <a:t>Especie: Chrysopas</a:t>
              </a:r>
            </a:p>
            <a:p>
              <a:r>
                <a:rPr lang="es-MX" sz="1600" b="1"/>
                <a:t>Estado: Entregado</a:t>
              </a:r>
              <a:endParaRPr lang="es-PE" sz="1600" b="1"/>
            </a:p>
          </p:txBody>
        </p:sp>
        <p:sp>
          <p:nvSpPr>
            <p:cNvPr id="2101" name="Rectángulo 2100">
              <a:extLst>
                <a:ext uri="{FF2B5EF4-FFF2-40B4-BE49-F238E27FC236}">
                  <a16:creationId xmlns:a16="http://schemas.microsoft.com/office/drawing/2014/main" id="{A753168F-9286-B753-E5C6-E9A0645CC8D4}"/>
                </a:ext>
              </a:extLst>
            </p:cNvPr>
            <p:cNvSpPr/>
            <p:nvPr/>
          </p:nvSpPr>
          <p:spPr>
            <a:xfrm>
              <a:off x="12500230" y="4551428"/>
              <a:ext cx="407889" cy="208439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100" b="1">
                  <a:solidFill>
                    <a:schemeClr val="tx1"/>
                  </a:solidFill>
                  <a:latin typeface="Abadi Extra Light" panose="020B0204020104020204" pitchFamily="34" charset="0"/>
                </a:rPr>
                <a:t>VER</a:t>
              </a:r>
              <a:r>
                <a:rPr lang="es-MX" b="1">
                  <a:solidFill>
                    <a:schemeClr val="tx1"/>
                  </a:solidFill>
                  <a:latin typeface="Abadi Extra Light" panose="020B0204020104020204" pitchFamily="34" charset="0"/>
                </a:rPr>
                <a:t> </a:t>
              </a:r>
            </a:p>
          </p:txBody>
        </p:sp>
        <p:sp>
          <p:nvSpPr>
            <p:cNvPr id="2102" name="CuadroTexto 2101">
              <a:extLst>
                <a:ext uri="{FF2B5EF4-FFF2-40B4-BE49-F238E27FC236}">
                  <a16:creationId xmlns:a16="http://schemas.microsoft.com/office/drawing/2014/main" id="{1ABF0A25-B7ED-4D6E-3DA6-F7EB3FC41E1D}"/>
                </a:ext>
              </a:extLst>
            </p:cNvPr>
            <p:cNvSpPr txBox="1"/>
            <p:nvPr/>
          </p:nvSpPr>
          <p:spPr>
            <a:xfrm>
              <a:off x="9861672" y="2642878"/>
              <a:ext cx="283252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 dirty="0"/>
                <a:t>Fecha de Solicitud: 08/07/2025</a:t>
              </a:r>
            </a:p>
            <a:p>
              <a:r>
                <a:rPr lang="es-MX" sz="1600" b="1" dirty="0"/>
                <a:t>Especie: </a:t>
              </a:r>
              <a:r>
                <a:rPr lang="es-MX" sz="1600" b="1" dirty="0" err="1"/>
                <a:t>Chrysopas</a:t>
              </a:r>
              <a:endParaRPr lang="es-MX" sz="1600" b="1" dirty="0"/>
            </a:p>
            <a:p>
              <a:r>
                <a:rPr lang="es-MX" sz="1600" b="1" dirty="0"/>
                <a:t>Estado: Aprobado  </a:t>
              </a:r>
            </a:p>
            <a:p>
              <a:endParaRPr lang="es-PE" sz="1600" b="1" dirty="0"/>
            </a:p>
          </p:txBody>
        </p:sp>
        <p:sp>
          <p:nvSpPr>
            <p:cNvPr id="2105" name="CuadroTexto 2104">
              <a:extLst>
                <a:ext uri="{FF2B5EF4-FFF2-40B4-BE49-F238E27FC236}">
                  <a16:creationId xmlns:a16="http://schemas.microsoft.com/office/drawing/2014/main" id="{E902B4AD-7E4B-B4C1-8415-9D2D6D7A74BF}"/>
                </a:ext>
              </a:extLst>
            </p:cNvPr>
            <p:cNvSpPr txBox="1"/>
            <p:nvPr/>
          </p:nvSpPr>
          <p:spPr>
            <a:xfrm>
              <a:off x="9726176" y="2102314"/>
              <a:ext cx="1155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FECHA:</a:t>
              </a:r>
              <a:endParaRPr lang="es-PE" sz="1600" b="1"/>
            </a:p>
          </p:txBody>
        </p:sp>
        <p:pic>
          <p:nvPicPr>
            <p:cNvPr id="2117" name="Imagen 2116">
              <a:extLst>
                <a:ext uri="{FF2B5EF4-FFF2-40B4-BE49-F238E27FC236}">
                  <a16:creationId xmlns:a16="http://schemas.microsoft.com/office/drawing/2014/main" id="{B7712608-9C28-4A9D-74B7-A35BF338E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14140" y="3368018"/>
              <a:ext cx="258549" cy="259201"/>
            </a:xfrm>
            <a:prstGeom prst="rect">
              <a:avLst/>
            </a:prstGeom>
          </p:spPr>
        </p:pic>
        <p:pic>
          <p:nvPicPr>
            <p:cNvPr id="2118" name="Imagen 2117">
              <a:extLst>
                <a:ext uri="{FF2B5EF4-FFF2-40B4-BE49-F238E27FC236}">
                  <a16:creationId xmlns:a16="http://schemas.microsoft.com/office/drawing/2014/main" id="{DCBF5F35-5F58-3C29-1AD4-393170540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84865" y="4515896"/>
              <a:ext cx="258549" cy="259201"/>
            </a:xfrm>
            <a:prstGeom prst="rect">
              <a:avLst/>
            </a:prstGeom>
          </p:spPr>
        </p:pic>
      </p:grpSp>
      <p:pic>
        <p:nvPicPr>
          <p:cNvPr id="31" name="Imagen 30">
            <a:extLst>
              <a:ext uri="{FF2B5EF4-FFF2-40B4-BE49-F238E27FC236}">
                <a16:creationId xmlns:a16="http://schemas.microsoft.com/office/drawing/2014/main" id="{19675BD9-D6D5-488C-3E95-36879D5E73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04586" y="2376443"/>
            <a:ext cx="1824903" cy="355870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250D610C-7F64-9558-42FE-115E08217650}"/>
              </a:ext>
            </a:extLst>
          </p:cNvPr>
          <p:cNvGrpSpPr/>
          <p:nvPr/>
        </p:nvGrpSpPr>
        <p:grpSpPr>
          <a:xfrm>
            <a:off x="5759413" y="201412"/>
            <a:ext cx="6986000" cy="9716364"/>
            <a:chOff x="5759413" y="201412"/>
            <a:chExt cx="6986000" cy="9716364"/>
          </a:xfrm>
        </p:grpSpPr>
        <p:grpSp>
          <p:nvGrpSpPr>
            <p:cNvPr id="111" name="Grupo 110">
              <a:extLst>
                <a:ext uri="{FF2B5EF4-FFF2-40B4-BE49-F238E27FC236}">
                  <a16:creationId xmlns:a16="http://schemas.microsoft.com/office/drawing/2014/main" id="{ACDF1CC7-C02C-08B8-6271-1249991ED587}"/>
                </a:ext>
              </a:extLst>
            </p:cNvPr>
            <p:cNvGrpSpPr/>
            <p:nvPr/>
          </p:nvGrpSpPr>
          <p:grpSpPr>
            <a:xfrm>
              <a:off x="5759413" y="201412"/>
              <a:ext cx="6986000" cy="9716364"/>
              <a:chOff x="9533693" y="-13716"/>
              <a:chExt cx="6986000" cy="9716364"/>
            </a:xfrm>
          </p:grpSpPr>
          <p:grpSp>
            <p:nvGrpSpPr>
              <p:cNvPr id="75" name="Grupo 74">
                <a:extLst>
                  <a:ext uri="{FF2B5EF4-FFF2-40B4-BE49-F238E27FC236}">
                    <a16:creationId xmlns:a16="http://schemas.microsoft.com/office/drawing/2014/main" id="{5C6775B8-2DDF-A3C8-04EE-0DE76777BD60}"/>
                  </a:ext>
                </a:extLst>
              </p:cNvPr>
              <p:cNvGrpSpPr/>
              <p:nvPr/>
            </p:nvGrpSpPr>
            <p:grpSpPr>
              <a:xfrm>
                <a:off x="9533693" y="1248414"/>
                <a:ext cx="3865418" cy="7061154"/>
                <a:chOff x="9698670" y="1248414"/>
                <a:chExt cx="3865418" cy="7061154"/>
              </a:xfrm>
            </p:grpSpPr>
            <p:grpSp>
              <p:nvGrpSpPr>
                <p:cNvPr id="45" name="Grupo 44">
                  <a:extLst>
                    <a:ext uri="{FF2B5EF4-FFF2-40B4-BE49-F238E27FC236}">
                      <a16:creationId xmlns:a16="http://schemas.microsoft.com/office/drawing/2014/main" id="{A210F44C-47EB-FF46-9A71-4932E365BE16}"/>
                    </a:ext>
                  </a:extLst>
                </p:cNvPr>
                <p:cNvGrpSpPr/>
                <p:nvPr/>
              </p:nvGrpSpPr>
              <p:grpSpPr>
                <a:xfrm>
                  <a:off x="9698670" y="1248414"/>
                  <a:ext cx="3865418" cy="7061154"/>
                  <a:chOff x="9344819" y="1270548"/>
                  <a:chExt cx="3865418" cy="7061154"/>
                </a:xfrm>
              </p:grpSpPr>
              <p:grpSp>
                <p:nvGrpSpPr>
                  <p:cNvPr id="46" name="Grupo 45">
                    <a:extLst>
                      <a:ext uri="{FF2B5EF4-FFF2-40B4-BE49-F238E27FC236}">
                        <a16:creationId xmlns:a16="http://schemas.microsoft.com/office/drawing/2014/main" id="{18B66306-F86C-528F-3CD8-D194FDFC1A88}"/>
                      </a:ext>
                    </a:extLst>
                  </p:cNvPr>
                  <p:cNvGrpSpPr/>
                  <p:nvPr/>
                </p:nvGrpSpPr>
                <p:grpSpPr>
                  <a:xfrm>
                    <a:off x="9344819" y="1270548"/>
                    <a:ext cx="3865418" cy="7061154"/>
                    <a:chOff x="7322128" y="1054648"/>
                    <a:chExt cx="3865418" cy="7061154"/>
                  </a:xfrm>
                </p:grpSpPr>
                <p:grpSp>
                  <p:nvGrpSpPr>
                    <p:cNvPr id="48" name="Grupo 47">
                      <a:extLst>
                        <a:ext uri="{FF2B5EF4-FFF2-40B4-BE49-F238E27FC236}">
                          <a16:creationId xmlns:a16="http://schemas.microsoft.com/office/drawing/2014/main" id="{F24FAF1E-6397-DBB3-C154-CFC207B1CC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322128" y="1054648"/>
                      <a:ext cx="3865418" cy="7061154"/>
                      <a:chOff x="8833428" y="1270548"/>
                      <a:chExt cx="3865418" cy="7061154"/>
                    </a:xfrm>
                  </p:grpSpPr>
                  <p:pic>
                    <p:nvPicPr>
                      <p:cNvPr id="69" name="Imagen 68">
                        <a:extLst>
                          <a:ext uri="{FF2B5EF4-FFF2-40B4-BE49-F238E27FC236}">
                            <a16:creationId xmlns:a16="http://schemas.microsoft.com/office/drawing/2014/main" id="{738C6A7F-6E90-F0DF-8C38-9C04D73D721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833428" y="1270548"/>
                        <a:ext cx="3865418" cy="7061154"/>
                      </a:xfrm>
                      <a:prstGeom prst="rect">
                        <a:avLst/>
                      </a:prstGeom>
                      <a:ln w="38100" cap="sq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  <a:effectLst>
                        <a:outerShdw blurRad="50800" dist="38100" dir="2700000" algn="tl" rotWithShape="0">
                          <a:srgbClr val="000000">
                            <a:alpha val="43000"/>
                          </a:srgbClr>
                        </a:outerShdw>
                      </a:effectLst>
                    </p:spPr>
                  </p:pic>
                  <p:sp>
                    <p:nvSpPr>
                      <p:cNvPr id="70" name="Rectángulo 69">
                        <a:extLst>
                          <a:ext uri="{FF2B5EF4-FFF2-40B4-BE49-F238E27FC236}">
                            <a16:creationId xmlns:a16="http://schemas.microsoft.com/office/drawing/2014/main" id="{5E57B0E2-F06F-F195-4504-E0C2B85D38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61137" y="1502881"/>
                        <a:ext cx="3810000" cy="471451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3">
                          <a:shade val="50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PE"/>
                      </a:p>
                    </p:txBody>
                  </p:sp>
                  <p:sp>
                    <p:nvSpPr>
                      <p:cNvPr id="71" name="Rectángulo 70">
                        <a:extLst>
                          <a:ext uri="{FF2B5EF4-FFF2-40B4-BE49-F238E27FC236}">
                            <a16:creationId xmlns:a16="http://schemas.microsoft.com/office/drawing/2014/main" id="{BD81F873-6A46-F339-2D67-1AF644515E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50159" y="1562469"/>
                        <a:ext cx="1434667" cy="352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sz="240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Abadi Extra Light" panose="020B0604020202020204" pitchFamily="34" charset="0"/>
                          </a:rPr>
                          <a:t>AGROI+D</a:t>
                        </a:r>
                        <a:endParaRPr lang="es-PE" sz="240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 Extra Light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72" name="Rectángulo 71">
                        <a:extLst>
                          <a:ext uri="{FF2B5EF4-FFF2-40B4-BE49-F238E27FC236}">
                            <a16:creationId xmlns:a16="http://schemas.microsoft.com/office/drawing/2014/main" id="{C6A08A3F-0ABD-1313-EC9F-939BB6276A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029337" y="2184034"/>
                        <a:ext cx="3474972" cy="360799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PE"/>
                      </a:p>
                    </p:txBody>
                  </p:sp>
                </p:grpSp>
                <p:pic>
                  <p:nvPicPr>
                    <p:cNvPr id="56" name="Imagen 55">
                      <a:extLst>
                        <a:ext uri="{FF2B5EF4-FFF2-40B4-BE49-F238E27FC236}">
                          <a16:creationId xmlns:a16="http://schemas.microsoft.com/office/drawing/2014/main" id="{5F6D4F45-6183-B54D-FA64-F6E81945020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7454394" y="2397218"/>
                      <a:ext cx="3474972" cy="1138801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47" name="Picture 4" descr="Gráficos escalables iconos de computadora gráficos de red portátiles, icono  de salida, cdr, texto, icono de salida png | PNGWing">
                    <a:extLst>
                      <a:ext uri="{FF2B5EF4-FFF2-40B4-BE49-F238E27FC236}">
                        <a16:creationId xmlns:a16="http://schemas.microsoft.com/office/drawing/2014/main" id="{5326116C-4308-1474-350A-582259F5399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ackgroundRemoval t="1895" b="96632" l="543" r="97283">
                                <a14:foregroundMark x1="50042" y1="12244" x2="36739" y2="5895"/>
                                <a14:foregroundMark x1="57985" y1="16034" x2="57540" y2="15821"/>
                                <a14:foregroundMark x1="59239" y1="16632" x2="58355" y2="16210"/>
                                <a14:foregroundMark x1="36739" y1="5895" x2="20435" y2="7158"/>
                                <a14:foregroundMark x1="12737" y1="15836" x2="6522" y2="22842"/>
                                <a14:foregroundMark x1="20435" y1="7158" x2="15617" y2="12589"/>
                                <a14:foregroundMark x1="6522" y1="22842" x2="5435" y2="74421"/>
                                <a14:foregroundMark x1="5435" y1="74421" x2="11957" y2="90842"/>
                                <a14:foregroundMark x1="11957" y1="90842" x2="33587" y2="94947"/>
                                <a14:foregroundMark x1="33587" y1="94947" x2="55435" y2="90526"/>
                                <a14:foregroundMark x1="55435" y1="90526" x2="63043" y2="80000"/>
                                <a14:foregroundMark x1="44565" y1="47263" x2="78696" y2="44632"/>
                                <a14:foregroundMark x1="77496" y1="56958" x2="76739" y2="64737"/>
                                <a14:foregroundMark x1="78696" y1="44632" x2="77613" y2="55759"/>
                                <a14:foregroundMark x1="76739" y1="64737" x2="95000" y2="53684"/>
                                <a14:foregroundMark x1="95000" y1="53684" x2="79239" y2="39368"/>
                                <a14:foregroundMark x1="79239" y1="39368" x2="77065" y2="35895"/>
                                <a14:foregroundMark x1="79130" y1="47579" x2="38804" y2="50632"/>
                                <a14:foregroundMark x1="38804" y1="50632" x2="81630" y2="47789"/>
                                <a14:foregroundMark x1="81630" y1="47789" x2="82500" y2="47789"/>
                                <a14:foregroundMark x1="75870" y1="41158" x2="90479" y2="39510"/>
                                <a14:foregroundMark x1="91797" y1="39625" x2="94783" y2="52737"/>
                                <a14:foregroundMark x1="97065" y1="49579" x2="97391" y2="52105"/>
                                <a14:foregroundMark x1="54365" y1="11816" x2="43913" y2="2526"/>
                                <a14:foregroundMark x1="59072" y1="16000" x2="57962" y2="15013"/>
                                <a14:foregroundMark x1="59783" y1="16632" x2="59072" y2="16000"/>
                                <a14:foregroundMark x1="43913" y1="2526" x2="15761" y2="3579"/>
                                <a14:foregroundMark x1="15761" y1="3579" x2="1413" y2="14842"/>
                                <a14:foregroundMark x1="1413" y1="14842" x2="978" y2="72737"/>
                                <a14:foregroundMark x1="978" y1="72737" x2="9783" y2="23579"/>
                                <a14:foregroundMark x1="23895" y1="12054" x2="24348" y2="11684"/>
                                <a14:foregroundMark x1="9783" y1="23579" x2="12657" y2="21232"/>
                                <a14:foregroundMark x1="56397" y1="12187" x2="57935" y2="12211"/>
                                <a14:foregroundMark x1="24348" y1="11684" x2="49938" y2="12086"/>
                                <a14:foregroundMark x1="58952" y1="14352" x2="60435" y2="17474"/>
                                <a14:foregroundMark x1="57935" y1="12211" x2="58861" y2="14161"/>
                                <a14:foregroundMark x1="61630" y1="17789" x2="53043" y2="3579"/>
                                <a14:foregroundMark x1="53043" y1="3579" x2="45543" y2="4947"/>
                                <a14:foregroundMark x1="53587" y1="1895" x2="67283" y2="9368"/>
                                <a14:foregroundMark x1="67283" y1="9368" x2="60978" y2="9474"/>
                                <a14:foregroundMark x1="8261" y1="8421" x2="217" y2="51579"/>
                                <a14:foregroundMark x1="217" y1="51579" x2="1087" y2="72000"/>
                                <a14:foregroundMark x1="1087" y1="72000" x2="9891" y2="34211"/>
                                <a14:foregroundMark x1="3261" y1="77684" x2="9239" y2="96842"/>
                                <a14:foregroundMark x1="9239" y1="96842" x2="35652" y2="98737"/>
                                <a14:foregroundMark x1="35652" y1="98737" x2="55435" y2="94000"/>
                                <a14:foregroundMark x1="55435" y1="94000" x2="67609" y2="84211"/>
                                <a14:foregroundMark x1="67609" y1="84211" x2="51413" y2="92632"/>
                                <a14:foregroundMark x1="13242" y1="84716" x2="652" y2="82105"/>
                                <a14:foregroundMark x1="27115" y1="87593" x2="26755" y2="87518"/>
                                <a14:foregroundMark x1="51413" y1="92632" x2="28349" y2="87849"/>
                                <a14:foregroundMark x1="652" y1="82105" x2="1304" y2="79579"/>
                                <a14:foregroundMark x1="21630" y1="94632" x2="47065" y2="96632"/>
                                <a14:foregroundMark x1="47065" y1="96632" x2="65000" y2="90211"/>
                                <a14:foregroundMark x1="65000" y1="90211" x2="69022" y2="86947"/>
                                <a14:backgroundMark x1="52717" y1="18842" x2="22500" y2="24105"/>
                                <a14:backgroundMark x1="22500" y1="24105" x2="20326" y2="44632"/>
                                <a14:backgroundMark x1="20326" y1="44632" x2="28913" y2="62842"/>
                                <a14:backgroundMark x1="28913" y1="62842" x2="42500" y2="70105"/>
                                <a14:backgroundMark x1="42500" y1="70105" x2="58152" y2="64105"/>
                                <a14:backgroundMark x1="58152" y1="64105" x2="72717" y2="74947"/>
                                <a14:backgroundMark x1="72717" y1="74947" x2="72717" y2="75053"/>
                                <a14:backgroundMark x1="24783" y1="14737" x2="14565" y2="20947"/>
                                <a14:backgroundMark x1="22391" y1="14526" x2="14348" y2="19579"/>
                                <a14:backgroundMark x1="51196" y1="13895" x2="56413" y2="16421"/>
                                <a14:backgroundMark x1="56630" y1="16421" x2="57391" y2="16105"/>
                                <a14:backgroundMark x1="57609" y1="17474" x2="55978" y2="13368"/>
                                <a14:backgroundMark x1="52065" y1="13053" x2="51304" y2="12947"/>
                                <a14:backgroundMark x1="55109" y1="13158" x2="57283" y2="16211"/>
                                <a14:backgroundMark x1="57065" y1="14632" x2="57283" y2="16000"/>
                                <a14:backgroundMark x1="57065" y1="15579" x2="57500" y2="15579"/>
                                <a14:backgroundMark x1="57500" y1="16000" x2="57500" y2="16000"/>
                                <a14:backgroundMark x1="57609" y1="16105" x2="57500" y2="15474"/>
                                <a14:backgroundMark x1="58043" y1="16211" x2="58043" y2="15263"/>
                                <a14:backgroundMark x1="57826" y1="15053" x2="57717" y2="14842"/>
                                <a14:backgroundMark x1="56413" y1="13579" x2="50652" y2="12526"/>
                                <a14:backgroundMark x1="51087" y1="12842" x2="50435" y2="12842"/>
                                <a14:backgroundMark x1="24674" y1="13263" x2="21304" y2="13158"/>
                                <a14:backgroundMark x1="15326" y1="13158" x2="13587" y2="15789"/>
                                <a14:backgroundMark x1="13587" y1="18632" x2="13478" y2="21263"/>
                                <a14:backgroundMark x1="16304" y1="13158" x2="12935" y2="16000"/>
                                <a14:backgroundMark x1="15870" y1="12842" x2="15870" y2="13053"/>
                                <a14:backgroundMark x1="92283" y1="39789" x2="91848" y2="39263"/>
                                <a14:backgroundMark x1="91087" y1="37263" x2="91848" y2="38421"/>
                                <a14:backgroundMark x1="92717" y1="39368" x2="91522" y2="38632"/>
                                <a14:backgroundMark x1="92283" y1="39368" x2="91630" y2="38421"/>
                                <a14:backgroundMark x1="90326" y1="37053" x2="92609" y2="38947"/>
                                <a14:backgroundMark x1="92609" y1="39789" x2="92283" y2="39263"/>
                                <a14:backgroundMark x1="76957" y1="57053" x2="77609" y2="56737"/>
                                <a14:backgroundMark x1="14130" y1="83579" x2="26957" y2="86737"/>
                                <a14:backgroundMark x1="27935" y1="87263" x2="26957" y2="87368"/>
                                <a14:backgroundMark x1="13587" y1="85263" x2="13587" y2="84632"/>
                                <a14:backgroundMark x1="25761" y1="87474" x2="26848" y2="87368"/>
                                <a14:backgroundMark x1="13370" y1="84842" x2="13370" y2="84737"/>
                                <a14:backgroundMark x1="13152" y1="84947" x2="13043" y2="84842"/>
                                <a14:backgroundMark x1="13261" y1="85053" x2="13152" y2="84842"/>
                                <a14:backgroundMark x1="13152" y1="84842" x2="13370" y2="84105"/>
                              </a14:backgroundRemoval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2786812" y="1550634"/>
                    <a:ext cx="341153" cy="35227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sp>
              <p:nvSpPr>
                <p:cNvPr id="74" name="Rectángulo 73">
                  <a:extLst>
                    <a:ext uri="{FF2B5EF4-FFF2-40B4-BE49-F238E27FC236}">
                      <a16:creationId xmlns:a16="http://schemas.microsoft.com/office/drawing/2014/main" id="{5A6DB7C8-0592-E886-928D-C5166D207C0F}"/>
                    </a:ext>
                  </a:extLst>
                </p:cNvPr>
                <p:cNvSpPr/>
                <p:nvPr/>
              </p:nvSpPr>
              <p:spPr>
                <a:xfrm>
                  <a:off x="12737977" y="3402686"/>
                  <a:ext cx="411504" cy="190959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sz="1100" b="1">
                      <a:solidFill>
                        <a:schemeClr val="tx1"/>
                      </a:solidFill>
                      <a:latin typeface="Abadi Extra Light" panose="020B0204020104020204" pitchFamily="34" charset="0"/>
                    </a:rPr>
                    <a:t>VER</a:t>
                  </a:r>
                  <a:r>
                    <a:rPr lang="es-MX" b="1">
                      <a:solidFill>
                        <a:schemeClr val="tx1"/>
                      </a:solidFill>
                      <a:latin typeface="Abadi Extra Light" panose="020B0204020104020204" pitchFamily="34" charset="0"/>
                    </a:rPr>
                    <a:t> </a:t>
                  </a:r>
                </a:p>
              </p:txBody>
            </p:sp>
          </p:grpSp>
          <p:pic>
            <p:nvPicPr>
              <p:cNvPr id="77" name="Imagen 76">
                <a:extLst>
                  <a:ext uri="{FF2B5EF4-FFF2-40B4-BE49-F238E27FC236}">
                    <a16:creationId xmlns:a16="http://schemas.microsoft.com/office/drawing/2014/main" id="{01D591BF-EE57-C5C5-C96B-450F056E32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50424" y="3700032"/>
                <a:ext cx="3474972" cy="1269018"/>
              </a:xfrm>
              <a:prstGeom prst="rect">
                <a:avLst/>
              </a:prstGeom>
            </p:spPr>
          </p:pic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D731E2FF-0C5C-42F7-0EB8-0FE5820D285B}"/>
                  </a:ext>
                </a:extLst>
              </p:cNvPr>
              <p:cNvSpPr txBox="1"/>
              <p:nvPr/>
            </p:nvSpPr>
            <p:spPr>
              <a:xfrm>
                <a:off x="9861672" y="3763928"/>
                <a:ext cx="278493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600" b="1" dirty="0"/>
                  <a:t>Fecha de Solicitud:01/07/2025</a:t>
                </a:r>
              </a:p>
              <a:p>
                <a:r>
                  <a:rPr lang="es-MX" sz="1600" b="1" dirty="0"/>
                  <a:t>Especie: </a:t>
                </a:r>
                <a:r>
                  <a:rPr lang="es-MX" sz="1600" b="1" dirty="0" err="1"/>
                  <a:t>Chrysopas</a:t>
                </a:r>
                <a:endParaRPr lang="es-MX" sz="1600" b="1" dirty="0"/>
              </a:p>
              <a:p>
                <a:r>
                  <a:rPr lang="es-MX" sz="1600" b="1" dirty="0"/>
                  <a:t>Estado: Entregado</a:t>
                </a:r>
                <a:endParaRPr lang="es-PE" sz="1600" b="1" dirty="0"/>
              </a:p>
            </p:txBody>
          </p:sp>
          <p:sp>
            <p:nvSpPr>
              <p:cNvPr id="79" name="Rectángulo 78">
                <a:extLst>
                  <a:ext uri="{FF2B5EF4-FFF2-40B4-BE49-F238E27FC236}">
                    <a16:creationId xmlns:a16="http://schemas.microsoft.com/office/drawing/2014/main" id="{226CCE0A-957A-6149-50BF-9B109635C093}"/>
                  </a:ext>
                </a:extLst>
              </p:cNvPr>
              <p:cNvSpPr/>
              <p:nvPr/>
            </p:nvSpPr>
            <p:spPr>
              <a:xfrm>
                <a:off x="12529258" y="4580456"/>
                <a:ext cx="407889" cy="20843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100" b="1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VER</a:t>
                </a:r>
                <a:r>
                  <a:rPr lang="es-MX" b="1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 </a:t>
                </a:r>
              </a:p>
            </p:txBody>
          </p:sp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737D491A-3A8B-59FA-57C4-D40E0D69744E}"/>
                  </a:ext>
                </a:extLst>
              </p:cNvPr>
              <p:cNvSpPr txBox="1"/>
              <p:nvPr/>
            </p:nvSpPr>
            <p:spPr>
              <a:xfrm>
                <a:off x="9861672" y="2642878"/>
                <a:ext cx="2832524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600" b="1"/>
                  <a:t>Fecha de Solicitud: 08/07/2025</a:t>
                </a:r>
              </a:p>
              <a:p>
                <a:r>
                  <a:rPr lang="es-MX" sz="1600" b="1"/>
                  <a:t>Especie: Chrysopas</a:t>
                </a:r>
              </a:p>
              <a:p>
                <a:r>
                  <a:rPr lang="es-MX" sz="1600" b="1"/>
                  <a:t>Estado: Aprobado  </a:t>
                </a:r>
              </a:p>
              <a:p>
                <a:endParaRPr lang="es-PE" sz="1600" b="1"/>
              </a:p>
            </p:txBody>
          </p:sp>
          <p:pic>
            <p:nvPicPr>
              <p:cNvPr id="86" name="Imagen 85">
                <a:extLst>
                  <a:ext uri="{FF2B5EF4-FFF2-40B4-BE49-F238E27FC236}">
                    <a16:creationId xmlns:a16="http://schemas.microsoft.com/office/drawing/2014/main" id="{01AD3ABA-901B-A155-F61B-7B53A3C02F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03906" y="3184235"/>
                <a:ext cx="216956" cy="218451"/>
              </a:xfrm>
              <a:prstGeom prst="rect">
                <a:avLst/>
              </a:prstGeom>
            </p:spPr>
          </p:pic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55F156AF-19F7-A0B8-EE66-891BEACCC2C6}"/>
                  </a:ext>
                </a:extLst>
              </p:cNvPr>
              <p:cNvSpPr txBox="1"/>
              <p:nvPr/>
            </p:nvSpPr>
            <p:spPr>
              <a:xfrm>
                <a:off x="9726176" y="2102314"/>
                <a:ext cx="1155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600" b="1"/>
                  <a:t>FECHA:</a:t>
                </a:r>
                <a:endParaRPr lang="es-PE" sz="1600" b="1"/>
              </a:p>
            </p:txBody>
          </p:sp>
          <p:sp>
            <p:nvSpPr>
              <p:cNvPr id="93" name="Rectángulo 92">
                <a:extLst>
                  <a:ext uri="{FF2B5EF4-FFF2-40B4-BE49-F238E27FC236}">
                    <a16:creationId xmlns:a16="http://schemas.microsoft.com/office/drawing/2014/main" id="{59653C94-5D7F-3071-EFEF-7E94A340ABCE}"/>
                  </a:ext>
                </a:extLst>
              </p:cNvPr>
              <p:cNvSpPr/>
              <p:nvPr/>
            </p:nvSpPr>
            <p:spPr>
              <a:xfrm>
                <a:off x="9726176" y="2073311"/>
                <a:ext cx="3344504" cy="405889"/>
              </a:xfrm>
              <a:prstGeom prst="rect">
                <a:avLst/>
              </a:prstGeom>
              <a:noFill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5F5BB09C-2098-CBA4-1B5F-C4A947C99BE8}"/>
                  </a:ext>
                </a:extLst>
              </p:cNvPr>
              <p:cNvSpPr txBox="1"/>
              <p:nvPr/>
            </p:nvSpPr>
            <p:spPr>
              <a:xfrm>
                <a:off x="11761977" y="-13716"/>
                <a:ext cx="4757716" cy="92333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MX" dirty="0"/>
                  <a:t>El campo de fecha debe ser editable y permitir la selección de fechas anteriores a la actual. Además de poder seleccionar de forma semanal.</a:t>
                </a:r>
                <a:endParaRPr lang="es-PE" dirty="0"/>
              </a:p>
            </p:txBody>
          </p:sp>
          <p:sp>
            <p:nvSpPr>
              <p:cNvPr id="97" name="Rectángulo 96">
                <a:extLst>
                  <a:ext uri="{FF2B5EF4-FFF2-40B4-BE49-F238E27FC236}">
                    <a16:creationId xmlns:a16="http://schemas.microsoft.com/office/drawing/2014/main" id="{2041B241-06F4-AC05-5794-E0475CD9CEF7}"/>
                  </a:ext>
                </a:extLst>
              </p:cNvPr>
              <p:cNvSpPr/>
              <p:nvPr/>
            </p:nvSpPr>
            <p:spPr>
              <a:xfrm>
                <a:off x="9717602" y="2578118"/>
                <a:ext cx="3407794" cy="2546818"/>
              </a:xfrm>
              <a:prstGeom prst="rect">
                <a:avLst/>
              </a:prstGeom>
              <a:noFill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100" name="CuadroTexto 99">
                <a:extLst>
                  <a:ext uri="{FF2B5EF4-FFF2-40B4-BE49-F238E27FC236}">
                    <a16:creationId xmlns:a16="http://schemas.microsoft.com/office/drawing/2014/main" id="{8321D470-D2CF-08A7-5EC9-3F06B0E4D583}"/>
                  </a:ext>
                </a:extLst>
              </p:cNvPr>
              <p:cNvSpPr txBox="1"/>
              <p:nvPr/>
            </p:nvSpPr>
            <p:spPr>
              <a:xfrm>
                <a:off x="13604837" y="3614917"/>
                <a:ext cx="1534034" cy="1200329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MX" dirty="0"/>
                  <a:t>Resumen del registro del requerimiento solicitado</a:t>
                </a:r>
              </a:p>
            </p:txBody>
          </p:sp>
          <p:sp>
            <p:nvSpPr>
              <p:cNvPr id="101" name="Rectángulo 100">
                <a:extLst>
                  <a:ext uri="{FF2B5EF4-FFF2-40B4-BE49-F238E27FC236}">
                    <a16:creationId xmlns:a16="http://schemas.microsoft.com/office/drawing/2014/main" id="{C02316CA-D2DD-9B91-9383-85DD8BBBFCF0}"/>
                  </a:ext>
                </a:extLst>
              </p:cNvPr>
              <p:cNvSpPr/>
              <p:nvPr/>
            </p:nvSpPr>
            <p:spPr>
              <a:xfrm>
                <a:off x="12459002" y="4537643"/>
                <a:ext cx="515742" cy="287419"/>
              </a:xfrm>
              <a:prstGeom prst="rect">
                <a:avLst/>
              </a:prstGeom>
              <a:noFill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cxnSp>
            <p:nvCxnSpPr>
              <p:cNvPr id="105" name="Conector recto de flecha 104">
                <a:extLst>
                  <a:ext uri="{FF2B5EF4-FFF2-40B4-BE49-F238E27FC236}">
                    <a16:creationId xmlns:a16="http://schemas.microsoft.com/office/drawing/2014/main" id="{9E42E343-E6CF-A15E-CBF0-43F643ACAFBE}"/>
                  </a:ext>
                </a:extLst>
              </p:cNvPr>
              <p:cNvCxnSpPr>
                <a:cxnSpLocks/>
                <a:stCxn id="107" idx="0"/>
                <a:endCxn id="101" idx="2"/>
              </p:cNvCxnSpPr>
              <p:nvPr/>
            </p:nvCxnSpPr>
            <p:spPr>
              <a:xfrm flipH="1" flipV="1">
                <a:off x="12716873" y="4825062"/>
                <a:ext cx="16329" cy="367725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07" name="CuadroTexto 106">
                <a:extLst>
                  <a:ext uri="{FF2B5EF4-FFF2-40B4-BE49-F238E27FC236}">
                    <a16:creationId xmlns:a16="http://schemas.microsoft.com/office/drawing/2014/main" id="{F2F16C18-9C09-D179-42A7-592D045124DA}"/>
                  </a:ext>
                </a:extLst>
              </p:cNvPr>
              <p:cNvSpPr txBox="1"/>
              <p:nvPr/>
            </p:nvSpPr>
            <p:spPr>
              <a:xfrm>
                <a:off x="11135764" y="8502319"/>
                <a:ext cx="3194876" cy="1200329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MX" dirty="0"/>
                  <a:t>Al seleccionar el botón “</a:t>
                </a:r>
                <a:r>
                  <a:rPr lang="es-MX" b="1" dirty="0"/>
                  <a:t>VER”</a:t>
                </a:r>
                <a:r>
                  <a:rPr lang="es-MX" dirty="0"/>
                  <a:t> te debe salir una pantalla emergente con los detalles de la solicitud.</a:t>
                </a:r>
              </a:p>
            </p:txBody>
          </p:sp>
          <p:pic>
            <p:nvPicPr>
              <p:cNvPr id="108" name="Imagen 107">
                <a:extLst>
                  <a:ext uri="{FF2B5EF4-FFF2-40B4-BE49-F238E27FC236}">
                    <a16:creationId xmlns:a16="http://schemas.microsoft.com/office/drawing/2014/main" id="{D8FD059B-0C81-300B-0421-1B0E2A3DA7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314140" y="3368018"/>
                <a:ext cx="258549" cy="259201"/>
              </a:xfrm>
              <a:prstGeom prst="rect">
                <a:avLst/>
              </a:prstGeom>
            </p:spPr>
          </p:pic>
          <p:pic>
            <p:nvPicPr>
              <p:cNvPr id="109" name="Imagen 108">
                <a:extLst>
                  <a:ext uri="{FF2B5EF4-FFF2-40B4-BE49-F238E27FC236}">
                    <a16:creationId xmlns:a16="http://schemas.microsoft.com/office/drawing/2014/main" id="{207D9301-74E2-7D54-38BF-11A3F53116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184752" y="4584411"/>
                <a:ext cx="258549" cy="259201"/>
              </a:xfrm>
              <a:prstGeom prst="rect">
                <a:avLst/>
              </a:prstGeom>
            </p:spPr>
          </p:pic>
          <p:cxnSp>
            <p:nvCxnSpPr>
              <p:cNvPr id="95" name="Conector recto de flecha 94">
                <a:extLst>
                  <a:ext uri="{FF2B5EF4-FFF2-40B4-BE49-F238E27FC236}">
                    <a16:creationId xmlns:a16="http://schemas.microsoft.com/office/drawing/2014/main" id="{03221F33-C19A-3572-17A9-FDF8784F7E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081424" y="849256"/>
                <a:ext cx="22823" cy="14786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2129" name="AutoShape 4" descr="Puntero De Clic Táctil Inteligente PNG ,dibujos Cursor Del Ratón, Puntero  Del Mouse De La Computadora, Símbolo Del Mouse PNG y Vector para Descargar  Gratis | Pngtree">
              <a:extLst>
                <a:ext uri="{FF2B5EF4-FFF2-40B4-BE49-F238E27FC236}">
                  <a16:creationId xmlns:a16="http://schemas.microsoft.com/office/drawing/2014/main" id="{91128E41-5EA6-611D-70B3-67A4B96C870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991600" y="49911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/>
            </a:p>
          </p:txBody>
        </p:sp>
        <p:pic>
          <p:nvPicPr>
            <p:cNvPr id="2131" name="Imagen 2130">
              <a:extLst>
                <a:ext uri="{FF2B5EF4-FFF2-40B4-BE49-F238E27FC236}">
                  <a16:creationId xmlns:a16="http://schemas.microsoft.com/office/drawing/2014/main" id="{DB5C4643-D64C-D7F1-6CAF-365F54CF38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5233" t="14388" r="27148" b="24106"/>
            <a:stretch/>
          </p:blipFill>
          <p:spPr>
            <a:xfrm>
              <a:off x="9006700" y="4783360"/>
              <a:ext cx="407047" cy="556704"/>
            </a:xfrm>
            <a:prstGeom prst="rect">
              <a:avLst/>
            </a:prstGeom>
          </p:spPr>
        </p:pic>
        <p:sp>
          <p:nvSpPr>
            <p:cNvPr id="2201" name="Cerrar llave 2200">
              <a:extLst>
                <a:ext uri="{FF2B5EF4-FFF2-40B4-BE49-F238E27FC236}">
                  <a16:creationId xmlns:a16="http://schemas.microsoft.com/office/drawing/2014/main" id="{106396FB-9DB3-2945-CF2B-E982C69DCEA2}"/>
                </a:ext>
              </a:extLst>
            </p:cNvPr>
            <p:cNvSpPr/>
            <p:nvPr/>
          </p:nvSpPr>
          <p:spPr>
            <a:xfrm>
              <a:off x="9354901" y="3418570"/>
              <a:ext cx="453839" cy="1241645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1857421A-81B2-70D1-6201-85B64FB48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667254" y="2328199"/>
              <a:ext cx="1824903" cy="355870"/>
            </a:xfrm>
            <a:prstGeom prst="rect">
              <a:avLst/>
            </a:prstGeom>
          </p:spPr>
        </p:pic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6963EE85-C005-ABB0-AE96-3C09AE146ECB}"/>
                </a:ext>
              </a:extLst>
            </p:cNvPr>
            <p:cNvSpPr txBox="1"/>
            <p:nvPr/>
          </p:nvSpPr>
          <p:spPr>
            <a:xfrm>
              <a:off x="5958548" y="5720051"/>
              <a:ext cx="2014493" cy="2092881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s-MX" sz="1400" dirty="0">
                  <a:latin typeface="Poppins" panose="00000500000000000000" pitchFamily="2" charset="0"/>
                  <a:cs typeface="Poppins" panose="00000500000000000000" pitchFamily="2" charset="0"/>
                </a:rPr>
                <a:t>Cada vez que el </a:t>
              </a:r>
              <a:r>
                <a:rPr lang="es-MX" sz="1400" dirty="0">
                  <a:highlight>
                    <a:srgbClr val="FFFF00"/>
                  </a:highlight>
                  <a:latin typeface="Poppins" panose="00000500000000000000" pitchFamily="2" charset="0"/>
                  <a:cs typeface="Poppins" panose="00000500000000000000" pitchFamily="2" charset="0"/>
                </a:rPr>
                <a:t>administrador</a:t>
              </a:r>
              <a:r>
                <a:rPr lang="es-MX" sz="1400" dirty="0">
                  <a:latin typeface="Poppins" panose="00000500000000000000" pitchFamily="2" charset="0"/>
                  <a:cs typeface="Poppins" panose="00000500000000000000" pitchFamily="2" charset="0"/>
                </a:rPr>
                <a:t>  registre un cambio de estado, se debe notificar al usuario mediante un aviso al correo electrónico del usuario solicitante</a:t>
              </a:r>
              <a:r>
                <a:rPr lang="es-MX" dirty="0"/>
                <a:t>.</a:t>
              </a:r>
              <a:endParaRPr lang="es-PE" dirty="0"/>
            </a:p>
          </p:txBody>
        </p: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B00F2D51-E3ED-8487-1247-14022D6B5D98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H="1" flipV="1">
              <a:off x="6950294" y="4785662"/>
              <a:ext cx="15501" cy="9343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B12C352E-85C8-9279-F352-4006382D003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569" t="10214" r="39364" b="79038"/>
          <a:stretch>
            <a:fillRect/>
          </a:stretch>
        </p:blipFill>
        <p:spPr>
          <a:xfrm>
            <a:off x="6733727" y="2381663"/>
            <a:ext cx="1548102" cy="25376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EAE3B26-530F-AFAA-A768-31D5B372CD0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547" t="24110"/>
          <a:stretch>
            <a:fillRect/>
          </a:stretch>
        </p:blipFill>
        <p:spPr>
          <a:xfrm>
            <a:off x="6726512" y="2677105"/>
            <a:ext cx="2837856" cy="138401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7140108-3423-D0F9-EC11-B36317D99D3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569" t="10214" r="39364" b="79038"/>
          <a:stretch>
            <a:fillRect/>
          </a:stretch>
        </p:blipFill>
        <p:spPr>
          <a:xfrm>
            <a:off x="12492898" y="2397277"/>
            <a:ext cx="1548102" cy="253761"/>
          </a:xfrm>
          <a:prstGeom prst="rect">
            <a:avLst/>
          </a:prstGeom>
        </p:spPr>
      </p:pic>
      <p:sp>
        <p:nvSpPr>
          <p:cNvPr id="92" name="CuadroTexto 91">
            <a:extLst>
              <a:ext uri="{FF2B5EF4-FFF2-40B4-BE49-F238E27FC236}">
                <a16:creationId xmlns:a16="http://schemas.microsoft.com/office/drawing/2014/main" id="{4F0CE082-4D8A-C50E-DC6B-2620BA55E020}"/>
              </a:ext>
            </a:extLst>
          </p:cNvPr>
          <p:cNvSpPr txBox="1"/>
          <p:nvPr/>
        </p:nvSpPr>
        <p:spPr>
          <a:xfrm>
            <a:off x="-60831" y="4482906"/>
            <a:ext cx="133377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Ingresamos</a:t>
            </a:r>
            <a:endParaRPr lang="es-PE" b="1" dirty="0"/>
          </a:p>
        </p:txBody>
      </p:sp>
      <p:sp>
        <p:nvSpPr>
          <p:cNvPr id="102" name="Rectángulo: esquinas redondeadas 101">
            <a:extLst>
              <a:ext uri="{FF2B5EF4-FFF2-40B4-BE49-F238E27FC236}">
                <a16:creationId xmlns:a16="http://schemas.microsoft.com/office/drawing/2014/main" id="{DA2F4894-B7AA-1B63-AA87-7577D9DEE17F}"/>
              </a:ext>
            </a:extLst>
          </p:cNvPr>
          <p:cNvSpPr/>
          <p:nvPr/>
        </p:nvSpPr>
        <p:spPr>
          <a:xfrm>
            <a:off x="14083166" y="4807073"/>
            <a:ext cx="1042753" cy="250913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solidFill>
                  <a:sysClr val="windowText" lastClr="000000"/>
                </a:solidFill>
              </a:rPr>
              <a:t>RECIBIDO</a:t>
            </a:r>
            <a:endParaRPr lang="es-PE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94" name="Rectángulo: esquinas redondeadas 93">
            <a:extLst>
              <a:ext uri="{FF2B5EF4-FFF2-40B4-BE49-F238E27FC236}">
                <a16:creationId xmlns:a16="http://schemas.microsoft.com/office/drawing/2014/main" id="{2B7A64BB-8BE0-B290-C1A0-D8894DFBD9A7}"/>
              </a:ext>
            </a:extLst>
          </p:cNvPr>
          <p:cNvSpPr/>
          <p:nvPr/>
        </p:nvSpPr>
        <p:spPr>
          <a:xfrm>
            <a:off x="7273218" y="4810053"/>
            <a:ext cx="1042753" cy="250913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solidFill>
                  <a:sysClr val="windowText" lastClr="000000"/>
                </a:solidFill>
              </a:rPr>
              <a:t>RECIBIDO</a:t>
            </a:r>
            <a:endParaRPr lang="es-PE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E06DEE3D-CD97-4788-0B25-D18C3A7EEECF}"/>
              </a:ext>
            </a:extLst>
          </p:cNvPr>
          <p:cNvSpPr/>
          <p:nvPr/>
        </p:nvSpPr>
        <p:spPr>
          <a:xfrm>
            <a:off x="6011192" y="4547333"/>
            <a:ext cx="1978414" cy="19274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4" name="Triángulo isósceles 103">
            <a:extLst>
              <a:ext uri="{FF2B5EF4-FFF2-40B4-BE49-F238E27FC236}">
                <a16:creationId xmlns:a16="http://schemas.microsoft.com/office/drawing/2014/main" id="{C0D0BD88-929E-C5FA-F64B-87513593D4E4}"/>
              </a:ext>
            </a:extLst>
          </p:cNvPr>
          <p:cNvSpPr/>
          <p:nvPr/>
        </p:nvSpPr>
        <p:spPr>
          <a:xfrm rot="16200000">
            <a:off x="14779770" y="1265877"/>
            <a:ext cx="2633655" cy="2441683"/>
          </a:xfrm>
          <a:prstGeom prst="triangle">
            <a:avLst>
              <a:gd name="adj" fmla="val 5349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0746D565-BABC-AC3B-C741-244936CF47A7}"/>
              </a:ext>
            </a:extLst>
          </p:cNvPr>
          <p:cNvGrpSpPr/>
          <p:nvPr/>
        </p:nvGrpSpPr>
        <p:grpSpPr>
          <a:xfrm>
            <a:off x="16289791" y="421434"/>
            <a:ext cx="2145582" cy="3639683"/>
            <a:chOff x="3797789" y="577175"/>
            <a:chExt cx="2145582" cy="3697701"/>
          </a:xfrm>
        </p:grpSpPr>
        <p:sp>
          <p:nvSpPr>
            <p:cNvPr id="110" name="Rectángulo 109">
              <a:extLst>
                <a:ext uri="{FF2B5EF4-FFF2-40B4-BE49-F238E27FC236}">
                  <a16:creationId xmlns:a16="http://schemas.microsoft.com/office/drawing/2014/main" id="{37739A77-56D3-754A-1029-6913D789A5AF}"/>
                </a:ext>
              </a:extLst>
            </p:cNvPr>
            <p:cNvSpPr/>
            <p:nvPr/>
          </p:nvSpPr>
          <p:spPr>
            <a:xfrm>
              <a:off x="3797789" y="577175"/>
              <a:ext cx="2145582" cy="3681863"/>
            </a:xfrm>
            <a:prstGeom prst="rect">
              <a:avLst/>
            </a:prstGeom>
            <a:solidFill>
              <a:srgbClr val="D3D3D7"/>
            </a:solidFill>
            <a:ln>
              <a:solidFill>
                <a:srgbClr val="D3D3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6C5693E7-08C8-5129-F97D-8C64AD05BF0D}"/>
                </a:ext>
              </a:extLst>
            </p:cNvPr>
            <p:cNvSpPr txBox="1"/>
            <p:nvPr/>
          </p:nvSpPr>
          <p:spPr>
            <a:xfrm>
              <a:off x="3850954" y="758085"/>
              <a:ext cx="1892878" cy="2800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00" dirty="0"/>
                <a:t>FECHA:     08/07/2025</a:t>
              </a:r>
            </a:p>
            <a:p>
              <a:endParaRPr lang="es-MX" sz="1100" dirty="0"/>
            </a:p>
            <a:p>
              <a:r>
                <a:rPr lang="es-MX" sz="1100" dirty="0"/>
                <a:t>FUNDO:    LOS LAURELES</a:t>
              </a:r>
            </a:p>
            <a:p>
              <a:endParaRPr lang="es-MX" sz="1100" dirty="0"/>
            </a:p>
            <a:p>
              <a:r>
                <a:rPr lang="es-MX" sz="1100" dirty="0"/>
                <a:t>LOTE:        LL06</a:t>
              </a:r>
            </a:p>
            <a:p>
              <a:endParaRPr lang="es-MX" sz="1100" dirty="0"/>
            </a:p>
            <a:p>
              <a:r>
                <a:rPr lang="es-MX" sz="1100" dirty="0"/>
                <a:t>ESPECIE:  CHRYSOPAS</a:t>
              </a:r>
            </a:p>
            <a:p>
              <a:endParaRPr lang="es-MX" sz="1100" dirty="0"/>
            </a:p>
            <a:p>
              <a:r>
                <a:rPr lang="es-MX" sz="1100" dirty="0"/>
                <a:t>CANTIDAD: 1210</a:t>
              </a:r>
            </a:p>
            <a:p>
              <a:endParaRPr lang="es-MX" sz="1100" dirty="0"/>
            </a:p>
            <a:p>
              <a:r>
                <a:rPr lang="es-MX" sz="1100" dirty="0"/>
                <a:t>PLAGA OBJETIVO: TRIPS</a:t>
              </a:r>
            </a:p>
            <a:p>
              <a:endParaRPr lang="es-MX" sz="1100" dirty="0"/>
            </a:p>
            <a:p>
              <a:r>
                <a:rPr lang="es-MX" sz="1100" dirty="0"/>
                <a:t>FECHA DE LIBERACION: 08/07/2025</a:t>
              </a:r>
            </a:p>
            <a:p>
              <a:endParaRPr lang="es-MX" sz="1100" dirty="0"/>
            </a:p>
            <a:p>
              <a:r>
                <a:rPr lang="es-MX" sz="1100" dirty="0"/>
                <a:t>OBSERVACIONES: </a:t>
              </a:r>
              <a:endParaRPr lang="es-PE" sz="1100" dirty="0"/>
            </a:p>
          </p:txBody>
        </p:sp>
        <p:sp>
          <p:nvSpPr>
            <p:cNvPr id="113" name="Rectángulo: esquinas redondeadas 112">
              <a:extLst>
                <a:ext uri="{FF2B5EF4-FFF2-40B4-BE49-F238E27FC236}">
                  <a16:creationId xmlns:a16="http://schemas.microsoft.com/office/drawing/2014/main" id="{98F1F472-3A12-F99A-6FC0-7FCAC8172DDB}"/>
                </a:ext>
              </a:extLst>
            </p:cNvPr>
            <p:cNvSpPr/>
            <p:nvPr/>
          </p:nvSpPr>
          <p:spPr>
            <a:xfrm>
              <a:off x="4432546" y="800491"/>
              <a:ext cx="821094" cy="2146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14" name="Rectángulo: esquinas redondeadas 113">
              <a:extLst>
                <a:ext uri="{FF2B5EF4-FFF2-40B4-BE49-F238E27FC236}">
                  <a16:creationId xmlns:a16="http://schemas.microsoft.com/office/drawing/2014/main" id="{F42F25CE-8AFF-E819-B73B-5F675C1CBA45}"/>
                </a:ext>
              </a:extLst>
            </p:cNvPr>
            <p:cNvSpPr/>
            <p:nvPr/>
          </p:nvSpPr>
          <p:spPr>
            <a:xfrm>
              <a:off x="4460033" y="1132369"/>
              <a:ext cx="950866" cy="2146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5" name="Rectángulo: esquinas redondeadas 114">
              <a:extLst>
                <a:ext uri="{FF2B5EF4-FFF2-40B4-BE49-F238E27FC236}">
                  <a16:creationId xmlns:a16="http://schemas.microsoft.com/office/drawing/2014/main" id="{9A635186-91B2-1DEE-CD07-7B143D0FB58A}"/>
                </a:ext>
              </a:extLst>
            </p:cNvPr>
            <p:cNvSpPr/>
            <p:nvPr/>
          </p:nvSpPr>
          <p:spPr>
            <a:xfrm>
              <a:off x="4472874" y="1471636"/>
              <a:ext cx="821094" cy="2146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6" name="Rectángulo: esquinas redondeadas 115">
              <a:extLst>
                <a:ext uri="{FF2B5EF4-FFF2-40B4-BE49-F238E27FC236}">
                  <a16:creationId xmlns:a16="http://schemas.microsoft.com/office/drawing/2014/main" id="{FC5D7CDB-968B-F579-6F44-C462AADE770B}"/>
                </a:ext>
              </a:extLst>
            </p:cNvPr>
            <p:cNvSpPr/>
            <p:nvPr/>
          </p:nvSpPr>
          <p:spPr>
            <a:xfrm>
              <a:off x="4505310" y="1817752"/>
              <a:ext cx="821094" cy="2146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7" name="Rectángulo: esquinas redondeadas 116">
              <a:extLst>
                <a:ext uri="{FF2B5EF4-FFF2-40B4-BE49-F238E27FC236}">
                  <a16:creationId xmlns:a16="http://schemas.microsoft.com/office/drawing/2014/main" id="{9B0789FD-002D-BF40-24DE-250DB45DADF4}"/>
                </a:ext>
              </a:extLst>
            </p:cNvPr>
            <p:cNvSpPr/>
            <p:nvPr/>
          </p:nvSpPr>
          <p:spPr>
            <a:xfrm>
              <a:off x="4563069" y="2138449"/>
              <a:ext cx="821094" cy="2146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8" name="Rectángulo: esquinas redondeadas 117">
              <a:extLst>
                <a:ext uri="{FF2B5EF4-FFF2-40B4-BE49-F238E27FC236}">
                  <a16:creationId xmlns:a16="http://schemas.microsoft.com/office/drawing/2014/main" id="{22DF2E48-421A-3B88-7512-C70E82644126}"/>
                </a:ext>
              </a:extLst>
            </p:cNvPr>
            <p:cNvSpPr/>
            <p:nvPr/>
          </p:nvSpPr>
          <p:spPr>
            <a:xfrm>
              <a:off x="4922738" y="2439533"/>
              <a:ext cx="821094" cy="2146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9" name="Rectángulo: esquinas redondeadas 118">
              <a:extLst>
                <a:ext uri="{FF2B5EF4-FFF2-40B4-BE49-F238E27FC236}">
                  <a16:creationId xmlns:a16="http://schemas.microsoft.com/office/drawing/2014/main" id="{F704E305-FCB7-3552-C0ED-FC2819D05564}"/>
                </a:ext>
              </a:extLst>
            </p:cNvPr>
            <p:cNvSpPr/>
            <p:nvPr/>
          </p:nvSpPr>
          <p:spPr>
            <a:xfrm>
              <a:off x="3907713" y="2976671"/>
              <a:ext cx="821094" cy="2146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0" name="Rectángulo: esquinas redondeadas 119">
              <a:extLst>
                <a:ext uri="{FF2B5EF4-FFF2-40B4-BE49-F238E27FC236}">
                  <a16:creationId xmlns:a16="http://schemas.microsoft.com/office/drawing/2014/main" id="{12F5163D-CF56-EE6A-50BF-BAD8C4D74B90}"/>
                </a:ext>
              </a:extLst>
            </p:cNvPr>
            <p:cNvSpPr/>
            <p:nvPr/>
          </p:nvSpPr>
          <p:spPr>
            <a:xfrm>
              <a:off x="4922738" y="3301507"/>
              <a:ext cx="821094" cy="2146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1" name="Rectángulo: esquinas redondeadas 120">
              <a:extLst>
                <a:ext uri="{FF2B5EF4-FFF2-40B4-BE49-F238E27FC236}">
                  <a16:creationId xmlns:a16="http://schemas.microsoft.com/office/drawing/2014/main" id="{9424DAC9-B912-CD80-F36B-186696825BF7}"/>
                </a:ext>
              </a:extLst>
            </p:cNvPr>
            <p:cNvSpPr/>
            <p:nvPr/>
          </p:nvSpPr>
          <p:spPr>
            <a:xfrm>
              <a:off x="5381233" y="4060272"/>
              <a:ext cx="491061" cy="214604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000"/>
                <a:t>OK</a:t>
              </a:r>
              <a:endParaRPr lang="es-PE" sz="1000"/>
            </a:p>
          </p:txBody>
        </p:sp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9183C8F0-6AA1-D9C9-51F9-454C0F3EE7B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0708" y="5822115"/>
            <a:ext cx="2995804" cy="1755054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DC3914AE-7786-C0C2-AF38-BE6510B51BD3}"/>
              </a:ext>
            </a:extLst>
          </p:cNvPr>
          <p:cNvGrpSpPr/>
          <p:nvPr/>
        </p:nvGrpSpPr>
        <p:grpSpPr>
          <a:xfrm>
            <a:off x="2330213" y="7760195"/>
            <a:ext cx="2095644" cy="291934"/>
            <a:chOff x="10955573" y="4291145"/>
            <a:chExt cx="2095644" cy="287749"/>
          </a:xfrm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584BCDB1-98B9-D64D-6B7B-6BD941646BA5}"/>
                </a:ext>
              </a:extLst>
            </p:cNvPr>
            <p:cNvSpPr/>
            <p:nvPr/>
          </p:nvSpPr>
          <p:spPr>
            <a:xfrm>
              <a:off x="10955573" y="4291145"/>
              <a:ext cx="1439084" cy="287748"/>
            </a:xfrm>
            <a:prstGeom prst="rect">
              <a:avLst/>
            </a:prstGeom>
            <a:solidFill>
              <a:srgbClr val="54CF1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/>
                <a:t>70%</a:t>
              </a: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314587DE-2B12-12A0-70BC-0DBB83FBBACC}"/>
                </a:ext>
              </a:extLst>
            </p:cNvPr>
            <p:cNvSpPr/>
            <p:nvPr/>
          </p:nvSpPr>
          <p:spPr>
            <a:xfrm>
              <a:off x="12394657" y="4291145"/>
              <a:ext cx="656560" cy="28774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>
                <a:solidFill>
                  <a:srgbClr val="FF0000"/>
                </a:solidFill>
              </a:endParaRPr>
            </a:p>
          </p:txBody>
        </p:sp>
      </p:grp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08571C1-229A-C2AE-84B1-79A04FE72CB9}"/>
              </a:ext>
            </a:extLst>
          </p:cNvPr>
          <p:cNvSpPr/>
          <p:nvPr/>
        </p:nvSpPr>
        <p:spPr>
          <a:xfrm>
            <a:off x="1770707" y="5325101"/>
            <a:ext cx="2985815" cy="482225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Proyección: Mayo 5000 </a:t>
            </a:r>
            <a:r>
              <a:rPr lang="es-MX" sz="14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mll</a:t>
            </a:r>
            <a:endParaRPr lang="es-PE" sz="1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riángulo isósceles 28">
            <a:extLst>
              <a:ext uri="{FF2B5EF4-FFF2-40B4-BE49-F238E27FC236}">
                <a16:creationId xmlns:a16="http://schemas.microsoft.com/office/drawing/2014/main" id="{527D2860-06C2-5117-BE76-1DF2F874D1DC}"/>
              </a:ext>
            </a:extLst>
          </p:cNvPr>
          <p:cNvSpPr/>
          <p:nvPr/>
        </p:nvSpPr>
        <p:spPr>
          <a:xfrm rot="15983339">
            <a:off x="3837448" y="3869375"/>
            <a:ext cx="2667002" cy="1320899"/>
          </a:xfrm>
          <a:prstGeom prst="triangl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39310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4BA13-D4ED-7C0B-E47B-AAFD8A4E6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Flecha: pentágono 2202">
            <a:extLst>
              <a:ext uri="{FF2B5EF4-FFF2-40B4-BE49-F238E27FC236}">
                <a16:creationId xmlns:a16="http://schemas.microsoft.com/office/drawing/2014/main" id="{0F1F59EB-44D3-5B81-17BF-892B22922B70}"/>
              </a:ext>
            </a:extLst>
          </p:cNvPr>
          <p:cNvSpPr/>
          <p:nvPr/>
        </p:nvSpPr>
        <p:spPr>
          <a:xfrm>
            <a:off x="822060" y="293001"/>
            <a:ext cx="6663764" cy="841311"/>
          </a:xfrm>
          <a:prstGeom prst="homePlate">
            <a:avLst/>
          </a:prstGeom>
          <a:solidFill>
            <a:srgbClr val="1F497D"/>
          </a:solidFill>
          <a:ln>
            <a:solidFill>
              <a:srgbClr val="D3D3D7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bg1"/>
              </a:solidFill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C0BCDFE6-CB78-4B18-4B2D-4E0C52716FCE}"/>
              </a:ext>
            </a:extLst>
          </p:cNvPr>
          <p:cNvSpPr txBox="1"/>
          <p:nvPr/>
        </p:nvSpPr>
        <p:spPr>
          <a:xfrm>
            <a:off x="1241584" y="448269"/>
            <a:ext cx="3762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>
                <a:solidFill>
                  <a:schemeClr val="bg1"/>
                </a:solidFill>
              </a:rPr>
              <a:t>VISTA DEL USUARIO</a:t>
            </a:r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2F28561D-A98F-F5DC-2FED-5C78B989E511}"/>
              </a:ext>
            </a:extLst>
          </p:cNvPr>
          <p:cNvGrpSpPr/>
          <p:nvPr/>
        </p:nvGrpSpPr>
        <p:grpSpPr>
          <a:xfrm>
            <a:off x="3418256" y="1612923"/>
            <a:ext cx="3865418" cy="7061154"/>
            <a:chOff x="4968636" y="1248414"/>
            <a:chExt cx="3865418" cy="7061154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9AC22D6A-DDD1-09E0-6E0B-5FCBFAD6D4FC}"/>
                </a:ext>
              </a:extLst>
            </p:cNvPr>
            <p:cNvGrpSpPr/>
            <p:nvPr/>
          </p:nvGrpSpPr>
          <p:grpSpPr>
            <a:xfrm>
              <a:off x="4968636" y="1248414"/>
              <a:ext cx="3865418" cy="7061154"/>
              <a:chOff x="8833428" y="1270548"/>
              <a:chExt cx="3865418" cy="7061154"/>
            </a:xfrm>
          </p:grpSpPr>
          <p:pic>
            <p:nvPicPr>
              <p:cNvPr id="8" name="Imagen 7">
                <a:extLst>
                  <a:ext uri="{FF2B5EF4-FFF2-40B4-BE49-F238E27FC236}">
                    <a16:creationId xmlns:a16="http://schemas.microsoft.com/office/drawing/2014/main" id="{A17F5090-E57E-665F-A0D9-26932C0118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33428" y="1270548"/>
                <a:ext cx="3865418" cy="7061154"/>
              </a:xfrm>
              <a:prstGeom prst="rect">
                <a:avLst/>
              </a:prstGeom>
              <a:ln w="3810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7870BE31-18F6-FE89-BBEE-AB9CF2397ABA}"/>
                  </a:ext>
                </a:extLst>
              </p:cNvPr>
              <p:cNvSpPr/>
              <p:nvPr/>
            </p:nvSpPr>
            <p:spPr>
              <a:xfrm>
                <a:off x="8861137" y="1502881"/>
                <a:ext cx="3810000" cy="471451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4320F8AD-D565-FF99-67C8-8505D9E05060}"/>
                  </a:ext>
                </a:extLst>
              </p:cNvPr>
              <p:cNvSpPr/>
              <p:nvPr/>
            </p:nvSpPr>
            <p:spPr>
              <a:xfrm>
                <a:off x="8950159" y="1562469"/>
                <a:ext cx="1434667" cy="3522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24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badi Extra Light" panose="020B0604020202020204" pitchFamily="34" charset="0"/>
                  </a:rPr>
                  <a:t>AGROI+D</a:t>
                </a:r>
                <a:endParaRPr lang="es-PE" sz="24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badi Extra Light" panose="020B0604020202020204" pitchFamily="34" charset="0"/>
                </a:endParaRPr>
              </a:p>
            </p:txBody>
          </p:sp>
          <p:pic>
            <p:nvPicPr>
              <p:cNvPr id="11" name="Imagen 10" descr="Logotipo, nombre de la empresa">
                <a:extLst>
                  <a:ext uri="{FF2B5EF4-FFF2-40B4-BE49-F238E27FC236}">
                    <a16:creationId xmlns:a16="http://schemas.microsoft.com/office/drawing/2014/main" id="{B025C496-2681-D8E7-CCFC-30D631D399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60776" y="2086207"/>
                <a:ext cx="2513026" cy="1154630"/>
              </a:xfrm>
              <a:prstGeom prst="rect">
                <a:avLst/>
              </a:prstGeom>
            </p:spPr>
          </p:pic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5175A11B-C0F6-6CC2-849C-9E96BD765F7C}"/>
                  </a:ext>
                </a:extLst>
              </p:cNvPr>
              <p:cNvSpPr/>
              <p:nvPr/>
            </p:nvSpPr>
            <p:spPr>
              <a:xfrm>
                <a:off x="8861137" y="3435161"/>
                <a:ext cx="3837709" cy="23358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9A7D4EDA-51A2-C34A-F22F-DD4EFC697C22}"/>
                  </a:ext>
                </a:extLst>
              </p:cNvPr>
              <p:cNvSpPr/>
              <p:nvPr/>
            </p:nvSpPr>
            <p:spPr>
              <a:xfrm>
                <a:off x="9417852" y="3485520"/>
                <a:ext cx="2839868" cy="54460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Nuevo Requerimiento</a:t>
                </a:r>
                <a:endParaRPr lang="es-PE" b="1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2942AC05-00D5-6D9B-2589-4008B9212217}"/>
                  </a:ext>
                </a:extLst>
              </p:cNvPr>
              <p:cNvSpPr/>
              <p:nvPr/>
            </p:nvSpPr>
            <p:spPr>
              <a:xfrm>
                <a:off x="9426095" y="4177279"/>
                <a:ext cx="2839868" cy="54460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/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  <a:latin typeface="Abadi Extra Light" panose="020B0204020104020204" pitchFamily="34" charset="0"/>
                  </a:rPr>
                  <a:t>Historial de Requerimiento</a:t>
                </a:r>
                <a:endParaRPr lang="es-PE" b="1" dirty="0">
                  <a:solidFill>
                    <a:schemeClr val="tx1"/>
                  </a:solidFill>
                  <a:latin typeface="Abadi Extra Light" panose="020B0204020104020204" pitchFamily="34" charset="0"/>
                </a:endParaRPr>
              </a:p>
            </p:txBody>
          </p:sp>
        </p:grpSp>
        <p:pic>
          <p:nvPicPr>
            <p:cNvPr id="43" name="Picture 4" descr="Gráficos escalables iconos de computadora gráficos de red portátiles, icono  de salida, cdr, texto, icono de salida png | PNGWing">
              <a:extLst>
                <a:ext uri="{FF2B5EF4-FFF2-40B4-BE49-F238E27FC236}">
                  <a16:creationId xmlns:a16="http://schemas.microsoft.com/office/drawing/2014/main" id="{7D93C6AB-B455-1215-67C8-6BE0310F3C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895" b="96632" l="543" r="97283">
                          <a14:foregroundMark x1="50042" y1="12244" x2="36739" y2="5895"/>
                          <a14:foregroundMark x1="57985" y1="16034" x2="57540" y2="15821"/>
                          <a14:foregroundMark x1="59239" y1="16632" x2="58355" y2="16210"/>
                          <a14:foregroundMark x1="36739" y1="5895" x2="20435" y2="7158"/>
                          <a14:foregroundMark x1="12737" y1="15836" x2="6522" y2="22842"/>
                          <a14:foregroundMark x1="20435" y1="7158" x2="15617" y2="12589"/>
                          <a14:foregroundMark x1="6522" y1="22842" x2="5435" y2="74421"/>
                          <a14:foregroundMark x1="5435" y1="74421" x2="11957" y2="90842"/>
                          <a14:foregroundMark x1="11957" y1="90842" x2="33587" y2="94947"/>
                          <a14:foregroundMark x1="33587" y1="94947" x2="55435" y2="90526"/>
                          <a14:foregroundMark x1="55435" y1="90526" x2="63043" y2="80000"/>
                          <a14:foregroundMark x1="44565" y1="47263" x2="78696" y2="44632"/>
                          <a14:foregroundMark x1="77496" y1="56958" x2="76739" y2="64737"/>
                          <a14:foregroundMark x1="78696" y1="44632" x2="77613" y2="55759"/>
                          <a14:foregroundMark x1="76739" y1="64737" x2="95000" y2="53684"/>
                          <a14:foregroundMark x1="95000" y1="53684" x2="79239" y2="39368"/>
                          <a14:foregroundMark x1="79239" y1="39368" x2="77065" y2="35895"/>
                          <a14:foregroundMark x1="79130" y1="47579" x2="38804" y2="50632"/>
                          <a14:foregroundMark x1="38804" y1="50632" x2="81630" y2="47789"/>
                          <a14:foregroundMark x1="81630" y1="47789" x2="82500" y2="47789"/>
                          <a14:foregroundMark x1="75870" y1="41158" x2="90479" y2="39510"/>
                          <a14:foregroundMark x1="91797" y1="39625" x2="94783" y2="52737"/>
                          <a14:foregroundMark x1="97065" y1="49579" x2="97391" y2="52105"/>
                          <a14:foregroundMark x1="54365" y1="11816" x2="43913" y2="2526"/>
                          <a14:foregroundMark x1="59072" y1="16000" x2="57962" y2="15013"/>
                          <a14:foregroundMark x1="59783" y1="16632" x2="59072" y2="16000"/>
                          <a14:foregroundMark x1="43913" y1="2526" x2="15761" y2="3579"/>
                          <a14:foregroundMark x1="15761" y1="3579" x2="1413" y2="14842"/>
                          <a14:foregroundMark x1="1413" y1="14842" x2="978" y2="72737"/>
                          <a14:foregroundMark x1="978" y1="72737" x2="9783" y2="23579"/>
                          <a14:foregroundMark x1="23895" y1="12054" x2="24348" y2="11684"/>
                          <a14:foregroundMark x1="9783" y1="23579" x2="12657" y2="21232"/>
                          <a14:foregroundMark x1="56397" y1="12187" x2="57935" y2="12211"/>
                          <a14:foregroundMark x1="24348" y1="11684" x2="49938" y2="12086"/>
                          <a14:foregroundMark x1="58952" y1="14352" x2="60435" y2="17474"/>
                          <a14:foregroundMark x1="57935" y1="12211" x2="58861" y2="14161"/>
                          <a14:foregroundMark x1="61630" y1="17789" x2="53043" y2="3579"/>
                          <a14:foregroundMark x1="53043" y1="3579" x2="45543" y2="4947"/>
                          <a14:foregroundMark x1="53587" y1="1895" x2="67283" y2="9368"/>
                          <a14:foregroundMark x1="67283" y1="9368" x2="60978" y2="9474"/>
                          <a14:foregroundMark x1="8261" y1="8421" x2="217" y2="51579"/>
                          <a14:foregroundMark x1="217" y1="51579" x2="1087" y2="72000"/>
                          <a14:foregroundMark x1="1087" y1="72000" x2="9891" y2="34211"/>
                          <a14:foregroundMark x1="3261" y1="77684" x2="9239" y2="96842"/>
                          <a14:foregroundMark x1="9239" y1="96842" x2="35652" y2="98737"/>
                          <a14:foregroundMark x1="35652" y1="98737" x2="55435" y2="94000"/>
                          <a14:foregroundMark x1="55435" y1="94000" x2="67609" y2="84211"/>
                          <a14:foregroundMark x1="67609" y1="84211" x2="51413" y2="92632"/>
                          <a14:foregroundMark x1="13242" y1="84716" x2="652" y2="82105"/>
                          <a14:foregroundMark x1="27115" y1="87593" x2="26755" y2="87518"/>
                          <a14:foregroundMark x1="51413" y1="92632" x2="28349" y2="87849"/>
                          <a14:foregroundMark x1="652" y1="82105" x2="1304" y2="79579"/>
                          <a14:foregroundMark x1="21630" y1="94632" x2="47065" y2="96632"/>
                          <a14:foregroundMark x1="47065" y1="96632" x2="65000" y2="90211"/>
                          <a14:foregroundMark x1="65000" y1="90211" x2="69022" y2="86947"/>
                          <a14:backgroundMark x1="52717" y1="18842" x2="22500" y2="24105"/>
                          <a14:backgroundMark x1="22500" y1="24105" x2="20326" y2="44632"/>
                          <a14:backgroundMark x1="20326" y1="44632" x2="28913" y2="62842"/>
                          <a14:backgroundMark x1="28913" y1="62842" x2="42500" y2="70105"/>
                          <a14:backgroundMark x1="42500" y1="70105" x2="58152" y2="64105"/>
                          <a14:backgroundMark x1="58152" y1="64105" x2="72717" y2="74947"/>
                          <a14:backgroundMark x1="72717" y1="74947" x2="72717" y2="75053"/>
                          <a14:backgroundMark x1="24783" y1="14737" x2="14565" y2="20947"/>
                          <a14:backgroundMark x1="22391" y1="14526" x2="14348" y2="19579"/>
                          <a14:backgroundMark x1="51196" y1="13895" x2="56413" y2="16421"/>
                          <a14:backgroundMark x1="56630" y1="16421" x2="57391" y2="16105"/>
                          <a14:backgroundMark x1="57609" y1="17474" x2="55978" y2="13368"/>
                          <a14:backgroundMark x1="52065" y1="13053" x2="51304" y2="12947"/>
                          <a14:backgroundMark x1="55109" y1="13158" x2="57283" y2="16211"/>
                          <a14:backgroundMark x1="57065" y1="14632" x2="57283" y2="16000"/>
                          <a14:backgroundMark x1="57065" y1="15579" x2="57500" y2="15579"/>
                          <a14:backgroundMark x1="57500" y1="16000" x2="57500" y2="16000"/>
                          <a14:backgroundMark x1="57609" y1="16105" x2="57500" y2="15474"/>
                          <a14:backgroundMark x1="58043" y1="16211" x2="58043" y2="15263"/>
                          <a14:backgroundMark x1="57826" y1="15053" x2="57717" y2="14842"/>
                          <a14:backgroundMark x1="56413" y1="13579" x2="50652" y2="12526"/>
                          <a14:backgroundMark x1="51087" y1="12842" x2="50435" y2="12842"/>
                          <a14:backgroundMark x1="24674" y1="13263" x2="21304" y2="13158"/>
                          <a14:backgroundMark x1="15326" y1="13158" x2="13587" y2="15789"/>
                          <a14:backgroundMark x1="13587" y1="18632" x2="13478" y2="21263"/>
                          <a14:backgroundMark x1="16304" y1="13158" x2="12935" y2="16000"/>
                          <a14:backgroundMark x1="15870" y1="12842" x2="15870" y2="13053"/>
                          <a14:backgroundMark x1="92283" y1="39789" x2="91848" y2="39263"/>
                          <a14:backgroundMark x1="91087" y1="37263" x2="91848" y2="38421"/>
                          <a14:backgroundMark x1="92717" y1="39368" x2="91522" y2="38632"/>
                          <a14:backgroundMark x1="92283" y1="39368" x2="91630" y2="38421"/>
                          <a14:backgroundMark x1="90326" y1="37053" x2="92609" y2="38947"/>
                          <a14:backgroundMark x1="92609" y1="39789" x2="92283" y2="39263"/>
                          <a14:backgroundMark x1="76957" y1="57053" x2="77609" y2="56737"/>
                          <a14:backgroundMark x1="14130" y1="83579" x2="26957" y2="86737"/>
                          <a14:backgroundMark x1="27935" y1="87263" x2="26957" y2="87368"/>
                          <a14:backgroundMark x1="13587" y1="85263" x2="13587" y2="84632"/>
                          <a14:backgroundMark x1="25761" y1="87474" x2="26848" y2="87368"/>
                          <a14:backgroundMark x1="13370" y1="84842" x2="13370" y2="84737"/>
                          <a14:backgroundMark x1="13152" y1="84947" x2="13043" y2="84842"/>
                          <a14:backgroundMark x1="13261" y1="85053" x2="13152" y2="84842"/>
                          <a14:backgroundMark x1="13152" y1="84842" x2="13370" y2="8410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18714" y="1540333"/>
              <a:ext cx="341153" cy="352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0" name="CuadroTexto 79">
            <a:extLst>
              <a:ext uri="{FF2B5EF4-FFF2-40B4-BE49-F238E27FC236}">
                <a16:creationId xmlns:a16="http://schemas.microsoft.com/office/drawing/2014/main" id="{9AA28B6D-8AC8-BB53-71BE-F0BE44865A41}"/>
              </a:ext>
            </a:extLst>
          </p:cNvPr>
          <p:cNvSpPr txBox="1"/>
          <p:nvPr/>
        </p:nvSpPr>
        <p:spPr>
          <a:xfrm>
            <a:off x="4397654" y="6431831"/>
            <a:ext cx="428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/>
              <a:t>27</a:t>
            </a:r>
            <a:endParaRPr lang="es-PE" sz="1200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0D910937-7480-2383-58A2-CD3653745E04}"/>
              </a:ext>
            </a:extLst>
          </p:cNvPr>
          <p:cNvSpPr txBox="1"/>
          <p:nvPr/>
        </p:nvSpPr>
        <p:spPr>
          <a:xfrm>
            <a:off x="4382015" y="6751066"/>
            <a:ext cx="428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/>
              <a:t>28</a:t>
            </a:r>
            <a:endParaRPr lang="es-PE" sz="1200"/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6C298989-4ECF-55D7-072F-B5EC61FC610D}"/>
              </a:ext>
            </a:extLst>
          </p:cNvPr>
          <p:cNvSpPr txBox="1"/>
          <p:nvPr/>
        </p:nvSpPr>
        <p:spPr>
          <a:xfrm>
            <a:off x="4389273" y="7106667"/>
            <a:ext cx="428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/>
              <a:t>29</a:t>
            </a:r>
            <a:endParaRPr lang="es-PE" sz="120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526C025-B556-AE51-DD38-8584BCEC4B81}"/>
              </a:ext>
            </a:extLst>
          </p:cNvPr>
          <p:cNvSpPr/>
          <p:nvPr/>
        </p:nvSpPr>
        <p:spPr>
          <a:xfrm>
            <a:off x="3619943" y="7475076"/>
            <a:ext cx="3377749" cy="802943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78A06AB-5898-0948-E07C-9BA4D5912C97}"/>
              </a:ext>
            </a:extLst>
          </p:cNvPr>
          <p:cNvGrpSpPr/>
          <p:nvPr/>
        </p:nvGrpSpPr>
        <p:grpSpPr>
          <a:xfrm>
            <a:off x="3750930" y="7462268"/>
            <a:ext cx="3300396" cy="934232"/>
            <a:chOff x="3549575" y="8135925"/>
            <a:chExt cx="3098697" cy="781710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2C71C871-D437-A7E5-0C69-C4078FBDB160}"/>
                </a:ext>
              </a:extLst>
            </p:cNvPr>
            <p:cNvSpPr txBox="1"/>
            <p:nvPr/>
          </p:nvSpPr>
          <p:spPr>
            <a:xfrm>
              <a:off x="4001083" y="8135925"/>
              <a:ext cx="2647189" cy="781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5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ALERTA</a:t>
              </a:r>
            </a:p>
            <a:p>
              <a:r>
                <a:rPr lang="es-MX" sz="115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NO SE INGRESO LA INFORMACION DE LA LIBERACION</a:t>
              </a:r>
            </a:p>
            <a:p>
              <a:r>
                <a:rPr lang="es-MX" sz="115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FECHA DE SOLICITUD:08/07/2025</a:t>
              </a:r>
              <a:endParaRPr lang="es-PE" sz="115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6C452E09-8151-C49B-D33C-24553E436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5154" b="85462" l="58462" r="91462">
                          <a14:foregroundMark x1="78385" y1="61000" x2="66231" y2="74308"/>
                          <a14:foregroundMark x1="66231" y1="74308" x2="87462" y2="73308"/>
                          <a14:foregroundMark x1="87462" y1="73308" x2="68000" y2="58308"/>
                          <a14:foregroundMark x1="68000" y1="58308" x2="75077" y2="75385"/>
                          <a14:foregroundMark x1="75077" y1="75385" x2="73385" y2="67000"/>
                          <a14:foregroundMark x1="78692" y1="67000" x2="83385" y2="62769"/>
                          <a14:foregroundMark x1="87462" y1="68385" x2="64538" y2="66077"/>
                          <a14:foregroundMark x1="64538" y1="66077" x2="83231" y2="76308"/>
                          <a14:foregroundMark x1="83231" y1="76308" x2="87846" y2="63923"/>
                          <a14:foregroundMark x1="86154" y1="64077" x2="65385" y2="67692"/>
                          <a14:foregroundMark x1="65385" y1="67692" x2="77154" y2="80769"/>
                          <a14:foregroundMark x1="77154" y1="80769" x2="82154" y2="64769"/>
                          <a14:foregroundMark x1="85077" y1="64077" x2="63769" y2="66231"/>
                          <a14:foregroundMark x1="63769" y1="66231" x2="81846" y2="77692"/>
                          <a14:foregroundMark x1="81846" y1="77692" x2="80846" y2="57385"/>
                          <a14:foregroundMark x1="80846" y1="57385" x2="78231" y2="56231"/>
                          <a14:foregroundMark x1="79923" y1="58923" x2="64462" y2="72000"/>
                          <a14:foregroundMark x1="64462" y1="72000" x2="90231" y2="75923"/>
                          <a14:foregroundMark x1="90231" y1="75923" x2="78231" y2="59462"/>
                          <a14:foregroundMark x1="78231" y1="59462" x2="74923" y2="59615"/>
                          <a14:foregroundMark x1="85923" y1="61692" x2="65385" y2="60077"/>
                          <a14:foregroundMark x1="65385" y1="60077" x2="73462" y2="80000"/>
                          <a14:foregroundMark x1="73462" y1="80000" x2="84231" y2="76692"/>
                          <a14:foregroundMark x1="84231" y1="60692" x2="63769" y2="59846"/>
                          <a14:foregroundMark x1="63769" y1="59846" x2="69308" y2="80769"/>
                          <a14:foregroundMark x1="69308" y1="80769" x2="84077" y2="79077"/>
                          <a14:foregroundMark x1="84769" y1="61385" x2="66154" y2="59231"/>
                          <a14:foregroundMark x1="66154" y1="59231" x2="64769" y2="79923"/>
                          <a14:foregroundMark x1="64769" y1="79923" x2="86000" y2="77308"/>
                          <a14:foregroundMark x1="86000" y1="77308" x2="88000" y2="74615"/>
                          <a14:foregroundMark x1="88538" y1="76846" x2="68538" y2="81923"/>
                          <a14:foregroundMark x1="68538" y1="81923" x2="63154" y2="61692"/>
                          <a14:foregroundMark x1="63154" y1="61692" x2="77000" y2="56923"/>
                          <a14:foregroundMark x1="77000" y1="56923" x2="61538" y2="65692"/>
                          <a14:foregroundMark x1="61538" y1="65692" x2="72154" y2="83000"/>
                          <a14:foregroundMark x1="72154" y1="83000" x2="86846" y2="80077"/>
                          <a14:foregroundMark x1="87462" y1="63923" x2="85413" y2="82852"/>
                          <a14:foregroundMark x1="83330" y1="84340" x2="65091" y2="82445"/>
                          <a14:foregroundMark x1="63666" y1="81339" x2="61692" y2="62692"/>
                          <a14:foregroundMark x1="61692" y1="62692" x2="86692" y2="60308"/>
                          <a14:foregroundMark x1="87086" y1="60908" x2="70826" y2="55632"/>
                          <a14:foregroundMark x1="70291" y1="55742" x2="64769" y2="60308"/>
                          <a14:foregroundMark x1="69077" y1="56923" x2="86154" y2="61154"/>
                          <a14:foregroundMark x1="87000" y1="61154" x2="72154" y2="56385"/>
                          <a14:foregroundMark x1="86462" y1="61154" x2="88538" y2="63615"/>
                          <a14:foregroundMark x1="80615" y1="83923" x2="62385" y2="76308"/>
                          <a14:foregroundMark x1="62385" y1="76308" x2="68538" y2="59385"/>
                          <a14:foregroundMark x1="68538" y1="59385" x2="87479" y2="61497"/>
                          <a14:foregroundMark x1="88523" y1="61543" x2="90982" y2="73061"/>
                          <a14:foregroundMark x1="90464" y1="73188" x2="75846" y2="56385"/>
                          <a14:foregroundMark x1="75846" y1="56385" x2="69615" y2="56692"/>
                          <a14:foregroundMark x1="84385" y1="59308" x2="85615" y2="60000"/>
                          <a14:foregroundMark x1="88053" y1="60587" x2="73077" y2="55846"/>
                          <a14:foregroundMark x1="87308" y1="60538" x2="70405" y2="55439"/>
                          <a14:foregroundMark x1="68385" y1="56923" x2="60385" y2="73308"/>
                          <a14:foregroundMark x1="60385" y1="73308" x2="77538" y2="84077"/>
                          <a14:foregroundMark x1="77538" y1="84077" x2="87154" y2="81308"/>
                          <a14:foregroundMark x1="86408" y1="80969" x2="69077" y2="85615"/>
                          <a14:foregroundMark x1="68575" y1="85166" x2="63923" y2="81000"/>
                          <a14:foregroundMark x1="62385" y1="62538" x2="60000" y2="76154"/>
                          <a14:foregroundMark x1="62231" y1="78538" x2="80462" y2="84923"/>
                          <a14:foregroundMark x1="80462" y1="84923" x2="71154" y2="84077"/>
                          <a14:foregroundMark x1="89923" y1="66846" x2="88385" y2="63923"/>
                          <a14:foregroundMark x1="89538" y1="68385" x2="74462" y2="56385"/>
                          <a14:foregroundMark x1="74462" y1="56385" x2="71308" y2="56385"/>
                          <a14:foregroundMark x1="71154" y1="56000" x2="86462" y2="62769"/>
                          <a14:foregroundMark x1="61538" y1="64462" x2="59846" y2="73769"/>
                          <a14:foregroundMark x1="59361" y1="71245" x2="72846" y2="62231"/>
                          <a14:foregroundMark x1="59615" y1="72231" x2="66692" y2="64077"/>
                          <a14:foregroundMark x1="60000" y1="73385" x2="65462" y2="63462"/>
                          <a14:foregroundMark x1="60000" y1="66846" x2="59462" y2="70385"/>
                          <a14:backgroundMark x1="70077" y1="54923" x2="69769" y2="54923"/>
                          <a14:backgroundMark x1="70231" y1="54538" x2="68000" y2="55154"/>
                          <a14:backgroundMark x1="58000" y1="71000" x2="58154" y2="72000"/>
                          <a14:backgroundMark x1="62923" y1="81923" x2="63308" y2="82308"/>
                          <a14:backgroundMark x1="82846" y1="85385" x2="87923" y2="82000"/>
                          <a14:backgroundMark x1="90000" y1="78462" x2="91308" y2="73923"/>
                          <a14:backgroundMark x1="91231" y1="73000" x2="91692" y2="74846"/>
                          <a14:backgroundMark x1="91692" y1="74077" x2="91538" y2="76308"/>
                          <a14:backgroundMark x1="90077" y1="61077" x2="88538" y2="59538"/>
                          <a14:backgroundMark x1="87308" y1="59154" x2="89308" y2="61077"/>
                          <a14:backgroundMark x1="89923" y1="61000" x2="88538" y2="59846"/>
                          <a14:backgroundMark x1="89231" y1="61538" x2="88385" y2="60231"/>
                          <a14:backgroundMark x1="87692" y1="59462" x2="88923" y2="61308"/>
                          <a14:backgroundMark x1="88154" y1="60769" x2="87923" y2="60231"/>
                          <a14:backgroundMark x1="87462" y1="81385" x2="87231" y2="81615"/>
                          <a14:backgroundMark x1="63000" y1="81846" x2="64308" y2="83231"/>
                          <a14:backgroundMark x1="63538" y1="82538" x2="64615" y2="83000"/>
                          <a14:backgroundMark x1="68462" y1="85846" x2="69615" y2="86231"/>
                          <a14:backgroundMark x1="68308" y1="85462" x2="69692" y2="86154"/>
                          <a14:backgroundMark x1="87077" y1="82077" x2="87615" y2="81385"/>
                        </a14:backgroundRemoval>
                      </a14:imgEffect>
                    </a14:imgLayer>
                  </a14:imgProps>
                </a:ext>
              </a:extLst>
            </a:blip>
            <a:srcRect l="56542" t="52367" r="7044" b="11512"/>
            <a:stretch>
              <a:fillRect/>
            </a:stretch>
          </p:blipFill>
          <p:spPr>
            <a:xfrm>
              <a:off x="3549575" y="8198511"/>
              <a:ext cx="519986" cy="515816"/>
            </a:xfrm>
            <a:prstGeom prst="rect">
              <a:avLst/>
            </a:prstGeom>
          </p:spPr>
        </p:pic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3563002-DA4D-D987-DD3C-187BED36D15D}"/>
              </a:ext>
            </a:extLst>
          </p:cNvPr>
          <p:cNvSpPr txBox="1"/>
          <p:nvPr/>
        </p:nvSpPr>
        <p:spPr>
          <a:xfrm>
            <a:off x="6736698" y="7066722"/>
            <a:ext cx="328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solidFill>
                  <a:schemeClr val="bg1"/>
                </a:solidFill>
              </a:rPr>
              <a:t>x</a:t>
            </a:r>
            <a:endParaRPr lang="es-PE">
              <a:solidFill>
                <a:schemeClr val="bg1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3008A45-3079-F538-51B9-43077C12ABBA}"/>
              </a:ext>
            </a:extLst>
          </p:cNvPr>
          <p:cNvSpPr txBox="1"/>
          <p:nvPr/>
        </p:nvSpPr>
        <p:spPr>
          <a:xfrm>
            <a:off x="8440545" y="8984754"/>
            <a:ext cx="2778509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 dirty="0"/>
              <a:t>Esta alerta debe salir en caso no se haya ingresado la información de liberación dentro de las 30h.</a:t>
            </a:r>
            <a:endParaRPr lang="es-PE" sz="1600" dirty="0"/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D8B0C89F-42F7-2345-85F7-DAEF2DB561A8}"/>
              </a:ext>
            </a:extLst>
          </p:cNvPr>
          <p:cNvGrpSpPr/>
          <p:nvPr/>
        </p:nvGrpSpPr>
        <p:grpSpPr>
          <a:xfrm>
            <a:off x="11739781" y="1622827"/>
            <a:ext cx="3865418" cy="7061154"/>
            <a:chOff x="10674555" y="1463929"/>
            <a:chExt cx="3865418" cy="7061154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56F41AA3-BAF7-3957-693B-362B45892B8F}"/>
                </a:ext>
              </a:extLst>
            </p:cNvPr>
            <p:cNvGrpSpPr/>
            <p:nvPr/>
          </p:nvGrpSpPr>
          <p:grpSpPr>
            <a:xfrm>
              <a:off x="10674555" y="1463929"/>
              <a:ext cx="3865418" cy="7061154"/>
              <a:chOff x="9275362" y="1463929"/>
              <a:chExt cx="3865418" cy="7061154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F270A13B-4E68-FE44-43DA-172C01FF5E8B}"/>
                  </a:ext>
                </a:extLst>
              </p:cNvPr>
              <p:cNvGrpSpPr/>
              <p:nvPr/>
            </p:nvGrpSpPr>
            <p:grpSpPr>
              <a:xfrm>
                <a:off x="9275362" y="1463929"/>
                <a:ext cx="3865418" cy="7061154"/>
                <a:chOff x="9275362" y="1463929"/>
                <a:chExt cx="3865418" cy="7061154"/>
              </a:xfrm>
            </p:grpSpPr>
            <p:pic>
              <p:nvPicPr>
                <p:cNvPr id="50" name="Imagen 49">
                  <a:extLst>
                    <a:ext uri="{FF2B5EF4-FFF2-40B4-BE49-F238E27FC236}">
                      <a16:creationId xmlns:a16="http://schemas.microsoft.com/office/drawing/2014/main" id="{DC5BC623-9240-38AA-F37E-D87DC58ECE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75362" y="1463929"/>
                  <a:ext cx="3865418" cy="7061154"/>
                </a:xfrm>
                <a:prstGeom prst="rect">
                  <a:avLst/>
                </a:prstGeom>
                <a:ln w="38100" cap="sq">
                  <a:solidFill>
                    <a:srgbClr val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p:spPr>
            </p:pic>
            <p:sp>
              <p:nvSpPr>
                <p:cNvPr id="51" name="Rectángulo 50">
                  <a:extLst>
                    <a:ext uri="{FF2B5EF4-FFF2-40B4-BE49-F238E27FC236}">
                      <a16:creationId xmlns:a16="http://schemas.microsoft.com/office/drawing/2014/main" id="{18EB0423-476B-9140-7F9C-6D52E7B51B2E}"/>
                    </a:ext>
                  </a:extLst>
                </p:cNvPr>
                <p:cNvSpPr/>
                <p:nvPr/>
              </p:nvSpPr>
              <p:spPr>
                <a:xfrm>
                  <a:off x="9303071" y="1696262"/>
                  <a:ext cx="3810000" cy="4714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2" name="Rectángulo 51">
                  <a:extLst>
                    <a:ext uri="{FF2B5EF4-FFF2-40B4-BE49-F238E27FC236}">
                      <a16:creationId xmlns:a16="http://schemas.microsoft.com/office/drawing/2014/main" id="{4F67989F-6873-B17F-2945-7AE44D8B7608}"/>
                    </a:ext>
                  </a:extLst>
                </p:cNvPr>
                <p:cNvSpPr/>
                <p:nvPr/>
              </p:nvSpPr>
              <p:spPr>
                <a:xfrm>
                  <a:off x="9392093" y="1755850"/>
                  <a:ext cx="1434667" cy="35227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sz="240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badi Extra Light" panose="020B0604020202020204" pitchFamily="34" charset="0"/>
                    </a:rPr>
                    <a:t>AGROI+D</a:t>
                  </a:r>
                  <a:endParaRPr lang="es-PE" sz="24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badi Extra Light" panose="020B0604020202020204" pitchFamily="34" charset="0"/>
                  </a:endParaRPr>
                </a:p>
              </p:txBody>
            </p:sp>
            <p:sp>
              <p:nvSpPr>
                <p:cNvPr id="53" name="Rectángulo 52">
                  <a:extLst>
                    <a:ext uri="{FF2B5EF4-FFF2-40B4-BE49-F238E27FC236}">
                      <a16:creationId xmlns:a16="http://schemas.microsoft.com/office/drawing/2014/main" id="{FF305F39-DC21-01A8-36EE-4E07BE513EA5}"/>
                    </a:ext>
                  </a:extLst>
                </p:cNvPr>
                <p:cNvSpPr/>
                <p:nvPr/>
              </p:nvSpPr>
              <p:spPr>
                <a:xfrm>
                  <a:off x="9471271" y="2377415"/>
                  <a:ext cx="3474972" cy="36079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pic>
              <p:nvPicPr>
                <p:cNvPr id="54" name="Picture 4" descr="Gráficos escalables iconos de computadora gráficos de red portátiles, icono  de salida, cdr, texto, icono de salida png | PNGWing">
                  <a:extLst>
                    <a:ext uri="{FF2B5EF4-FFF2-40B4-BE49-F238E27FC236}">
                      <a16:creationId xmlns:a16="http://schemas.microsoft.com/office/drawing/2014/main" id="{618921E1-4DEE-C949-1C02-B896EE3E60C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895" b="96632" l="543" r="97283">
                              <a14:foregroundMark x1="50042" y1="12244" x2="36739" y2="5895"/>
                              <a14:foregroundMark x1="57985" y1="16034" x2="57540" y2="15821"/>
                              <a14:foregroundMark x1="59239" y1="16632" x2="58355" y2="16210"/>
                              <a14:foregroundMark x1="36739" y1="5895" x2="20435" y2="7158"/>
                              <a14:foregroundMark x1="12737" y1="15836" x2="6522" y2="22842"/>
                              <a14:foregroundMark x1="20435" y1="7158" x2="15617" y2="12589"/>
                              <a14:foregroundMark x1="6522" y1="22842" x2="5435" y2="74421"/>
                              <a14:foregroundMark x1="5435" y1="74421" x2="11957" y2="90842"/>
                              <a14:foregroundMark x1="11957" y1="90842" x2="33587" y2="94947"/>
                              <a14:foregroundMark x1="33587" y1="94947" x2="55435" y2="90526"/>
                              <a14:foregroundMark x1="55435" y1="90526" x2="63043" y2="80000"/>
                              <a14:foregroundMark x1="44565" y1="47263" x2="78696" y2="44632"/>
                              <a14:foregroundMark x1="77496" y1="56958" x2="76739" y2="64737"/>
                              <a14:foregroundMark x1="78696" y1="44632" x2="77613" y2="55759"/>
                              <a14:foregroundMark x1="76739" y1="64737" x2="95000" y2="53684"/>
                              <a14:foregroundMark x1="95000" y1="53684" x2="79239" y2="39368"/>
                              <a14:foregroundMark x1="79239" y1="39368" x2="77065" y2="35895"/>
                              <a14:foregroundMark x1="79130" y1="47579" x2="38804" y2="50632"/>
                              <a14:foregroundMark x1="38804" y1="50632" x2="81630" y2="47789"/>
                              <a14:foregroundMark x1="81630" y1="47789" x2="82500" y2="47789"/>
                              <a14:foregroundMark x1="75870" y1="41158" x2="90479" y2="39510"/>
                              <a14:foregroundMark x1="91797" y1="39625" x2="94783" y2="52737"/>
                              <a14:foregroundMark x1="97065" y1="49579" x2="97391" y2="52105"/>
                              <a14:foregroundMark x1="54365" y1="11816" x2="43913" y2="2526"/>
                              <a14:foregroundMark x1="59072" y1="16000" x2="57962" y2="15013"/>
                              <a14:foregroundMark x1="59783" y1="16632" x2="59072" y2="16000"/>
                              <a14:foregroundMark x1="43913" y1="2526" x2="15761" y2="3579"/>
                              <a14:foregroundMark x1="15761" y1="3579" x2="1413" y2="14842"/>
                              <a14:foregroundMark x1="1413" y1="14842" x2="978" y2="72737"/>
                              <a14:foregroundMark x1="978" y1="72737" x2="9783" y2="23579"/>
                              <a14:foregroundMark x1="23895" y1="12054" x2="24348" y2="11684"/>
                              <a14:foregroundMark x1="9783" y1="23579" x2="12657" y2="21232"/>
                              <a14:foregroundMark x1="56397" y1="12187" x2="57935" y2="12211"/>
                              <a14:foregroundMark x1="24348" y1="11684" x2="49938" y2="12086"/>
                              <a14:foregroundMark x1="58952" y1="14352" x2="60435" y2="17474"/>
                              <a14:foregroundMark x1="57935" y1="12211" x2="58861" y2="14161"/>
                              <a14:foregroundMark x1="61630" y1="17789" x2="53043" y2="3579"/>
                              <a14:foregroundMark x1="53043" y1="3579" x2="45543" y2="4947"/>
                              <a14:foregroundMark x1="53587" y1="1895" x2="67283" y2="9368"/>
                              <a14:foregroundMark x1="67283" y1="9368" x2="60978" y2="9474"/>
                              <a14:foregroundMark x1="8261" y1="8421" x2="217" y2="51579"/>
                              <a14:foregroundMark x1="217" y1="51579" x2="1087" y2="72000"/>
                              <a14:foregroundMark x1="1087" y1="72000" x2="9891" y2="34211"/>
                              <a14:foregroundMark x1="3261" y1="77684" x2="9239" y2="96842"/>
                              <a14:foregroundMark x1="9239" y1="96842" x2="35652" y2="98737"/>
                              <a14:foregroundMark x1="35652" y1="98737" x2="55435" y2="94000"/>
                              <a14:foregroundMark x1="55435" y1="94000" x2="67609" y2="84211"/>
                              <a14:foregroundMark x1="67609" y1="84211" x2="51413" y2="92632"/>
                              <a14:foregroundMark x1="13242" y1="84716" x2="652" y2="82105"/>
                              <a14:foregroundMark x1="27115" y1="87593" x2="26755" y2="87518"/>
                              <a14:foregroundMark x1="51413" y1="92632" x2="28349" y2="87849"/>
                              <a14:foregroundMark x1="652" y1="82105" x2="1304" y2="79579"/>
                              <a14:foregroundMark x1="21630" y1="94632" x2="47065" y2="96632"/>
                              <a14:foregroundMark x1="47065" y1="96632" x2="65000" y2="90211"/>
                              <a14:foregroundMark x1="65000" y1="90211" x2="69022" y2="86947"/>
                              <a14:backgroundMark x1="52717" y1="18842" x2="22500" y2="24105"/>
                              <a14:backgroundMark x1="22500" y1="24105" x2="20326" y2="44632"/>
                              <a14:backgroundMark x1="20326" y1="44632" x2="28913" y2="62842"/>
                              <a14:backgroundMark x1="28913" y1="62842" x2="42500" y2="70105"/>
                              <a14:backgroundMark x1="42500" y1="70105" x2="58152" y2="64105"/>
                              <a14:backgroundMark x1="58152" y1="64105" x2="72717" y2="74947"/>
                              <a14:backgroundMark x1="72717" y1="74947" x2="72717" y2="75053"/>
                              <a14:backgroundMark x1="24783" y1="14737" x2="14565" y2="20947"/>
                              <a14:backgroundMark x1="22391" y1="14526" x2="14348" y2="19579"/>
                              <a14:backgroundMark x1="51196" y1="13895" x2="56413" y2="16421"/>
                              <a14:backgroundMark x1="56630" y1="16421" x2="57391" y2="16105"/>
                              <a14:backgroundMark x1="57609" y1="17474" x2="55978" y2="13368"/>
                              <a14:backgroundMark x1="52065" y1="13053" x2="51304" y2="12947"/>
                              <a14:backgroundMark x1="55109" y1="13158" x2="57283" y2="16211"/>
                              <a14:backgroundMark x1="57065" y1="14632" x2="57283" y2="16000"/>
                              <a14:backgroundMark x1="57065" y1="15579" x2="57500" y2="15579"/>
                              <a14:backgroundMark x1="57500" y1="16000" x2="57500" y2="16000"/>
                              <a14:backgroundMark x1="57609" y1="16105" x2="57500" y2="15474"/>
                              <a14:backgroundMark x1="58043" y1="16211" x2="58043" y2="15263"/>
                              <a14:backgroundMark x1="57826" y1="15053" x2="57717" y2="14842"/>
                              <a14:backgroundMark x1="56413" y1="13579" x2="50652" y2="12526"/>
                              <a14:backgroundMark x1="51087" y1="12842" x2="50435" y2="12842"/>
                              <a14:backgroundMark x1="24674" y1="13263" x2="21304" y2="13158"/>
                              <a14:backgroundMark x1="15326" y1="13158" x2="13587" y2="15789"/>
                              <a14:backgroundMark x1="13587" y1="18632" x2="13478" y2="21263"/>
                              <a14:backgroundMark x1="16304" y1="13158" x2="12935" y2="16000"/>
                              <a14:backgroundMark x1="15870" y1="12842" x2="15870" y2="13053"/>
                              <a14:backgroundMark x1="92283" y1="39789" x2="91848" y2="39263"/>
                              <a14:backgroundMark x1="91087" y1="37263" x2="91848" y2="38421"/>
                              <a14:backgroundMark x1="92717" y1="39368" x2="91522" y2="38632"/>
                              <a14:backgroundMark x1="92283" y1="39368" x2="91630" y2="38421"/>
                              <a14:backgroundMark x1="90326" y1="37053" x2="92609" y2="38947"/>
                              <a14:backgroundMark x1="92609" y1="39789" x2="92283" y2="39263"/>
                              <a14:backgroundMark x1="76957" y1="57053" x2="77609" y2="56737"/>
                              <a14:backgroundMark x1="14130" y1="83579" x2="26957" y2="86737"/>
                              <a14:backgroundMark x1="27935" y1="87263" x2="26957" y2="87368"/>
                              <a14:backgroundMark x1="13587" y1="85263" x2="13587" y2="84632"/>
                              <a14:backgroundMark x1="25761" y1="87474" x2="26848" y2="87368"/>
                              <a14:backgroundMark x1="13370" y1="84842" x2="13370" y2="84737"/>
                              <a14:backgroundMark x1="13152" y1="84947" x2="13043" y2="84842"/>
                              <a14:backgroundMark x1="13261" y1="85053" x2="13152" y2="84842"/>
                              <a14:backgroundMark x1="13152" y1="84842" x2="13370" y2="8410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717355" y="1744015"/>
                  <a:ext cx="341153" cy="3522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5" name="CuadroTexto 54">
                  <a:extLst>
                    <a:ext uri="{FF2B5EF4-FFF2-40B4-BE49-F238E27FC236}">
                      <a16:creationId xmlns:a16="http://schemas.microsoft.com/office/drawing/2014/main" id="{70291084-51B8-BBCE-CC09-55D30396A1C7}"/>
                    </a:ext>
                  </a:extLst>
                </p:cNvPr>
                <p:cNvSpPr txBox="1"/>
                <p:nvPr/>
              </p:nvSpPr>
              <p:spPr>
                <a:xfrm>
                  <a:off x="9320048" y="2504988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FUNDO:</a:t>
                  </a:r>
                  <a:endParaRPr lang="es-PE" sz="1600" b="1"/>
                </a:p>
              </p:txBody>
            </p:sp>
            <p:sp>
              <p:nvSpPr>
                <p:cNvPr id="57" name="CuadroTexto 56">
                  <a:extLst>
                    <a:ext uri="{FF2B5EF4-FFF2-40B4-BE49-F238E27FC236}">
                      <a16:creationId xmlns:a16="http://schemas.microsoft.com/office/drawing/2014/main" id="{0C9F9F9C-B198-7366-4D00-F121C177685C}"/>
                    </a:ext>
                  </a:extLst>
                </p:cNvPr>
                <p:cNvSpPr txBox="1"/>
                <p:nvPr/>
              </p:nvSpPr>
              <p:spPr>
                <a:xfrm>
                  <a:off x="9335678" y="2813175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LOTE:</a:t>
                  </a:r>
                  <a:endParaRPr lang="es-PE" sz="1600" b="1"/>
                </a:p>
              </p:txBody>
            </p:sp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F2CC20CE-7DE5-1BF3-4540-9E94E6045730}"/>
                    </a:ext>
                  </a:extLst>
                </p:cNvPr>
                <p:cNvSpPr txBox="1"/>
                <p:nvPr/>
              </p:nvSpPr>
              <p:spPr>
                <a:xfrm>
                  <a:off x="9335678" y="2178505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FECHA:</a:t>
                  </a:r>
                  <a:endParaRPr lang="es-PE" sz="1600" b="1"/>
                </a:p>
              </p:txBody>
            </p:sp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242649F7-22CD-F9BB-DC49-680626FC3D5A}"/>
                    </a:ext>
                  </a:extLst>
                </p:cNvPr>
                <p:cNvSpPr txBox="1"/>
                <p:nvPr/>
              </p:nvSpPr>
              <p:spPr>
                <a:xfrm>
                  <a:off x="9335678" y="3150181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ESPECIE:</a:t>
                  </a:r>
                  <a:endParaRPr lang="es-PE" sz="1600" b="1"/>
                </a:p>
              </p:txBody>
            </p:sp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F458CD89-60FB-75D2-4F6C-9A0B094644D3}"/>
                    </a:ext>
                  </a:extLst>
                </p:cNvPr>
                <p:cNvSpPr txBox="1"/>
                <p:nvPr/>
              </p:nvSpPr>
              <p:spPr>
                <a:xfrm>
                  <a:off x="9324059" y="3808828"/>
                  <a:ext cx="22224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 dirty="0"/>
                    <a:t>CANTIDAD/MILLARES:</a:t>
                  </a:r>
                  <a:endParaRPr lang="es-PE" sz="1600" b="1" dirty="0"/>
                </a:p>
              </p:txBody>
            </p:sp>
            <p:pic>
              <p:nvPicPr>
                <p:cNvPr id="61" name="Imagen 60">
                  <a:extLst>
                    <a:ext uri="{FF2B5EF4-FFF2-40B4-BE49-F238E27FC236}">
                      <a16:creationId xmlns:a16="http://schemas.microsoft.com/office/drawing/2014/main" id="{6EF172A1-C472-8E8E-A556-C69B9853B7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336561" y="3801846"/>
                  <a:ext cx="1038370" cy="295316"/>
                </a:xfrm>
                <a:prstGeom prst="rect">
                  <a:avLst/>
                </a:prstGeom>
              </p:spPr>
            </p:pic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F5F3B79B-33F8-F0E2-E3B0-192FE6F466A2}"/>
                    </a:ext>
                  </a:extLst>
                </p:cNvPr>
                <p:cNvSpPr txBox="1"/>
                <p:nvPr/>
              </p:nvSpPr>
              <p:spPr>
                <a:xfrm>
                  <a:off x="9345450" y="4013835"/>
                  <a:ext cx="115570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PLAGA OBJETIVO:</a:t>
                  </a:r>
                  <a:endParaRPr lang="es-PE" sz="1600" b="1"/>
                </a:p>
              </p:txBody>
            </p:sp>
            <p:sp>
              <p:nvSpPr>
                <p:cNvPr id="99" name="CuadroTexto 98">
                  <a:extLst>
                    <a:ext uri="{FF2B5EF4-FFF2-40B4-BE49-F238E27FC236}">
                      <a16:creationId xmlns:a16="http://schemas.microsoft.com/office/drawing/2014/main" id="{B5DC6BDD-98D2-80A4-1962-F39F5670B4D6}"/>
                    </a:ext>
                  </a:extLst>
                </p:cNvPr>
                <p:cNvSpPr txBox="1"/>
                <p:nvPr/>
              </p:nvSpPr>
              <p:spPr>
                <a:xfrm>
                  <a:off x="9340618" y="5250226"/>
                  <a:ext cx="136144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*FECHA DE LIBERACION :</a:t>
                  </a:r>
                  <a:endParaRPr lang="es-PE" sz="1600" b="1"/>
                </a:p>
              </p:txBody>
            </p:sp>
            <p:sp>
              <p:nvSpPr>
                <p:cNvPr id="103" name="CuadroTexto 102">
                  <a:extLst>
                    <a:ext uri="{FF2B5EF4-FFF2-40B4-BE49-F238E27FC236}">
                      <a16:creationId xmlns:a16="http://schemas.microsoft.com/office/drawing/2014/main" id="{5A87C42B-5246-E6C1-CBAC-0C2BE105F43C}"/>
                    </a:ext>
                  </a:extLst>
                </p:cNvPr>
                <p:cNvSpPr txBox="1"/>
                <p:nvPr/>
              </p:nvSpPr>
              <p:spPr>
                <a:xfrm>
                  <a:off x="9341170" y="6375236"/>
                  <a:ext cx="169830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OBSERVACIONES:</a:t>
                  </a:r>
                  <a:endParaRPr lang="es-PE" sz="1600" b="1"/>
                </a:p>
              </p:txBody>
            </p:sp>
            <p:pic>
              <p:nvPicPr>
                <p:cNvPr id="122" name="Imagen 121">
                  <a:extLst>
                    <a:ext uri="{FF2B5EF4-FFF2-40B4-BE49-F238E27FC236}">
                      <a16:creationId xmlns:a16="http://schemas.microsoft.com/office/drawing/2014/main" id="{B6F25E0F-E634-F9CD-C395-42BCA6CDF8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66964" y="6375236"/>
                  <a:ext cx="1493033" cy="323496"/>
                </a:xfrm>
                <a:prstGeom prst="rect">
                  <a:avLst/>
                </a:prstGeom>
              </p:spPr>
            </p:pic>
            <p:pic>
              <p:nvPicPr>
                <p:cNvPr id="123" name="Imagen 122">
                  <a:extLst>
                    <a:ext uri="{FF2B5EF4-FFF2-40B4-BE49-F238E27FC236}">
                      <a16:creationId xmlns:a16="http://schemas.microsoft.com/office/drawing/2014/main" id="{AE36D9D1-D49D-011C-F284-FEA5280CAA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73478" y="2515018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124" name="Imagen 123">
                  <a:extLst>
                    <a:ext uri="{FF2B5EF4-FFF2-40B4-BE49-F238E27FC236}">
                      <a16:creationId xmlns:a16="http://schemas.microsoft.com/office/drawing/2014/main" id="{014F2E09-D858-E4A6-E137-7EE05D237D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89357" y="2847872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125" name="Imagen 124">
                  <a:extLst>
                    <a:ext uri="{FF2B5EF4-FFF2-40B4-BE49-F238E27FC236}">
                      <a16:creationId xmlns:a16="http://schemas.microsoft.com/office/drawing/2014/main" id="{9E532EAE-1CA9-FD7A-1473-686BA9B93D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89357" y="3169403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126" name="Imagen 125">
                  <a:extLst>
                    <a:ext uri="{FF2B5EF4-FFF2-40B4-BE49-F238E27FC236}">
                      <a16:creationId xmlns:a16="http://schemas.microsoft.com/office/drawing/2014/main" id="{C8AEB40B-E840-B28F-E6D5-726309D400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329586" y="4280120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127" name="Imagen 126">
                  <a:extLst>
                    <a:ext uri="{FF2B5EF4-FFF2-40B4-BE49-F238E27FC236}">
                      <a16:creationId xmlns:a16="http://schemas.microsoft.com/office/drawing/2014/main" id="{360A764E-B4FF-7855-AFE6-3559E07696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547054" y="7512004"/>
                  <a:ext cx="514715" cy="514715"/>
                </a:xfrm>
                <a:prstGeom prst="rect">
                  <a:avLst/>
                </a:prstGeom>
              </p:spPr>
            </p:pic>
            <p:sp>
              <p:nvSpPr>
                <p:cNvPr id="2048" name="CuadroTexto 2047">
                  <a:extLst>
                    <a:ext uri="{FF2B5EF4-FFF2-40B4-BE49-F238E27FC236}">
                      <a16:creationId xmlns:a16="http://schemas.microsoft.com/office/drawing/2014/main" id="{751D13A9-55EB-9788-4E6C-25700526B901}"/>
                    </a:ext>
                  </a:extLst>
                </p:cNvPr>
                <p:cNvSpPr txBox="1"/>
                <p:nvPr/>
              </p:nvSpPr>
              <p:spPr>
                <a:xfrm>
                  <a:off x="10232614" y="2532601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Los laureles</a:t>
                  </a:r>
                  <a:endParaRPr lang="es-PE" sz="1200"/>
                </a:p>
              </p:txBody>
            </p:sp>
            <p:sp>
              <p:nvSpPr>
                <p:cNvPr id="2049" name="CuadroTexto 2048">
                  <a:extLst>
                    <a:ext uri="{FF2B5EF4-FFF2-40B4-BE49-F238E27FC236}">
                      <a16:creationId xmlns:a16="http://schemas.microsoft.com/office/drawing/2014/main" id="{1B7DEAE1-20C2-C6C2-ABC6-7A0EF3987D30}"/>
                    </a:ext>
                  </a:extLst>
                </p:cNvPr>
                <p:cNvSpPr txBox="1"/>
                <p:nvPr/>
              </p:nvSpPr>
              <p:spPr>
                <a:xfrm>
                  <a:off x="10238501" y="2876163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LL06</a:t>
                  </a:r>
                  <a:endParaRPr lang="es-PE" sz="1200"/>
                </a:p>
              </p:txBody>
            </p:sp>
            <p:sp>
              <p:nvSpPr>
                <p:cNvPr id="2050" name="CuadroTexto 2049">
                  <a:extLst>
                    <a:ext uri="{FF2B5EF4-FFF2-40B4-BE49-F238E27FC236}">
                      <a16:creationId xmlns:a16="http://schemas.microsoft.com/office/drawing/2014/main" id="{EE5CF3B3-BF18-C123-2602-482246D83EA0}"/>
                    </a:ext>
                  </a:extLst>
                </p:cNvPr>
                <p:cNvSpPr txBox="1"/>
                <p:nvPr/>
              </p:nvSpPr>
              <p:spPr>
                <a:xfrm>
                  <a:off x="10210680" y="3180679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CHRYSOPAS</a:t>
                  </a:r>
                  <a:endParaRPr lang="es-PE" sz="1200"/>
                </a:p>
              </p:txBody>
            </p:sp>
            <p:sp>
              <p:nvSpPr>
                <p:cNvPr id="2051" name="CuadroTexto 2050">
                  <a:extLst>
                    <a:ext uri="{FF2B5EF4-FFF2-40B4-BE49-F238E27FC236}">
                      <a16:creationId xmlns:a16="http://schemas.microsoft.com/office/drawing/2014/main" id="{2AC64766-D477-40C1-4A36-A17F7F037786}"/>
                    </a:ext>
                  </a:extLst>
                </p:cNvPr>
                <p:cNvSpPr txBox="1"/>
                <p:nvPr/>
              </p:nvSpPr>
              <p:spPr>
                <a:xfrm>
                  <a:off x="11341812" y="3814534"/>
                  <a:ext cx="92997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1210</a:t>
                  </a:r>
                  <a:endParaRPr lang="es-PE" sz="1200"/>
                </a:p>
              </p:txBody>
            </p:sp>
            <p:sp>
              <p:nvSpPr>
                <p:cNvPr id="2052" name="CuadroTexto 2051">
                  <a:extLst>
                    <a:ext uri="{FF2B5EF4-FFF2-40B4-BE49-F238E27FC236}">
                      <a16:creationId xmlns:a16="http://schemas.microsoft.com/office/drawing/2014/main" id="{24253816-55D0-1473-A631-BC2EB68EBC98}"/>
                    </a:ext>
                  </a:extLst>
                </p:cNvPr>
                <p:cNvSpPr txBox="1"/>
                <p:nvPr/>
              </p:nvSpPr>
              <p:spPr>
                <a:xfrm>
                  <a:off x="10361773" y="4274791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TRIPS</a:t>
                  </a:r>
                  <a:endParaRPr lang="es-PE" sz="1200"/>
                </a:p>
              </p:txBody>
            </p:sp>
            <p:sp>
              <p:nvSpPr>
                <p:cNvPr id="2054" name="CuadroTexto 2053">
                  <a:extLst>
                    <a:ext uri="{FF2B5EF4-FFF2-40B4-BE49-F238E27FC236}">
                      <a16:creationId xmlns:a16="http://schemas.microsoft.com/office/drawing/2014/main" id="{6D53D886-D48A-18E0-5FF0-963B72FF9B94}"/>
                    </a:ext>
                  </a:extLst>
                </p:cNvPr>
                <p:cNvSpPr txBox="1"/>
                <p:nvPr/>
              </p:nvSpPr>
              <p:spPr>
                <a:xfrm>
                  <a:off x="9324059" y="3475206"/>
                  <a:ext cx="185337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ET.FENOLOGICA:</a:t>
                  </a:r>
                  <a:endParaRPr lang="es-PE" sz="1600" b="1"/>
                </a:p>
              </p:txBody>
            </p:sp>
            <p:pic>
              <p:nvPicPr>
                <p:cNvPr id="2055" name="Imagen 2054">
                  <a:extLst>
                    <a:ext uri="{FF2B5EF4-FFF2-40B4-BE49-F238E27FC236}">
                      <a16:creationId xmlns:a16="http://schemas.microsoft.com/office/drawing/2014/main" id="{09BCF086-D23E-63DF-442D-5E82927501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66414" y="3510396"/>
                  <a:ext cx="1508517" cy="264392"/>
                </a:xfrm>
                <a:prstGeom prst="rect">
                  <a:avLst/>
                </a:prstGeom>
              </p:spPr>
            </p:pic>
            <p:sp>
              <p:nvSpPr>
                <p:cNvPr id="2056" name="CuadroTexto 2055">
                  <a:extLst>
                    <a:ext uri="{FF2B5EF4-FFF2-40B4-BE49-F238E27FC236}">
                      <a16:creationId xmlns:a16="http://schemas.microsoft.com/office/drawing/2014/main" id="{B7C8CB2A-DE18-501A-18E1-8ADC9379995B}"/>
                    </a:ext>
                  </a:extLst>
                </p:cNvPr>
                <p:cNvSpPr txBox="1"/>
                <p:nvPr/>
              </p:nvSpPr>
              <p:spPr>
                <a:xfrm>
                  <a:off x="10832633" y="3536486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POST COSECHA</a:t>
                  </a:r>
                  <a:endParaRPr lang="es-PE" sz="1200"/>
                </a:p>
              </p:txBody>
            </p:sp>
            <p:sp>
              <p:nvSpPr>
                <p:cNvPr id="2057" name="CuadroTexto 2056">
                  <a:extLst>
                    <a:ext uri="{FF2B5EF4-FFF2-40B4-BE49-F238E27FC236}">
                      <a16:creationId xmlns:a16="http://schemas.microsoft.com/office/drawing/2014/main" id="{16DEDF45-02B5-2621-F27E-C8819FBE8D07}"/>
                    </a:ext>
                  </a:extLst>
                </p:cNvPr>
                <p:cNvSpPr txBox="1"/>
                <p:nvPr/>
              </p:nvSpPr>
              <p:spPr>
                <a:xfrm>
                  <a:off x="9366069" y="5744603"/>
                  <a:ext cx="195180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*HORA DE LIBERACION :</a:t>
                  </a:r>
                  <a:endParaRPr lang="es-PE" sz="1600" b="1"/>
                </a:p>
              </p:txBody>
            </p:sp>
            <p:pic>
              <p:nvPicPr>
                <p:cNvPr id="2058" name="Imagen 2057">
                  <a:extLst>
                    <a:ext uri="{FF2B5EF4-FFF2-40B4-BE49-F238E27FC236}">
                      <a16:creationId xmlns:a16="http://schemas.microsoft.com/office/drawing/2014/main" id="{EFE4BC35-04AB-D328-C654-B37C2FBFE3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643466" y="5950123"/>
                  <a:ext cx="1704250" cy="304843"/>
                </a:xfrm>
                <a:prstGeom prst="rect">
                  <a:avLst/>
                </a:prstGeom>
              </p:spPr>
            </p:pic>
            <p:pic>
              <p:nvPicPr>
                <p:cNvPr id="2059" name="Imagen 2058">
                  <a:extLst>
                    <a:ext uri="{FF2B5EF4-FFF2-40B4-BE49-F238E27FC236}">
                      <a16:creationId xmlns:a16="http://schemas.microsoft.com/office/drawing/2014/main" id="{A540ECCA-B77B-3CF0-89F6-EBDF2F63B7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624883" y="5432062"/>
                  <a:ext cx="1704250" cy="304843"/>
                </a:xfrm>
                <a:prstGeom prst="rect">
                  <a:avLst/>
                </a:prstGeom>
              </p:spPr>
            </p:pic>
            <p:pic>
              <p:nvPicPr>
                <p:cNvPr id="2061" name="Gráfico 2060" descr="Cámara con relleno sólido">
                  <a:extLst>
                    <a:ext uri="{FF2B5EF4-FFF2-40B4-BE49-F238E27FC236}">
                      <a16:creationId xmlns:a16="http://schemas.microsoft.com/office/drawing/2014/main" id="{F8798065-B01B-95B6-BC7F-BEB4C424DB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353928" y="5292800"/>
                  <a:ext cx="441121" cy="441121"/>
                </a:xfrm>
                <a:prstGeom prst="rect">
                  <a:avLst/>
                </a:prstGeom>
              </p:spPr>
            </p:pic>
            <p:sp>
              <p:nvSpPr>
                <p:cNvPr id="2064" name="CuadroTexto 2063">
                  <a:extLst>
                    <a:ext uri="{FF2B5EF4-FFF2-40B4-BE49-F238E27FC236}">
                      <a16:creationId xmlns:a16="http://schemas.microsoft.com/office/drawing/2014/main" id="{51967632-2853-273F-29C2-DB90FFF6363D}"/>
                    </a:ext>
                  </a:extLst>
                </p:cNvPr>
                <p:cNvSpPr txBox="1"/>
                <p:nvPr/>
              </p:nvSpPr>
              <p:spPr>
                <a:xfrm>
                  <a:off x="9340618" y="4774488"/>
                  <a:ext cx="136144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ESTADO:</a:t>
                  </a:r>
                  <a:endParaRPr lang="es-PE" sz="1600" b="1"/>
                </a:p>
              </p:txBody>
            </p:sp>
            <p:pic>
              <p:nvPicPr>
                <p:cNvPr id="2065" name="Imagen 2064">
                  <a:extLst>
                    <a:ext uri="{FF2B5EF4-FFF2-40B4-BE49-F238E27FC236}">
                      <a16:creationId xmlns:a16="http://schemas.microsoft.com/office/drawing/2014/main" id="{A5F608E1-06DD-5D11-EEB9-4AD79EF8ED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370253" y="4785188"/>
                  <a:ext cx="1493033" cy="323496"/>
                </a:xfrm>
                <a:prstGeom prst="rect">
                  <a:avLst/>
                </a:prstGeom>
              </p:spPr>
            </p:pic>
            <p:sp>
              <p:nvSpPr>
                <p:cNvPr id="2066" name="CuadroTexto 2065">
                  <a:extLst>
                    <a:ext uri="{FF2B5EF4-FFF2-40B4-BE49-F238E27FC236}">
                      <a16:creationId xmlns:a16="http://schemas.microsoft.com/office/drawing/2014/main" id="{6C4C4060-A3BF-A417-01DD-237B50F37712}"/>
                    </a:ext>
                  </a:extLst>
                </p:cNvPr>
                <p:cNvSpPr txBox="1"/>
                <p:nvPr/>
              </p:nvSpPr>
              <p:spPr>
                <a:xfrm>
                  <a:off x="10398031" y="4789574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ENTREGADO</a:t>
                  </a:r>
                  <a:endParaRPr lang="es-PE" sz="1200"/>
                </a:p>
              </p:txBody>
            </p:sp>
            <p:pic>
              <p:nvPicPr>
                <p:cNvPr id="2067" name="Imagen 2066">
                  <a:extLst>
                    <a:ext uri="{FF2B5EF4-FFF2-40B4-BE49-F238E27FC236}">
                      <a16:creationId xmlns:a16="http://schemas.microsoft.com/office/drawing/2014/main" id="{8ACCBE17-606A-C69B-70A2-05E8397507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00451" y="2183549"/>
                  <a:ext cx="1468295" cy="302879"/>
                </a:xfrm>
                <a:prstGeom prst="rect">
                  <a:avLst/>
                </a:prstGeom>
                <a:solidFill>
                  <a:srgbClr val="D9D9D9">
                    <a:alpha val="50000"/>
                  </a:srgbClr>
                </a:solidFill>
                <a:ln>
                  <a:solidFill>
                    <a:srgbClr val="D9D9D9"/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</p:pic>
            <p:sp>
              <p:nvSpPr>
                <p:cNvPr id="2068" name="CuadroTexto 2067">
                  <a:extLst>
                    <a:ext uri="{FF2B5EF4-FFF2-40B4-BE49-F238E27FC236}">
                      <a16:creationId xmlns:a16="http://schemas.microsoft.com/office/drawing/2014/main" id="{E46A001D-DC80-2708-103D-F5F4AB995C2A}"/>
                    </a:ext>
                  </a:extLst>
                </p:cNvPr>
                <p:cNvSpPr txBox="1"/>
                <p:nvPr/>
              </p:nvSpPr>
              <p:spPr>
                <a:xfrm>
                  <a:off x="10243702" y="2197223"/>
                  <a:ext cx="11557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08/07/2025</a:t>
                  </a:r>
                  <a:endParaRPr lang="es-PE" sz="1200"/>
                </a:p>
              </p:txBody>
            </p:sp>
          </p:grpSp>
          <p:pic>
            <p:nvPicPr>
              <p:cNvPr id="49" name="Picture 2" descr="Kerr center pdf iconos de computadora, lonas toldo, ángulo, texto png |  PNGEgg">
                <a:extLst>
                  <a:ext uri="{FF2B5EF4-FFF2-40B4-BE49-F238E27FC236}">
                    <a16:creationId xmlns:a16="http://schemas.microsoft.com/office/drawing/2014/main" id="{B72BF1DF-3A8D-9AF5-5CC5-3428C02E16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 cstate="print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10000" b="90000" l="10000" r="90000">
                            <a14:foregroundMark x1="44333" y1="54430" x2="48889" y2="42563"/>
                            <a14:foregroundMark x1="48889" y1="42563" x2="48000" y2="32753"/>
                            <a14:foregroundMark x1="48000" y1="32753" x2="52000" y2="44937"/>
                            <a14:foregroundMark x1="52000" y1="44937" x2="58667" y2="53639"/>
                            <a14:foregroundMark x1="58667" y1="53639" x2="52333" y2="50475"/>
                            <a14:foregroundMark x1="52333" y1="50475" x2="43889" y2="55380"/>
                            <a14:foregroundMark x1="43889" y1="55380" x2="48778" y2="50791"/>
                            <a14:foregroundMark x1="48778" y1="50791" x2="50000" y2="50475"/>
                            <a14:foregroundMark x1="60222" y1="17563" x2="59111" y2="26266"/>
                            <a14:foregroundMark x1="59111" y1="26266" x2="65778" y2="28165"/>
                            <a14:foregroundMark x1="65778" y1="28165" x2="63778" y2="19304"/>
                            <a14:foregroundMark x1="63778" y1="19304" x2="59000" y2="17880"/>
                            <a14:foregroundMark x1="57000" y1="63449" x2="50444" y2="62500"/>
                            <a14:foregroundMark x1="50444" y1="62500" x2="43000" y2="67247"/>
                            <a14:foregroundMark x1="43000" y1="67247" x2="54000" y2="6376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760" t="8600" r="31610" b="19065"/>
              <a:stretch>
                <a:fillRect/>
              </a:stretch>
            </p:blipFill>
            <p:spPr bwMode="auto">
              <a:xfrm>
                <a:off x="12038732" y="4698414"/>
                <a:ext cx="288738" cy="4003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C6D9D6D1-7B33-7273-02BE-78A745936D4C}"/>
                </a:ext>
              </a:extLst>
            </p:cNvPr>
            <p:cNvSpPr txBox="1"/>
            <p:nvPr/>
          </p:nvSpPr>
          <p:spPr>
            <a:xfrm>
              <a:off x="10747006" y="6766937"/>
              <a:ext cx="30745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PRESENTACIONES ENTREGADAS:</a:t>
              </a:r>
              <a:endParaRPr lang="es-PE" sz="1600" b="1"/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C1F0617C-07B4-BE8A-108B-64698803109E}"/>
                </a:ext>
              </a:extLst>
            </p:cNvPr>
            <p:cNvSpPr txBox="1"/>
            <p:nvPr/>
          </p:nvSpPr>
          <p:spPr>
            <a:xfrm>
              <a:off x="10739788" y="7143762"/>
              <a:ext cx="18020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200"/>
                <a:t>PAPEL CON POSTURA :</a:t>
              </a:r>
              <a:endParaRPr lang="es-PE" sz="1200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049C3CFF-E4F6-D586-CD95-B649933CC231}"/>
                </a:ext>
              </a:extLst>
            </p:cNvPr>
            <p:cNvSpPr txBox="1"/>
            <p:nvPr/>
          </p:nvSpPr>
          <p:spPr>
            <a:xfrm>
              <a:off x="10741666" y="7486388"/>
              <a:ext cx="18226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200"/>
                <a:t>SOBRE CON CASCARILLA DE ARROZ:</a:t>
              </a:r>
              <a:endParaRPr lang="es-PE" sz="1200"/>
            </a:p>
          </p:txBody>
        </p:sp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4F2164E6-6C46-1A15-D1EF-592208990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416539" y="7099669"/>
              <a:ext cx="1493033" cy="323496"/>
            </a:xfrm>
            <a:prstGeom prst="rect">
              <a:avLst/>
            </a:prstGeom>
          </p:spPr>
        </p:pic>
        <p:pic>
          <p:nvPicPr>
            <p:cNvPr id="36" name="Imagen 35">
              <a:extLst>
                <a:ext uri="{FF2B5EF4-FFF2-40B4-BE49-F238E27FC236}">
                  <a16:creationId xmlns:a16="http://schemas.microsoft.com/office/drawing/2014/main" id="{0CFC0319-33A6-408E-1C66-738F1DAF8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453214" y="7591142"/>
              <a:ext cx="1493033" cy="323496"/>
            </a:xfrm>
            <a:prstGeom prst="rect">
              <a:avLst/>
            </a:prstGeom>
          </p:spPr>
        </p:pic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D1067B8F-6553-C0EF-0265-80BA7FA2C420}"/>
                </a:ext>
              </a:extLst>
            </p:cNvPr>
            <p:cNvSpPr txBox="1"/>
            <p:nvPr/>
          </p:nvSpPr>
          <p:spPr>
            <a:xfrm>
              <a:off x="12498362" y="7119108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1110</a:t>
              </a:r>
              <a:endParaRPr lang="es-PE" sz="1200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82E4D400-E928-D34F-EF0D-1B3CAFAD39E4}"/>
                </a:ext>
              </a:extLst>
            </p:cNvPr>
            <p:cNvSpPr txBox="1"/>
            <p:nvPr/>
          </p:nvSpPr>
          <p:spPr>
            <a:xfrm>
              <a:off x="12525722" y="7621952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100</a:t>
              </a:r>
              <a:endParaRPr lang="es-PE" sz="1200"/>
            </a:p>
          </p:txBody>
        </p:sp>
      </p:grpSp>
      <p:sp>
        <p:nvSpPr>
          <p:cNvPr id="2074" name="Rectángulo 2073">
            <a:extLst>
              <a:ext uri="{FF2B5EF4-FFF2-40B4-BE49-F238E27FC236}">
                <a16:creationId xmlns:a16="http://schemas.microsoft.com/office/drawing/2014/main" id="{34CE4204-0B5C-3505-7BBB-430C65B391FD}"/>
              </a:ext>
            </a:extLst>
          </p:cNvPr>
          <p:cNvSpPr/>
          <p:nvPr/>
        </p:nvSpPr>
        <p:spPr>
          <a:xfrm>
            <a:off x="11831847" y="5352251"/>
            <a:ext cx="3595322" cy="1153112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076" name="Conector: angular 2075">
            <a:extLst>
              <a:ext uri="{FF2B5EF4-FFF2-40B4-BE49-F238E27FC236}">
                <a16:creationId xmlns:a16="http://schemas.microsoft.com/office/drawing/2014/main" id="{9ABF5EBF-CE45-5D0E-6B16-08AD4B2DBC61}"/>
              </a:ext>
            </a:extLst>
          </p:cNvPr>
          <p:cNvCxnSpPr>
            <a:cxnSpLocks/>
            <a:stCxn id="26" idx="1"/>
          </p:cNvCxnSpPr>
          <p:nvPr/>
        </p:nvCxnSpPr>
        <p:spPr>
          <a:xfrm rot="10800000">
            <a:off x="5283201" y="8212387"/>
            <a:ext cx="3157345" cy="1310976"/>
          </a:xfrm>
          <a:prstGeom prst="bentConnector3">
            <a:avLst>
              <a:gd name="adj1" fmla="val 10028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78" name="Conector: angular 2077">
            <a:extLst>
              <a:ext uri="{FF2B5EF4-FFF2-40B4-BE49-F238E27FC236}">
                <a16:creationId xmlns:a16="http://schemas.microsoft.com/office/drawing/2014/main" id="{6CAB24D6-C24F-D5A1-7777-ED393BBBE235}"/>
              </a:ext>
            </a:extLst>
          </p:cNvPr>
          <p:cNvCxnSpPr>
            <a:cxnSpLocks/>
            <a:stCxn id="26" idx="3"/>
            <a:endCxn id="2074" idx="3"/>
          </p:cNvCxnSpPr>
          <p:nvPr/>
        </p:nvCxnSpPr>
        <p:spPr>
          <a:xfrm flipV="1">
            <a:off x="11219054" y="5928807"/>
            <a:ext cx="4208115" cy="3594556"/>
          </a:xfrm>
          <a:prstGeom prst="bentConnector3">
            <a:avLst>
              <a:gd name="adj1" fmla="val 105432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86" name="Rectángulo 2085">
            <a:extLst>
              <a:ext uri="{FF2B5EF4-FFF2-40B4-BE49-F238E27FC236}">
                <a16:creationId xmlns:a16="http://schemas.microsoft.com/office/drawing/2014/main" id="{7E5609F2-ED15-CEE0-C150-8D92C288EED9}"/>
              </a:ext>
            </a:extLst>
          </p:cNvPr>
          <p:cNvSpPr/>
          <p:nvPr/>
        </p:nvSpPr>
        <p:spPr>
          <a:xfrm>
            <a:off x="9149772" y="4862930"/>
            <a:ext cx="1098836" cy="355870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092" name="Conector: angular 2091">
            <a:extLst>
              <a:ext uri="{FF2B5EF4-FFF2-40B4-BE49-F238E27FC236}">
                <a16:creationId xmlns:a16="http://schemas.microsoft.com/office/drawing/2014/main" id="{5E46D5C2-D7CE-3159-69CF-F3A78DABCCAE}"/>
              </a:ext>
            </a:extLst>
          </p:cNvPr>
          <p:cNvCxnSpPr>
            <a:cxnSpLocks/>
            <a:endCxn id="2086" idx="2"/>
          </p:cNvCxnSpPr>
          <p:nvPr/>
        </p:nvCxnSpPr>
        <p:spPr>
          <a:xfrm rot="5400000" flipH="1" flipV="1">
            <a:off x="9475819" y="5325866"/>
            <a:ext cx="330437" cy="1163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03" name="CuadroTexto 2102">
            <a:extLst>
              <a:ext uri="{FF2B5EF4-FFF2-40B4-BE49-F238E27FC236}">
                <a16:creationId xmlns:a16="http://schemas.microsoft.com/office/drawing/2014/main" id="{4C15F9D1-BF4A-EDB2-6A92-755E06661FC9}"/>
              </a:ext>
            </a:extLst>
          </p:cNvPr>
          <p:cNvSpPr txBox="1"/>
          <p:nvPr/>
        </p:nvSpPr>
        <p:spPr>
          <a:xfrm>
            <a:off x="8093433" y="5560254"/>
            <a:ext cx="3074525" cy="20621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 dirty="0"/>
              <a:t>Una vez que se haya habilitado el botón </a:t>
            </a:r>
            <a:r>
              <a:rPr lang="es-MX" sz="1600" b="1" dirty="0"/>
              <a:t>Recibido</a:t>
            </a:r>
            <a:r>
              <a:rPr lang="es-MX" sz="1600" dirty="0"/>
              <a:t> va a tener como máx. 30h para que se pueda seleccionar, pasando ese tiempo se va a deshabilitar y  aparecerá en automático en la vista del administrador el estado en </a:t>
            </a:r>
            <a:r>
              <a:rPr lang="es-MX" sz="1600" b="1" dirty="0"/>
              <a:t>“RECIBIDO”</a:t>
            </a:r>
            <a:endParaRPr lang="es-PE" sz="1600" b="1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38154D6-0F57-F256-4383-3C5F13387F4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62339" y="5684054"/>
            <a:ext cx="2995804" cy="1755054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0DC414D2-0E21-B876-8DB5-2CC4112B04DF}"/>
              </a:ext>
            </a:extLst>
          </p:cNvPr>
          <p:cNvSpPr/>
          <p:nvPr/>
        </p:nvSpPr>
        <p:spPr>
          <a:xfrm>
            <a:off x="3961838" y="5222523"/>
            <a:ext cx="2985815" cy="482225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Proyección: Mayo 5000 </a:t>
            </a:r>
            <a:r>
              <a:rPr lang="es-MX" sz="14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mll</a:t>
            </a:r>
            <a:endParaRPr lang="es-PE" sz="1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8" name="Imagen 97">
            <a:extLst>
              <a:ext uri="{FF2B5EF4-FFF2-40B4-BE49-F238E27FC236}">
                <a16:creationId xmlns:a16="http://schemas.microsoft.com/office/drawing/2014/main" id="{A58F56CE-0BBE-7DC1-151F-3F96F73159A4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5233" t="14388" r="27148" b="24106"/>
          <a:stretch/>
        </p:blipFill>
        <p:spPr>
          <a:xfrm rot="4782351">
            <a:off x="3684758" y="4724868"/>
            <a:ext cx="407047" cy="556704"/>
          </a:xfrm>
          <a:prstGeom prst="rect">
            <a:avLst/>
          </a:prstGeom>
        </p:spPr>
      </p:pic>
      <p:sp>
        <p:nvSpPr>
          <p:cNvPr id="100" name="Triángulo isósceles 99">
            <a:extLst>
              <a:ext uri="{FF2B5EF4-FFF2-40B4-BE49-F238E27FC236}">
                <a16:creationId xmlns:a16="http://schemas.microsoft.com/office/drawing/2014/main" id="{987DA33E-7187-00AC-9BEC-E79508175A20}"/>
              </a:ext>
            </a:extLst>
          </p:cNvPr>
          <p:cNvSpPr/>
          <p:nvPr/>
        </p:nvSpPr>
        <p:spPr>
          <a:xfrm rot="16200000">
            <a:off x="5309489" y="4242536"/>
            <a:ext cx="3817990" cy="1098836"/>
          </a:xfrm>
          <a:prstGeom prst="triangl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4BB62696-2263-E998-EAFA-02A6F3CE06F6}"/>
              </a:ext>
            </a:extLst>
          </p:cNvPr>
          <p:cNvGrpSpPr/>
          <p:nvPr/>
        </p:nvGrpSpPr>
        <p:grpSpPr>
          <a:xfrm>
            <a:off x="7612784" y="1612923"/>
            <a:ext cx="3865418" cy="7061154"/>
            <a:chOff x="8663978" y="1678695"/>
            <a:chExt cx="3865418" cy="7061154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9DDD3CB9-5B37-5F89-AB39-EC8D6A053B5B}"/>
                </a:ext>
              </a:extLst>
            </p:cNvPr>
            <p:cNvGrpSpPr/>
            <p:nvPr/>
          </p:nvGrpSpPr>
          <p:grpSpPr>
            <a:xfrm>
              <a:off x="8663978" y="1678695"/>
              <a:ext cx="3865418" cy="7061154"/>
              <a:chOff x="5759413" y="1463542"/>
              <a:chExt cx="3865418" cy="7061154"/>
            </a:xfrm>
          </p:grpSpPr>
          <p:grpSp>
            <p:nvGrpSpPr>
              <p:cNvPr id="111" name="Grupo 110">
                <a:extLst>
                  <a:ext uri="{FF2B5EF4-FFF2-40B4-BE49-F238E27FC236}">
                    <a16:creationId xmlns:a16="http://schemas.microsoft.com/office/drawing/2014/main" id="{786383D1-899A-6099-B977-74E1ECB8A4E3}"/>
                  </a:ext>
                </a:extLst>
              </p:cNvPr>
              <p:cNvGrpSpPr/>
              <p:nvPr/>
            </p:nvGrpSpPr>
            <p:grpSpPr>
              <a:xfrm>
                <a:off x="5759413" y="1463542"/>
                <a:ext cx="3865418" cy="7061154"/>
                <a:chOff x="9533693" y="1248414"/>
                <a:chExt cx="3865418" cy="7061154"/>
              </a:xfrm>
            </p:grpSpPr>
            <p:grpSp>
              <p:nvGrpSpPr>
                <p:cNvPr id="75" name="Grupo 74">
                  <a:extLst>
                    <a:ext uri="{FF2B5EF4-FFF2-40B4-BE49-F238E27FC236}">
                      <a16:creationId xmlns:a16="http://schemas.microsoft.com/office/drawing/2014/main" id="{57362CDD-F0FE-9C41-245C-1EF36E81ECC2}"/>
                    </a:ext>
                  </a:extLst>
                </p:cNvPr>
                <p:cNvGrpSpPr/>
                <p:nvPr/>
              </p:nvGrpSpPr>
              <p:grpSpPr>
                <a:xfrm>
                  <a:off x="9533693" y="1248414"/>
                  <a:ext cx="3865418" cy="7061154"/>
                  <a:chOff x="9698670" y="1248414"/>
                  <a:chExt cx="3865418" cy="7061154"/>
                </a:xfrm>
              </p:grpSpPr>
              <p:grpSp>
                <p:nvGrpSpPr>
                  <p:cNvPr id="45" name="Grupo 44">
                    <a:extLst>
                      <a:ext uri="{FF2B5EF4-FFF2-40B4-BE49-F238E27FC236}">
                        <a16:creationId xmlns:a16="http://schemas.microsoft.com/office/drawing/2014/main" id="{15D28F52-6D93-8BBC-AC96-FF8675C04E63}"/>
                      </a:ext>
                    </a:extLst>
                  </p:cNvPr>
                  <p:cNvGrpSpPr/>
                  <p:nvPr/>
                </p:nvGrpSpPr>
                <p:grpSpPr>
                  <a:xfrm>
                    <a:off x="9698670" y="1248414"/>
                    <a:ext cx="3865418" cy="7061154"/>
                    <a:chOff x="9344819" y="1270548"/>
                    <a:chExt cx="3865418" cy="7061154"/>
                  </a:xfrm>
                </p:grpSpPr>
                <p:grpSp>
                  <p:nvGrpSpPr>
                    <p:cNvPr id="46" name="Grupo 45">
                      <a:extLst>
                        <a:ext uri="{FF2B5EF4-FFF2-40B4-BE49-F238E27FC236}">
                          <a16:creationId xmlns:a16="http://schemas.microsoft.com/office/drawing/2014/main" id="{8C8A1AE7-B20B-368D-8960-ED18A1C8FAF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344819" y="1270548"/>
                      <a:ext cx="3865418" cy="7061154"/>
                      <a:chOff x="7322128" y="1054648"/>
                      <a:chExt cx="3865418" cy="7061154"/>
                    </a:xfrm>
                  </p:grpSpPr>
                  <p:grpSp>
                    <p:nvGrpSpPr>
                      <p:cNvPr id="48" name="Grupo 47">
                        <a:extLst>
                          <a:ext uri="{FF2B5EF4-FFF2-40B4-BE49-F238E27FC236}">
                            <a16:creationId xmlns:a16="http://schemas.microsoft.com/office/drawing/2014/main" id="{5B2D5A15-4D73-E012-A381-FEE4025F4F5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322128" y="1054648"/>
                        <a:ext cx="3865418" cy="7061154"/>
                        <a:chOff x="8833428" y="1270548"/>
                        <a:chExt cx="3865418" cy="7061154"/>
                      </a:xfrm>
                    </p:grpSpPr>
                    <p:pic>
                      <p:nvPicPr>
                        <p:cNvPr id="69" name="Imagen 68">
                          <a:extLst>
                            <a:ext uri="{FF2B5EF4-FFF2-40B4-BE49-F238E27FC236}">
                              <a16:creationId xmlns:a16="http://schemas.microsoft.com/office/drawing/2014/main" id="{2ECE96CF-3527-C294-3190-90E00308CE0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833428" y="1270548"/>
                          <a:ext cx="3865418" cy="7061154"/>
                        </a:xfrm>
                        <a:prstGeom prst="rect">
                          <a:avLst/>
                        </a:prstGeom>
                        <a:ln w="38100" cap="sq">
                          <a:solidFill>
                            <a:srgbClr val="000000"/>
                          </a:solidFill>
                          <a:prstDash val="solid"/>
                          <a:miter lim="800000"/>
                        </a:ln>
                        <a:effectLst>
                          <a:outerShdw blurRad="50800" dist="38100" dir="2700000" algn="tl" rotWithShape="0">
                            <a:srgbClr val="000000">
                              <a:alpha val="43000"/>
                            </a:srgbClr>
                          </a:outerShdw>
                        </a:effectLst>
                      </p:spPr>
                    </p:pic>
                    <p:sp>
                      <p:nvSpPr>
                        <p:cNvPr id="70" name="Rectángulo 69">
                          <a:extLst>
                            <a:ext uri="{FF2B5EF4-FFF2-40B4-BE49-F238E27FC236}">
                              <a16:creationId xmlns:a16="http://schemas.microsoft.com/office/drawing/2014/main" id="{ED799FDA-2D6F-2EB3-AA52-AFABD1F99FC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861137" y="1502881"/>
                          <a:ext cx="3810000" cy="471451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3">
                            <a:shade val="50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PE"/>
                        </a:p>
                      </p:txBody>
                    </p:sp>
                    <p:sp>
                      <p:nvSpPr>
                        <p:cNvPr id="71" name="Rectángulo 70">
                          <a:extLst>
                            <a:ext uri="{FF2B5EF4-FFF2-40B4-BE49-F238E27FC236}">
                              <a16:creationId xmlns:a16="http://schemas.microsoft.com/office/drawing/2014/main" id="{64CF2D34-AD43-BB8F-6C06-7778120E2E5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50159" y="1562469"/>
                          <a:ext cx="1434667" cy="352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s-MX" sz="240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Abadi Extra Light" panose="020B0604020202020204" pitchFamily="34" charset="0"/>
                            </a:rPr>
                            <a:t>AGROI+D</a:t>
                          </a:r>
                          <a:endParaRPr lang="es-PE" sz="240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Abadi Extra Light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72" name="Rectángulo 71">
                          <a:extLst>
                            <a:ext uri="{FF2B5EF4-FFF2-40B4-BE49-F238E27FC236}">
                              <a16:creationId xmlns:a16="http://schemas.microsoft.com/office/drawing/2014/main" id="{D7554DF2-0F8F-B18C-3CEF-2C58A8D5059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29337" y="2184034"/>
                          <a:ext cx="3474972" cy="360799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PE"/>
                        </a:p>
                      </p:txBody>
                    </p:sp>
                  </p:grpSp>
                  <p:pic>
                    <p:nvPicPr>
                      <p:cNvPr id="56" name="Imagen 55">
                        <a:extLst>
                          <a:ext uri="{FF2B5EF4-FFF2-40B4-BE49-F238E27FC236}">
                            <a16:creationId xmlns:a16="http://schemas.microsoft.com/office/drawing/2014/main" id="{EAB266AB-E063-D0A7-233E-91B6DDFC8F5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454394" y="2397218"/>
                        <a:ext cx="3474972" cy="1138801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47" name="Picture 4" descr="Gráficos escalables iconos de computadora gráficos de red portátiles, icono  de salida, cdr, texto, icono de salida png | PNGWing">
                      <a:extLst>
                        <a:ext uri="{FF2B5EF4-FFF2-40B4-BE49-F238E27FC236}">
                          <a16:creationId xmlns:a16="http://schemas.microsoft.com/office/drawing/2014/main" id="{0E1CF9EB-AADA-172F-4B00-D6B13BFAB8CD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5" cstate="print">
                      <a:extLst>
                        <a:ext uri="{BEBA8EAE-BF5A-486C-A8C5-ECC9F3942E4B}">
                          <a14:imgProps xmlns:a14="http://schemas.microsoft.com/office/drawing/2010/main">
                            <a14:imgLayer r:embed="rId6">
                              <a14:imgEffect>
                                <a14:backgroundRemoval t="1895" b="96632" l="543" r="97283">
                                  <a14:foregroundMark x1="50042" y1="12244" x2="36739" y2="5895"/>
                                  <a14:foregroundMark x1="57985" y1="16034" x2="57540" y2="15821"/>
                                  <a14:foregroundMark x1="59239" y1="16632" x2="58355" y2="16210"/>
                                  <a14:foregroundMark x1="36739" y1="5895" x2="20435" y2="7158"/>
                                  <a14:foregroundMark x1="12737" y1="15836" x2="6522" y2="22842"/>
                                  <a14:foregroundMark x1="20435" y1="7158" x2="15617" y2="12589"/>
                                  <a14:foregroundMark x1="6522" y1="22842" x2="5435" y2="74421"/>
                                  <a14:foregroundMark x1="5435" y1="74421" x2="11957" y2="90842"/>
                                  <a14:foregroundMark x1="11957" y1="90842" x2="33587" y2="94947"/>
                                  <a14:foregroundMark x1="33587" y1="94947" x2="55435" y2="90526"/>
                                  <a14:foregroundMark x1="55435" y1="90526" x2="63043" y2="80000"/>
                                  <a14:foregroundMark x1="44565" y1="47263" x2="78696" y2="44632"/>
                                  <a14:foregroundMark x1="77496" y1="56958" x2="76739" y2="64737"/>
                                  <a14:foregroundMark x1="78696" y1="44632" x2="77613" y2="55759"/>
                                  <a14:foregroundMark x1="76739" y1="64737" x2="95000" y2="53684"/>
                                  <a14:foregroundMark x1="95000" y1="53684" x2="79239" y2="39368"/>
                                  <a14:foregroundMark x1="79239" y1="39368" x2="77065" y2="35895"/>
                                  <a14:foregroundMark x1="79130" y1="47579" x2="38804" y2="50632"/>
                                  <a14:foregroundMark x1="38804" y1="50632" x2="81630" y2="47789"/>
                                  <a14:foregroundMark x1="81630" y1="47789" x2="82500" y2="47789"/>
                                  <a14:foregroundMark x1="75870" y1="41158" x2="90479" y2="39510"/>
                                  <a14:foregroundMark x1="91797" y1="39625" x2="94783" y2="52737"/>
                                  <a14:foregroundMark x1="97065" y1="49579" x2="97391" y2="52105"/>
                                  <a14:foregroundMark x1="54365" y1="11816" x2="43913" y2="2526"/>
                                  <a14:foregroundMark x1="59072" y1="16000" x2="57962" y2="15013"/>
                                  <a14:foregroundMark x1="59783" y1="16632" x2="59072" y2="16000"/>
                                  <a14:foregroundMark x1="43913" y1="2526" x2="15761" y2="3579"/>
                                  <a14:foregroundMark x1="15761" y1="3579" x2="1413" y2="14842"/>
                                  <a14:foregroundMark x1="1413" y1="14842" x2="978" y2="72737"/>
                                  <a14:foregroundMark x1="978" y1="72737" x2="9783" y2="23579"/>
                                  <a14:foregroundMark x1="23895" y1="12054" x2="24348" y2="11684"/>
                                  <a14:foregroundMark x1="9783" y1="23579" x2="12657" y2="21232"/>
                                  <a14:foregroundMark x1="56397" y1="12187" x2="57935" y2="12211"/>
                                  <a14:foregroundMark x1="24348" y1="11684" x2="49938" y2="12086"/>
                                  <a14:foregroundMark x1="58952" y1="14352" x2="60435" y2="17474"/>
                                  <a14:foregroundMark x1="57935" y1="12211" x2="58861" y2="14161"/>
                                  <a14:foregroundMark x1="61630" y1="17789" x2="53043" y2="3579"/>
                                  <a14:foregroundMark x1="53043" y1="3579" x2="45543" y2="4947"/>
                                  <a14:foregroundMark x1="53587" y1="1895" x2="67283" y2="9368"/>
                                  <a14:foregroundMark x1="67283" y1="9368" x2="60978" y2="9474"/>
                                  <a14:foregroundMark x1="8261" y1="8421" x2="217" y2="51579"/>
                                  <a14:foregroundMark x1="217" y1="51579" x2="1087" y2="72000"/>
                                  <a14:foregroundMark x1="1087" y1="72000" x2="9891" y2="34211"/>
                                  <a14:foregroundMark x1="3261" y1="77684" x2="9239" y2="96842"/>
                                  <a14:foregroundMark x1="9239" y1="96842" x2="35652" y2="98737"/>
                                  <a14:foregroundMark x1="35652" y1="98737" x2="55435" y2="94000"/>
                                  <a14:foregroundMark x1="55435" y1="94000" x2="67609" y2="84211"/>
                                  <a14:foregroundMark x1="67609" y1="84211" x2="51413" y2="92632"/>
                                  <a14:foregroundMark x1="13242" y1="84716" x2="652" y2="82105"/>
                                  <a14:foregroundMark x1="27115" y1="87593" x2="26755" y2="87518"/>
                                  <a14:foregroundMark x1="51413" y1="92632" x2="28349" y2="87849"/>
                                  <a14:foregroundMark x1="652" y1="82105" x2="1304" y2="79579"/>
                                  <a14:foregroundMark x1="21630" y1="94632" x2="47065" y2="96632"/>
                                  <a14:foregroundMark x1="47065" y1="96632" x2="65000" y2="90211"/>
                                  <a14:foregroundMark x1="65000" y1="90211" x2="69022" y2="86947"/>
                                  <a14:backgroundMark x1="52717" y1="18842" x2="22500" y2="24105"/>
                                  <a14:backgroundMark x1="22500" y1="24105" x2="20326" y2="44632"/>
                                  <a14:backgroundMark x1="20326" y1="44632" x2="28913" y2="62842"/>
                                  <a14:backgroundMark x1="28913" y1="62842" x2="42500" y2="70105"/>
                                  <a14:backgroundMark x1="42500" y1="70105" x2="58152" y2="64105"/>
                                  <a14:backgroundMark x1="58152" y1="64105" x2="72717" y2="74947"/>
                                  <a14:backgroundMark x1="72717" y1="74947" x2="72717" y2="75053"/>
                                  <a14:backgroundMark x1="24783" y1="14737" x2="14565" y2="20947"/>
                                  <a14:backgroundMark x1="22391" y1="14526" x2="14348" y2="19579"/>
                                  <a14:backgroundMark x1="51196" y1="13895" x2="56413" y2="16421"/>
                                  <a14:backgroundMark x1="56630" y1="16421" x2="57391" y2="16105"/>
                                  <a14:backgroundMark x1="57609" y1="17474" x2="55978" y2="13368"/>
                                  <a14:backgroundMark x1="52065" y1="13053" x2="51304" y2="12947"/>
                                  <a14:backgroundMark x1="55109" y1="13158" x2="57283" y2="16211"/>
                                  <a14:backgroundMark x1="57065" y1="14632" x2="57283" y2="16000"/>
                                  <a14:backgroundMark x1="57065" y1="15579" x2="57500" y2="15579"/>
                                  <a14:backgroundMark x1="57500" y1="16000" x2="57500" y2="16000"/>
                                  <a14:backgroundMark x1="57609" y1="16105" x2="57500" y2="15474"/>
                                  <a14:backgroundMark x1="58043" y1="16211" x2="58043" y2="15263"/>
                                  <a14:backgroundMark x1="57826" y1="15053" x2="57717" y2="14842"/>
                                  <a14:backgroundMark x1="56413" y1="13579" x2="50652" y2="12526"/>
                                  <a14:backgroundMark x1="51087" y1="12842" x2="50435" y2="12842"/>
                                  <a14:backgroundMark x1="24674" y1="13263" x2="21304" y2="13158"/>
                                  <a14:backgroundMark x1="15326" y1="13158" x2="13587" y2="15789"/>
                                  <a14:backgroundMark x1="13587" y1="18632" x2="13478" y2="21263"/>
                                  <a14:backgroundMark x1="16304" y1="13158" x2="12935" y2="16000"/>
                                  <a14:backgroundMark x1="15870" y1="12842" x2="15870" y2="13053"/>
                                  <a14:backgroundMark x1="92283" y1="39789" x2="91848" y2="39263"/>
                                  <a14:backgroundMark x1="91087" y1="37263" x2="91848" y2="38421"/>
                                  <a14:backgroundMark x1="92717" y1="39368" x2="91522" y2="38632"/>
                                  <a14:backgroundMark x1="92283" y1="39368" x2="91630" y2="38421"/>
                                  <a14:backgroundMark x1="90326" y1="37053" x2="92609" y2="38947"/>
                                  <a14:backgroundMark x1="92609" y1="39789" x2="92283" y2="39263"/>
                                  <a14:backgroundMark x1="76957" y1="57053" x2="77609" y2="56737"/>
                                  <a14:backgroundMark x1="14130" y1="83579" x2="26957" y2="86737"/>
                                  <a14:backgroundMark x1="27935" y1="87263" x2="26957" y2="87368"/>
                                  <a14:backgroundMark x1="13587" y1="85263" x2="13587" y2="84632"/>
                                  <a14:backgroundMark x1="25761" y1="87474" x2="26848" y2="87368"/>
                                  <a14:backgroundMark x1="13370" y1="84842" x2="13370" y2="84737"/>
                                  <a14:backgroundMark x1="13152" y1="84947" x2="13043" y2="84842"/>
                                  <a14:backgroundMark x1="13261" y1="85053" x2="13152" y2="84842"/>
                                  <a14:backgroundMark x1="13152" y1="84842" x2="13370" y2="84105"/>
                                </a14:backgroundRemoval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12786812" y="1550634"/>
                      <a:ext cx="341153" cy="352278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sp>
                <p:nvSpPr>
                  <p:cNvPr id="74" name="Rectángulo 73">
                    <a:extLst>
                      <a:ext uri="{FF2B5EF4-FFF2-40B4-BE49-F238E27FC236}">
                        <a16:creationId xmlns:a16="http://schemas.microsoft.com/office/drawing/2014/main" id="{ABCB862F-635A-002B-9883-FB46E9FB6054}"/>
                      </a:ext>
                    </a:extLst>
                  </p:cNvPr>
                  <p:cNvSpPr/>
                  <p:nvPr/>
                </p:nvSpPr>
                <p:spPr>
                  <a:xfrm>
                    <a:off x="12737977" y="3402686"/>
                    <a:ext cx="411504" cy="190959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/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sz="1100" b="1">
                        <a:solidFill>
                          <a:schemeClr val="tx1"/>
                        </a:solidFill>
                        <a:latin typeface="Abadi Extra Light" panose="020B0204020104020204" pitchFamily="34" charset="0"/>
                      </a:rPr>
                      <a:t>VER</a:t>
                    </a:r>
                    <a:r>
                      <a:rPr lang="es-MX" b="1">
                        <a:solidFill>
                          <a:schemeClr val="tx1"/>
                        </a:solidFill>
                        <a:latin typeface="Abadi Extra Light" panose="020B0204020104020204" pitchFamily="34" charset="0"/>
                      </a:rPr>
                      <a:t> </a:t>
                    </a:r>
                  </a:p>
                </p:txBody>
              </p:sp>
            </p:grpSp>
            <p:pic>
              <p:nvPicPr>
                <p:cNvPr id="77" name="Imagen 76">
                  <a:extLst>
                    <a:ext uri="{FF2B5EF4-FFF2-40B4-BE49-F238E27FC236}">
                      <a16:creationId xmlns:a16="http://schemas.microsoft.com/office/drawing/2014/main" id="{5027A85B-D9EF-8C66-682A-DD959EF00A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50424" y="3700032"/>
                  <a:ext cx="3474972" cy="1269018"/>
                </a:xfrm>
                <a:prstGeom prst="rect">
                  <a:avLst/>
                </a:prstGeom>
              </p:spPr>
            </p:pic>
            <p:sp>
              <p:nvSpPr>
                <p:cNvPr id="78" name="CuadroTexto 77">
                  <a:extLst>
                    <a:ext uri="{FF2B5EF4-FFF2-40B4-BE49-F238E27FC236}">
                      <a16:creationId xmlns:a16="http://schemas.microsoft.com/office/drawing/2014/main" id="{CE03C6E8-189F-4F73-FCA2-1B11F9A15874}"/>
                    </a:ext>
                  </a:extLst>
                </p:cNvPr>
                <p:cNvSpPr txBox="1"/>
                <p:nvPr/>
              </p:nvSpPr>
              <p:spPr>
                <a:xfrm>
                  <a:off x="9861672" y="3763928"/>
                  <a:ext cx="2784930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MX" sz="1600" b="1" dirty="0"/>
                    <a:t>Fecha de Solicitud:01/07/2025</a:t>
                  </a:r>
                </a:p>
                <a:p>
                  <a:r>
                    <a:rPr lang="es-MX" sz="1600" b="1" dirty="0"/>
                    <a:t>Especie: </a:t>
                  </a:r>
                  <a:r>
                    <a:rPr lang="es-MX" sz="1600" b="1" dirty="0" err="1"/>
                    <a:t>Chrysopas</a:t>
                  </a:r>
                  <a:endParaRPr lang="es-MX" sz="1600" b="1" dirty="0"/>
                </a:p>
                <a:p>
                  <a:r>
                    <a:rPr lang="es-MX" sz="1600" b="1" dirty="0"/>
                    <a:t>Estado: Entregado</a:t>
                  </a:r>
                  <a:endParaRPr lang="es-PE" sz="1600" b="1" dirty="0"/>
                </a:p>
              </p:txBody>
            </p:sp>
            <p:sp>
              <p:nvSpPr>
                <p:cNvPr id="79" name="Rectángulo 78">
                  <a:extLst>
                    <a:ext uri="{FF2B5EF4-FFF2-40B4-BE49-F238E27FC236}">
                      <a16:creationId xmlns:a16="http://schemas.microsoft.com/office/drawing/2014/main" id="{CF410DB5-64FA-3CFB-3576-761003C297CE}"/>
                    </a:ext>
                  </a:extLst>
                </p:cNvPr>
                <p:cNvSpPr/>
                <p:nvPr/>
              </p:nvSpPr>
              <p:spPr>
                <a:xfrm>
                  <a:off x="12529258" y="4580456"/>
                  <a:ext cx="407889" cy="208439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sz="1100" b="1" dirty="0">
                      <a:solidFill>
                        <a:schemeClr val="tx1"/>
                      </a:solidFill>
                      <a:latin typeface="Abadi Extra Light" panose="020B0204020104020204" pitchFamily="34" charset="0"/>
                    </a:rPr>
                    <a:t>VER</a:t>
                  </a:r>
                  <a:r>
                    <a:rPr lang="es-MX" b="1" dirty="0">
                      <a:solidFill>
                        <a:schemeClr val="tx1"/>
                      </a:solidFill>
                      <a:latin typeface="Abadi Extra Light" panose="020B0204020104020204" pitchFamily="34" charset="0"/>
                    </a:rPr>
                    <a:t> </a:t>
                  </a:r>
                </a:p>
              </p:txBody>
            </p:sp>
            <p:sp>
              <p:nvSpPr>
                <p:cNvPr id="83" name="CuadroTexto 82">
                  <a:extLst>
                    <a:ext uri="{FF2B5EF4-FFF2-40B4-BE49-F238E27FC236}">
                      <a16:creationId xmlns:a16="http://schemas.microsoft.com/office/drawing/2014/main" id="{421E0D8A-DC7E-7E52-83A5-7AABD4AB4F65}"/>
                    </a:ext>
                  </a:extLst>
                </p:cNvPr>
                <p:cNvSpPr txBox="1"/>
                <p:nvPr/>
              </p:nvSpPr>
              <p:spPr>
                <a:xfrm>
                  <a:off x="9861672" y="2642878"/>
                  <a:ext cx="2832524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Fecha de Solicitud: 08/07/2025</a:t>
                  </a:r>
                </a:p>
                <a:p>
                  <a:r>
                    <a:rPr lang="es-MX" sz="1600" b="1"/>
                    <a:t>Especie: Chrysopas</a:t>
                  </a:r>
                </a:p>
                <a:p>
                  <a:r>
                    <a:rPr lang="es-MX" sz="1600" b="1"/>
                    <a:t>Estado: Aprobado  </a:t>
                  </a:r>
                </a:p>
                <a:p>
                  <a:endParaRPr lang="es-PE" sz="1600" b="1"/>
                </a:p>
              </p:txBody>
            </p:sp>
            <p:pic>
              <p:nvPicPr>
                <p:cNvPr id="86" name="Imagen 85">
                  <a:extLst>
                    <a:ext uri="{FF2B5EF4-FFF2-40B4-BE49-F238E27FC236}">
                      <a16:creationId xmlns:a16="http://schemas.microsoft.com/office/drawing/2014/main" id="{9C390A39-996E-F598-A6F0-7BC780724D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503906" y="3184235"/>
                  <a:ext cx="216956" cy="218451"/>
                </a:xfrm>
                <a:prstGeom prst="rect">
                  <a:avLst/>
                </a:prstGeom>
              </p:spPr>
            </p:pic>
            <p:sp>
              <p:nvSpPr>
                <p:cNvPr id="88" name="CuadroTexto 87">
                  <a:extLst>
                    <a:ext uri="{FF2B5EF4-FFF2-40B4-BE49-F238E27FC236}">
                      <a16:creationId xmlns:a16="http://schemas.microsoft.com/office/drawing/2014/main" id="{025CB24E-B1A6-C6E8-1F14-AFDCA9EC2306}"/>
                    </a:ext>
                  </a:extLst>
                </p:cNvPr>
                <p:cNvSpPr txBox="1"/>
                <p:nvPr/>
              </p:nvSpPr>
              <p:spPr>
                <a:xfrm>
                  <a:off x="9726176" y="2102314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FECHA:</a:t>
                  </a:r>
                  <a:endParaRPr lang="es-PE" sz="1600" b="1"/>
                </a:p>
              </p:txBody>
            </p:sp>
            <p:pic>
              <p:nvPicPr>
                <p:cNvPr id="108" name="Imagen 107">
                  <a:extLst>
                    <a:ext uri="{FF2B5EF4-FFF2-40B4-BE49-F238E27FC236}">
                      <a16:creationId xmlns:a16="http://schemas.microsoft.com/office/drawing/2014/main" id="{504C5B76-8098-5625-10DF-33F368127E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314140" y="3368018"/>
                  <a:ext cx="258549" cy="259201"/>
                </a:xfrm>
                <a:prstGeom prst="rect">
                  <a:avLst/>
                </a:prstGeom>
              </p:spPr>
            </p:pic>
            <p:pic>
              <p:nvPicPr>
                <p:cNvPr id="109" name="Imagen 108">
                  <a:extLst>
                    <a:ext uri="{FF2B5EF4-FFF2-40B4-BE49-F238E27FC236}">
                      <a16:creationId xmlns:a16="http://schemas.microsoft.com/office/drawing/2014/main" id="{E203F53E-BD96-1EE4-B7A8-69EF5B3EEA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184865" y="4544924"/>
                  <a:ext cx="258549" cy="259201"/>
                </a:xfrm>
                <a:prstGeom prst="rect">
                  <a:avLst/>
                </a:prstGeom>
              </p:spPr>
            </p:pic>
          </p:grpSp>
          <p:sp>
            <p:nvSpPr>
              <p:cNvPr id="2129" name="AutoShape 4" descr="Puntero De Clic Táctil Inteligente PNG ,dibujos Cursor Del Ratón, Puntero  Del Mouse De La Computadora, Símbolo Del Mouse PNG y Vector para Descargar  Gratis | Pngtree">
                <a:extLst>
                  <a:ext uri="{FF2B5EF4-FFF2-40B4-BE49-F238E27FC236}">
                    <a16:creationId xmlns:a16="http://schemas.microsoft.com/office/drawing/2014/main" id="{D662BECA-68E2-294E-136E-34A9D2D842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991600" y="4991100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PE"/>
              </a:p>
            </p:txBody>
          </p:sp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BD37DB33-D361-28C0-7EB8-66D754DC1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67254" y="2328199"/>
                <a:ext cx="1824903" cy="355870"/>
              </a:xfrm>
              <a:prstGeom prst="rect">
                <a:avLst/>
              </a:prstGeom>
            </p:spPr>
          </p:pic>
        </p:grp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AC45D068-B9F4-17CE-DD9A-B0CFC0121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l="19569" t="10214" r="39364" b="79038"/>
            <a:stretch>
              <a:fillRect/>
            </a:stretch>
          </p:blipFill>
          <p:spPr>
            <a:xfrm>
              <a:off x="9638292" y="2596816"/>
              <a:ext cx="1548102" cy="253761"/>
            </a:xfrm>
            <a:prstGeom prst="rect">
              <a:avLst/>
            </a:prstGeom>
          </p:spPr>
        </p:pic>
        <p:sp>
          <p:nvSpPr>
            <p:cNvPr id="94" name="Rectángulo: esquinas redondeadas 93">
              <a:extLst>
                <a:ext uri="{FF2B5EF4-FFF2-40B4-BE49-F238E27FC236}">
                  <a16:creationId xmlns:a16="http://schemas.microsoft.com/office/drawing/2014/main" id="{895AFA0C-28CB-4E15-F507-3084E226C61A}"/>
                </a:ext>
              </a:extLst>
            </p:cNvPr>
            <p:cNvSpPr/>
            <p:nvPr/>
          </p:nvSpPr>
          <p:spPr>
            <a:xfrm>
              <a:off x="10222949" y="4986176"/>
              <a:ext cx="1042753" cy="250913"/>
            </a:xfrm>
            <a:prstGeom prst="round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400" b="1" dirty="0">
                  <a:solidFill>
                    <a:sysClr val="windowText" lastClr="000000"/>
                  </a:solidFill>
                </a:rPr>
                <a:t>RECIBIDO</a:t>
              </a:r>
              <a:endParaRPr lang="es-PE" sz="14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257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lecha: pentágono 37">
            <a:extLst>
              <a:ext uri="{FF2B5EF4-FFF2-40B4-BE49-F238E27FC236}">
                <a16:creationId xmlns:a16="http://schemas.microsoft.com/office/drawing/2014/main" id="{351E50E4-3B59-365D-3807-2A0CAE83C46F}"/>
              </a:ext>
            </a:extLst>
          </p:cNvPr>
          <p:cNvSpPr/>
          <p:nvPr/>
        </p:nvSpPr>
        <p:spPr>
          <a:xfrm>
            <a:off x="822060" y="293001"/>
            <a:ext cx="6848740" cy="841311"/>
          </a:xfrm>
          <a:prstGeom prst="homePlate">
            <a:avLst/>
          </a:prstGeom>
          <a:solidFill>
            <a:srgbClr val="1F497D"/>
          </a:solidFill>
          <a:ln w="57150">
            <a:solidFill>
              <a:srgbClr val="D3D3D7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bg1"/>
              </a:solidFill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C101DFA2-8C71-AED4-96A7-913684634308}"/>
              </a:ext>
            </a:extLst>
          </p:cNvPr>
          <p:cNvSpPr txBox="1"/>
          <p:nvPr/>
        </p:nvSpPr>
        <p:spPr>
          <a:xfrm>
            <a:off x="822060" y="306497"/>
            <a:ext cx="5312040" cy="830997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bg1"/>
                </a:solidFill>
              </a:rPr>
              <a:t>     VISTA DEL USUARIO                      </a:t>
            </a:r>
            <a:r>
              <a:rPr lang="es-MX" sz="1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(Jefa de sanidad, encargado de sanidad)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1B8B699-106D-9A77-1F9A-88CAD39424EE}"/>
              </a:ext>
            </a:extLst>
          </p:cNvPr>
          <p:cNvSpPr txBox="1"/>
          <p:nvPr/>
        </p:nvSpPr>
        <p:spPr>
          <a:xfrm>
            <a:off x="10440695" y="9071183"/>
            <a:ext cx="3452156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 dirty="0"/>
              <a:t>Esta información debe jalar de la vista de “</a:t>
            </a:r>
            <a:r>
              <a:rPr lang="es-MX" sz="1600" b="1" dirty="0"/>
              <a:t>Solicitud de Requerimientos”</a:t>
            </a:r>
            <a:r>
              <a:rPr lang="es-MX" sz="1600" dirty="0"/>
              <a:t>, donde va a ingresar el stock según la presentación.</a:t>
            </a:r>
            <a:endParaRPr lang="es-PE" sz="1600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6D6F3008-E90E-6863-95E2-38F870B0B7E2}"/>
              </a:ext>
            </a:extLst>
          </p:cNvPr>
          <p:cNvSpPr txBox="1"/>
          <p:nvPr/>
        </p:nvSpPr>
        <p:spPr>
          <a:xfrm>
            <a:off x="14476560" y="7043990"/>
            <a:ext cx="3370425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Una vez que el administrador haya cambiado de estado a </a:t>
            </a:r>
            <a:r>
              <a:rPr lang="es-MX" sz="1400" b="1" dirty="0">
                <a:latin typeface="Poppins" panose="00000500000000000000" pitchFamily="2" charset="0"/>
                <a:cs typeface="Poppins" panose="00000500000000000000" pitchFamily="2" charset="0"/>
              </a:rPr>
              <a:t>“ENTREGADO”</a:t>
            </a:r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, te debe aparecer en esta vista las presentaciones que se están entregando para que el usuario tenga la visualización.</a:t>
            </a:r>
          </a:p>
        </p:txBody>
      </p: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BE0F6BF5-8678-39A7-D263-BA0761F9CE04}"/>
              </a:ext>
            </a:extLst>
          </p:cNvPr>
          <p:cNvGrpSpPr/>
          <p:nvPr/>
        </p:nvGrpSpPr>
        <p:grpSpPr>
          <a:xfrm>
            <a:off x="10280855" y="1794129"/>
            <a:ext cx="7521695" cy="7061154"/>
            <a:chOff x="10674555" y="1463929"/>
            <a:chExt cx="7521695" cy="7061154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7DB5EB42-0C69-5041-7B06-4E496B852CA5}"/>
                </a:ext>
              </a:extLst>
            </p:cNvPr>
            <p:cNvGrpSpPr/>
            <p:nvPr/>
          </p:nvGrpSpPr>
          <p:grpSpPr>
            <a:xfrm>
              <a:off x="10674555" y="1463929"/>
              <a:ext cx="7521695" cy="7061154"/>
              <a:chOff x="9275362" y="1463929"/>
              <a:chExt cx="7521695" cy="7061154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7061A1E8-26C7-8F77-3A94-1B3611392EFE}"/>
                  </a:ext>
                </a:extLst>
              </p:cNvPr>
              <p:cNvGrpSpPr/>
              <p:nvPr/>
            </p:nvGrpSpPr>
            <p:grpSpPr>
              <a:xfrm>
                <a:off x="9275362" y="1463929"/>
                <a:ext cx="7521695" cy="7061154"/>
                <a:chOff x="9275362" y="1463929"/>
                <a:chExt cx="7521695" cy="7061154"/>
              </a:xfrm>
            </p:grpSpPr>
            <p:pic>
              <p:nvPicPr>
                <p:cNvPr id="2079" name="Imagen 2078">
                  <a:extLst>
                    <a:ext uri="{FF2B5EF4-FFF2-40B4-BE49-F238E27FC236}">
                      <a16:creationId xmlns:a16="http://schemas.microsoft.com/office/drawing/2014/main" id="{6D8DAE56-E9EC-8753-7F41-E592221169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75362" y="1463929"/>
                  <a:ext cx="3865418" cy="7061154"/>
                </a:xfrm>
                <a:prstGeom prst="rect">
                  <a:avLst/>
                </a:prstGeom>
                <a:ln w="38100" cap="sq">
                  <a:solidFill>
                    <a:srgbClr val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p:spPr>
            </p:pic>
            <p:sp>
              <p:nvSpPr>
                <p:cNvPr id="2080" name="Rectángulo 2079">
                  <a:extLst>
                    <a:ext uri="{FF2B5EF4-FFF2-40B4-BE49-F238E27FC236}">
                      <a16:creationId xmlns:a16="http://schemas.microsoft.com/office/drawing/2014/main" id="{2CB1B4D4-5F9C-2B53-7104-499AF7C15EA6}"/>
                    </a:ext>
                  </a:extLst>
                </p:cNvPr>
                <p:cNvSpPr/>
                <p:nvPr/>
              </p:nvSpPr>
              <p:spPr>
                <a:xfrm>
                  <a:off x="9303071" y="1696262"/>
                  <a:ext cx="3810000" cy="4714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081" name="Rectángulo 2080">
                  <a:extLst>
                    <a:ext uri="{FF2B5EF4-FFF2-40B4-BE49-F238E27FC236}">
                      <a16:creationId xmlns:a16="http://schemas.microsoft.com/office/drawing/2014/main" id="{27442641-F4C2-B8B9-A6EC-BF75BF948B4B}"/>
                    </a:ext>
                  </a:extLst>
                </p:cNvPr>
                <p:cNvSpPr/>
                <p:nvPr/>
              </p:nvSpPr>
              <p:spPr>
                <a:xfrm>
                  <a:off x="9392093" y="1755850"/>
                  <a:ext cx="1434667" cy="35227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sz="240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badi Extra Light" panose="020B0604020202020204" pitchFamily="34" charset="0"/>
                    </a:rPr>
                    <a:t>AGROI+D</a:t>
                  </a:r>
                  <a:endParaRPr lang="es-PE" sz="24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badi Extra Light" panose="020B0604020202020204" pitchFamily="34" charset="0"/>
                  </a:endParaRPr>
                </a:p>
              </p:txBody>
            </p:sp>
            <p:sp>
              <p:nvSpPr>
                <p:cNvPr id="2082" name="Rectángulo 2081">
                  <a:extLst>
                    <a:ext uri="{FF2B5EF4-FFF2-40B4-BE49-F238E27FC236}">
                      <a16:creationId xmlns:a16="http://schemas.microsoft.com/office/drawing/2014/main" id="{BC264B6B-2A7A-D060-87F5-D96D8F43A180}"/>
                    </a:ext>
                  </a:extLst>
                </p:cNvPr>
                <p:cNvSpPr/>
                <p:nvPr/>
              </p:nvSpPr>
              <p:spPr>
                <a:xfrm>
                  <a:off x="9471271" y="2377415"/>
                  <a:ext cx="3474972" cy="36079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pic>
              <p:nvPicPr>
                <p:cNvPr id="2078" name="Picture 4" descr="Gráficos escalables iconos de computadora gráficos de red portátiles, icono  de salida, cdr, texto, icono de salida png | PNGWing">
                  <a:extLst>
                    <a:ext uri="{FF2B5EF4-FFF2-40B4-BE49-F238E27FC236}">
                      <a16:creationId xmlns:a16="http://schemas.microsoft.com/office/drawing/2014/main" id="{F3B3E9FE-AEF3-3B88-DC08-E1BB98BB81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895" b="96632" l="543" r="97283">
                              <a14:foregroundMark x1="50042" y1="12244" x2="36739" y2="5895"/>
                              <a14:foregroundMark x1="57985" y1="16034" x2="57540" y2="15821"/>
                              <a14:foregroundMark x1="59239" y1="16632" x2="58355" y2="16210"/>
                              <a14:foregroundMark x1="36739" y1="5895" x2="20435" y2="7158"/>
                              <a14:foregroundMark x1="12737" y1="15836" x2="6522" y2="22842"/>
                              <a14:foregroundMark x1="20435" y1="7158" x2="15617" y2="12589"/>
                              <a14:foregroundMark x1="6522" y1="22842" x2="5435" y2="74421"/>
                              <a14:foregroundMark x1="5435" y1="74421" x2="11957" y2="90842"/>
                              <a14:foregroundMark x1="11957" y1="90842" x2="33587" y2="94947"/>
                              <a14:foregroundMark x1="33587" y1="94947" x2="55435" y2="90526"/>
                              <a14:foregroundMark x1="55435" y1="90526" x2="63043" y2="80000"/>
                              <a14:foregroundMark x1="44565" y1="47263" x2="78696" y2="44632"/>
                              <a14:foregroundMark x1="77496" y1="56958" x2="76739" y2="64737"/>
                              <a14:foregroundMark x1="78696" y1="44632" x2="77613" y2="55759"/>
                              <a14:foregroundMark x1="76739" y1="64737" x2="95000" y2="53684"/>
                              <a14:foregroundMark x1="95000" y1="53684" x2="79239" y2="39368"/>
                              <a14:foregroundMark x1="79239" y1="39368" x2="77065" y2="35895"/>
                              <a14:foregroundMark x1="79130" y1="47579" x2="38804" y2="50632"/>
                              <a14:foregroundMark x1="38804" y1="50632" x2="81630" y2="47789"/>
                              <a14:foregroundMark x1="81630" y1="47789" x2="82500" y2="47789"/>
                              <a14:foregroundMark x1="75870" y1="41158" x2="90479" y2="39510"/>
                              <a14:foregroundMark x1="91797" y1="39625" x2="94783" y2="52737"/>
                              <a14:foregroundMark x1="97065" y1="49579" x2="97391" y2="52105"/>
                              <a14:foregroundMark x1="54365" y1="11816" x2="43913" y2="2526"/>
                              <a14:foregroundMark x1="59072" y1="16000" x2="57962" y2="15013"/>
                              <a14:foregroundMark x1="59783" y1="16632" x2="59072" y2="16000"/>
                              <a14:foregroundMark x1="43913" y1="2526" x2="15761" y2="3579"/>
                              <a14:foregroundMark x1="15761" y1="3579" x2="1413" y2="14842"/>
                              <a14:foregroundMark x1="1413" y1="14842" x2="978" y2="72737"/>
                              <a14:foregroundMark x1="978" y1="72737" x2="9783" y2="23579"/>
                              <a14:foregroundMark x1="23895" y1="12054" x2="24348" y2="11684"/>
                              <a14:foregroundMark x1="9783" y1="23579" x2="12657" y2="21232"/>
                              <a14:foregroundMark x1="56397" y1="12187" x2="57935" y2="12211"/>
                              <a14:foregroundMark x1="24348" y1="11684" x2="49938" y2="12086"/>
                              <a14:foregroundMark x1="58952" y1="14352" x2="60435" y2="17474"/>
                              <a14:foregroundMark x1="57935" y1="12211" x2="58861" y2="14161"/>
                              <a14:foregroundMark x1="61630" y1="17789" x2="53043" y2="3579"/>
                              <a14:foregroundMark x1="53043" y1="3579" x2="45543" y2="4947"/>
                              <a14:foregroundMark x1="53587" y1="1895" x2="67283" y2="9368"/>
                              <a14:foregroundMark x1="67283" y1="9368" x2="60978" y2="9474"/>
                              <a14:foregroundMark x1="8261" y1="8421" x2="217" y2="51579"/>
                              <a14:foregroundMark x1="217" y1="51579" x2="1087" y2="72000"/>
                              <a14:foregroundMark x1="1087" y1="72000" x2="9891" y2="34211"/>
                              <a14:foregroundMark x1="3261" y1="77684" x2="9239" y2="96842"/>
                              <a14:foregroundMark x1="9239" y1="96842" x2="35652" y2="98737"/>
                              <a14:foregroundMark x1="35652" y1="98737" x2="55435" y2="94000"/>
                              <a14:foregroundMark x1="55435" y1="94000" x2="67609" y2="84211"/>
                              <a14:foregroundMark x1="67609" y1="84211" x2="51413" y2="92632"/>
                              <a14:foregroundMark x1="13242" y1="84716" x2="652" y2="82105"/>
                              <a14:foregroundMark x1="27115" y1="87593" x2="26755" y2="87518"/>
                              <a14:foregroundMark x1="51413" y1="92632" x2="28349" y2="87849"/>
                              <a14:foregroundMark x1="652" y1="82105" x2="1304" y2="79579"/>
                              <a14:foregroundMark x1="21630" y1="94632" x2="47065" y2="96632"/>
                              <a14:foregroundMark x1="47065" y1="96632" x2="65000" y2="90211"/>
                              <a14:foregroundMark x1="65000" y1="90211" x2="69022" y2="86947"/>
                              <a14:backgroundMark x1="52717" y1="18842" x2="22500" y2="24105"/>
                              <a14:backgroundMark x1="22500" y1="24105" x2="20326" y2="44632"/>
                              <a14:backgroundMark x1="20326" y1="44632" x2="28913" y2="62842"/>
                              <a14:backgroundMark x1="28913" y1="62842" x2="42500" y2="70105"/>
                              <a14:backgroundMark x1="42500" y1="70105" x2="58152" y2="64105"/>
                              <a14:backgroundMark x1="58152" y1="64105" x2="72717" y2="74947"/>
                              <a14:backgroundMark x1="72717" y1="74947" x2="72717" y2="75053"/>
                              <a14:backgroundMark x1="24783" y1="14737" x2="14565" y2="20947"/>
                              <a14:backgroundMark x1="22391" y1="14526" x2="14348" y2="19579"/>
                              <a14:backgroundMark x1="51196" y1="13895" x2="56413" y2="16421"/>
                              <a14:backgroundMark x1="56630" y1="16421" x2="57391" y2="16105"/>
                              <a14:backgroundMark x1="57609" y1="17474" x2="55978" y2="13368"/>
                              <a14:backgroundMark x1="52065" y1="13053" x2="51304" y2="12947"/>
                              <a14:backgroundMark x1="55109" y1="13158" x2="57283" y2="16211"/>
                              <a14:backgroundMark x1="57065" y1="14632" x2="57283" y2="16000"/>
                              <a14:backgroundMark x1="57065" y1="15579" x2="57500" y2="15579"/>
                              <a14:backgroundMark x1="57500" y1="16000" x2="57500" y2="16000"/>
                              <a14:backgroundMark x1="57609" y1="16105" x2="57500" y2="15474"/>
                              <a14:backgroundMark x1="58043" y1="16211" x2="58043" y2="15263"/>
                              <a14:backgroundMark x1="57826" y1="15053" x2="57717" y2="14842"/>
                              <a14:backgroundMark x1="56413" y1="13579" x2="50652" y2="12526"/>
                              <a14:backgroundMark x1="51087" y1="12842" x2="50435" y2="12842"/>
                              <a14:backgroundMark x1="24674" y1="13263" x2="21304" y2="13158"/>
                              <a14:backgroundMark x1="15326" y1="13158" x2="13587" y2="15789"/>
                              <a14:backgroundMark x1="13587" y1="18632" x2="13478" y2="21263"/>
                              <a14:backgroundMark x1="16304" y1="13158" x2="12935" y2="16000"/>
                              <a14:backgroundMark x1="15870" y1="12842" x2="15870" y2="13053"/>
                              <a14:backgroundMark x1="92283" y1="39789" x2="91848" y2="39263"/>
                              <a14:backgroundMark x1="91087" y1="37263" x2="91848" y2="38421"/>
                              <a14:backgroundMark x1="92717" y1="39368" x2="91522" y2="38632"/>
                              <a14:backgroundMark x1="92283" y1="39368" x2="91630" y2="38421"/>
                              <a14:backgroundMark x1="90326" y1="37053" x2="92609" y2="38947"/>
                              <a14:backgroundMark x1="92609" y1="39789" x2="92283" y2="39263"/>
                              <a14:backgroundMark x1="76957" y1="57053" x2="77609" y2="56737"/>
                              <a14:backgroundMark x1="14130" y1="83579" x2="26957" y2="86737"/>
                              <a14:backgroundMark x1="27935" y1="87263" x2="26957" y2="87368"/>
                              <a14:backgroundMark x1="13587" y1="85263" x2="13587" y2="84632"/>
                              <a14:backgroundMark x1="25761" y1="87474" x2="26848" y2="87368"/>
                              <a14:backgroundMark x1="13370" y1="84842" x2="13370" y2="84737"/>
                              <a14:backgroundMark x1="13152" y1="84947" x2="13043" y2="84842"/>
                              <a14:backgroundMark x1="13261" y1="85053" x2="13152" y2="84842"/>
                              <a14:backgroundMark x1="13152" y1="84842" x2="13370" y2="8410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717355" y="1744015"/>
                  <a:ext cx="341153" cy="3522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070" name="CuadroTexto 2069">
                  <a:extLst>
                    <a:ext uri="{FF2B5EF4-FFF2-40B4-BE49-F238E27FC236}">
                      <a16:creationId xmlns:a16="http://schemas.microsoft.com/office/drawing/2014/main" id="{07C67C9D-9736-81C5-14F1-B04A89FC0356}"/>
                    </a:ext>
                  </a:extLst>
                </p:cNvPr>
                <p:cNvSpPr txBox="1"/>
                <p:nvPr/>
              </p:nvSpPr>
              <p:spPr>
                <a:xfrm>
                  <a:off x="9320048" y="2504988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FUNDO:</a:t>
                  </a:r>
                  <a:endParaRPr lang="es-PE" sz="1600" b="1"/>
                </a:p>
              </p:txBody>
            </p:sp>
            <p:sp>
              <p:nvSpPr>
                <p:cNvPr id="2071" name="CuadroTexto 2070">
                  <a:extLst>
                    <a:ext uri="{FF2B5EF4-FFF2-40B4-BE49-F238E27FC236}">
                      <a16:creationId xmlns:a16="http://schemas.microsoft.com/office/drawing/2014/main" id="{542E6BC9-8F6A-F336-4F5D-F1AFD93EACDF}"/>
                    </a:ext>
                  </a:extLst>
                </p:cNvPr>
                <p:cNvSpPr txBox="1"/>
                <p:nvPr/>
              </p:nvSpPr>
              <p:spPr>
                <a:xfrm>
                  <a:off x="9335678" y="2813175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LOTE:</a:t>
                  </a:r>
                  <a:endParaRPr lang="es-PE" sz="1600" b="1"/>
                </a:p>
              </p:txBody>
            </p:sp>
            <p:sp>
              <p:nvSpPr>
                <p:cNvPr id="2072" name="CuadroTexto 2071">
                  <a:extLst>
                    <a:ext uri="{FF2B5EF4-FFF2-40B4-BE49-F238E27FC236}">
                      <a16:creationId xmlns:a16="http://schemas.microsoft.com/office/drawing/2014/main" id="{8C581CBE-BE8E-D04F-B53A-11544768C0A1}"/>
                    </a:ext>
                  </a:extLst>
                </p:cNvPr>
                <p:cNvSpPr txBox="1"/>
                <p:nvPr/>
              </p:nvSpPr>
              <p:spPr>
                <a:xfrm>
                  <a:off x="9335678" y="2178505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FECHA:</a:t>
                  </a:r>
                  <a:endParaRPr lang="es-PE" sz="1600" b="1"/>
                </a:p>
              </p:txBody>
            </p:sp>
            <p:sp>
              <p:nvSpPr>
                <p:cNvPr id="2074" name="CuadroTexto 2073">
                  <a:extLst>
                    <a:ext uri="{FF2B5EF4-FFF2-40B4-BE49-F238E27FC236}">
                      <a16:creationId xmlns:a16="http://schemas.microsoft.com/office/drawing/2014/main" id="{999353F4-CCED-5458-127A-A7D21B8104A8}"/>
                    </a:ext>
                  </a:extLst>
                </p:cNvPr>
                <p:cNvSpPr txBox="1"/>
                <p:nvPr/>
              </p:nvSpPr>
              <p:spPr>
                <a:xfrm>
                  <a:off x="9335678" y="3150181"/>
                  <a:ext cx="11557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ESPECIE:</a:t>
                  </a:r>
                  <a:endParaRPr lang="es-PE" sz="1600" b="1"/>
                </a:p>
              </p:txBody>
            </p:sp>
            <p:sp>
              <p:nvSpPr>
                <p:cNvPr id="2075" name="CuadroTexto 2074">
                  <a:extLst>
                    <a:ext uri="{FF2B5EF4-FFF2-40B4-BE49-F238E27FC236}">
                      <a16:creationId xmlns:a16="http://schemas.microsoft.com/office/drawing/2014/main" id="{9EECA21D-E49C-C861-E0D1-D21FA637DC0C}"/>
                    </a:ext>
                  </a:extLst>
                </p:cNvPr>
                <p:cNvSpPr txBox="1"/>
                <p:nvPr/>
              </p:nvSpPr>
              <p:spPr>
                <a:xfrm>
                  <a:off x="9324059" y="3808828"/>
                  <a:ext cx="22224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CANTIDAD/MILLARES:</a:t>
                  </a:r>
                  <a:endParaRPr lang="es-PE" sz="1600" b="1"/>
                </a:p>
              </p:txBody>
            </p:sp>
            <p:pic>
              <p:nvPicPr>
                <p:cNvPr id="2076" name="Imagen 2075">
                  <a:extLst>
                    <a:ext uri="{FF2B5EF4-FFF2-40B4-BE49-F238E27FC236}">
                      <a16:creationId xmlns:a16="http://schemas.microsoft.com/office/drawing/2014/main" id="{788FD087-8791-3CAB-238A-6303CCEC19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336561" y="3801846"/>
                  <a:ext cx="1038370" cy="295316"/>
                </a:xfrm>
                <a:prstGeom prst="rect">
                  <a:avLst/>
                </a:prstGeom>
              </p:spPr>
            </p:pic>
            <p:sp>
              <p:nvSpPr>
                <p:cNvPr id="2049" name="CuadroTexto 2048">
                  <a:extLst>
                    <a:ext uri="{FF2B5EF4-FFF2-40B4-BE49-F238E27FC236}">
                      <a16:creationId xmlns:a16="http://schemas.microsoft.com/office/drawing/2014/main" id="{9D9EF497-A068-C116-D688-AFA9199D0079}"/>
                    </a:ext>
                  </a:extLst>
                </p:cNvPr>
                <p:cNvSpPr txBox="1"/>
                <p:nvPr/>
              </p:nvSpPr>
              <p:spPr>
                <a:xfrm>
                  <a:off x="9345450" y="4013835"/>
                  <a:ext cx="115570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PLAGA OBJETIVO:</a:t>
                  </a:r>
                  <a:endParaRPr lang="es-PE" sz="1600" b="1"/>
                </a:p>
              </p:txBody>
            </p:sp>
            <p:sp>
              <p:nvSpPr>
                <p:cNvPr id="2051" name="CuadroTexto 2050">
                  <a:extLst>
                    <a:ext uri="{FF2B5EF4-FFF2-40B4-BE49-F238E27FC236}">
                      <a16:creationId xmlns:a16="http://schemas.microsoft.com/office/drawing/2014/main" id="{CB3848D6-A4C2-E388-1E99-DFB0F241FDE9}"/>
                    </a:ext>
                  </a:extLst>
                </p:cNvPr>
                <p:cNvSpPr txBox="1"/>
                <p:nvPr/>
              </p:nvSpPr>
              <p:spPr>
                <a:xfrm>
                  <a:off x="9340618" y="5186726"/>
                  <a:ext cx="136144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 dirty="0"/>
                    <a:t>*FECHA DE LIBERACION :</a:t>
                  </a:r>
                  <a:endParaRPr lang="es-PE" sz="1600" b="1" dirty="0"/>
                </a:p>
              </p:txBody>
            </p:sp>
            <p:sp>
              <p:nvSpPr>
                <p:cNvPr id="2054" name="CuadroTexto 2053">
                  <a:extLst>
                    <a:ext uri="{FF2B5EF4-FFF2-40B4-BE49-F238E27FC236}">
                      <a16:creationId xmlns:a16="http://schemas.microsoft.com/office/drawing/2014/main" id="{98DC5B97-E360-C9DE-C553-FED0A942CACE}"/>
                    </a:ext>
                  </a:extLst>
                </p:cNvPr>
                <p:cNvSpPr txBox="1"/>
                <p:nvPr/>
              </p:nvSpPr>
              <p:spPr>
                <a:xfrm>
                  <a:off x="9341170" y="6375236"/>
                  <a:ext cx="169830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OBSERVACIONES:</a:t>
                  </a:r>
                  <a:endParaRPr lang="es-PE" sz="1600" b="1"/>
                </a:p>
              </p:txBody>
            </p:sp>
            <p:pic>
              <p:nvPicPr>
                <p:cNvPr id="2055" name="Imagen 2054">
                  <a:extLst>
                    <a:ext uri="{FF2B5EF4-FFF2-40B4-BE49-F238E27FC236}">
                      <a16:creationId xmlns:a16="http://schemas.microsoft.com/office/drawing/2014/main" id="{397CD0E0-C9CB-C3DC-8DD1-35E5B1E6D6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966964" y="6375236"/>
                  <a:ext cx="1493033" cy="323496"/>
                </a:xfrm>
                <a:prstGeom prst="rect">
                  <a:avLst/>
                </a:prstGeom>
              </p:spPr>
            </p:pic>
            <p:pic>
              <p:nvPicPr>
                <p:cNvPr id="2056" name="Imagen 2055">
                  <a:extLst>
                    <a:ext uri="{FF2B5EF4-FFF2-40B4-BE49-F238E27FC236}">
                      <a16:creationId xmlns:a16="http://schemas.microsoft.com/office/drawing/2014/main" id="{BD77DE35-206F-C218-18A9-D1A21FCC3D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73478" y="2515018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2057" name="Imagen 2056">
                  <a:extLst>
                    <a:ext uri="{FF2B5EF4-FFF2-40B4-BE49-F238E27FC236}">
                      <a16:creationId xmlns:a16="http://schemas.microsoft.com/office/drawing/2014/main" id="{F4B415A9-5214-2983-C0EB-FE7AB41CF5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89357" y="2847872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2058" name="Imagen 2057">
                  <a:extLst>
                    <a:ext uri="{FF2B5EF4-FFF2-40B4-BE49-F238E27FC236}">
                      <a16:creationId xmlns:a16="http://schemas.microsoft.com/office/drawing/2014/main" id="{2EEB925D-E52D-20FB-1E23-6B6DB94273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89357" y="3169403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2059" name="Imagen 2058">
                  <a:extLst>
                    <a:ext uri="{FF2B5EF4-FFF2-40B4-BE49-F238E27FC236}">
                      <a16:creationId xmlns:a16="http://schemas.microsoft.com/office/drawing/2014/main" id="{AFBA5471-B7A3-1B32-9BFF-313636F0FA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329586" y="4280120"/>
                  <a:ext cx="2018828" cy="295316"/>
                </a:xfrm>
                <a:prstGeom prst="rect">
                  <a:avLst/>
                </a:prstGeom>
              </p:spPr>
            </p:pic>
            <p:pic>
              <p:nvPicPr>
                <p:cNvPr id="2060" name="Imagen 2059">
                  <a:extLst>
                    <a:ext uri="{FF2B5EF4-FFF2-40B4-BE49-F238E27FC236}">
                      <a16:creationId xmlns:a16="http://schemas.microsoft.com/office/drawing/2014/main" id="{3ABB0610-024E-F56F-6B7D-F962B3BB4A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547054" y="7512004"/>
                  <a:ext cx="514715" cy="514715"/>
                </a:xfrm>
                <a:prstGeom prst="rect">
                  <a:avLst/>
                </a:prstGeom>
              </p:spPr>
            </p:pic>
            <p:sp>
              <p:nvSpPr>
                <p:cNvPr id="2062" name="CuadroTexto 2061">
                  <a:extLst>
                    <a:ext uri="{FF2B5EF4-FFF2-40B4-BE49-F238E27FC236}">
                      <a16:creationId xmlns:a16="http://schemas.microsoft.com/office/drawing/2014/main" id="{4C69E5F0-8305-FCD9-8636-CAEF8A51AA2E}"/>
                    </a:ext>
                  </a:extLst>
                </p:cNvPr>
                <p:cNvSpPr txBox="1"/>
                <p:nvPr/>
              </p:nvSpPr>
              <p:spPr>
                <a:xfrm>
                  <a:off x="10232614" y="2532601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Los laureles</a:t>
                  </a:r>
                  <a:endParaRPr lang="es-PE" sz="1200"/>
                </a:p>
              </p:txBody>
            </p:sp>
            <p:sp>
              <p:nvSpPr>
                <p:cNvPr id="2063" name="CuadroTexto 2062">
                  <a:extLst>
                    <a:ext uri="{FF2B5EF4-FFF2-40B4-BE49-F238E27FC236}">
                      <a16:creationId xmlns:a16="http://schemas.microsoft.com/office/drawing/2014/main" id="{CC00EAB6-A6FD-6EB5-906C-48338D0E1CF1}"/>
                    </a:ext>
                  </a:extLst>
                </p:cNvPr>
                <p:cNvSpPr txBox="1"/>
                <p:nvPr/>
              </p:nvSpPr>
              <p:spPr>
                <a:xfrm>
                  <a:off x="10238501" y="2876163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LL06</a:t>
                  </a:r>
                  <a:endParaRPr lang="es-PE" sz="1200"/>
                </a:p>
              </p:txBody>
            </p:sp>
            <p:sp>
              <p:nvSpPr>
                <p:cNvPr id="2064" name="CuadroTexto 2063">
                  <a:extLst>
                    <a:ext uri="{FF2B5EF4-FFF2-40B4-BE49-F238E27FC236}">
                      <a16:creationId xmlns:a16="http://schemas.microsoft.com/office/drawing/2014/main" id="{C2F8B80D-F358-1F6A-074F-6782D7301861}"/>
                    </a:ext>
                  </a:extLst>
                </p:cNvPr>
                <p:cNvSpPr txBox="1"/>
                <p:nvPr/>
              </p:nvSpPr>
              <p:spPr>
                <a:xfrm>
                  <a:off x="10210680" y="3180679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CHRYSOPAS</a:t>
                  </a:r>
                  <a:endParaRPr lang="es-PE" sz="1200"/>
                </a:p>
              </p:txBody>
            </p:sp>
            <p:sp>
              <p:nvSpPr>
                <p:cNvPr id="2065" name="CuadroTexto 2064">
                  <a:extLst>
                    <a:ext uri="{FF2B5EF4-FFF2-40B4-BE49-F238E27FC236}">
                      <a16:creationId xmlns:a16="http://schemas.microsoft.com/office/drawing/2014/main" id="{52B45E31-56B3-9D2F-B56A-D5A9BE3E3D66}"/>
                    </a:ext>
                  </a:extLst>
                </p:cNvPr>
                <p:cNvSpPr txBox="1"/>
                <p:nvPr/>
              </p:nvSpPr>
              <p:spPr>
                <a:xfrm>
                  <a:off x="11341812" y="3814534"/>
                  <a:ext cx="92997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1210</a:t>
                  </a:r>
                  <a:endParaRPr lang="es-PE" sz="1200"/>
                </a:p>
              </p:txBody>
            </p:sp>
            <p:sp>
              <p:nvSpPr>
                <p:cNvPr id="2066" name="CuadroTexto 2065">
                  <a:extLst>
                    <a:ext uri="{FF2B5EF4-FFF2-40B4-BE49-F238E27FC236}">
                      <a16:creationId xmlns:a16="http://schemas.microsoft.com/office/drawing/2014/main" id="{99608C76-A320-0673-AB8F-C0FB31C8C60F}"/>
                    </a:ext>
                  </a:extLst>
                </p:cNvPr>
                <p:cNvSpPr txBox="1"/>
                <p:nvPr/>
              </p:nvSpPr>
              <p:spPr>
                <a:xfrm>
                  <a:off x="10361773" y="4274791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TRIPS</a:t>
                  </a:r>
                  <a:endParaRPr lang="es-PE" sz="1200"/>
                </a:p>
              </p:txBody>
            </p:sp>
            <p:sp>
              <p:nvSpPr>
                <p:cNvPr id="2083" name="Rectángulo 2082">
                  <a:extLst>
                    <a:ext uri="{FF2B5EF4-FFF2-40B4-BE49-F238E27FC236}">
                      <a16:creationId xmlns:a16="http://schemas.microsoft.com/office/drawing/2014/main" id="{2945772D-54D7-244B-833A-A2BBD042A869}"/>
                    </a:ext>
                  </a:extLst>
                </p:cNvPr>
                <p:cNvSpPr/>
                <p:nvPr/>
              </p:nvSpPr>
              <p:spPr>
                <a:xfrm>
                  <a:off x="9356904" y="5104503"/>
                  <a:ext cx="3701604" cy="122075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2AFCB454-FDD3-6C31-0798-65122F99839D}"/>
                    </a:ext>
                  </a:extLst>
                </p:cNvPr>
                <p:cNvSpPr txBox="1"/>
                <p:nvPr/>
              </p:nvSpPr>
              <p:spPr>
                <a:xfrm>
                  <a:off x="9324059" y="3475206"/>
                  <a:ext cx="185337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/>
                    <a:t>ET.FENOLOGICA:</a:t>
                  </a:r>
                  <a:endParaRPr lang="es-PE" sz="1600" b="1"/>
                </a:p>
              </p:txBody>
            </p:sp>
            <p:pic>
              <p:nvPicPr>
                <p:cNvPr id="8" name="Imagen 7">
                  <a:extLst>
                    <a:ext uri="{FF2B5EF4-FFF2-40B4-BE49-F238E27FC236}">
                      <a16:creationId xmlns:a16="http://schemas.microsoft.com/office/drawing/2014/main" id="{D7A27077-01D9-3A6E-866E-3F414BF170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866414" y="3510396"/>
                  <a:ext cx="1508517" cy="264392"/>
                </a:xfrm>
                <a:prstGeom prst="rect">
                  <a:avLst/>
                </a:prstGeom>
              </p:spPr>
            </p:pic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5049A2CE-89FC-E300-C20A-3096CD44B4FB}"/>
                    </a:ext>
                  </a:extLst>
                </p:cNvPr>
                <p:cNvSpPr txBox="1"/>
                <p:nvPr/>
              </p:nvSpPr>
              <p:spPr>
                <a:xfrm>
                  <a:off x="10832633" y="3536486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POST COSECHA</a:t>
                  </a:r>
                  <a:endParaRPr lang="es-PE" sz="1200"/>
                </a:p>
              </p:txBody>
            </p:sp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376FA798-D581-D758-A534-CFE0DFE10DA4}"/>
                    </a:ext>
                  </a:extLst>
                </p:cNvPr>
                <p:cNvSpPr txBox="1"/>
                <p:nvPr/>
              </p:nvSpPr>
              <p:spPr>
                <a:xfrm>
                  <a:off x="9366069" y="5744603"/>
                  <a:ext cx="195180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 dirty="0"/>
                    <a:t>*HORA DE LIBERACION :</a:t>
                  </a:r>
                  <a:endParaRPr lang="es-PE" sz="1600" b="1" dirty="0"/>
                </a:p>
              </p:txBody>
            </p:sp>
            <p:pic>
              <p:nvPicPr>
                <p:cNvPr id="11" name="Imagen 10">
                  <a:extLst>
                    <a:ext uri="{FF2B5EF4-FFF2-40B4-BE49-F238E27FC236}">
                      <a16:creationId xmlns:a16="http://schemas.microsoft.com/office/drawing/2014/main" id="{071ECCF1-EF3A-24DB-AF6E-29D06C7085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43466" y="5950123"/>
                  <a:ext cx="1704250" cy="304843"/>
                </a:xfrm>
                <a:prstGeom prst="rect">
                  <a:avLst/>
                </a:prstGeom>
              </p:spPr>
            </p:pic>
            <p:pic>
              <p:nvPicPr>
                <p:cNvPr id="14" name="Imagen 13">
                  <a:extLst>
                    <a:ext uri="{FF2B5EF4-FFF2-40B4-BE49-F238E27FC236}">
                      <a16:creationId xmlns:a16="http://schemas.microsoft.com/office/drawing/2014/main" id="{D8B58E68-14BA-54E8-651E-EB7C0535D5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24883" y="5330462"/>
                  <a:ext cx="1704250" cy="304843"/>
                </a:xfrm>
                <a:prstGeom prst="rect">
                  <a:avLst/>
                </a:prstGeom>
              </p:spPr>
            </p:pic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A2733187-F1D8-9378-5E80-DC872CB74FA8}"/>
                    </a:ext>
                  </a:extLst>
                </p:cNvPr>
                <p:cNvSpPr txBox="1"/>
                <p:nvPr/>
              </p:nvSpPr>
              <p:spPr>
                <a:xfrm>
                  <a:off x="10669224" y="5345667"/>
                  <a:ext cx="136144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400" dirty="0"/>
                    <a:t>08/07/2025</a:t>
                  </a:r>
                </a:p>
              </p:txBody>
            </p:sp>
            <p:pic>
              <p:nvPicPr>
                <p:cNvPr id="23" name="Gráfico 22" descr="Cámara con relleno sólido">
                  <a:extLst>
                    <a:ext uri="{FF2B5EF4-FFF2-40B4-BE49-F238E27FC236}">
                      <a16:creationId xmlns:a16="http://schemas.microsoft.com/office/drawing/2014/main" id="{0FFB3A18-0180-546A-A174-5EAEFB503A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353928" y="5292800"/>
                  <a:ext cx="441121" cy="441121"/>
                </a:xfrm>
                <a:prstGeom prst="rect">
                  <a:avLst/>
                </a:prstGeom>
              </p:spPr>
            </p:pic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22CF2BE7-4079-9180-BA2A-2AE88612394D}"/>
                    </a:ext>
                  </a:extLst>
                </p:cNvPr>
                <p:cNvSpPr txBox="1"/>
                <p:nvPr/>
              </p:nvSpPr>
              <p:spPr>
                <a:xfrm>
                  <a:off x="10731481" y="5964044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09:30</a:t>
                  </a:r>
                  <a:endParaRPr lang="es-PE" sz="1200"/>
                </a:p>
              </p:txBody>
            </p:sp>
            <p:pic>
              <p:nvPicPr>
                <p:cNvPr id="34" name="Imagen 33">
                  <a:extLst>
                    <a:ext uri="{FF2B5EF4-FFF2-40B4-BE49-F238E27FC236}">
                      <a16:creationId xmlns:a16="http://schemas.microsoft.com/office/drawing/2014/main" id="{4A7C6E83-6442-E689-AC80-24291B288A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</a:extLst>
                </a:blip>
                <a:srcRect l="25233" t="14388" r="27148" b="24106"/>
                <a:stretch/>
              </p:blipFill>
              <p:spPr>
                <a:xfrm>
                  <a:off x="12566185" y="5499271"/>
                  <a:ext cx="407047" cy="556704"/>
                </a:xfrm>
                <a:prstGeom prst="rect">
                  <a:avLst/>
                </a:prstGeom>
              </p:spPr>
            </p:pic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AC2B5C39-F4F5-470F-A9F2-42954F052CFA}"/>
                    </a:ext>
                  </a:extLst>
                </p:cNvPr>
                <p:cNvSpPr txBox="1"/>
                <p:nvPr/>
              </p:nvSpPr>
              <p:spPr>
                <a:xfrm>
                  <a:off x="9340618" y="4672888"/>
                  <a:ext cx="136144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600" b="1" dirty="0"/>
                    <a:t>ESTADO:</a:t>
                  </a:r>
                  <a:endParaRPr lang="es-PE" sz="1600" b="1" dirty="0"/>
                </a:p>
              </p:txBody>
            </p:sp>
            <p:pic>
              <p:nvPicPr>
                <p:cNvPr id="42" name="Imagen 41">
                  <a:extLst>
                    <a:ext uri="{FF2B5EF4-FFF2-40B4-BE49-F238E27FC236}">
                      <a16:creationId xmlns:a16="http://schemas.microsoft.com/office/drawing/2014/main" id="{31349411-6DBE-99A4-AFEF-184B086141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370253" y="4683588"/>
                  <a:ext cx="1493033" cy="323496"/>
                </a:xfrm>
                <a:prstGeom prst="rect">
                  <a:avLst/>
                </a:prstGeom>
              </p:spPr>
            </p:pic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7BA8BE4F-7DAF-F5D1-F431-4E87E5BAC195}"/>
                    </a:ext>
                  </a:extLst>
                </p:cNvPr>
                <p:cNvSpPr txBox="1"/>
                <p:nvPr/>
              </p:nvSpPr>
              <p:spPr>
                <a:xfrm>
                  <a:off x="10398031" y="4675274"/>
                  <a:ext cx="13358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 dirty="0"/>
                    <a:t>ENTREGADO</a:t>
                  </a:r>
                  <a:endParaRPr lang="es-PE" sz="1200" dirty="0"/>
                </a:p>
              </p:txBody>
            </p:sp>
            <p:pic>
              <p:nvPicPr>
                <p:cNvPr id="5" name="Imagen 4">
                  <a:extLst>
                    <a:ext uri="{FF2B5EF4-FFF2-40B4-BE49-F238E27FC236}">
                      <a16:creationId xmlns:a16="http://schemas.microsoft.com/office/drawing/2014/main" id="{DFE6FA25-23D0-F775-37EC-6D89DD09F7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200451" y="2183549"/>
                  <a:ext cx="1468295" cy="302879"/>
                </a:xfrm>
                <a:prstGeom prst="rect">
                  <a:avLst/>
                </a:prstGeom>
                <a:solidFill>
                  <a:srgbClr val="D9D9D9">
                    <a:alpha val="50000"/>
                  </a:srgbClr>
                </a:solidFill>
                <a:ln>
                  <a:solidFill>
                    <a:srgbClr val="D9D9D9"/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</p:pic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B67D6B87-CE30-5D2B-B561-89B3DC7C780A}"/>
                    </a:ext>
                  </a:extLst>
                </p:cNvPr>
                <p:cNvSpPr txBox="1"/>
                <p:nvPr/>
              </p:nvSpPr>
              <p:spPr>
                <a:xfrm>
                  <a:off x="10243702" y="2197223"/>
                  <a:ext cx="11557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/>
                    <a:t>08/07/2025</a:t>
                  </a:r>
                  <a:endParaRPr lang="es-PE" sz="1200"/>
                </a:p>
              </p:txBody>
            </p:sp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B3AE9EFF-EA1D-0CD0-26C5-E80EF6942ADA}"/>
                    </a:ext>
                  </a:extLst>
                </p:cNvPr>
                <p:cNvSpPr txBox="1"/>
                <p:nvPr/>
              </p:nvSpPr>
              <p:spPr>
                <a:xfrm>
                  <a:off x="13426634" y="4576961"/>
                  <a:ext cx="3370423" cy="1962076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MX" sz="1350" b="1" dirty="0">
                      <a:latin typeface="Poppins" panose="00000500000000000000" pitchFamily="2" charset="0"/>
                      <a:cs typeface="Poppins" panose="00000500000000000000" pitchFamily="2" charset="0"/>
                    </a:rPr>
                    <a:t>La "Fecha y hora de Liberación"</a:t>
                  </a:r>
                  <a:r>
                    <a:rPr lang="es-MX" sz="1350" dirty="0">
                      <a:latin typeface="Poppins" panose="00000500000000000000" pitchFamily="2" charset="0"/>
                      <a:cs typeface="Poppins" panose="00000500000000000000" pitchFamily="2" charset="0"/>
                    </a:rPr>
                    <a:t>   deben registrar automáticamente en que se subió o tomó la foto correspondiente a la liberación de </a:t>
                  </a:r>
                  <a:r>
                    <a:rPr lang="es-MX" sz="1350" dirty="0" err="1">
                      <a:latin typeface="Poppins" panose="00000500000000000000" pitchFamily="2" charset="0"/>
                      <a:cs typeface="Poppins" panose="00000500000000000000" pitchFamily="2" charset="0"/>
                    </a:rPr>
                    <a:t>chrysopas</a:t>
                  </a:r>
                  <a:r>
                    <a:rPr lang="es-MX" sz="1350" dirty="0">
                      <a:latin typeface="Poppins" panose="00000500000000000000" pitchFamily="2" charset="0"/>
                      <a:cs typeface="Poppins" panose="00000500000000000000" pitchFamily="2" charset="0"/>
                    </a:rPr>
                    <a:t> y esto debe enviarle una notificación por correo al administrador.</a:t>
                  </a:r>
                </a:p>
                <a:p>
                  <a:r>
                    <a:rPr lang="es-MX" sz="1350" dirty="0">
                      <a:latin typeface="Poppins" panose="00000500000000000000" pitchFamily="2" charset="0"/>
                      <a:cs typeface="Poppins" panose="00000500000000000000" pitchFamily="2" charset="0"/>
                    </a:rPr>
                    <a:t>Además, solo esta permitido </a:t>
                  </a:r>
                  <a:r>
                    <a:rPr lang="es-MX" sz="1350" b="1" dirty="0">
                      <a:latin typeface="Poppins" panose="00000500000000000000" pitchFamily="2" charset="0"/>
                      <a:cs typeface="Poppins" panose="00000500000000000000" pitchFamily="2" charset="0"/>
                    </a:rPr>
                    <a:t>2 fotos </a:t>
                  </a:r>
                  <a:r>
                    <a:rPr lang="es-MX" sz="1350" dirty="0">
                      <a:latin typeface="Poppins" panose="00000500000000000000" pitchFamily="2" charset="0"/>
                      <a:cs typeface="Poppins" panose="00000500000000000000" pitchFamily="2" charset="0"/>
                    </a:rPr>
                    <a:t>como máx.</a:t>
                  </a:r>
                  <a:endParaRPr lang="es-PE" sz="1350" dirty="0">
                    <a:latin typeface="Poppins" panose="00000500000000000000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25" name="Abrir llave 24">
                  <a:extLst>
                    <a:ext uri="{FF2B5EF4-FFF2-40B4-BE49-F238E27FC236}">
                      <a16:creationId xmlns:a16="http://schemas.microsoft.com/office/drawing/2014/main" id="{C95F7E46-70AD-A177-147D-C0FDDE009309}"/>
                    </a:ext>
                  </a:extLst>
                </p:cNvPr>
                <p:cNvSpPr/>
                <p:nvPr/>
              </p:nvSpPr>
              <p:spPr>
                <a:xfrm flipH="1">
                  <a:off x="13066724" y="5416359"/>
                  <a:ext cx="359911" cy="800293"/>
                </a:xfrm>
                <a:prstGeom prst="leftBrac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6" name="Rectángulo 25">
                  <a:extLst>
                    <a:ext uri="{FF2B5EF4-FFF2-40B4-BE49-F238E27FC236}">
                      <a16:creationId xmlns:a16="http://schemas.microsoft.com/office/drawing/2014/main" id="{DE741126-7A27-2A9A-1D15-83002EB5ED62}"/>
                    </a:ext>
                  </a:extLst>
                </p:cNvPr>
                <p:cNvSpPr/>
                <p:nvPr/>
              </p:nvSpPr>
              <p:spPr>
                <a:xfrm>
                  <a:off x="12357665" y="4679319"/>
                  <a:ext cx="297015" cy="39338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B850A21D-E764-7F9D-0A51-8CE7E1C6087B}"/>
                    </a:ext>
                  </a:extLst>
                </p:cNvPr>
                <p:cNvSpPr txBox="1"/>
                <p:nvPr/>
              </p:nvSpPr>
              <p:spPr>
                <a:xfrm>
                  <a:off x="13287992" y="2143517"/>
                  <a:ext cx="3370424" cy="584775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s-MX" sz="1600" dirty="0"/>
                    <a:t>El usuario podrá descargar la foto del acta de entrega de insectos benéficos</a:t>
                  </a:r>
                  <a:endParaRPr lang="es-PE" sz="1600" dirty="0"/>
                </a:p>
              </p:txBody>
            </p:sp>
            <p:cxnSp>
              <p:nvCxnSpPr>
                <p:cNvPr id="29" name="Conector: angular 28">
                  <a:extLst>
                    <a:ext uri="{FF2B5EF4-FFF2-40B4-BE49-F238E27FC236}">
                      <a16:creationId xmlns:a16="http://schemas.microsoft.com/office/drawing/2014/main" id="{3B2DA326-1CBE-86AE-9280-B80470E1C3D0}"/>
                    </a:ext>
                  </a:extLst>
                </p:cNvPr>
                <p:cNvCxnSpPr>
                  <a:cxnSpLocks/>
                  <a:stCxn id="27" idx="2"/>
                  <a:endCxn id="26" idx="0"/>
                </p:cNvCxnSpPr>
                <p:nvPr/>
              </p:nvCxnSpPr>
              <p:spPr>
                <a:xfrm rot="5400000">
                  <a:off x="12764176" y="2470290"/>
                  <a:ext cx="1951027" cy="2467031"/>
                </a:xfrm>
                <a:prstGeom prst="bentConnector3">
                  <a:avLst>
                    <a:gd name="adj1" fmla="val 50000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40" name="Picture 2" descr="Kerr center pdf iconos de computadora, lonas toldo, ángulo, texto png |  PNGEgg">
                <a:extLst>
                  <a:ext uri="{FF2B5EF4-FFF2-40B4-BE49-F238E27FC236}">
                    <a16:creationId xmlns:a16="http://schemas.microsoft.com/office/drawing/2014/main" id="{DDD75DAA-A306-E6B0-700F-0842F9AB53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 cstate="print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0000" b="90000" l="10000" r="90000">
                            <a14:foregroundMark x1="44333" y1="54430" x2="48889" y2="42563"/>
                            <a14:foregroundMark x1="48889" y1="42563" x2="48000" y2="32753"/>
                            <a14:foregroundMark x1="48000" y1="32753" x2="52000" y2="44937"/>
                            <a14:foregroundMark x1="52000" y1="44937" x2="58667" y2="53639"/>
                            <a14:foregroundMark x1="58667" y1="53639" x2="52333" y2="50475"/>
                            <a14:foregroundMark x1="52333" y1="50475" x2="43889" y2="55380"/>
                            <a14:foregroundMark x1="43889" y1="55380" x2="48778" y2="50791"/>
                            <a14:foregroundMark x1="48778" y1="50791" x2="50000" y2="50475"/>
                            <a14:foregroundMark x1="60222" y1="17563" x2="59111" y2="26266"/>
                            <a14:foregroundMark x1="59111" y1="26266" x2="65778" y2="28165"/>
                            <a14:foregroundMark x1="65778" y1="28165" x2="63778" y2="19304"/>
                            <a14:foregroundMark x1="63778" y1="19304" x2="59000" y2="17880"/>
                            <a14:foregroundMark x1="57000" y1="63449" x2="50444" y2="62500"/>
                            <a14:foregroundMark x1="50444" y1="62500" x2="43000" y2="67247"/>
                            <a14:foregroundMark x1="43000" y1="67247" x2="54000" y2="6376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760" t="8600" r="31610" b="19065"/>
              <a:stretch>
                <a:fillRect/>
              </a:stretch>
            </p:blipFill>
            <p:spPr bwMode="auto">
              <a:xfrm>
                <a:off x="12371522" y="4584751"/>
                <a:ext cx="288738" cy="4003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9CB4B146-C142-6B2F-129D-DA7F9D744B01}"/>
                </a:ext>
              </a:extLst>
            </p:cNvPr>
            <p:cNvSpPr txBox="1"/>
            <p:nvPr/>
          </p:nvSpPr>
          <p:spPr>
            <a:xfrm>
              <a:off x="10747006" y="6766937"/>
              <a:ext cx="30745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/>
                <a:t>PRESENTACIONES ENTREGADAS:</a:t>
              </a:r>
              <a:endParaRPr lang="es-PE" sz="1600" b="1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2FE004D8-3D1B-9C17-AA62-ACB19B0B28B3}"/>
                </a:ext>
              </a:extLst>
            </p:cNvPr>
            <p:cNvSpPr txBox="1"/>
            <p:nvPr/>
          </p:nvSpPr>
          <p:spPr>
            <a:xfrm>
              <a:off x="10739788" y="7143762"/>
              <a:ext cx="18020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200"/>
                <a:t>PAPEL CON POSTURA :</a:t>
              </a:r>
              <a:endParaRPr lang="es-PE" sz="1200"/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02C95A6D-B692-2AE9-633C-C59F6CE0BD5D}"/>
                </a:ext>
              </a:extLst>
            </p:cNvPr>
            <p:cNvSpPr txBox="1"/>
            <p:nvPr/>
          </p:nvSpPr>
          <p:spPr>
            <a:xfrm>
              <a:off x="10741666" y="7486388"/>
              <a:ext cx="18226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200"/>
                <a:t>SOBRE CON CASCARILLA DE ARROZ:</a:t>
              </a:r>
              <a:endParaRPr lang="es-PE" sz="1200"/>
            </a:p>
          </p:txBody>
        </p:sp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800D4A37-E73B-D011-F626-ABDCFC9EC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16539" y="7099669"/>
              <a:ext cx="1493033" cy="323496"/>
            </a:xfrm>
            <a:prstGeom prst="rect">
              <a:avLst/>
            </a:prstGeom>
          </p:spPr>
        </p:pic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8D3E0F2D-BC04-45B9-C76D-9D0C06727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53214" y="7591142"/>
              <a:ext cx="1493033" cy="323496"/>
            </a:xfrm>
            <a:prstGeom prst="rect">
              <a:avLst/>
            </a:prstGeom>
          </p:spPr>
        </p:pic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86665527-B35F-194A-C831-8C213075886F}"/>
                </a:ext>
              </a:extLst>
            </p:cNvPr>
            <p:cNvSpPr txBox="1"/>
            <p:nvPr/>
          </p:nvSpPr>
          <p:spPr>
            <a:xfrm>
              <a:off x="12498362" y="7119108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1110</a:t>
              </a:r>
              <a:endParaRPr lang="es-PE" sz="1200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AAE4D94C-7616-0D6C-EA50-B4A7DBB77567}"/>
                </a:ext>
              </a:extLst>
            </p:cNvPr>
            <p:cNvSpPr txBox="1"/>
            <p:nvPr/>
          </p:nvSpPr>
          <p:spPr>
            <a:xfrm>
              <a:off x="12525722" y="7621952"/>
              <a:ext cx="13358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/>
                <a:t>100</a:t>
              </a:r>
              <a:endParaRPr lang="es-PE" sz="1200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FFCD8EE8-49E2-0FB7-1492-D1BDA3986B37}"/>
                </a:ext>
              </a:extLst>
            </p:cNvPr>
            <p:cNvSpPr/>
            <p:nvPr/>
          </p:nvSpPr>
          <p:spPr>
            <a:xfrm>
              <a:off x="10760745" y="6756579"/>
              <a:ext cx="3701604" cy="1254377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2" name="Rectángulo 61">
              <a:extLst>
                <a:ext uri="{FF2B5EF4-FFF2-40B4-BE49-F238E27FC236}">
                  <a16:creationId xmlns:a16="http://schemas.microsoft.com/office/drawing/2014/main" id="{59248A4F-B34A-6E3D-ACF3-70D5704BDCC5}"/>
                </a:ext>
              </a:extLst>
            </p:cNvPr>
            <p:cNvSpPr/>
            <p:nvPr/>
          </p:nvSpPr>
          <p:spPr>
            <a:xfrm>
              <a:off x="10739139" y="4659952"/>
              <a:ext cx="2542831" cy="343552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48E40CC8-317D-C374-83AF-8B35DE9D8AE2}"/>
              </a:ext>
            </a:extLst>
          </p:cNvPr>
          <p:cNvSpPr txBox="1"/>
          <p:nvPr/>
        </p:nvSpPr>
        <p:spPr>
          <a:xfrm>
            <a:off x="1024292" y="9045088"/>
            <a:ext cx="8696615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b="1" dirty="0"/>
              <a:t>NOTA: </a:t>
            </a:r>
            <a:r>
              <a:rPr lang="es-MX" dirty="0"/>
              <a:t>El sistema debe identificar las solicitudes según el usuario que las haya generado, y su visualización debe estar restringida </a:t>
            </a:r>
            <a:r>
              <a:rPr lang="es-MX" dirty="0">
                <a:highlight>
                  <a:srgbClr val="00FFFF"/>
                </a:highlight>
              </a:rPr>
              <a:t>únicamente al usuario correspondiente</a:t>
            </a:r>
            <a:r>
              <a:rPr lang="es-MX" dirty="0"/>
              <a:t>. Asimismo, cualquier cambio de estado o resultado asociado deberá ser notificado exclusivamente al usuario que realizó la solicitud.</a:t>
            </a:r>
          </a:p>
        </p:txBody>
      </p: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EDF68AF7-FC6C-FC15-58A6-2EBDB72DBCCD}"/>
              </a:ext>
            </a:extLst>
          </p:cNvPr>
          <p:cNvGrpSpPr/>
          <p:nvPr/>
        </p:nvGrpSpPr>
        <p:grpSpPr>
          <a:xfrm>
            <a:off x="1881369" y="1860494"/>
            <a:ext cx="6904435" cy="7061154"/>
            <a:chOff x="4535598" y="1638778"/>
            <a:chExt cx="6904435" cy="7061154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72132A96-E475-8EB1-4996-4DC1D73E0079}"/>
                </a:ext>
              </a:extLst>
            </p:cNvPr>
            <p:cNvGrpSpPr/>
            <p:nvPr/>
          </p:nvGrpSpPr>
          <p:grpSpPr>
            <a:xfrm>
              <a:off x="4535598" y="1638778"/>
              <a:ext cx="6904435" cy="7061154"/>
              <a:chOff x="4483678" y="1511365"/>
              <a:chExt cx="6904435" cy="7061154"/>
            </a:xfrm>
          </p:grpSpPr>
          <p:grpSp>
            <p:nvGrpSpPr>
              <p:cNvPr id="3" name="Grupo 2">
                <a:extLst>
                  <a:ext uri="{FF2B5EF4-FFF2-40B4-BE49-F238E27FC236}">
                    <a16:creationId xmlns:a16="http://schemas.microsoft.com/office/drawing/2014/main" id="{E3455536-E3A5-4C20-6FE8-0368B8B168DB}"/>
                  </a:ext>
                </a:extLst>
              </p:cNvPr>
              <p:cNvGrpSpPr/>
              <p:nvPr/>
            </p:nvGrpSpPr>
            <p:grpSpPr>
              <a:xfrm>
                <a:off x="4483678" y="1511365"/>
                <a:ext cx="3865418" cy="7061154"/>
                <a:chOff x="4483678" y="1511365"/>
                <a:chExt cx="3865418" cy="7061154"/>
              </a:xfrm>
            </p:grpSpPr>
            <p:grpSp>
              <p:nvGrpSpPr>
                <p:cNvPr id="111" name="Grupo 110">
                  <a:extLst>
                    <a:ext uri="{FF2B5EF4-FFF2-40B4-BE49-F238E27FC236}">
                      <a16:creationId xmlns:a16="http://schemas.microsoft.com/office/drawing/2014/main" id="{ACDF1CC7-C02C-08B8-6271-1249991ED587}"/>
                    </a:ext>
                  </a:extLst>
                </p:cNvPr>
                <p:cNvGrpSpPr/>
                <p:nvPr/>
              </p:nvGrpSpPr>
              <p:grpSpPr>
                <a:xfrm>
                  <a:off x="4483678" y="1511365"/>
                  <a:ext cx="3865418" cy="7061154"/>
                  <a:chOff x="9533693" y="1248414"/>
                  <a:chExt cx="3865418" cy="7061154"/>
                </a:xfrm>
              </p:grpSpPr>
              <p:grpSp>
                <p:nvGrpSpPr>
                  <p:cNvPr id="75" name="Grupo 74">
                    <a:extLst>
                      <a:ext uri="{FF2B5EF4-FFF2-40B4-BE49-F238E27FC236}">
                        <a16:creationId xmlns:a16="http://schemas.microsoft.com/office/drawing/2014/main" id="{5C6775B8-2DDF-A3C8-04EE-0DE76777BD60}"/>
                      </a:ext>
                    </a:extLst>
                  </p:cNvPr>
                  <p:cNvGrpSpPr/>
                  <p:nvPr/>
                </p:nvGrpSpPr>
                <p:grpSpPr>
                  <a:xfrm>
                    <a:off x="9533693" y="1248414"/>
                    <a:ext cx="3865418" cy="7061154"/>
                    <a:chOff x="9698670" y="1248414"/>
                    <a:chExt cx="3865418" cy="7061154"/>
                  </a:xfrm>
                </p:grpSpPr>
                <p:grpSp>
                  <p:nvGrpSpPr>
                    <p:cNvPr id="45" name="Grupo 44">
                      <a:extLst>
                        <a:ext uri="{FF2B5EF4-FFF2-40B4-BE49-F238E27FC236}">
                          <a16:creationId xmlns:a16="http://schemas.microsoft.com/office/drawing/2014/main" id="{A210F44C-47EB-FF46-9A71-4932E365BE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698670" y="1248414"/>
                      <a:ext cx="3865418" cy="7061154"/>
                      <a:chOff x="9344819" y="1270548"/>
                      <a:chExt cx="3865418" cy="7061154"/>
                    </a:xfrm>
                  </p:grpSpPr>
                  <p:grpSp>
                    <p:nvGrpSpPr>
                      <p:cNvPr id="46" name="Grupo 45">
                        <a:extLst>
                          <a:ext uri="{FF2B5EF4-FFF2-40B4-BE49-F238E27FC236}">
                            <a16:creationId xmlns:a16="http://schemas.microsoft.com/office/drawing/2014/main" id="{18B66306-F86C-528F-3CD8-D194FDFC1A8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344819" y="1270548"/>
                        <a:ext cx="3865418" cy="7061154"/>
                        <a:chOff x="7322128" y="1054648"/>
                        <a:chExt cx="3865418" cy="7061154"/>
                      </a:xfrm>
                    </p:grpSpPr>
                    <p:grpSp>
                      <p:nvGrpSpPr>
                        <p:cNvPr id="48" name="Grupo 47">
                          <a:extLst>
                            <a:ext uri="{FF2B5EF4-FFF2-40B4-BE49-F238E27FC236}">
                              <a16:creationId xmlns:a16="http://schemas.microsoft.com/office/drawing/2014/main" id="{F24FAF1E-6397-DBB3-C154-CFC207B1CCB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322128" y="1054648"/>
                          <a:ext cx="3865418" cy="7061154"/>
                          <a:chOff x="8833428" y="1270548"/>
                          <a:chExt cx="3865418" cy="7061154"/>
                        </a:xfrm>
                      </p:grpSpPr>
                      <p:pic>
                        <p:nvPicPr>
                          <p:cNvPr id="69" name="Imagen 68">
                            <a:extLst>
                              <a:ext uri="{FF2B5EF4-FFF2-40B4-BE49-F238E27FC236}">
                                <a16:creationId xmlns:a16="http://schemas.microsoft.com/office/drawing/2014/main" id="{738C6A7F-6E90-F0DF-8C38-9C04D73D7215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8833428" y="1270548"/>
                            <a:ext cx="3865418" cy="7061154"/>
                          </a:xfrm>
                          <a:prstGeom prst="rect">
                            <a:avLst/>
                          </a:prstGeom>
                          <a:ln w="38100" cap="sq">
                            <a:solidFill>
                              <a:srgbClr val="000000"/>
                            </a:solidFill>
                            <a:prstDash val="solid"/>
                            <a:miter lim="800000"/>
                          </a:ln>
                          <a:effectLst>
                            <a:outerShdw blurRad="50800" dist="38100" dir="2700000" algn="tl" rotWithShape="0">
                              <a:srgbClr val="000000">
                                <a:alpha val="43000"/>
                              </a:srgbClr>
                            </a:outerShdw>
                          </a:effectLst>
                        </p:spPr>
                      </p:pic>
                      <p:sp>
                        <p:nvSpPr>
                          <p:cNvPr id="70" name="Rectángulo 69">
                            <a:extLst>
                              <a:ext uri="{FF2B5EF4-FFF2-40B4-BE49-F238E27FC236}">
                                <a16:creationId xmlns:a16="http://schemas.microsoft.com/office/drawing/2014/main" id="{5E57B0E2-F06F-F195-4504-E0C2B85D389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61137" y="1502881"/>
                            <a:ext cx="3810000" cy="471451"/>
                          </a:xfrm>
                          <a:prstGeom prst="rect">
                            <a:avLst/>
                          </a:prstGeom>
                        </p:spPr>
                        <p:style>
                          <a:lnRef idx="2">
                            <a:schemeClr val="accent3">
                              <a:shade val="50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PE"/>
                          </a:p>
                        </p:txBody>
                      </p:sp>
                      <p:sp>
                        <p:nvSpPr>
                          <p:cNvPr id="71" name="Rectángulo 70">
                            <a:extLst>
                              <a:ext uri="{FF2B5EF4-FFF2-40B4-BE49-F238E27FC236}">
                                <a16:creationId xmlns:a16="http://schemas.microsoft.com/office/drawing/2014/main" id="{BD81F873-6A46-F339-2D67-1AF644515E7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50159" y="1562469"/>
                            <a:ext cx="1434667" cy="3522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s-MX" sz="240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Abadi Extra Light" panose="020B0604020202020204" pitchFamily="34" charset="0"/>
                              </a:rPr>
                              <a:t>AGROI+D</a:t>
                            </a:r>
                            <a:endParaRPr lang="es-PE" sz="240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Abadi Extra Light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72" name="Rectángulo 71">
                            <a:extLst>
                              <a:ext uri="{FF2B5EF4-FFF2-40B4-BE49-F238E27FC236}">
                                <a16:creationId xmlns:a16="http://schemas.microsoft.com/office/drawing/2014/main" id="{C6A08A3F-0ABD-1313-EC9F-939BB6276A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029337" y="2184034"/>
                            <a:ext cx="3474972" cy="3607990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PE"/>
                          </a:p>
                        </p:txBody>
                      </p:sp>
                    </p:grpSp>
                    <p:pic>
                      <p:nvPicPr>
                        <p:cNvPr id="56" name="Imagen 55">
                          <a:extLst>
                            <a:ext uri="{FF2B5EF4-FFF2-40B4-BE49-F238E27FC236}">
                              <a16:creationId xmlns:a16="http://schemas.microsoft.com/office/drawing/2014/main" id="{5F6D4F45-6183-B54D-FA64-F6E81945020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454394" y="2292034"/>
                          <a:ext cx="3474972" cy="1243986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47" name="Picture 4" descr="Gráficos escalables iconos de computadora gráficos de red portátiles, icono  de salida, cdr, texto, icono de salida png | PNGWing">
                        <a:extLst>
                          <a:ext uri="{FF2B5EF4-FFF2-40B4-BE49-F238E27FC236}">
                            <a16:creationId xmlns:a16="http://schemas.microsoft.com/office/drawing/2014/main" id="{5326116C-4308-1474-350A-582259F539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 cstate="print">
                        <a:extLst>
                          <a:ext uri="{BEBA8EAE-BF5A-486C-A8C5-ECC9F3942E4B}">
                            <a14:imgProps xmlns:a14="http://schemas.microsoft.com/office/drawing/2010/main">
                              <a14:imgLayer r:embed="rId5">
                                <a14:imgEffect>
                                  <a14:backgroundRemoval t="1895" b="96632" l="543" r="97283">
                                    <a14:foregroundMark x1="50042" y1="12244" x2="36739" y2="5895"/>
                                    <a14:foregroundMark x1="57985" y1="16034" x2="57540" y2="15821"/>
                                    <a14:foregroundMark x1="59239" y1="16632" x2="58355" y2="16210"/>
                                    <a14:foregroundMark x1="36739" y1="5895" x2="20435" y2="7158"/>
                                    <a14:foregroundMark x1="12737" y1="15836" x2="6522" y2="22842"/>
                                    <a14:foregroundMark x1="20435" y1="7158" x2="15617" y2="12589"/>
                                    <a14:foregroundMark x1="6522" y1="22842" x2="5435" y2="74421"/>
                                    <a14:foregroundMark x1="5435" y1="74421" x2="11957" y2="90842"/>
                                    <a14:foregroundMark x1="11957" y1="90842" x2="33587" y2="94947"/>
                                    <a14:foregroundMark x1="33587" y1="94947" x2="55435" y2="90526"/>
                                    <a14:foregroundMark x1="55435" y1="90526" x2="63043" y2="80000"/>
                                    <a14:foregroundMark x1="44565" y1="47263" x2="78696" y2="44632"/>
                                    <a14:foregroundMark x1="77496" y1="56958" x2="76739" y2="64737"/>
                                    <a14:foregroundMark x1="78696" y1="44632" x2="77613" y2="55759"/>
                                    <a14:foregroundMark x1="76739" y1="64737" x2="95000" y2="53684"/>
                                    <a14:foregroundMark x1="95000" y1="53684" x2="79239" y2="39368"/>
                                    <a14:foregroundMark x1="79239" y1="39368" x2="77065" y2="35895"/>
                                    <a14:foregroundMark x1="79130" y1="47579" x2="38804" y2="50632"/>
                                    <a14:foregroundMark x1="38804" y1="50632" x2="81630" y2="47789"/>
                                    <a14:foregroundMark x1="81630" y1="47789" x2="82500" y2="47789"/>
                                    <a14:foregroundMark x1="75870" y1="41158" x2="90479" y2="39510"/>
                                    <a14:foregroundMark x1="91797" y1="39625" x2="94783" y2="52737"/>
                                    <a14:foregroundMark x1="97065" y1="49579" x2="97391" y2="52105"/>
                                    <a14:foregroundMark x1="54365" y1="11816" x2="43913" y2="2526"/>
                                    <a14:foregroundMark x1="59072" y1="16000" x2="57962" y2="15013"/>
                                    <a14:foregroundMark x1="59783" y1="16632" x2="59072" y2="16000"/>
                                    <a14:foregroundMark x1="43913" y1="2526" x2="15761" y2="3579"/>
                                    <a14:foregroundMark x1="15761" y1="3579" x2="1413" y2="14842"/>
                                    <a14:foregroundMark x1="1413" y1="14842" x2="978" y2="72737"/>
                                    <a14:foregroundMark x1="978" y1="72737" x2="9783" y2="23579"/>
                                    <a14:foregroundMark x1="23895" y1="12054" x2="24348" y2="11684"/>
                                    <a14:foregroundMark x1="9783" y1="23579" x2="12657" y2="21232"/>
                                    <a14:foregroundMark x1="56397" y1="12187" x2="57935" y2="12211"/>
                                    <a14:foregroundMark x1="24348" y1="11684" x2="49938" y2="12086"/>
                                    <a14:foregroundMark x1="58952" y1="14352" x2="60435" y2="17474"/>
                                    <a14:foregroundMark x1="57935" y1="12211" x2="58861" y2="14161"/>
                                    <a14:foregroundMark x1="61630" y1="17789" x2="53043" y2="3579"/>
                                    <a14:foregroundMark x1="53043" y1="3579" x2="45543" y2="4947"/>
                                    <a14:foregroundMark x1="53587" y1="1895" x2="67283" y2="9368"/>
                                    <a14:foregroundMark x1="67283" y1="9368" x2="60978" y2="9474"/>
                                    <a14:foregroundMark x1="8261" y1="8421" x2="217" y2="51579"/>
                                    <a14:foregroundMark x1="217" y1="51579" x2="1087" y2="72000"/>
                                    <a14:foregroundMark x1="1087" y1="72000" x2="9891" y2="34211"/>
                                    <a14:foregroundMark x1="3261" y1="77684" x2="9239" y2="96842"/>
                                    <a14:foregroundMark x1="9239" y1="96842" x2="35652" y2="98737"/>
                                    <a14:foregroundMark x1="35652" y1="98737" x2="55435" y2="94000"/>
                                    <a14:foregroundMark x1="55435" y1="94000" x2="67609" y2="84211"/>
                                    <a14:foregroundMark x1="67609" y1="84211" x2="51413" y2="92632"/>
                                    <a14:foregroundMark x1="13242" y1="84716" x2="652" y2="82105"/>
                                    <a14:foregroundMark x1="27115" y1="87593" x2="26755" y2="87518"/>
                                    <a14:foregroundMark x1="51413" y1="92632" x2="28349" y2="87849"/>
                                    <a14:foregroundMark x1="652" y1="82105" x2="1304" y2="79579"/>
                                    <a14:foregroundMark x1="21630" y1="94632" x2="47065" y2="96632"/>
                                    <a14:foregroundMark x1="47065" y1="96632" x2="65000" y2="90211"/>
                                    <a14:foregroundMark x1="65000" y1="90211" x2="69022" y2="86947"/>
                                    <a14:backgroundMark x1="52717" y1="18842" x2="22500" y2="24105"/>
                                    <a14:backgroundMark x1="22500" y1="24105" x2="20326" y2="44632"/>
                                    <a14:backgroundMark x1="20326" y1="44632" x2="28913" y2="62842"/>
                                    <a14:backgroundMark x1="28913" y1="62842" x2="42500" y2="70105"/>
                                    <a14:backgroundMark x1="42500" y1="70105" x2="58152" y2="64105"/>
                                    <a14:backgroundMark x1="58152" y1="64105" x2="72717" y2="74947"/>
                                    <a14:backgroundMark x1="72717" y1="74947" x2="72717" y2="75053"/>
                                    <a14:backgroundMark x1="24783" y1="14737" x2="14565" y2="20947"/>
                                    <a14:backgroundMark x1="22391" y1="14526" x2="14348" y2="19579"/>
                                    <a14:backgroundMark x1="51196" y1="13895" x2="56413" y2="16421"/>
                                    <a14:backgroundMark x1="56630" y1="16421" x2="57391" y2="16105"/>
                                    <a14:backgroundMark x1="57609" y1="17474" x2="55978" y2="13368"/>
                                    <a14:backgroundMark x1="52065" y1="13053" x2="51304" y2="12947"/>
                                    <a14:backgroundMark x1="55109" y1="13158" x2="57283" y2="16211"/>
                                    <a14:backgroundMark x1="57065" y1="14632" x2="57283" y2="16000"/>
                                    <a14:backgroundMark x1="57065" y1="15579" x2="57500" y2="15579"/>
                                    <a14:backgroundMark x1="57500" y1="16000" x2="57500" y2="16000"/>
                                    <a14:backgroundMark x1="57609" y1="16105" x2="57500" y2="15474"/>
                                    <a14:backgroundMark x1="58043" y1="16211" x2="58043" y2="15263"/>
                                    <a14:backgroundMark x1="57826" y1="15053" x2="57717" y2="14842"/>
                                    <a14:backgroundMark x1="56413" y1="13579" x2="50652" y2="12526"/>
                                    <a14:backgroundMark x1="51087" y1="12842" x2="50435" y2="12842"/>
                                    <a14:backgroundMark x1="24674" y1="13263" x2="21304" y2="13158"/>
                                    <a14:backgroundMark x1="15326" y1="13158" x2="13587" y2="15789"/>
                                    <a14:backgroundMark x1="13587" y1="18632" x2="13478" y2="21263"/>
                                    <a14:backgroundMark x1="16304" y1="13158" x2="12935" y2="16000"/>
                                    <a14:backgroundMark x1="15870" y1="12842" x2="15870" y2="13053"/>
                                    <a14:backgroundMark x1="92283" y1="39789" x2="91848" y2="39263"/>
                                    <a14:backgroundMark x1="91087" y1="37263" x2="91848" y2="38421"/>
                                    <a14:backgroundMark x1="92717" y1="39368" x2="91522" y2="38632"/>
                                    <a14:backgroundMark x1="92283" y1="39368" x2="91630" y2="38421"/>
                                    <a14:backgroundMark x1="90326" y1="37053" x2="92609" y2="38947"/>
                                    <a14:backgroundMark x1="92609" y1="39789" x2="92283" y2="39263"/>
                                    <a14:backgroundMark x1="76957" y1="57053" x2="77609" y2="56737"/>
                                    <a14:backgroundMark x1="14130" y1="83579" x2="26957" y2="86737"/>
                                    <a14:backgroundMark x1="27935" y1="87263" x2="26957" y2="87368"/>
                                    <a14:backgroundMark x1="13587" y1="85263" x2="13587" y2="84632"/>
                                    <a14:backgroundMark x1="25761" y1="87474" x2="26848" y2="87368"/>
                                    <a14:backgroundMark x1="13370" y1="84842" x2="13370" y2="84737"/>
                                    <a14:backgroundMark x1="13152" y1="84947" x2="13043" y2="84842"/>
                                    <a14:backgroundMark x1="13261" y1="85053" x2="13152" y2="84842"/>
                                    <a14:backgroundMark x1="13152" y1="84842" x2="13370" y2="84105"/>
                                  </a14:backgroundRemoval>
                                </a14:imgEffect>
                              </a14:imgLayer>
                            </a14:imgProps>
                          </a:ex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6812" y="1550634"/>
                        <a:ext cx="341153" cy="3522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sp>
                  <p:nvSpPr>
                    <p:cNvPr id="74" name="Rectángulo 73">
                      <a:extLst>
                        <a:ext uri="{FF2B5EF4-FFF2-40B4-BE49-F238E27FC236}">
                          <a16:creationId xmlns:a16="http://schemas.microsoft.com/office/drawing/2014/main" id="{5A6DB7C8-0592-E886-928D-C5166D207C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37977" y="3402686"/>
                      <a:ext cx="411504" cy="190959"/>
                    </a:xfrm>
                    <a:prstGeom prst="rect">
                      <a:avLst/>
                    </a:prstGeom>
                    <a:solidFill>
                      <a:schemeClr val="accent3">
                        <a:lumMod val="40000"/>
                        <a:lumOff val="60000"/>
                      </a:schemeClr>
                    </a:solidFill>
                    <a:ln/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MX" sz="1100" b="1">
                          <a:solidFill>
                            <a:schemeClr val="tx1"/>
                          </a:solidFill>
                          <a:latin typeface="Abadi Extra Light" panose="020B0204020104020204" pitchFamily="34" charset="0"/>
                        </a:rPr>
                        <a:t>VER</a:t>
                      </a:r>
                      <a:r>
                        <a:rPr lang="es-MX" b="1">
                          <a:solidFill>
                            <a:schemeClr val="tx1"/>
                          </a:solidFill>
                          <a:latin typeface="Abadi Extra Light" panose="020B0204020104020204" pitchFamily="34" charset="0"/>
                        </a:rPr>
                        <a:t> </a:t>
                      </a:r>
                    </a:p>
                  </p:txBody>
                </p:sp>
              </p:grpSp>
              <p:pic>
                <p:nvPicPr>
                  <p:cNvPr id="77" name="Imagen 76">
                    <a:extLst>
                      <a:ext uri="{FF2B5EF4-FFF2-40B4-BE49-F238E27FC236}">
                        <a16:creationId xmlns:a16="http://schemas.microsoft.com/office/drawing/2014/main" id="{01D591BF-EE57-C5C5-C96B-450F056E32C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650424" y="3700032"/>
                    <a:ext cx="3474972" cy="1331471"/>
                  </a:xfrm>
                  <a:prstGeom prst="rect">
                    <a:avLst/>
                  </a:prstGeom>
                </p:spPr>
              </p:pic>
              <p:sp>
                <p:nvSpPr>
                  <p:cNvPr id="78" name="CuadroTexto 77">
                    <a:extLst>
                      <a:ext uri="{FF2B5EF4-FFF2-40B4-BE49-F238E27FC236}">
                        <a16:creationId xmlns:a16="http://schemas.microsoft.com/office/drawing/2014/main" id="{D731E2FF-0C5C-42F7-0EB8-0FE5820D285B}"/>
                      </a:ext>
                    </a:extLst>
                  </p:cNvPr>
                  <p:cNvSpPr txBox="1"/>
                  <p:nvPr/>
                </p:nvSpPr>
                <p:spPr>
                  <a:xfrm>
                    <a:off x="9861672" y="3763928"/>
                    <a:ext cx="2784930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MX" sz="1600" b="1"/>
                      <a:t>Fecha de Solicitud:01/07/2025</a:t>
                    </a:r>
                  </a:p>
                  <a:p>
                    <a:r>
                      <a:rPr lang="es-MX" sz="1600" b="1"/>
                      <a:t>Especie: Chrysopas</a:t>
                    </a:r>
                  </a:p>
                  <a:p>
                    <a:r>
                      <a:rPr lang="es-MX" sz="1600" b="1"/>
                      <a:t>Estado: ENTREGADO</a:t>
                    </a:r>
                    <a:endParaRPr lang="es-PE" sz="1600" b="1"/>
                  </a:p>
                </p:txBody>
              </p:sp>
              <p:sp>
                <p:nvSpPr>
                  <p:cNvPr id="79" name="Rectángulo 78">
                    <a:extLst>
                      <a:ext uri="{FF2B5EF4-FFF2-40B4-BE49-F238E27FC236}">
                        <a16:creationId xmlns:a16="http://schemas.microsoft.com/office/drawing/2014/main" id="{226CCE0A-957A-6149-50BF-9B109635C093}"/>
                      </a:ext>
                    </a:extLst>
                  </p:cNvPr>
                  <p:cNvSpPr/>
                  <p:nvPr/>
                </p:nvSpPr>
                <p:spPr>
                  <a:xfrm>
                    <a:off x="12560149" y="4627679"/>
                    <a:ext cx="407889" cy="208439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/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sz="1100" b="1">
                        <a:solidFill>
                          <a:schemeClr val="tx1"/>
                        </a:solidFill>
                        <a:latin typeface="Abadi Extra Light" panose="020B0204020104020204" pitchFamily="34" charset="0"/>
                      </a:rPr>
                      <a:t>VER</a:t>
                    </a:r>
                    <a:r>
                      <a:rPr lang="es-MX" b="1">
                        <a:solidFill>
                          <a:schemeClr val="tx1"/>
                        </a:solidFill>
                        <a:latin typeface="Abadi Extra Light" panose="020B0204020104020204" pitchFamily="34" charset="0"/>
                      </a:rPr>
                      <a:t> </a:t>
                    </a:r>
                  </a:p>
                </p:txBody>
              </p:sp>
              <p:sp>
                <p:nvSpPr>
                  <p:cNvPr id="83" name="CuadroTexto 82">
                    <a:extLst>
                      <a:ext uri="{FF2B5EF4-FFF2-40B4-BE49-F238E27FC236}">
                        <a16:creationId xmlns:a16="http://schemas.microsoft.com/office/drawing/2014/main" id="{737D491A-3A8B-59FA-57C4-D40E0D69744E}"/>
                      </a:ext>
                    </a:extLst>
                  </p:cNvPr>
                  <p:cNvSpPr txBox="1"/>
                  <p:nvPr/>
                </p:nvSpPr>
                <p:spPr>
                  <a:xfrm>
                    <a:off x="9824414" y="2553427"/>
                    <a:ext cx="2832524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MX" sz="1600" b="1"/>
                      <a:t>Fecha de Solicitud: 08/07/2025</a:t>
                    </a:r>
                  </a:p>
                  <a:p>
                    <a:r>
                      <a:rPr lang="es-MX" sz="1600" b="1"/>
                      <a:t>Especie: Chrysopas</a:t>
                    </a:r>
                  </a:p>
                  <a:p>
                    <a:r>
                      <a:rPr lang="es-MX" sz="1600" b="1"/>
                      <a:t>Estado: APROBADO  </a:t>
                    </a:r>
                  </a:p>
                </p:txBody>
              </p:sp>
              <p:sp>
                <p:nvSpPr>
                  <p:cNvPr id="88" name="CuadroTexto 87">
                    <a:extLst>
                      <a:ext uri="{FF2B5EF4-FFF2-40B4-BE49-F238E27FC236}">
                        <a16:creationId xmlns:a16="http://schemas.microsoft.com/office/drawing/2014/main" id="{55F156AF-19F7-A0B8-EE66-891BEACCC2C6}"/>
                      </a:ext>
                    </a:extLst>
                  </p:cNvPr>
                  <p:cNvSpPr txBox="1"/>
                  <p:nvPr/>
                </p:nvSpPr>
                <p:spPr>
                  <a:xfrm>
                    <a:off x="9726176" y="2102314"/>
                    <a:ext cx="115570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MX" sz="1600" b="1"/>
                      <a:t>FECHA:</a:t>
                    </a:r>
                    <a:endParaRPr lang="es-PE" sz="1600" b="1"/>
                  </a:p>
                </p:txBody>
              </p:sp>
              <p:pic>
                <p:nvPicPr>
                  <p:cNvPr id="109" name="Imagen 108">
                    <a:extLst>
                      <a:ext uri="{FF2B5EF4-FFF2-40B4-BE49-F238E27FC236}">
                        <a16:creationId xmlns:a16="http://schemas.microsoft.com/office/drawing/2014/main" id="{207D9301-74E2-7D54-38BF-11A3F53116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84865" y="4605708"/>
                    <a:ext cx="258549" cy="25920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7" name="Imagen 36">
                  <a:extLst>
                    <a:ext uri="{FF2B5EF4-FFF2-40B4-BE49-F238E27FC236}">
                      <a16:creationId xmlns:a16="http://schemas.microsoft.com/office/drawing/2014/main" id="{0280A57C-9786-1716-06C2-6DDC884F68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</a:extLst>
                </a:blip>
                <a:srcRect l="25233" t="14388" r="27148" b="24106"/>
                <a:stretch/>
              </p:blipFill>
              <p:spPr>
                <a:xfrm>
                  <a:off x="6269622" y="5074818"/>
                  <a:ext cx="407047" cy="556704"/>
                </a:xfrm>
                <a:prstGeom prst="rect">
                  <a:avLst/>
                </a:prstGeom>
              </p:spPr>
            </p:pic>
            <p:pic>
              <p:nvPicPr>
                <p:cNvPr id="32" name="Imagen 31">
                  <a:extLst>
                    <a:ext uri="{FF2B5EF4-FFF2-40B4-BE49-F238E27FC236}">
                      <a16:creationId xmlns:a16="http://schemas.microsoft.com/office/drawing/2014/main" id="{CCB2BB98-D05B-4ECB-97E8-23EFB1ED88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67505" y="2326645"/>
                  <a:ext cx="1824903" cy="355870"/>
                </a:xfrm>
                <a:prstGeom prst="rect">
                  <a:avLst/>
                </a:prstGeom>
              </p:spPr>
            </p:pic>
          </p:grpSp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CAD2212-929A-A85F-F039-EC8ABFDAFB03}"/>
                  </a:ext>
                </a:extLst>
              </p:cNvPr>
              <p:cNvSpPr txBox="1"/>
              <p:nvPr/>
            </p:nvSpPr>
            <p:spPr>
              <a:xfrm>
                <a:off x="8685695" y="4657562"/>
                <a:ext cx="2702418" cy="2062103"/>
              </a:xfrm>
              <a:prstGeom prst="rect">
                <a:avLst/>
              </a:prstGeom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MX" sz="1600" dirty="0"/>
                  <a:t>El usuario al seleccionar el icono de editar solo le deberá permitir modificar, </a:t>
                </a:r>
                <a:r>
                  <a:rPr lang="es-MX" sz="1600" b="1" dirty="0"/>
                  <a:t>“Fecha y hora de Liberación”.</a:t>
                </a:r>
              </a:p>
              <a:p>
                <a:r>
                  <a:rPr lang="es-MX" sz="1600" dirty="0"/>
                  <a:t>El editado solo se debe habilitar después que se haya dado clic en  </a:t>
                </a:r>
                <a:r>
                  <a:rPr lang="es-MX" sz="1600" dirty="0">
                    <a:highlight>
                      <a:srgbClr val="00FFFF"/>
                    </a:highlight>
                  </a:rPr>
                  <a:t>el botón recibido.</a:t>
                </a:r>
              </a:p>
            </p:txBody>
          </p:sp>
        </p:grpSp>
        <p:cxnSp>
          <p:nvCxnSpPr>
            <p:cNvPr id="60" name="Conector: angular 59">
              <a:extLst>
                <a:ext uri="{FF2B5EF4-FFF2-40B4-BE49-F238E27FC236}">
                  <a16:creationId xmlns:a16="http://schemas.microsoft.com/office/drawing/2014/main" id="{51E083D9-F84C-DC8D-EC82-15EE8FF3CBF4}"/>
                </a:ext>
              </a:extLst>
            </p:cNvPr>
            <p:cNvCxnSpPr>
              <a:cxnSpLocks/>
              <a:stCxn id="17" idx="1"/>
              <a:endCxn id="109" idx="2"/>
            </p:cNvCxnSpPr>
            <p:nvPr/>
          </p:nvCxnSpPr>
          <p:spPr>
            <a:xfrm rot="10800000">
              <a:off x="7316045" y="5255273"/>
              <a:ext cx="1421570" cy="560754"/>
            </a:xfrm>
            <a:prstGeom prst="bentConnector2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89" name="Imagen 88">
              <a:extLst>
                <a:ext uri="{FF2B5EF4-FFF2-40B4-BE49-F238E27FC236}">
                  <a16:creationId xmlns:a16="http://schemas.microsoft.com/office/drawing/2014/main" id="{542A8ED1-8E2C-3441-8F13-EF08ED098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19569" t="10214" r="39364" b="79038"/>
            <a:stretch>
              <a:fillRect/>
            </a:stretch>
          </p:blipFill>
          <p:spPr>
            <a:xfrm>
              <a:off x="5468530" y="2510261"/>
              <a:ext cx="1548102" cy="253761"/>
            </a:xfrm>
            <a:prstGeom prst="rect">
              <a:avLst/>
            </a:prstGeom>
          </p:spPr>
        </p:pic>
        <p:sp>
          <p:nvSpPr>
            <p:cNvPr id="104" name="Rectángulo: esquinas redondeadas 103">
              <a:extLst>
                <a:ext uri="{FF2B5EF4-FFF2-40B4-BE49-F238E27FC236}">
                  <a16:creationId xmlns:a16="http://schemas.microsoft.com/office/drawing/2014/main" id="{6BB0CEB5-D16A-BCEA-5280-A60D2BF15006}"/>
                </a:ext>
              </a:extLst>
            </p:cNvPr>
            <p:cNvSpPr/>
            <p:nvPr/>
          </p:nvSpPr>
          <p:spPr>
            <a:xfrm>
              <a:off x="6043921" y="5018043"/>
              <a:ext cx="1042753" cy="250913"/>
            </a:xfrm>
            <a:prstGeom prst="round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400" b="1" dirty="0">
                  <a:solidFill>
                    <a:sysClr val="windowText" lastClr="000000"/>
                  </a:solidFill>
                </a:rPr>
                <a:t>RECIBIDO</a:t>
              </a:r>
              <a:endParaRPr lang="es-PE" sz="14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06C2DF56-6CCC-9B34-64C1-F95E114AA816}"/>
                </a:ext>
              </a:extLst>
            </p:cNvPr>
            <p:cNvSpPr/>
            <p:nvPr/>
          </p:nvSpPr>
          <p:spPr>
            <a:xfrm>
              <a:off x="5987438" y="4967374"/>
              <a:ext cx="1141700" cy="35587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36317ED-028F-7073-173C-3FBDB3DCEF89}"/>
              </a:ext>
            </a:extLst>
          </p:cNvPr>
          <p:cNvSpPr txBox="1"/>
          <p:nvPr/>
        </p:nvSpPr>
        <p:spPr>
          <a:xfrm>
            <a:off x="5201932" y="1285650"/>
            <a:ext cx="7834232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Registrar la fecha de liberación de Crisopas</a:t>
            </a:r>
            <a:endParaRPr lang="es-PE" sz="2400" b="1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riángulo isósceles 60">
            <a:extLst>
              <a:ext uri="{FF2B5EF4-FFF2-40B4-BE49-F238E27FC236}">
                <a16:creationId xmlns:a16="http://schemas.microsoft.com/office/drawing/2014/main" id="{BE409B38-72F8-E82D-F7E7-64EB8CE01E3A}"/>
              </a:ext>
            </a:extLst>
          </p:cNvPr>
          <p:cNvSpPr/>
          <p:nvPr/>
        </p:nvSpPr>
        <p:spPr>
          <a:xfrm rot="16200000">
            <a:off x="8878106" y="5180917"/>
            <a:ext cx="1159951" cy="1808631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5E8B9D2C-AAB0-1ADF-6350-597E128D2417}"/>
              </a:ext>
            </a:extLst>
          </p:cNvPr>
          <p:cNvCxnSpPr>
            <a:cxnSpLocks/>
            <a:endCxn id="61" idx="3"/>
          </p:cNvCxnSpPr>
          <p:nvPr/>
        </p:nvCxnSpPr>
        <p:spPr>
          <a:xfrm flipV="1">
            <a:off x="8823228" y="6085232"/>
            <a:ext cx="1539169" cy="42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D5762C1C-2440-3600-2781-A0303D4BB773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12148163" y="8404379"/>
            <a:ext cx="18610" cy="6668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079D0636-AF42-F179-DBBC-2F913850542E}"/>
              </a:ext>
            </a:extLst>
          </p:cNvPr>
          <p:cNvCxnSpPr>
            <a:stCxn id="63" idx="1"/>
            <a:endCxn id="44" idx="3"/>
          </p:cNvCxnSpPr>
          <p:nvPr/>
        </p:nvCxnSpPr>
        <p:spPr>
          <a:xfrm flipH="1" flipV="1">
            <a:off x="14068649" y="7713968"/>
            <a:ext cx="407911" cy="22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614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1DF949ED-88AE-B4FA-82C7-A6AB00389841}"/>
              </a:ext>
            </a:extLst>
          </p:cNvPr>
          <p:cNvGrpSpPr/>
          <p:nvPr/>
        </p:nvGrpSpPr>
        <p:grpSpPr>
          <a:xfrm>
            <a:off x="3271234" y="1906073"/>
            <a:ext cx="12096487" cy="6233373"/>
            <a:chOff x="3516309" y="2288123"/>
            <a:chExt cx="11503683" cy="5490715"/>
          </a:xfrm>
        </p:grpSpPr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13785051-8769-934C-BFF5-8C6C95BBF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16309" y="2288123"/>
              <a:ext cx="11503683" cy="5490715"/>
            </a:xfrm>
            <a:prstGeom prst="rect">
              <a:avLst/>
            </a:prstGeom>
          </p:spPr>
        </p:pic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7ADA8FC-8BE9-B3A9-391F-04EE35C3ACF7}"/>
                </a:ext>
              </a:extLst>
            </p:cNvPr>
            <p:cNvSpPr/>
            <p:nvPr/>
          </p:nvSpPr>
          <p:spPr>
            <a:xfrm>
              <a:off x="3567826" y="2326760"/>
              <a:ext cx="914022" cy="73152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5" name="Flecha: pentágono 4">
            <a:extLst>
              <a:ext uri="{FF2B5EF4-FFF2-40B4-BE49-F238E27FC236}">
                <a16:creationId xmlns:a16="http://schemas.microsoft.com/office/drawing/2014/main" id="{8968AEBD-FB17-5598-23BA-9D0F561CFC64}"/>
              </a:ext>
            </a:extLst>
          </p:cNvPr>
          <p:cNvSpPr/>
          <p:nvPr/>
        </p:nvSpPr>
        <p:spPr>
          <a:xfrm>
            <a:off x="860442" y="239405"/>
            <a:ext cx="11533890" cy="841311"/>
          </a:xfrm>
          <a:prstGeom prst="homePlate">
            <a:avLst/>
          </a:prstGeom>
          <a:solidFill>
            <a:schemeClr val="tx2"/>
          </a:solidFill>
          <a:ln w="57150">
            <a:solidFill>
              <a:srgbClr val="D3D3D7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65FAF85-A693-CDDC-599C-053A754AABB5}"/>
              </a:ext>
            </a:extLst>
          </p:cNvPr>
          <p:cNvSpPr txBox="1"/>
          <p:nvPr/>
        </p:nvSpPr>
        <p:spPr>
          <a:xfrm>
            <a:off x="1110956" y="412350"/>
            <a:ext cx="11014939" cy="58477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bg1"/>
                </a:solidFill>
              </a:rPr>
              <a:t>VISTA MONITOR DE LA PLATAFORMA IN HOUSE</a:t>
            </a:r>
          </a:p>
        </p:txBody>
      </p:sp>
    </p:spTree>
    <p:extLst>
      <p:ext uri="{BB962C8B-B14F-4D97-AF65-F5344CB8AC3E}">
        <p14:creationId xmlns:p14="http://schemas.microsoft.com/office/powerpoint/2010/main" val="3895031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F94AA-C138-020A-E328-6097AECCA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A2F9B1-46D2-275B-88B6-2B8F1F731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7821"/>
            <a:ext cx="18193522" cy="9012036"/>
          </a:xfrm>
          <a:prstGeom prst="rect">
            <a:avLst/>
          </a:prstGeom>
        </p:spPr>
      </p:pic>
      <p:sp>
        <p:nvSpPr>
          <p:cNvPr id="4" name="Flecha: pentágono 3">
            <a:extLst>
              <a:ext uri="{FF2B5EF4-FFF2-40B4-BE49-F238E27FC236}">
                <a16:creationId xmlns:a16="http://schemas.microsoft.com/office/drawing/2014/main" id="{8DF6EC47-BD2F-D259-A9ED-9EB1112430F9}"/>
              </a:ext>
            </a:extLst>
          </p:cNvPr>
          <p:cNvSpPr/>
          <p:nvPr/>
        </p:nvSpPr>
        <p:spPr>
          <a:xfrm>
            <a:off x="-2638" y="128876"/>
            <a:ext cx="12584097" cy="600435"/>
          </a:xfrm>
          <a:prstGeom prst="homePlate">
            <a:avLst/>
          </a:prstGeom>
          <a:solidFill>
            <a:schemeClr val="tx2"/>
          </a:solidFill>
          <a:ln w="57150">
            <a:solidFill>
              <a:srgbClr val="D3D3D7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97080C4-4339-D8D8-AA08-827323CB4FDE}"/>
              </a:ext>
            </a:extLst>
          </p:cNvPr>
          <p:cNvSpPr txBox="1"/>
          <p:nvPr/>
        </p:nvSpPr>
        <p:spPr>
          <a:xfrm>
            <a:off x="324657" y="257143"/>
            <a:ext cx="11929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INTERFAS DEL ADMINISTRADOR </a:t>
            </a:r>
            <a:r>
              <a:rPr kumimoji="0" lang="es-MX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(I+D )</a:t>
            </a:r>
            <a:endParaRPr kumimoji="0" lang="es-MX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C392D8E-71F4-69B8-281D-663B53FB5209}"/>
              </a:ext>
            </a:extLst>
          </p:cNvPr>
          <p:cNvSpPr txBox="1"/>
          <p:nvPr/>
        </p:nvSpPr>
        <p:spPr>
          <a:xfrm>
            <a:off x="94478" y="1781052"/>
            <a:ext cx="1740568" cy="26161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CRONTROL CRISOPAS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5BDAFA0-41BA-62C4-EEBE-2D4360C71BB0}"/>
              </a:ext>
            </a:extLst>
          </p:cNvPr>
          <p:cNvSpPr/>
          <p:nvPr/>
        </p:nvSpPr>
        <p:spPr>
          <a:xfrm>
            <a:off x="5947379" y="3519750"/>
            <a:ext cx="864092" cy="206592"/>
          </a:xfrm>
          <a:prstGeom prst="rect">
            <a:avLst/>
          </a:prstGeom>
          <a:solidFill>
            <a:srgbClr val="F6F9FF"/>
          </a:solidFill>
          <a:ln w="19050" cap="flat" cmpd="sng" algn="ctr">
            <a:solidFill>
              <a:srgbClr val="F5F8F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F62F38B-F3EC-85FF-F1D2-60A4A8718044}"/>
              </a:ext>
            </a:extLst>
          </p:cNvPr>
          <p:cNvSpPr/>
          <p:nvPr/>
        </p:nvSpPr>
        <p:spPr>
          <a:xfrm>
            <a:off x="5947379" y="3726343"/>
            <a:ext cx="1648308" cy="162740"/>
          </a:xfrm>
          <a:prstGeom prst="rect">
            <a:avLst/>
          </a:prstGeom>
          <a:solidFill>
            <a:srgbClr val="F6F9FF"/>
          </a:solidFill>
          <a:ln w="19050" cap="flat" cmpd="sng" algn="ctr">
            <a:solidFill>
              <a:srgbClr val="F6F9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8" name="Grupo 107">
            <a:extLst>
              <a:ext uri="{FF2B5EF4-FFF2-40B4-BE49-F238E27FC236}">
                <a16:creationId xmlns:a16="http://schemas.microsoft.com/office/drawing/2014/main" id="{B75B679B-71F9-651E-B5EA-AB7414BE4B80}"/>
              </a:ext>
            </a:extLst>
          </p:cNvPr>
          <p:cNvGrpSpPr/>
          <p:nvPr/>
        </p:nvGrpSpPr>
        <p:grpSpPr>
          <a:xfrm>
            <a:off x="1750427" y="1195099"/>
            <a:ext cx="16498199" cy="586620"/>
            <a:chOff x="1863361" y="1320458"/>
            <a:chExt cx="16498199" cy="586620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41DB3D85-ADE4-1671-359E-FC6D8F4C64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865" b="89453"/>
            <a:stretch/>
          </p:blipFill>
          <p:spPr>
            <a:xfrm>
              <a:off x="1863361" y="1320458"/>
              <a:ext cx="16498199" cy="586620"/>
            </a:xfrm>
            <a:prstGeom prst="rect">
              <a:avLst/>
            </a:prstGeom>
          </p:spPr>
        </p:pic>
        <p:pic>
          <p:nvPicPr>
            <p:cNvPr id="107" name="Imagen 106">
              <a:extLst>
                <a:ext uri="{FF2B5EF4-FFF2-40B4-BE49-F238E27FC236}">
                  <a16:creationId xmlns:a16="http://schemas.microsoft.com/office/drawing/2014/main" id="{5F40526E-B3DF-8DD1-1CAB-E2F2D0672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6822" y="1391214"/>
              <a:ext cx="400106" cy="276264"/>
            </a:xfrm>
            <a:prstGeom prst="rect">
              <a:avLst/>
            </a:prstGeom>
          </p:spPr>
        </p:pic>
      </p:grpSp>
      <p:pic>
        <p:nvPicPr>
          <p:cNvPr id="112" name="Imagen 111">
            <a:extLst>
              <a:ext uri="{FF2B5EF4-FFF2-40B4-BE49-F238E27FC236}">
                <a16:creationId xmlns:a16="http://schemas.microsoft.com/office/drawing/2014/main" id="{1A498A9A-7DF4-C36C-FE32-4E2030A53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7461" y="3048719"/>
            <a:ext cx="933580" cy="38295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DD9E409-E9FC-A883-8A07-F97EEDD279AA}"/>
              </a:ext>
            </a:extLst>
          </p:cNvPr>
          <p:cNvSpPr txBox="1"/>
          <p:nvPr/>
        </p:nvSpPr>
        <p:spPr>
          <a:xfrm>
            <a:off x="7595687" y="963593"/>
            <a:ext cx="5128041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Base de datos Crisopas </a:t>
            </a:r>
          </a:p>
        </p:txBody>
      </p:sp>
      <p:grpSp>
        <p:nvGrpSpPr>
          <p:cNvPr id="95" name="Grupo 94">
            <a:extLst>
              <a:ext uri="{FF2B5EF4-FFF2-40B4-BE49-F238E27FC236}">
                <a16:creationId xmlns:a16="http://schemas.microsoft.com/office/drawing/2014/main" id="{51F7EFA6-EA2B-7CCD-7F30-698029063AE3}"/>
              </a:ext>
            </a:extLst>
          </p:cNvPr>
          <p:cNvGrpSpPr/>
          <p:nvPr/>
        </p:nvGrpSpPr>
        <p:grpSpPr>
          <a:xfrm>
            <a:off x="176906" y="1978293"/>
            <a:ext cx="1648308" cy="5206843"/>
            <a:chOff x="176906" y="1978293"/>
            <a:chExt cx="1603653" cy="5206843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07226D0-65F3-FB50-DF4D-9707EC65F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3924" y="1978293"/>
              <a:ext cx="1454504" cy="27246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C0C7C1C7-BD63-975E-4E38-E65394408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6906" y="2347625"/>
              <a:ext cx="1603653" cy="4837511"/>
            </a:xfrm>
            <a:prstGeom prst="rect">
              <a:avLst/>
            </a:prstGeom>
          </p:spPr>
        </p:pic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AF44F315-0ADA-8B18-D053-A119008F9E54}"/>
              </a:ext>
            </a:extLst>
          </p:cNvPr>
          <p:cNvSpPr txBox="1"/>
          <p:nvPr/>
        </p:nvSpPr>
        <p:spPr>
          <a:xfrm>
            <a:off x="197785" y="2522616"/>
            <a:ext cx="161248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300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</a:t>
            </a:r>
            <a:r>
              <a:rPr lang="es-PE" sz="1300" dirty="0" err="1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equerimiento</a:t>
            </a:r>
            <a:r>
              <a:rPr lang="es-PE" sz="1300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kumimoji="0" lang="es-PE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91347F7-2BB7-AF15-989C-E3F1029FF09C}"/>
              </a:ext>
            </a:extLst>
          </p:cNvPr>
          <p:cNvSpPr txBox="1"/>
          <p:nvPr/>
        </p:nvSpPr>
        <p:spPr>
          <a:xfrm>
            <a:off x="173003" y="2081524"/>
            <a:ext cx="1637261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PE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Programa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4420F2D9-5A8E-4A22-3940-C69AE69B9FF5}"/>
              </a:ext>
            </a:extLst>
          </p:cNvPr>
          <p:cNvGrpSpPr/>
          <p:nvPr/>
        </p:nvGrpSpPr>
        <p:grpSpPr>
          <a:xfrm>
            <a:off x="1887723" y="1776910"/>
            <a:ext cx="15872638" cy="655801"/>
            <a:chOff x="1916030" y="2469615"/>
            <a:chExt cx="15732285" cy="714788"/>
          </a:xfrm>
        </p:grpSpPr>
        <p:pic>
          <p:nvPicPr>
            <p:cNvPr id="106" name="Imagen 105">
              <a:extLst>
                <a:ext uri="{FF2B5EF4-FFF2-40B4-BE49-F238E27FC236}">
                  <a16:creationId xmlns:a16="http://schemas.microsoft.com/office/drawing/2014/main" id="{EE8C6C6D-D308-68DC-0387-8638A3D38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8972" t="-5720" b="-1"/>
            <a:stretch>
              <a:fillRect/>
            </a:stretch>
          </p:blipFill>
          <p:spPr>
            <a:xfrm>
              <a:off x="1916030" y="2469615"/>
              <a:ext cx="15732285" cy="714788"/>
            </a:xfrm>
            <a:prstGeom prst="rect">
              <a:avLst/>
            </a:prstGeom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6A12DB35-6CF3-3728-210F-798B9C1BC188}"/>
                </a:ext>
              </a:extLst>
            </p:cNvPr>
            <p:cNvSpPr txBox="1"/>
            <p:nvPr/>
          </p:nvSpPr>
          <p:spPr>
            <a:xfrm>
              <a:off x="2039413" y="2707320"/>
              <a:ext cx="4902974" cy="377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6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 </a:t>
              </a:r>
              <a:r>
                <a:rPr kumimoji="0" lang="es-MX" sz="16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Programación Semanal</a:t>
              </a:r>
              <a:endParaRPr kumimoji="0" lang="es-PE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  <p:pic>
        <p:nvPicPr>
          <p:cNvPr id="109" name="Imagen 108">
            <a:extLst>
              <a:ext uri="{FF2B5EF4-FFF2-40B4-BE49-F238E27FC236}">
                <a16:creationId xmlns:a16="http://schemas.microsoft.com/office/drawing/2014/main" id="{F5618DA0-5D35-592E-04A0-7D7CDEBB00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2099" y="3374905"/>
            <a:ext cx="5201937" cy="472926"/>
          </a:xfrm>
          <a:prstGeom prst="rect">
            <a:avLst/>
          </a:prstGeom>
        </p:spPr>
      </p:pic>
      <p:sp>
        <p:nvSpPr>
          <p:cNvPr id="115" name="CuadroTexto 114">
            <a:extLst>
              <a:ext uri="{FF2B5EF4-FFF2-40B4-BE49-F238E27FC236}">
                <a16:creationId xmlns:a16="http://schemas.microsoft.com/office/drawing/2014/main" id="{F9D3695F-0E35-43A1-AA8F-7F379701F164}"/>
              </a:ext>
            </a:extLst>
          </p:cNvPr>
          <p:cNvSpPr txBox="1"/>
          <p:nvPr/>
        </p:nvSpPr>
        <p:spPr>
          <a:xfrm>
            <a:off x="176906" y="3122566"/>
            <a:ext cx="1638575" cy="36933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dirty="0">
                <a:solidFill>
                  <a:prstClr val="white"/>
                </a:solidFill>
                <a:latin typeface="Calibri"/>
              </a:rPr>
              <a:t> </a:t>
            </a:r>
            <a:r>
              <a:rPr lang="es-ES" sz="1400" dirty="0">
                <a:solidFill>
                  <a:prstClr val="white"/>
                </a:solidFill>
                <a:latin typeface="Calibri"/>
              </a:rPr>
              <a:t>Consolidado</a:t>
            </a:r>
            <a:r>
              <a:rPr lang="es-ES" dirty="0">
                <a:solidFill>
                  <a:prstClr val="white"/>
                </a:solidFill>
                <a:latin typeface="Calibri"/>
              </a:rPr>
              <a:t> </a:t>
            </a:r>
            <a:endParaRPr kumimoji="0" lang="es-PE" sz="1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422599E3-F54F-75A5-D951-0941F3FAF6D4}"/>
              </a:ext>
            </a:extLst>
          </p:cNvPr>
          <p:cNvSpPr txBox="1"/>
          <p:nvPr/>
        </p:nvSpPr>
        <p:spPr>
          <a:xfrm>
            <a:off x="173002" y="3562429"/>
            <a:ext cx="1637261" cy="338554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600" dirty="0">
                <a:solidFill>
                  <a:prstClr val="white"/>
                </a:solidFill>
                <a:latin typeface="Calibri"/>
              </a:rPr>
              <a:t>DASBOARD</a:t>
            </a:r>
            <a:endParaRPr kumimoji="0" lang="es-PE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D52677A-AF02-79F8-445D-4450325C9023}"/>
              </a:ext>
            </a:extLst>
          </p:cNvPr>
          <p:cNvSpPr/>
          <p:nvPr/>
        </p:nvSpPr>
        <p:spPr>
          <a:xfrm>
            <a:off x="2909753" y="2772967"/>
            <a:ext cx="512194" cy="291341"/>
          </a:xfrm>
          <a:prstGeom prst="rect">
            <a:avLst/>
          </a:prstGeom>
          <a:solidFill>
            <a:srgbClr val="0E2841"/>
          </a:solidFill>
          <a:ln w="19050" cap="flat" cmpd="sng" algn="ctr">
            <a:solidFill>
              <a:srgbClr val="196B2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v</a:t>
            </a:r>
            <a:endParaRPr kumimoji="0" lang="es-PE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4F66508-4728-CA2D-DE9A-1E1AF726C059}"/>
              </a:ext>
            </a:extLst>
          </p:cNvPr>
          <p:cNvSpPr txBox="1"/>
          <p:nvPr/>
        </p:nvSpPr>
        <p:spPr>
          <a:xfrm>
            <a:off x="2062752" y="2403259"/>
            <a:ext cx="92988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rgbClr val="798EB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Mes</a:t>
            </a:r>
            <a:endParaRPr lang="es-PE" sz="1400" b="1" dirty="0">
              <a:solidFill>
                <a:srgbClr val="798EB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802CADE-004A-B200-E276-7615E6B6DE3C}"/>
              </a:ext>
            </a:extLst>
          </p:cNvPr>
          <p:cNvSpPr txBox="1"/>
          <p:nvPr/>
        </p:nvSpPr>
        <p:spPr>
          <a:xfrm>
            <a:off x="2028288" y="2765844"/>
            <a:ext cx="1418578" cy="307777"/>
          </a:xfrm>
          <a:prstGeom prst="rect">
            <a:avLst/>
          </a:prstGeom>
          <a:noFill/>
          <a:ln>
            <a:solidFill>
              <a:srgbClr val="0B3040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Poppins" panose="00000500000000000000" pitchFamily="2" charset="0"/>
                <a:cs typeface="Poppins" panose="00000500000000000000" pitchFamily="2" charset="0"/>
              </a:rPr>
              <a:t>Mayo</a:t>
            </a:r>
            <a:endParaRPr lang="es-PE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A0498FD-FDE2-8837-27FE-13AE74AFB946}"/>
              </a:ext>
            </a:extLst>
          </p:cNvPr>
          <p:cNvSpPr/>
          <p:nvPr/>
        </p:nvSpPr>
        <p:spPr>
          <a:xfrm>
            <a:off x="3848703" y="2518364"/>
            <a:ext cx="2297783" cy="597722"/>
          </a:xfrm>
          <a:prstGeom prst="roundRect">
            <a:avLst/>
          </a:prstGeom>
          <a:solidFill>
            <a:srgbClr val="3C4651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9ACA837-D411-448A-AF58-0B41CF14ADB9}"/>
              </a:ext>
            </a:extLst>
          </p:cNvPr>
          <p:cNvSpPr txBox="1"/>
          <p:nvPr/>
        </p:nvSpPr>
        <p:spPr>
          <a:xfrm>
            <a:off x="3856981" y="2505411"/>
            <a:ext cx="22478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Proyectado Mensual (Mill)</a:t>
            </a:r>
            <a:endParaRPr kumimoji="0" lang="es-PE" sz="1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552FF7C-3999-4A61-4E71-BA3D59B418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7000" b="90000" l="7000" r="86375">
                        <a14:foregroundMark x1="22375" y1="20750" x2="71625" y2="20750"/>
                        <a14:foregroundMark x1="20625" y1="19750" x2="29125" y2="81750"/>
                        <a14:foregroundMark x1="29125" y1="81750" x2="29125" y2="81125"/>
                        <a14:foregroundMark x1="27375" y1="81125" x2="84625" y2="73875"/>
                        <a14:foregroundMark x1="85500" y1="73875" x2="82750" y2="20250"/>
                        <a14:foregroundMark x1="81500" y1="16250" x2="7250" y2="21125"/>
                        <a14:foregroundMark x1="13000" y1="23375" x2="12000" y2="64000"/>
                        <a14:foregroundMark x1="12000" y1="64000" x2="16125" y2="80125"/>
                        <a14:foregroundMark x1="16125" y1="80125" x2="48750" y2="82375"/>
                        <a14:foregroundMark x1="19750" y1="80625" x2="70875" y2="91250"/>
                        <a14:foregroundMark x1="70875" y1="91250" x2="94500" y2="69875"/>
                        <a14:foregroundMark x1="94500" y1="69875" x2="94625" y2="42375"/>
                        <a14:foregroundMark x1="94625" y1="42375" x2="87250" y2="18875"/>
                        <a14:foregroundMark x1="87250" y1="18875" x2="64500" y2="10625"/>
                        <a14:foregroundMark x1="64500" y1="10625" x2="38375" y2="12250"/>
                        <a14:foregroundMark x1="38375" y1="12250" x2="15375" y2="25875"/>
                        <a14:foregroundMark x1="15375" y1="25875" x2="13875" y2="28750"/>
                        <a14:foregroundMark x1="22000" y1="30125" x2="50875" y2="64875"/>
                        <a14:foregroundMark x1="50875" y1="64875" x2="76500" y2="61375"/>
                        <a14:foregroundMark x1="82750" y1="18500" x2="57750" y2="76125"/>
                        <a14:foregroundMark x1="34000" y1="24250" x2="57750" y2="59625"/>
                        <a14:foregroundMark x1="68000" y1="22000" x2="56875" y2="69375"/>
                        <a14:foregroundMark x1="56875" y1="69375" x2="57250" y2="76625"/>
                        <a14:foregroundMark x1="59125" y1="31000" x2="46250" y2="61375"/>
                        <a14:foregroundMark x1="46250" y1="61375" x2="55000" y2="52500"/>
                        <a14:foregroundMark x1="31750" y1="36750" x2="57250" y2="25625"/>
                        <a14:foregroundMark x1="13500" y1="35500" x2="39000" y2="31000"/>
                        <a14:foregroundMark x1="39000" y1="31000" x2="48375" y2="7250"/>
                        <a14:foregroundMark x1="47500" y1="7250" x2="40750" y2="25625"/>
                        <a14:foregroundMark x1="21500" y1="13125" x2="41625" y2="14875"/>
                        <a14:foregroundMark x1="33125" y1="10375" x2="20625" y2="18500"/>
                        <a14:foregroundMark x1="39000" y1="44875" x2="40250" y2="70375"/>
                        <a14:foregroundMark x1="56000" y1="39500" x2="56875" y2="68125"/>
                        <a14:foregroundMark x1="73000" y1="36375" x2="70250" y2="60500"/>
                        <a14:foregroundMark x1="77375" y1="34125" x2="72875" y2="66500"/>
                        <a14:foregroundMark x1="72875" y1="66500" x2="69375" y2="73875"/>
                        <a14:foregroundMark x1="26375" y1="86875" x2="86375" y2="84250"/>
                        <a14:foregroundMark x1="28250" y1="90000" x2="73000" y2="90000"/>
                        <a14:foregroundMark x1="80500" y1="31875" x2="55500" y2="64125"/>
                        <a14:foregroundMark x1="74750" y1="35000" x2="38000" y2="72625"/>
                        <a14:foregroundMark x1="26000" y1="47125" x2="48750" y2="69500"/>
                        <a14:foregroundMark x1="48750" y1="69500" x2="49250" y2="69500"/>
                        <a14:foregroundMark x1="32250" y1="59625" x2="42125" y2="73000"/>
                      </a14:backgroundRemoval>
                    </a14:imgEffect>
                  </a14:imgLayer>
                </a14:imgProps>
              </a:ext>
            </a:extLst>
          </a:blip>
          <a:srcRect l="10728" t="9841" r="9447" b="10141"/>
          <a:stretch>
            <a:fillRect/>
          </a:stretch>
        </p:blipFill>
        <p:spPr>
          <a:xfrm>
            <a:off x="3991324" y="2826532"/>
            <a:ext cx="188331" cy="204470"/>
          </a:xfrm>
          <a:prstGeom prst="rect">
            <a:avLst/>
          </a:prstGeom>
          <a:solidFill>
            <a:srgbClr val="C00000"/>
          </a:solidFill>
          <a:ln>
            <a:solidFill>
              <a:srgbClr val="4EA72E"/>
            </a:solidFill>
          </a:ln>
        </p:spPr>
      </p:pic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CAF0C782-3477-5F1D-455C-37E2263DB507}"/>
              </a:ext>
            </a:extLst>
          </p:cNvPr>
          <p:cNvSpPr/>
          <p:nvPr/>
        </p:nvSpPr>
        <p:spPr>
          <a:xfrm>
            <a:off x="4550379" y="2808305"/>
            <a:ext cx="795642" cy="246221"/>
          </a:xfrm>
          <a:prstGeom prst="roundRect">
            <a:avLst/>
          </a:prstGeom>
          <a:solidFill>
            <a:sysClr val="window" lastClr="FFFFFF"/>
          </a:solidFill>
          <a:ln w="3175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5000</a:t>
            </a:r>
            <a:endParaRPr kumimoji="0" lang="es-PE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5CF49DBB-71DE-7A1A-6115-67C402871F80}"/>
              </a:ext>
            </a:extLst>
          </p:cNvPr>
          <p:cNvSpPr/>
          <p:nvPr/>
        </p:nvSpPr>
        <p:spPr>
          <a:xfrm>
            <a:off x="6702962" y="2518788"/>
            <a:ext cx="3038526" cy="296216"/>
          </a:xfrm>
          <a:prstGeom prst="roundRect">
            <a:avLst/>
          </a:prstGeom>
          <a:solidFill>
            <a:srgbClr val="3E4853"/>
          </a:solidFill>
          <a:ln w="3175" cap="flat" cmpd="sng" algn="ctr">
            <a:solidFill>
              <a:srgbClr val="888E9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just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% CUMPLIMIENTO MENSUAL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F2D0ABF4-4761-17A8-23D4-F9BF240B7CEC}"/>
              </a:ext>
            </a:extLst>
          </p:cNvPr>
          <p:cNvGrpSpPr/>
          <p:nvPr/>
        </p:nvGrpSpPr>
        <p:grpSpPr>
          <a:xfrm>
            <a:off x="6715669" y="2799404"/>
            <a:ext cx="3038519" cy="325449"/>
            <a:chOff x="10955573" y="4277106"/>
            <a:chExt cx="1998144" cy="292919"/>
          </a:xfrm>
        </p:grpSpPr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17BF878E-1A65-8752-0AA2-A6666240019A}"/>
                </a:ext>
              </a:extLst>
            </p:cNvPr>
            <p:cNvSpPr/>
            <p:nvPr/>
          </p:nvSpPr>
          <p:spPr>
            <a:xfrm>
              <a:off x="10955573" y="4277106"/>
              <a:ext cx="1024063" cy="290861"/>
            </a:xfrm>
            <a:prstGeom prst="rect">
              <a:avLst/>
            </a:prstGeom>
            <a:solidFill>
              <a:srgbClr val="4EA72E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70%</a:t>
              </a:r>
            </a:p>
          </p:txBody>
        </p: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D4ECCA21-D17C-EC97-9A14-86363DBD64E4}"/>
                </a:ext>
              </a:extLst>
            </p:cNvPr>
            <p:cNvSpPr/>
            <p:nvPr/>
          </p:nvSpPr>
          <p:spPr>
            <a:xfrm>
              <a:off x="11967599" y="4291891"/>
              <a:ext cx="986118" cy="278134"/>
            </a:xfrm>
            <a:prstGeom prst="rect">
              <a:avLst/>
            </a:prstGeom>
            <a:solidFill>
              <a:srgbClr val="C00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pic>
        <p:nvPicPr>
          <p:cNvPr id="28" name="Imagen 27">
            <a:extLst>
              <a:ext uri="{FF2B5EF4-FFF2-40B4-BE49-F238E27FC236}">
                <a16:creationId xmlns:a16="http://schemas.microsoft.com/office/drawing/2014/main" id="{8172CA00-1470-37ED-D875-4D355E7389A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" r="19065" b="20599"/>
          <a:stretch>
            <a:fillRect/>
          </a:stretch>
        </p:blipFill>
        <p:spPr>
          <a:xfrm>
            <a:off x="1835046" y="1728919"/>
            <a:ext cx="3088842" cy="130686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A554E8E4-E0B2-4439-21E4-B4854C66EABE}"/>
              </a:ext>
            </a:extLst>
          </p:cNvPr>
          <p:cNvSpPr txBox="1"/>
          <p:nvPr/>
        </p:nvSpPr>
        <p:spPr>
          <a:xfrm>
            <a:off x="4967430" y="6720846"/>
            <a:ext cx="1616612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200" dirty="0">
                <a:latin typeface="Poppins" panose="00000500000000000000" pitchFamily="2" charset="0"/>
                <a:cs typeface="Poppins" panose="00000500000000000000" pitchFamily="2" charset="0"/>
              </a:rPr>
              <a:t>Es la fecha en la que se realizo el registro de la programación semanal</a:t>
            </a:r>
            <a:endParaRPr lang="es-PE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B3FD56C-948C-4763-AFD0-9A4F18C27613}"/>
              </a:ext>
            </a:extLst>
          </p:cNvPr>
          <p:cNvSpPr txBox="1"/>
          <p:nvPr/>
        </p:nvSpPr>
        <p:spPr>
          <a:xfrm>
            <a:off x="15189026" y="6824774"/>
            <a:ext cx="1953240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 dirty="0"/>
              <a:t>Stock final descuenta del total de stock de la semana</a:t>
            </a:r>
            <a:endParaRPr lang="es-PE" sz="1600" dirty="0"/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A16CAAF8-0CC4-0BF0-F271-E91F89EA45BA}"/>
              </a:ext>
            </a:extLst>
          </p:cNvPr>
          <p:cNvCxnSpPr>
            <a:cxnSpLocks/>
          </p:cNvCxnSpPr>
          <p:nvPr/>
        </p:nvCxnSpPr>
        <p:spPr>
          <a:xfrm flipV="1">
            <a:off x="16165646" y="6538962"/>
            <a:ext cx="0" cy="294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D39021F-1690-69AF-82D5-CA0BDC88379A}"/>
              </a:ext>
            </a:extLst>
          </p:cNvPr>
          <p:cNvSpPr txBox="1"/>
          <p:nvPr/>
        </p:nvSpPr>
        <p:spPr>
          <a:xfrm>
            <a:off x="15646400" y="2808305"/>
            <a:ext cx="1721868" cy="101566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Poppins" panose="00000500000000000000" pitchFamily="2" charset="0"/>
                <a:cs typeface="Poppins" panose="00000500000000000000" pitchFamily="2" charset="0"/>
              </a:rPr>
              <a:t>Permite ingresar la programación semanal  los lunes y jueves luego lo  publica</a:t>
            </a:r>
            <a:endParaRPr lang="es-PE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6" name="Picture 2">
            <a:extLst>
              <a:ext uri="{FF2B5EF4-FFF2-40B4-BE49-F238E27FC236}">
                <a16:creationId xmlns:a16="http://schemas.microsoft.com/office/drawing/2014/main" id="{72832520-8468-3A16-95EC-A85A964C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2055" y="3406154"/>
            <a:ext cx="302572" cy="34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8D5AF118-5AAC-3CCB-3687-AFCDFD9DA8C9}"/>
              </a:ext>
            </a:extLst>
          </p:cNvPr>
          <p:cNvSpPr txBox="1"/>
          <p:nvPr/>
        </p:nvSpPr>
        <p:spPr>
          <a:xfrm>
            <a:off x="8668516" y="3346708"/>
            <a:ext cx="2411712" cy="46166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MX" sz="1200" dirty="0">
                <a:latin typeface="Poppins" panose="00000500000000000000" pitchFamily="2" charset="0"/>
                <a:cs typeface="Poppins" panose="00000500000000000000" pitchFamily="2" charset="0"/>
              </a:rPr>
              <a:t>Te debe permitir descargar en Excel la data registrada.</a:t>
            </a:r>
            <a:endParaRPr lang="es-PE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E11787EA-0E4E-A355-0920-073EDC36F67A}"/>
              </a:ext>
            </a:extLst>
          </p:cNvPr>
          <p:cNvCxnSpPr>
            <a:stCxn id="47" idx="1"/>
          </p:cNvCxnSpPr>
          <p:nvPr/>
        </p:nvCxnSpPr>
        <p:spPr>
          <a:xfrm flipH="1">
            <a:off x="8103341" y="3577541"/>
            <a:ext cx="565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CB6473E6-D874-11E1-3B07-74F7611AB453}"/>
              </a:ext>
            </a:extLst>
          </p:cNvPr>
          <p:cNvSpPr txBox="1"/>
          <p:nvPr/>
        </p:nvSpPr>
        <p:spPr>
          <a:xfrm>
            <a:off x="91371" y="4609376"/>
            <a:ext cx="1764283" cy="156966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Al ingresar el mes, deben mostrarse automáticamente los números de la semana correspondiente, y mostrar  </a:t>
            </a:r>
            <a:r>
              <a:rPr kumimoji="0" lang="es-MX" sz="12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Proy</a:t>
            </a:r>
            <a:r>
              <a:rPr kumimoji="0" lang="es-MX" sz="1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 Mensual. </a:t>
            </a:r>
            <a:endParaRPr kumimoji="0" lang="es-PE" sz="12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9FA6AFFF-1A0E-DDA8-23FE-04510F162643}"/>
              </a:ext>
            </a:extLst>
          </p:cNvPr>
          <p:cNvCxnSpPr>
            <a:cxnSpLocks/>
          </p:cNvCxnSpPr>
          <p:nvPr/>
        </p:nvCxnSpPr>
        <p:spPr>
          <a:xfrm flipV="1">
            <a:off x="1741157" y="3063822"/>
            <a:ext cx="391956" cy="2330384"/>
          </a:xfrm>
          <a:prstGeom prst="bentConnector2">
            <a:avLst/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B7BDC6E8-FFD2-28D7-1675-A7C81C3CF253}"/>
              </a:ext>
            </a:extLst>
          </p:cNvPr>
          <p:cNvSpPr txBox="1"/>
          <p:nvPr/>
        </p:nvSpPr>
        <p:spPr>
          <a:xfrm>
            <a:off x="187953" y="4036669"/>
            <a:ext cx="1637261" cy="338554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600" dirty="0">
                <a:solidFill>
                  <a:prstClr val="white"/>
                </a:solidFill>
                <a:latin typeface="Calibri"/>
              </a:rPr>
              <a:t>Configuración</a:t>
            </a:r>
            <a:endParaRPr kumimoji="0" lang="es-PE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7F399BB7-D82F-9188-4619-38A6AFB6B5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97827" y="4239363"/>
            <a:ext cx="15087321" cy="2118100"/>
          </a:xfrm>
          <a:prstGeom prst="rect">
            <a:avLst/>
          </a:prstGeom>
        </p:spPr>
      </p:pic>
      <p:sp>
        <p:nvSpPr>
          <p:cNvPr id="9" name="Cerrar llave 8">
            <a:extLst>
              <a:ext uri="{FF2B5EF4-FFF2-40B4-BE49-F238E27FC236}">
                <a16:creationId xmlns:a16="http://schemas.microsoft.com/office/drawing/2014/main" id="{B1871273-D151-6EB9-BE15-60D52F459CEE}"/>
              </a:ext>
            </a:extLst>
          </p:cNvPr>
          <p:cNvSpPr/>
          <p:nvPr/>
        </p:nvSpPr>
        <p:spPr>
          <a:xfrm rot="5400000">
            <a:off x="5601174" y="3042940"/>
            <a:ext cx="294012" cy="6994829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D29F8534-E42F-4DA6-F1D7-A1BA5D944653}"/>
              </a:ext>
            </a:extLst>
          </p:cNvPr>
          <p:cNvCxnSpPr/>
          <p:nvPr/>
        </p:nvCxnSpPr>
        <p:spPr>
          <a:xfrm flipV="1">
            <a:off x="16537573" y="2294301"/>
            <a:ext cx="487684" cy="500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D6C678FF-BCF8-039A-E472-CF9EF361C359}"/>
              </a:ext>
            </a:extLst>
          </p:cNvPr>
          <p:cNvSpPr/>
          <p:nvPr/>
        </p:nvSpPr>
        <p:spPr>
          <a:xfrm>
            <a:off x="16836571" y="1728919"/>
            <a:ext cx="986299" cy="663991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7" name="Triángulo isósceles 66">
            <a:extLst>
              <a:ext uri="{FF2B5EF4-FFF2-40B4-BE49-F238E27FC236}">
                <a16:creationId xmlns:a16="http://schemas.microsoft.com/office/drawing/2014/main" id="{A5594C28-15DE-95CF-C2D9-F36A44EBEABD}"/>
              </a:ext>
            </a:extLst>
          </p:cNvPr>
          <p:cNvSpPr/>
          <p:nvPr/>
        </p:nvSpPr>
        <p:spPr>
          <a:xfrm rot="13455729">
            <a:off x="5647276" y="1489876"/>
            <a:ext cx="1416820" cy="1423517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66" name="Imagen 65">
            <a:extLst>
              <a:ext uri="{FF2B5EF4-FFF2-40B4-BE49-F238E27FC236}">
                <a16:creationId xmlns:a16="http://schemas.microsoft.com/office/drawing/2014/main" id="{A0CB5618-C0D4-7486-D5B2-7CDA098C3C0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54869" y="1114377"/>
            <a:ext cx="1955996" cy="127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53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398E7-13BF-E6C6-B0E0-56881CE52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7C708D5-8B49-07B2-87BD-5900E8E28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8" y="932064"/>
            <a:ext cx="18193522" cy="9012036"/>
          </a:xfrm>
          <a:prstGeom prst="rect">
            <a:avLst/>
          </a:prstGeom>
        </p:spPr>
      </p:pic>
      <p:sp>
        <p:nvSpPr>
          <p:cNvPr id="4" name="Flecha: pentágono 3">
            <a:extLst>
              <a:ext uri="{FF2B5EF4-FFF2-40B4-BE49-F238E27FC236}">
                <a16:creationId xmlns:a16="http://schemas.microsoft.com/office/drawing/2014/main" id="{E1A5FA16-230F-471C-42DB-682C2BFE7B1F}"/>
              </a:ext>
            </a:extLst>
          </p:cNvPr>
          <p:cNvSpPr/>
          <p:nvPr/>
        </p:nvSpPr>
        <p:spPr>
          <a:xfrm>
            <a:off x="783659" y="80232"/>
            <a:ext cx="12584097" cy="841311"/>
          </a:xfrm>
          <a:prstGeom prst="homePlate">
            <a:avLst/>
          </a:prstGeom>
          <a:solidFill>
            <a:schemeClr val="tx2"/>
          </a:solidFill>
          <a:ln w="57150">
            <a:solidFill>
              <a:srgbClr val="D3D3D7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4DC421F-D285-A8CF-394C-E49A88A6ACD2}"/>
              </a:ext>
            </a:extLst>
          </p:cNvPr>
          <p:cNvSpPr txBox="1"/>
          <p:nvPr/>
        </p:nvSpPr>
        <p:spPr>
          <a:xfrm>
            <a:off x="1110954" y="208499"/>
            <a:ext cx="11929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INTERFAS DEL ADMINISTRADOR </a:t>
            </a:r>
            <a:r>
              <a:rPr lang="es-MX" sz="3200" b="1" dirty="0">
                <a:solidFill>
                  <a:prstClr val="white"/>
                </a:solidFill>
                <a:latin typeface="Calibri"/>
              </a:rPr>
              <a:t>Y EL USUARIO</a:t>
            </a:r>
            <a:endParaRPr kumimoji="0" lang="es-MX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DE7F951-D5C2-61ED-74B4-2774DB015933}"/>
              </a:ext>
            </a:extLst>
          </p:cNvPr>
          <p:cNvSpPr txBox="1"/>
          <p:nvPr/>
        </p:nvSpPr>
        <p:spPr>
          <a:xfrm>
            <a:off x="94478" y="1717553"/>
            <a:ext cx="1686081" cy="26161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CRONTROL CRISOPAS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AE5CDBB-901F-ABFD-D166-DBC447BE6E66}"/>
              </a:ext>
            </a:extLst>
          </p:cNvPr>
          <p:cNvSpPr/>
          <p:nvPr/>
        </p:nvSpPr>
        <p:spPr>
          <a:xfrm>
            <a:off x="5947379" y="3519750"/>
            <a:ext cx="864092" cy="206592"/>
          </a:xfrm>
          <a:prstGeom prst="rect">
            <a:avLst/>
          </a:prstGeom>
          <a:solidFill>
            <a:srgbClr val="F6F9FF"/>
          </a:solidFill>
          <a:ln w="19050" cap="flat" cmpd="sng" algn="ctr">
            <a:solidFill>
              <a:srgbClr val="F5F8F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968557A-4B34-3A4A-3402-739B6D26BC52}"/>
              </a:ext>
            </a:extLst>
          </p:cNvPr>
          <p:cNvSpPr/>
          <p:nvPr/>
        </p:nvSpPr>
        <p:spPr>
          <a:xfrm>
            <a:off x="5947379" y="3726343"/>
            <a:ext cx="1648308" cy="162740"/>
          </a:xfrm>
          <a:prstGeom prst="rect">
            <a:avLst/>
          </a:prstGeom>
          <a:solidFill>
            <a:srgbClr val="F6F9FF"/>
          </a:solidFill>
          <a:ln w="19050" cap="flat" cmpd="sng" algn="ctr">
            <a:solidFill>
              <a:srgbClr val="F6F9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8" name="Grupo 107">
            <a:extLst>
              <a:ext uri="{FF2B5EF4-FFF2-40B4-BE49-F238E27FC236}">
                <a16:creationId xmlns:a16="http://schemas.microsoft.com/office/drawing/2014/main" id="{CBBCF65B-7DE5-7CF9-FA23-ACD905C27AC7}"/>
              </a:ext>
            </a:extLst>
          </p:cNvPr>
          <p:cNvGrpSpPr/>
          <p:nvPr/>
        </p:nvGrpSpPr>
        <p:grpSpPr>
          <a:xfrm>
            <a:off x="1871173" y="1163166"/>
            <a:ext cx="16498199" cy="586620"/>
            <a:chOff x="1823927" y="1231477"/>
            <a:chExt cx="16498199" cy="586620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4D74E7EA-D2BC-A3B8-C080-031937F560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865" b="89453"/>
            <a:stretch/>
          </p:blipFill>
          <p:spPr>
            <a:xfrm>
              <a:off x="1823927" y="1231477"/>
              <a:ext cx="16498199" cy="586620"/>
            </a:xfrm>
            <a:prstGeom prst="rect">
              <a:avLst/>
            </a:prstGeom>
          </p:spPr>
        </p:pic>
        <p:pic>
          <p:nvPicPr>
            <p:cNvPr id="107" name="Imagen 106">
              <a:extLst>
                <a:ext uri="{FF2B5EF4-FFF2-40B4-BE49-F238E27FC236}">
                  <a16:creationId xmlns:a16="http://schemas.microsoft.com/office/drawing/2014/main" id="{01C7BBE0-1EB7-31A1-AAED-338888DD4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6822" y="1391214"/>
              <a:ext cx="400106" cy="276264"/>
            </a:xfrm>
            <a:prstGeom prst="rect">
              <a:avLst/>
            </a:prstGeom>
          </p:spPr>
        </p:pic>
      </p:grpSp>
      <p:pic>
        <p:nvPicPr>
          <p:cNvPr id="110" name="Imagen 109">
            <a:extLst>
              <a:ext uri="{FF2B5EF4-FFF2-40B4-BE49-F238E27FC236}">
                <a16:creationId xmlns:a16="http://schemas.microsoft.com/office/drawing/2014/main" id="{0460D447-1B0A-B528-DB1F-F4B1F21C1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7577" y="1780859"/>
            <a:ext cx="2343477" cy="714284"/>
          </a:xfrm>
          <a:prstGeom prst="rect">
            <a:avLst/>
          </a:prstGeom>
        </p:spPr>
      </p:pic>
      <p:pic>
        <p:nvPicPr>
          <p:cNvPr id="112" name="Imagen 111">
            <a:extLst>
              <a:ext uri="{FF2B5EF4-FFF2-40B4-BE49-F238E27FC236}">
                <a16:creationId xmlns:a16="http://schemas.microsoft.com/office/drawing/2014/main" id="{8E9D2364-2DB2-2DB5-CA28-1126167F39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47461" y="3048719"/>
            <a:ext cx="933580" cy="38295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682A262-768C-50F3-CC8B-B56160372AC7}"/>
              </a:ext>
            </a:extLst>
          </p:cNvPr>
          <p:cNvSpPr txBox="1"/>
          <p:nvPr/>
        </p:nvSpPr>
        <p:spPr>
          <a:xfrm>
            <a:off x="7595687" y="938193"/>
            <a:ext cx="5128041" cy="26161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Base de datos Crisopas </a:t>
            </a:r>
          </a:p>
        </p:txBody>
      </p:sp>
      <p:grpSp>
        <p:nvGrpSpPr>
          <p:cNvPr id="95" name="Grupo 94">
            <a:extLst>
              <a:ext uri="{FF2B5EF4-FFF2-40B4-BE49-F238E27FC236}">
                <a16:creationId xmlns:a16="http://schemas.microsoft.com/office/drawing/2014/main" id="{8FAC5B93-DDA3-66C9-2488-AF652AE6EA2F}"/>
              </a:ext>
            </a:extLst>
          </p:cNvPr>
          <p:cNvGrpSpPr/>
          <p:nvPr/>
        </p:nvGrpSpPr>
        <p:grpSpPr>
          <a:xfrm>
            <a:off x="176906" y="1978293"/>
            <a:ext cx="1603653" cy="5206843"/>
            <a:chOff x="176906" y="1978293"/>
            <a:chExt cx="1603653" cy="5206843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BAA43B06-B080-3F8F-AB4E-ABDF94D1D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3924" y="1978293"/>
              <a:ext cx="1454504" cy="27246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A81754DB-9F87-161C-A926-B3190E33D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6906" y="2347625"/>
              <a:ext cx="1603653" cy="4837511"/>
            </a:xfrm>
            <a:prstGeom prst="rect">
              <a:avLst/>
            </a:prstGeom>
          </p:spPr>
        </p:pic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1E27EAD9-5ADE-4D96-C523-9E3DBDC1F8DE}"/>
              </a:ext>
            </a:extLst>
          </p:cNvPr>
          <p:cNvSpPr txBox="1"/>
          <p:nvPr/>
        </p:nvSpPr>
        <p:spPr>
          <a:xfrm>
            <a:off x="94479" y="2522616"/>
            <a:ext cx="1715786" cy="292388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300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</a:t>
            </a:r>
            <a:r>
              <a:rPr lang="es-PE" sz="1300" dirty="0" err="1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equerimiento</a:t>
            </a:r>
            <a:r>
              <a:rPr lang="es-PE" sz="1300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kumimoji="0" lang="es-PE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4CF7FA9-85A3-BFAD-7D28-0F9A2DF0147A}"/>
              </a:ext>
            </a:extLst>
          </p:cNvPr>
          <p:cNvSpPr txBox="1"/>
          <p:nvPr/>
        </p:nvSpPr>
        <p:spPr>
          <a:xfrm>
            <a:off x="173003" y="2043424"/>
            <a:ext cx="1637261" cy="307777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PE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Programa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CA614E34-6450-AA52-B5B0-7E4770F79DA0}"/>
              </a:ext>
            </a:extLst>
          </p:cNvPr>
          <p:cNvGrpSpPr/>
          <p:nvPr/>
        </p:nvGrpSpPr>
        <p:grpSpPr>
          <a:xfrm>
            <a:off x="1862986" y="1941931"/>
            <a:ext cx="15732285" cy="714788"/>
            <a:chOff x="1862986" y="2107031"/>
            <a:chExt cx="15732285" cy="714788"/>
          </a:xfrm>
        </p:grpSpPr>
        <p:pic>
          <p:nvPicPr>
            <p:cNvPr id="106" name="Imagen 105">
              <a:extLst>
                <a:ext uri="{FF2B5EF4-FFF2-40B4-BE49-F238E27FC236}">
                  <a16:creationId xmlns:a16="http://schemas.microsoft.com/office/drawing/2014/main" id="{22E21AC1-85F2-6B89-0149-43CEC2F7D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8972" t="-5720" b="-1"/>
            <a:stretch>
              <a:fillRect/>
            </a:stretch>
          </p:blipFill>
          <p:spPr>
            <a:xfrm>
              <a:off x="1862986" y="2107031"/>
              <a:ext cx="15732285" cy="714788"/>
            </a:xfrm>
            <a:prstGeom prst="rect">
              <a:avLst/>
            </a:prstGeom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18C83DB7-B1BA-1F1A-4571-870F62BAC152}"/>
                </a:ext>
              </a:extLst>
            </p:cNvPr>
            <p:cNvSpPr txBox="1"/>
            <p:nvPr/>
          </p:nvSpPr>
          <p:spPr>
            <a:xfrm>
              <a:off x="2039413" y="2330023"/>
              <a:ext cx="4902974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65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 </a:t>
              </a:r>
              <a:r>
                <a:rPr kumimoji="0" lang="es-MX" sz="16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Requerimiento de crisopas</a:t>
              </a:r>
              <a:endParaRPr kumimoji="0" lang="es-PE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  <p:pic>
        <p:nvPicPr>
          <p:cNvPr id="109" name="Imagen 108">
            <a:extLst>
              <a:ext uri="{FF2B5EF4-FFF2-40B4-BE49-F238E27FC236}">
                <a16:creationId xmlns:a16="http://schemas.microsoft.com/office/drawing/2014/main" id="{9BA409A5-4065-AAF9-324D-3D9BB4079E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9413" y="3386583"/>
            <a:ext cx="5201937" cy="472926"/>
          </a:xfrm>
          <a:prstGeom prst="rect">
            <a:avLst/>
          </a:prstGeom>
        </p:spPr>
      </p:pic>
      <p:sp>
        <p:nvSpPr>
          <p:cNvPr id="117" name="CuadroTexto 116">
            <a:extLst>
              <a:ext uri="{FF2B5EF4-FFF2-40B4-BE49-F238E27FC236}">
                <a16:creationId xmlns:a16="http://schemas.microsoft.com/office/drawing/2014/main" id="{5BFD65DB-974C-EC66-2FA0-04D433047A9B}"/>
              </a:ext>
            </a:extLst>
          </p:cNvPr>
          <p:cNvSpPr txBox="1"/>
          <p:nvPr/>
        </p:nvSpPr>
        <p:spPr>
          <a:xfrm>
            <a:off x="94477" y="2937332"/>
            <a:ext cx="1637261" cy="338554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600" dirty="0" err="1">
                <a:solidFill>
                  <a:prstClr val="white"/>
                </a:solidFill>
                <a:latin typeface="Calibri"/>
              </a:rPr>
              <a:t>Dasboard</a:t>
            </a:r>
            <a:endParaRPr kumimoji="0" lang="es-PE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365DDAA-C492-62E3-BA18-E9A1D31AD067}"/>
              </a:ext>
            </a:extLst>
          </p:cNvPr>
          <p:cNvSpPr txBox="1"/>
          <p:nvPr/>
        </p:nvSpPr>
        <p:spPr>
          <a:xfrm>
            <a:off x="95353" y="3434782"/>
            <a:ext cx="1637261" cy="338554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600" dirty="0">
                <a:solidFill>
                  <a:prstClr val="white"/>
                </a:solidFill>
                <a:latin typeface="Calibri"/>
              </a:rPr>
              <a:t>Configuración</a:t>
            </a:r>
            <a:endParaRPr kumimoji="0" lang="es-PE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EECC6C9-E91A-9136-6E5D-5E5EFEBB1AEA}"/>
              </a:ext>
            </a:extLst>
          </p:cNvPr>
          <p:cNvSpPr txBox="1"/>
          <p:nvPr/>
        </p:nvSpPr>
        <p:spPr>
          <a:xfrm>
            <a:off x="16567083" y="6376800"/>
            <a:ext cx="1246355" cy="83099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 dirty="0"/>
              <a:t>La acta de entrega sea descargable</a:t>
            </a:r>
            <a:endParaRPr lang="es-PE" sz="1600" dirty="0"/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AEAB9FEA-39BF-6A15-7E74-A5621E161658}"/>
              </a:ext>
            </a:extLst>
          </p:cNvPr>
          <p:cNvCxnSpPr>
            <a:stCxn id="48" idx="0"/>
          </p:cNvCxnSpPr>
          <p:nvPr/>
        </p:nvCxnSpPr>
        <p:spPr>
          <a:xfrm flipV="1">
            <a:off x="17190261" y="6002308"/>
            <a:ext cx="9719" cy="374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34BAD21-29D1-5DD5-BCB3-A92AB1E1AA2A}"/>
              </a:ext>
            </a:extLst>
          </p:cNvPr>
          <p:cNvSpPr txBox="1"/>
          <p:nvPr/>
        </p:nvSpPr>
        <p:spPr>
          <a:xfrm>
            <a:off x="9109323" y="6565482"/>
            <a:ext cx="1849912" cy="15696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MX" sz="1600" dirty="0"/>
              <a:t>Cada que se haga un cambio de estado, en automático te debe registrar la fecha del cambio.</a:t>
            </a:r>
            <a:endParaRPr lang="es-PE" sz="1600" dirty="0"/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BB9A376-2A30-8546-812A-CC41C1A675D5}"/>
              </a:ext>
            </a:extLst>
          </p:cNvPr>
          <p:cNvCxnSpPr>
            <a:cxnSpLocks/>
          </p:cNvCxnSpPr>
          <p:nvPr/>
        </p:nvCxnSpPr>
        <p:spPr>
          <a:xfrm flipH="1" flipV="1">
            <a:off x="9685009" y="6091771"/>
            <a:ext cx="243073" cy="473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Imagen 14">
            <a:extLst>
              <a:ext uri="{FF2B5EF4-FFF2-40B4-BE49-F238E27FC236}">
                <a16:creationId xmlns:a16="http://schemas.microsoft.com/office/drawing/2014/main" id="{D6D7055A-8BE7-8599-99F2-00FBFCBE1D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9413" y="3962572"/>
            <a:ext cx="15732285" cy="2142613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CAE7F560-2FF8-162A-CA8E-09B2ED4A5324}"/>
              </a:ext>
            </a:extLst>
          </p:cNvPr>
          <p:cNvSpPr txBox="1"/>
          <p:nvPr/>
        </p:nvSpPr>
        <p:spPr>
          <a:xfrm>
            <a:off x="3854351" y="6820199"/>
            <a:ext cx="2957120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MX" sz="1600" dirty="0"/>
              <a:t>Vista del nuevo requerimiento por parte del usuario</a:t>
            </a:r>
            <a:endParaRPr lang="es-PE" sz="1600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0CB7A007-2011-0CE2-5047-B7D18143AC26}"/>
              </a:ext>
            </a:extLst>
          </p:cNvPr>
          <p:cNvCxnSpPr>
            <a:stCxn id="18" idx="0"/>
          </p:cNvCxnSpPr>
          <p:nvPr/>
        </p:nvCxnSpPr>
        <p:spPr>
          <a:xfrm flipV="1">
            <a:off x="5332911" y="6626054"/>
            <a:ext cx="20602" cy="194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26537BE2-E884-2488-9243-2D9F24E9B180}"/>
              </a:ext>
            </a:extLst>
          </p:cNvPr>
          <p:cNvSpPr/>
          <p:nvPr/>
        </p:nvSpPr>
        <p:spPr>
          <a:xfrm rot="5400000">
            <a:off x="5096195" y="3151162"/>
            <a:ext cx="518796" cy="6494797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E0BEA083-60BE-8AE6-5B74-5A424A66A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691" y="3406154"/>
            <a:ext cx="302572" cy="34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248AE406-628C-2C38-1AD0-63684B514104}"/>
              </a:ext>
            </a:extLst>
          </p:cNvPr>
          <p:cNvSpPr txBox="1"/>
          <p:nvPr/>
        </p:nvSpPr>
        <p:spPr>
          <a:xfrm>
            <a:off x="8291152" y="3346708"/>
            <a:ext cx="2411712" cy="46166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MX" sz="1200" dirty="0">
                <a:latin typeface="Poppins" panose="00000500000000000000" pitchFamily="2" charset="0"/>
                <a:cs typeface="Poppins" panose="00000500000000000000" pitchFamily="2" charset="0"/>
              </a:rPr>
              <a:t>debe permitir descargar en Excel la data registrada.</a:t>
            </a:r>
            <a:endParaRPr lang="es-PE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7496BB5A-3828-D3AB-8114-583296747264}"/>
              </a:ext>
            </a:extLst>
          </p:cNvPr>
          <p:cNvCxnSpPr>
            <a:stCxn id="27" idx="1"/>
            <a:endCxn id="26" idx="3"/>
          </p:cNvCxnSpPr>
          <p:nvPr/>
        </p:nvCxnSpPr>
        <p:spPr>
          <a:xfrm flipH="1">
            <a:off x="7877263" y="3577541"/>
            <a:ext cx="4138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278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B9A2F-D321-FC3E-4A85-18B3591FA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AA1FE78-DA86-5AEF-FFB9-75DBD4945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8" y="932064"/>
            <a:ext cx="18193522" cy="9012036"/>
          </a:xfrm>
          <a:prstGeom prst="rect">
            <a:avLst/>
          </a:prstGeom>
        </p:spPr>
      </p:pic>
      <p:sp>
        <p:nvSpPr>
          <p:cNvPr id="4" name="Flecha: pentágono 3">
            <a:extLst>
              <a:ext uri="{FF2B5EF4-FFF2-40B4-BE49-F238E27FC236}">
                <a16:creationId xmlns:a16="http://schemas.microsoft.com/office/drawing/2014/main" id="{E1DB5EE1-8C22-4031-1E52-5ADF84543131}"/>
              </a:ext>
            </a:extLst>
          </p:cNvPr>
          <p:cNvSpPr/>
          <p:nvPr/>
        </p:nvSpPr>
        <p:spPr>
          <a:xfrm>
            <a:off x="783659" y="80232"/>
            <a:ext cx="12584097" cy="841311"/>
          </a:xfrm>
          <a:prstGeom prst="homePlate">
            <a:avLst/>
          </a:prstGeom>
          <a:solidFill>
            <a:schemeClr val="tx2"/>
          </a:solidFill>
          <a:ln w="57150">
            <a:solidFill>
              <a:srgbClr val="D3D3D7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CEB646-4C70-0F86-8B14-15C57D0676B7}"/>
              </a:ext>
            </a:extLst>
          </p:cNvPr>
          <p:cNvSpPr txBox="1"/>
          <p:nvPr/>
        </p:nvSpPr>
        <p:spPr>
          <a:xfrm>
            <a:off x="1110954" y="208499"/>
            <a:ext cx="11929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INTERFAS DEL ADMINISTRADOR </a:t>
            </a:r>
            <a:r>
              <a:rPr lang="es-MX" sz="2400" b="1" dirty="0">
                <a:solidFill>
                  <a:prstClr val="white"/>
                </a:solidFill>
                <a:latin typeface="Calibri"/>
              </a:rPr>
              <a:t>Y EL USUARIO</a:t>
            </a:r>
            <a:endParaRPr kumimoji="0" lang="es-MX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E247B1F-D2A6-A932-9120-70C457EF1D90}"/>
              </a:ext>
            </a:extLst>
          </p:cNvPr>
          <p:cNvSpPr txBox="1"/>
          <p:nvPr/>
        </p:nvSpPr>
        <p:spPr>
          <a:xfrm>
            <a:off x="94478" y="1717553"/>
            <a:ext cx="1686081" cy="26161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CRONTROL CRISOPAS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A77C147-507F-B1D5-3802-973DF3BDF9F8}"/>
              </a:ext>
            </a:extLst>
          </p:cNvPr>
          <p:cNvSpPr/>
          <p:nvPr/>
        </p:nvSpPr>
        <p:spPr>
          <a:xfrm>
            <a:off x="5947379" y="3519750"/>
            <a:ext cx="864092" cy="206592"/>
          </a:xfrm>
          <a:prstGeom prst="rect">
            <a:avLst/>
          </a:prstGeom>
          <a:solidFill>
            <a:srgbClr val="F6F9FF"/>
          </a:solidFill>
          <a:ln w="19050" cap="flat" cmpd="sng" algn="ctr">
            <a:solidFill>
              <a:srgbClr val="F5F8F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6195570-C01C-CA04-5DC2-3E148ACA125A}"/>
              </a:ext>
            </a:extLst>
          </p:cNvPr>
          <p:cNvSpPr/>
          <p:nvPr/>
        </p:nvSpPr>
        <p:spPr>
          <a:xfrm>
            <a:off x="5947379" y="3726343"/>
            <a:ext cx="1648308" cy="162740"/>
          </a:xfrm>
          <a:prstGeom prst="rect">
            <a:avLst/>
          </a:prstGeom>
          <a:solidFill>
            <a:srgbClr val="F6F9FF"/>
          </a:solidFill>
          <a:ln w="19050" cap="flat" cmpd="sng" algn="ctr">
            <a:solidFill>
              <a:srgbClr val="F6F9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8" name="Grupo 107">
            <a:extLst>
              <a:ext uri="{FF2B5EF4-FFF2-40B4-BE49-F238E27FC236}">
                <a16:creationId xmlns:a16="http://schemas.microsoft.com/office/drawing/2014/main" id="{CE8FE32A-3777-5804-A915-EE9ABA738563}"/>
              </a:ext>
            </a:extLst>
          </p:cNvPr>
          <p:cNvGrpSpPr/>
          <p:nvPr/>
        </p:nvGrpSpPr>
        <p:grpSpPr>
          <a:xfrm>
            <a:off x="1871173" y="1163166"/>
            <a:ext cx="16498199" cy="586620"/>
            <a:chOff x="1823927" y="1231477"/>
            <a:chExt cx="16498199" cy="586620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594919C7-366A-AECD-CA44-4562AF7E48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865" b="89453"/>
            <a:stretch/>
          </p:blipFill>
          <p:spPr>
            <a:xfrm>
              <a:off x="1823927" y="1231477"/>
              <a:ext cx="16498199" cy="586620"/>
            </a:xfrm>
            <a:prstGeom prst="rect">
              <a:avLst/>
            </a:prstGeom>
          </p:spPr>
        </p:pic>
        <p:pic>
          <p:nvPicPr>
            <p:cNvPr id="107" name="Imagen 106">
              <a:extLst>
                <a:ext uri="{FF2B5EF4-FFF2-40B4-BE49-F238E27FC236}">
                  <a16:creationId xmlns:a16="http://schemas.microsoft.com/office/drawing/2014/main" id="{E91CEE78-35E0-695C-5E98-F6357AD25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6822" y="1391214"/>
              <a:ext cx="400106" cy="276264"/>
            </a:xfrm>
            <a:prstGeom prst="rect">
              <a:avLst/>
            </a:prstGeom>
          </p:spPr>
        </p:pic>
      </p:grpSp>
      <p:pic>
        <p:nvPicPr>
          <p:cNvPr id="110" name="Imagen 109">
            <a:extLst>
              <a:ext uri="{FF2B5EF4-FFF2-40B4-BE49-F238E27FC236}">
                <a16:creationId xmlns:a16="http://schemas.microsoft.com/office/drawing/2014/main" id="{2258F204-72EE-18A9-4569-66A8593E3A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7577" y="1780859"/>
            <a:ext cx="2343477" cy="714284"/>
          </a:xfrm>
          <a:prstGeom prst="rect">
            <a:avLst/>
          </a:prstGeom>
        </p:spPr>
      </p:pic>
      <p:pic>
        <p:nvPicPr>
          <p:cNvPr id="112" name="Imagen 111">
            <a:extLst>
              <a:ext uri="{FF2B5EF4-FFF2-40B4-BE49-F238E27FC236}">
                <a16:creationId xmlns:a16="http://schemas.microsoft.com/office/drawing/2014/main" id="{9F9FCEDE-D4A2-C834-5DBB-CC38E9DC8D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47461" y="3048719"/>
            <a:ext cx="933580" cy="38295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ACD2108-509D-E100-5C08-2FD9FC48D0A9}"/>
              </a:ext>
            </a:extLst>
          </p:cNvPr>
          <p:cNvSpPr txBox="1"/>
          <p:nvPr/>
        </p:nvSpPr>
        <p:spPr>
          <a:xfrm>
            <a:off x="7595687" y="938193"/>
            <a:ext cx="5128041" cy="26161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Base de datos Crisopas </a:t>
            </a:r>
          </a:p>
        </p:txBody>
      </p:sp>
      <p:grpSp>
        <p:nvGrpSpPr>
          <p:cNvPr id="95" name="Grupo 94">
            <a:extLst>
              <a:ext uri="{FF2B5EF4-FFF2-40B4-BE49-F238E27FC236}">
                <a16:creationId xmlns:a16="http://schemas.microsoft.com/office/drawing/2014/main" id="{0C548306-52AF-2716-0107-F72BF49BE0C0}"/>
              </a:ext>
            </a:extLst>
          </p:cNvPr>
          <p:cNvGrpSpPr/>
          <p:nvPr/>
        </p:nvGrpSpPr>
        <p:grpSpPr>
          <a:xfrm>
            <a:off x="176906" y="1978293"/>
            <a:ext cx="1603653" cy="5206843"/>
            <a:chOff x="176906" y="1978293"/>
            <a:chExt cx="1603653" cy="5206843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8E4EC676-9048-E739-BB5F-61DC85A28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3924" y="1978293"/>
              <a:ext cx="1454504" cy="27246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53F00794-340F-3A7E-4EA9-369D29A48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6906" y="2347625"/>
              <a:ext cx="1603653" cy="4837511"/>
            </a:xfrm>
            <a:prstGeom prst="rect">
              <a:avLst/>
            </a:prstGeom>
          </p:spPr>
        </p:pic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C697CB0A-A670-0F36-4D46-9550BF29598C}"/>
              </a:ext>
            </a:extLst>
          </p:cNvPr>
          <p:cNvSpPr txBox="1"/>
          <p:nvPr/>
        </p:nvSpPr>
        <p:spPr>
          <a:xfrm>
            <a:off x="94479" y="2522616"/>
            <a:ext cx="1715786" cy="2923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300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</a:t>
            </a:r>
            <a:r>
              <a:rPr lang="es-PE" sz="1300" dirty="0" err="1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equerimiento</a:t>
            </a:r>
            <a:r>
              <a:rPr lang="es-PE" sz="1300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kumimoji="0" lang="es-PE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6A27BBE-C825-A6B7-01FB-D631808A393B}"/>
              </a:ext>
            </a:extLst>
          </p:cNvPr>
          <p:cNvSpPr txBox="1"/>
          <p:nvPr/>
        </p:nvSpPr>
        <p:spPr>
          <a:xfrm>
            <a:off x="173003" y="2043424"/>
            <a:ext cx="1637261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PE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Programa</a:t>
            </a:r>
          </a:p>
        </p:txBody>
      </p:sp>
      <p:pic>
        <p:nvPicPr>
          <p:cNvPr id="109" name="Imagen 108">
            <a:extLst>
              <a:ext uri="{FF2B5EF4-FFF2-40B4-BE49-F238E27FC236}">
                <a16:creationId xmlns:a16="http://schemas.microsoft.com/office/drawing/2014/main" id="{4738BFE2-2ABD-BCDC-23E5-AB26DF9FF2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9413" y="2737550"/>
            <a:ext cx="5201937" cy="472926"/>
          </a:xfrm>
          <a:prstGeom prst="rect">
            <a:avLst/>
          </a:prstGeom>
        </p:spPr>
      </p:pic>
      <p:sp>
        <p:nvSpPr>
          <p:cNvPr id="117" name="CuadroTexto 116">
            <a:extLst>
              <a:ext uri="{FF2B5EF4-FFF2-40B4-BE49-F238E27FC236}">
                <a16:creationId xmlns:a16="http://schemas.microsoft.com/office/drawing/2014/main" id="{6B1E4429-B5D5-CFFE-1F7D-FF14A2F6CB06}"/>
              </a:ext>
            </a:extLst>
          </p:cNvPr>
          <p:cNvSpPr txBox="1"/>
          <p:nvPr/>
        </p:nvSpPr>
        <p:spPr>
          <a:xfrm>
            <a:off x="94477" y="2937332"/>
            <a:ext cx="1637261" cy="338554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600" dirty="0" err="1">
                <a:solidFill>
                  <a:prstClr val="white"/>
                </a:solidFill>
                <a:latin typeface="Calibri"/>
              </a:rPr>
              <a:t>Dashboard</a:t>
            </a:r>
            <a:endParaRPr kumimoji="0" lang="es-PE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4F79A52-7966-133D-BF31-9A47323786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638" y="6315584"/>
            <a:ext cx="4913423" cy="3361815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grpSp>
        <p:nvGrpSpPr>
          <p:cNvPr id="31" name="Grupo 30">
            <a:extLst>
              <a:ext uri="{FF2B5EF4-FFF2-40B4-BE49-F238E27FC236}">
                <a16:creationId xmlns:a16="http://schemas.microsoft.com/office/drawing/2014/main" id="{2D5F6C06-C71A-ABE1-90E5-C3F4DD70021B}"/>
              </a:ext>
            </a:extLst>
          </p:cNvPr>
          <p:cNvGrpSpPr/>
          <p:nvPr/>
        </p:nvGrpSpPr>
        <p:grpSpPr>
          <a:xfrm>
            <a:off x="12531745" y="6122903"/>
            <a:ext cx="5388944" cy="3474620"/>
            <a:chOff x="11841849" y="2908432"/>
            <a:chExt cx="5265535" cy="2871292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366121E6-7B70-59C0-A124-21168CF0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841849" y="2908432"/>
              <a:ext cx="5265535" cy="2871292"/>
            </a:xfrm>
            <a:prstGeom prst="rect">
              <a:avLst/>
            </a:prstGeom>
          </p:spPr>
        </p:pic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2567E53A-8FEE-94A2-796C-326C9F7F1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5287024" y="3519750"/>
              <a:ext cx="1307939" cy="982802"/>
            </a:xfrm>
            <a:prstGeom prst="rect">
              <a:avLst/>
            </a:prstGeom>
          </p:spPr>
        </p:pic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4F911A6D-981A-61EE-4809-6D78F6B9F17F}"/>
              </a:ext>
            </a:extLst>
          </p:cNvPr>
          <p:cNvGrpSpPr/>
          <p:nvPr/>
        </p:nvGrpSpPr>
        <p:grpSpPr>
          <a:xfrm>
            <a:off x="8718440" y="2737550"/>
            <a:ext cx="5186375" cy="2860994"/>
            <a:chOff x="1954722" y="3757904"/>
            <a:chExt cx="5186375" cy="2860994"/>
          </a:xfrm>
        </p:grpSpPr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662C567E-4821-FE3A-6A80-F4AA09BA6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2557" t="2166" r="4527" b="9008"/>
            <a:stretch>
              <a:fillRect/>
            </a:stretch>
          </p:blipFill>
          <p:spPr>
            <a:xfrm>
              <a:off x="2018698" y="4027807"/>
              <a:ext cx="5122399" cy="2591091"/>
            </a:xfrm>
            <a:prstGeom prst="rect">
              <a:avLst/>
            </a:prstGeom>
          </p:spPr>
        </p:pic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82488EE-05CC-1986-058F-C5B9F083D280}"/>
                </a:ext>
              </a:extLst>
            </p:cNvPr>
            <p:cNvSpPr txBox="1"/>
            <p:nvPr/>
          </p:nvSpPr>
          <p:spPr>
            <a:xfrm>
              <a:off x="1954722" y="3757904"/>
              <a:ext cx="35200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Demanda por Presentación</a:t>
              </a:r>
              <a:endParaRPr lang="es-PE" dirty="0"/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331F0BBB-7DC5-143A-52FE-06C68ADAD85C}"/>
              </a:ext>
            </a:extLst>
          </p:cNvPr>
          <p:cNvGrpSpPr/>
          <p:nvPr/>
        </p:nvGrpSpPr>
        <p:grpSpPr>
          <a:xfrm>
            <a:off x="1862986" y="1768306"/>
            <a:ext cx="15732285" cy="742866"/>
            <a:chOff x="1862986" y="1768306"/>
            <a:chExt cx="15732285" cy="742866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682B5789-F471-5A01-785F-CBEF4B6B3A96}"/>
                </a:ext>
              </a:extLst>
            </p:cNvPr>
            <p:cNvGrpSpPr/>
            <p:nvPr/>
          </p:nvGrpSpPr>
          <p:grpSpPr>
            <a:xfrm>
              <a:off x="1862986" y="1768306"/>
              <a:ext cx="15732285" cy="742866"/>
              <a:chOff x="1862986" y="1933406"/>
              <a:chExt cx="15732285" cy="742866"/>
            </a:xfrm>
          </p:grpSpPr>
          <p:pic>
            <p:nvPicPr>
              <p:cNvPr id="106" name="Imagen 105">
                <a:extLst>
                  <a:ext uri="{FF2B5EF4-FFF2-40B4-BE49-F238E27FC236}">
                    <a16:creationId xmlns:a16="http://schemas.microsoft.com/office/drawing/2014/main" id="{F83FC547-FE35-C7FF-5669-198DFA9DAA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l="8972" t="-5720" b="-1"/>
              <a:stretch>
                <a:fillRect/>
              </a:stretch>
            </p:blipFill>
            <p:spPr>
              <a:xfrm>
                <a:off x="1862986" y="1933406"/>
                <a:ext cx="15732285" cy="714788"/>
              </a:xfrm>
              <a:prstGeom prst="rect">
                <a:avLst/>
              </a:prstGeom>
            </p:spPr>
          </p:pic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6CC1343-2F82-568A-77DC-91D3592FD1C7}"/>
                  </a:ext>
                </a:extLst>
              </p:cNvPr>
              <p:cNvSpPr txBox="1"/>
              <p:nvPr/>
            </p:nvSpPr>
            <p:spPr>
              <a:xfrm>
                <a:off x="2039413" y="2330023"/>
                <a:ext cx="4902974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1371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6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 </a:t>
                </a:r>
                <a:r>
                  <a:rPr kumimoji="0" lang="es-MX" sz="165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Dashboard</a:t>
                </a:r>
                <a:r>
                  <a:rPr kumimoji="0" lang="es-MX" sz="16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 de crisopas</a:t>
                </a:r>
                <a:endParaRPr kumimoji="0" lang="es-PE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</p:grpSp>
        <p:pic>
          <p:nvPicPr>
            <p:cNvPr id="40" name="Imagen 39">
              <a:extLst>
                <a:ext uri="{FF2B5EF4-FFF2-40B4-BE49-F238E27FC236}">
                  <a16:creationId xmlns:a16="http://schemas.microsoft.com/office/drawing/2014/main" id="{7311B8F5-D9C9-03D1-6E72-87713D486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5769387" y="2115504"/>
              <a:ext cx="1714739" cy="395668"/>
            </a:xfrm>
            <a:prstGeom prst="rect">
              <a:avLst/>
            </a:prstGeom>
          </p:spPr>
        </p:pic>
      </p:grp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5B6D65A-0632-ED06-C882-3DBEB3652C84}"/>
              </a:ext>
            </a:extLst>
          </p:cNvPr>
          <p:cNvSpPr txBox="1"/>
          <p:nvPr/>
        </p:nvSpPr>
        <p:spPr>
          <a:xfrm>
            <a:off x="130078" y="3481081"/>
            <a:ext cx="1637261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600" dirty="0">
                <a:solidFill>
                  <a:prstClr val="white"/>
                </a:solidFill>
                <a:latin typeface="Calibri"/>
              </a:rPr>
              <a:t>Configuración</a:t>
            </a:r>
            <a:endParaRPr kumimoji="0" lang="es-PE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E719744B-5473-CB40-AB77-51301A1193A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89801" y="3257633"/>
            <a:ext cx="4919934" cy="3057952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F939C4A5-CAB6-D359-B825-FB83460669F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007050" y="3069396"/>
            <a:ext cx="2472314" cy="969587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59351C4A-D26C-C714-6059-9EED16CA627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98518" y="6172199"/>
            <a:ext cx="5507986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59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90CAE-AA24-ECD9-3659-7DCA6453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0298C58-3884-701F-B80C-435E1D91EEB3}"/>
              </a:ext>
            </a:extLst>
          </p:cNvPr>
          <p:cNvSpPr txBox="1"/>
          <p:nvPr/>
        </p:nvSpPr>
        <p:spPr>
          <a:xfrm>
            <a:off x="5844540" y="585298"/>
            <a:ext cx="6598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/>
              <a:t>TABLAS DE MANTENIMIENTO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5E6C94-4882-23B5-8702-C490DBC26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8377" y="1331053"/>
            <a:ext cx="1548190" cy="246604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7C73821-AC2E-6E45-BFAC-485FB613D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0832" y="1350609"/>
            <a:ext cx="1565434" cy="1721977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45597FDC-6DF4-C769-7136-6E77FBB57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2491" y="2793709"/>
            <a:ext cx="1489050" cy="1695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7170929-E6CE-36B3-EE5F-98EE7138E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29798" y="1343542"/>
            <a:ext cx="1565434" cy="134801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FE8EC54-AC5F-FDDD-D3DD-C28E3F1753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28" y="1343541"/>
            <a:ext cx="2425338" cy="588487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07D87E7-3F83-2856-190A-D0F20F342F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6169" y="1343541"/>
            <a:ext cx="1993903" cy="223046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AF91D16-C46D-91D3-FE8B-BA09B24F39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7982" y="1343542"/>
            <a:ext cx="2588623" cy="5285858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2C7B36BE-EA03-4C24-6A73-F1EF8E77A2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8166" y="3684155"/>
            <a:ext cx="2086929" cy="242049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178D586E-F557-6EFB-1330-54187F330E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7178" y="1343542"/>
            <a:ext cx="2178464" cy="584340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B49F1CCE-E004-8DB3-A737-7C07EEFC2E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93840" y="1350609"/>
            <a:ext cx="2391109" cy="708758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F940476-67EE-6326-88D8-143B4A983BB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420096" y="3846272"/>
            <a:ext cx="1582722" cy="6433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0FE6C77-010C-BE11-49F8-1E7E88FAF4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96150" y="3184588"/>
            <a:ext cx="1614797" cy="122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32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81EC5-0D95-8075-B156-4082F7414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24A9877-0F10-32FC-7F33-889B34283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8" y="932064"/>
            <a:ext cx="18193522" cy="9012036"/>
          </a:xfrm>
          <a:prstGeom prst="rect">
            <a:avLst/>
          </a:prstGeom>
        </p:spPr>
      </p:pic>
      <p:sp>
        <p:nvSpPr>
          <p:cNvPr id="4" name="Flecha: pentágono 3">
            <a:extLst>
              <a:ext uri="{FF2B5EF4-FFF2-40B4-BE49-F238E27FC236}">
                <a16:creationId xmlns:a16="http://schemas.microsoft.com/office/drawing/2014/main" id="{0A4E2CD8-59CD-1B32-92C1-D02789FD7114}"/>
              </a:ext>
            </a:extLst>
          </p:cNvPr>
          <p:cNvSpPr/>
          <p:nvPr/>
        </p:nvSpPr>
        <p:spPr>
          <a:xfrm>
            <a:off x="783659" y="80232"/>
            <a:ext cx="12584097" cy="841311"/>
          </a:xfrm>
          <a:prstGeom prst="homePlate">
            <a:avLst/>
          </a:prstGeom>
          <a:solidFill>
            <a:schemeClr val="tx2"/>
          </a:solidFill>
          <a:ln w="57150">
            <a:solidFill>
              <a:srgbClr val="D3D3D7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C7E689-1620-044A-A3B9-79D68F25446C}"/>
              </a:ext>
            </a:extLst>
          </p:cNvPr>
          <p:cNvSpPr txBox="1"/>
          <p:nvPr/>
        </p:nvSpPr>
        <p:spPr>
          <a:xfrm>
            <a:off x="1110954" y="208499"/>
            <a:ext cx="11929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INTERFAS DEL ADMINISTRADOR </a:t>
            </a:r>
            <a:r>
              <a:rPr kumimoji="0" lang="es-MX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(I+D )</a:t>
            </a:r>
            <a:endParaRPr kumimoji="0" lang="es-MX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C69998-7D59-E059-0F79-FC421D44CD2A}"/>
              </a:ext>
            </a:extLst>
          </p:cNvPr>
          <p:cNvSpPr txBox="1"/>
          <p:nvPr/>
        </p:nvSpPr>
        <p:spPr>
          <a:xfrm>
            <a:off x="94478" y="1717553"/>
            <a:ext cx="1686081" cy="26161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CRONTROL CRISOPAS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2568E2B-150A-7543-1885-C7AB9D098BB1}"/>
              </a:ext>
            </a:extLst>
          </p:cNvPr>
          <p:cNvSpPr/>
          <p:nvPr/>
        </p:nvSpPr>
        <p:spPr>
          <a:xfrm>
            <a:off x="5947379" y="3519750"/>
            <a:ext cx="864092" cy="206592"/>
          </a:xfrm>
          <a:prstGeom prst="rect">
            <a:avLst/>
          </a:prstGeom>
          <a:solidFill>
            <a:srgbClr val="F6F9FF"/>
          </a:solidFill>
          <a:ln w="19050" cap="flat" cmpd="sng" algn="ctr">
            <a:solidFill>
              <a:srgbClr val="F5F8F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1C43712-37B2-723A-69F3-FB418AFFA894}"/>
              </a:ext>
            </a:extLst>
          </p:cNvPr>
          <p:cNvSpPr/>
          <p:nvPr/>
        </p:nvSpPr>
        <p:spPr>
          <a:xfrm>
            <a:off x="5947379" y="3726343"/>
            <a:ext cx="1648308" cy="162740"/>
          </a:xfrm>
          <a:prstGeom prst="rect">
            <a:avLst/>
          </a:prstGeom>
          <a:solidFill>
            <a:srgbClr val="F6F9FF"/>
          </a:solidFill>
          <a:ln w="19050" cap="flat" cmpd="sng" algn="ctr">
            <a:solidFill>
              <a:srgbClr val="F6F9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8" name="Grupo 107">
            <a:extLst>
              <a:ext uri="{FF2B5EF4-FFF2-40B4-BE49-F238E27FC236}">
                <a16:creationId xmlns:a16="http://schemas.microsoft.com/office/drawing/2014/main" id="{589BEE6E-916C-616A-4AFA-84230ACF77F6}"/>
              </a:ext>
            </a:extLst>
          </p:cNvPr>
          <p:cNvGrpSpPr/>
          <p:nvPr/>
        </p:nvGrpSpPr>
        <p:grpSpPr>
          <a:xfrm>
            <a:off x="1871173" y="1163166"/>
            <a:ext cx="16498199" cy="586620"/>
            <a:chOff x="1823927" y="1231477"/>
            <a:chExt cx="16498199" cy="586620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45086D77-2AC9-DBC2-840C-4FDD79B5C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865" b="89453"/>
            <a:stretch/>
          </p:blipFill>
          <p:spPr>
            <a:xfrm>
              <a:off x="1823927" y="1231477"/>
              <a:ext cx="16498199" cy="586620"/>
            </a:xfrm>
            <a:prstGeom prst="rect">
              <a:avLst/>
            </a:prstGeom>
          </p:spPr>
        </p:pic>
        <p:pic>
          <p:nvPicPr>
            <p:cNvPr id="107" name="Imagen 106">
              <a:extLst>
                <a:ext uri="{FF2B5EF4-FFF2-40B4-BE49-F238E27FC236}">
                  <a16:creationId xmlns:a16="http://schemas.microsoft.com/office/drawing/2014/main" id="{DD0F658C-C74A-492C-68C7-8418A95C02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6822" y="1391214"/>
              <a:ext cx="400106" cy="276264"/>
            </a:xfrm>
            <a:prstGeom prst="rect">
              <a:avLst/>
            </a:prstGeom>
          </p:spPr>
        </p:pic>
      </p:grpSp>
      <p:pic>
        <p:nvPicPr>
          <p:cNvPr id="110" name="Imagen 109">
            <a:extLst>
              <a:ext uri="{FF2B5EF4-FFF2-40B4-BE49-F238E27FC236}">
                <a16:creationId xmlns:a16="http://schemas.microsoft.com/office/drawing/2014/main" id="{EFF920D4-508E-9130-71E2-E949C2857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7577" y="1780859"/>
            <a:ext cx="2343477" cy="714284"/>
          </a:xfrm>
          <a:prstGeom prst="rect">
            <a:avLst/>
          </a:prstGeom>
        </p:spPr>
      </p:pic>
      <p:pic>
        <p:nvPicPr>
          <p:cNvPr id="112" name="Imagen 111">
            <a:extLst>
              <a:ext uri="{FF2B5EF4-FFF2-40B4-BE49-F238E27FC236}">
                <a16:creationId xmlns:a16="http://schemas.microsoft.com/office/drawing/2014/main" id="{51552A06-32DC-3DF2-B545-685AE50105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47461" y="3048719"/>
            <a:ext cx="933580" cy="38295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D51607A-38C6-2590-458C-96D33657FDDD}"/>
              </a:ext>
            </a:extLst>
          </p:cNvPr>
          <p:cNvSpPr txBox="1"/>
          <p:nvPr/>
        </p:nvSpPr>
        <p:spPr>
          <a:xfrm>
            <a:off x="7595687" y="938193"/>
            <a:ext cx="5128041" cy="26161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Base de datos Crisopas </a:t>
            </a:r>
          </a:p>
        </p:txBody>
      </p:sp>
      <p:grpSp>
        <p:nvGrpSpPr>
          <p:cNvPr id="95" name="Grupo 94">
            <a:extLst>
              <a:ext uri="{FF2B5EF4-FFF2-40B4-BE49-F238E27FC236}">
                <a16:creationId xmlns:a16="http://schemas.microsoft.com/office/drawing/2014/main" id="{972547C7-2397-2010-1CF0-173AEA8BA613}"/>
              </a:ext>
            </a:extLst>
          </p:cNvPr>
          <p:cNvGrpSpPr/>
          <p:nvPr/>
        </p:nvGrpSpPr>
        <p:grpSpPr>
          <a:xfrm>
            <a:off x="176906" y="1978293"/>
            <a:ext cx="1603653" cy="5206843"/>
            <a:chOff x="176906" y="1978293"/>
            <a:chExt cx="1603653" cy="5206843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A5D59EA-3CBA-287B-7289-6C8F2DA98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3924" y="1978293"/>
              <a:ext cx="1454504" cy="27246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13F3B245-9646-0A2B-16A4-2CE8D81C6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6906" y="2347625"/>
              <a:ext cx="1603653" cy="4837511"/>
            </a:xfrm>
            <a:prstGeom prst="rect">
              <a:avLst/>
            </a:prstGeom>
          </p:spPr>
        </p:pic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FD9B9139-0D1C-3EDB-CF40-E166D6E6883F}"/>
              </a:ext>
            </a:extLst>
          </p:cNvPr>
          <p:cNvSpPr txBox="1"/>
          <p:nvPr/>
        </p:nvSpPr>
        <p:spPr>
          <a:xfrm>
            <a:off x="94479" y="2522616"/>
            <a:ext cx="1715786" cy="2923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300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</a:t>
            </a:r>
            <a:r>
              <a:rPr lang="es-PE" sz="1300" dirty="0" err="1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equerimiento</a:t>
            </a:r>
            <a:r>
              <a:rPr lang="es-PE" sz="1300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kumimoji="0" lang="es-PE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C999972-029C-2F2A-179A-EF39FB1B5C2D}"/>
              </a:ext>
            </a:extLst>
          </p:cNvPr>
          <p:cNvSpPr txBox="1"/>
          <p:nvPr/>
        </p:nvSpPr>
        <p:spPr>
          <a:xfrm>
            <a:off x="173003" y="2043424"/>
            <a:ext cx="1637261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PE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Programa</a:t>
            </a:r>
          </a:p>
        </p:txBody>
      </p:sp>
      <p:pic>
        <p:nvPicPr>
          <p:cNvPr id="109" name="Imagen 108">
            <a:extLst>
              <a:ext uri="{FF2B5EF4-FFF2-40B4-BE49-F238E27FC236}">
                <a16:creationId xmlns:a16="http://schemas.microsoft.com/office/drawing/2014/main" id="{E8F98BF6-261B-AD29-E867-BE82CB35AE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9413" y="2737550"/>
            <a:ext cx="5201937" cy="472926"/>
          </a:xfrm>
          <a:prstGeom prst="rect">
            <a:avLst/>
          </a:prstGeom>
        </p:spPr>
      </p:pic>
      <p:sp>
        <p:nvSpPr>
          <p:cNvPr id="117" name="CuadroTexto 116">
            <a:extLst>
              <a:ext uri="{FF2B5EF4-FFF2-40B4-BE49-F238E27FC236}">
                <a16:creationId xmlns:a16="http://schemas.microsoft.com/office/drawing/2014/main" id="{48050067-CE0D-085F-3A23-A56969979D3D}"/>
              </a:ext>
            </a:extLst>
          </p:cNvPr>
          <p:cNvSpPr txBox="1"/>
          <p:nvPr/>
        </p:nvSpPr>
        <p:spPr>
          <a:xfrm>
            <a:off x="94477" y="2937332"/>
            <a:ext cx="1637261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600" dirty="0" err="1">
                <a:solidFill>
                  <a:prstClr val="white"/>
                </a:solidFill>
                <a:latin typeface="Calibri"/>
              </a:rPr>
              <a:t>Dasboard</a:t>
            </a:r>
            <a:endParaRPr kumimoji="0" lang="es-PE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A1E0CD90-0D00-8CE7-0C6D-EE0692E988D9}"/>
              </a:ext>
            </a:extLst>
          </p:cNvPr>
          <p:cNvGrpSpPr/>
          <p:nvPr/>
        </p:nvGrpSpPr>
        <p:grpSpPr>
          <a:xfrm>
            <a:off x="1862986" y="1941931"/>
            <a:ext cx="15732285" cy="714788"/>
            <a:chOff x="1862986" y="1941931"/>
            <a:chExt cx="15732285" cy="714788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57543969-4BFA-0A9F-CF5B-36E84DB812D6}"/>
                </a:ext>
              </a:extLst>
            </p:cNvPr>
            <p:cNvGrpSpPr/>
            <p:nvPr/>
          </p:nvGrpSpPr>
          <p:grpSpPr>
            <a:xfrm>
              <a:off x="1862986" y="1941931"/>
              <a:ext cx="15732285" cy="714788"/>
              <a:chOff x="1862986" y="2107031"/>
              <a:chExt cx="15732285" cy="714788"/>
            </a:xfrm>
          </p:grpSpPr>
          <p:pic>
            <p:nvPicPr>
              <p:cNvPr id="106" name="Imagen 105">
                <a:extLst>
                  <a:ext uri="{FF2B5EF4-FFF2-40B4-BE49-F238E27FC236}">
                    <a16:creationId xmlns:a16="http://schemas.microsoft.com/office/drawing/2014/main" id="{4241E40F-3285-F6BA-5AC6-2B03C643E3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l="8972" t="-5720" b="-1"/>
              <a:stretch>
                <a:fillRect/>
              </a:stretch>
            </p:blipFill>
            <p:spPr>
              <a:xfrm>
                <a:off x="1862986" y="2107031"/>
                <a:ext cx="15732285" cy="714788"/>
              </a:xfrm>
              <a:prstGeom prst="rect">
                <a:avLst/>
              </a:prstGeom>
            </p:spPr>
          </p:pic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2B1A8FF-773C-CE08-BEE1-6077ED733748}"/>
                  </a:ext>
                </a:extLst>
              </p:cNvPr>
              <p:cNvSpPr txBox="1"/>
              <p:nvPr/>
            </p:nvSpPr>
            <p:spPr>
              <a:xfrm>
                <a:off x="2039413" y="2330023"/>
                <a:ext cx="4902974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1371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65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Configuración</a:t>
                </a:r>
                <a:endParaRPr kumimoji="0" lang="es-PE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</p:grpSp>
        <p:pic>
          <p:nvPicPr>
            <p:cNvPr id="40" name="Imagen 39">
              <a:extLst>
                <a:ext uri="{FF2B5EF4-FFF2-40B4-BE49-F238E27FC236}">
                  <a16:creationId xmlns:a16="http://schemas.microsoft.com/office/drawing/2014/main" id="{ACA10257-ECA8-554C-716F-CD4828286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769387" y="2115504"/>
              <a:ext cx="1714739" cy="395668"/>
            </a:xfrm>
            <a:prstGeom prst="rect">
              <a:avLst/>
            </a:prstGeom>
          </p:spPr>
        </p:pic>
      </p:grp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0DF0248-BAAD-B9E4-EC5F-1728A5033A28}"/>
              </a:ext>
            </a:extLst>
          </p:cNvPr>
          <p:cNvSpPr txBox="1"/>
          <p:nvPr/>
        </p:nvSpPr>
        <p:spPr>
          <a:xfrm>
            <a:off x="130078" y="3481081"/>
            <a:ext cx="1637261" cy="338554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600" dirty="0">
                <a:solidFill>
                  <a:prstClr val="white"/>
                </a:solidFill>
                <a:latin typeface="Calibri"/>
              </a:rPr>
              <a:t>Configuración</a:t>
            </a:r>
            <a:endParaRPr kumimoji="0" lang="es-PE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4E53B5BA-45CD-D524-2480-FFC7F048ABC8}"/>
              </a:ext>
            </a:extLst>
          </p:cNvPr>
          <p:cNvGrpSpPr/>
          <p:nvPr/>
        </p:nvGrpSpPr>
        <p:grpSpPr>
          <a:xfrm>
            <a:off x="2400362" y="3899604"/>
            <a:ext cx="10390649" cy="2277949"/>
            <a:chOff x="7234741" y="3760841"/>
            <a:chExt cx="10390649" cy="2277949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83D7AFB5-4352-8693-19EA-90D50FE25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234741" y="3760841"/>
              <a:ext cx="10390649" cy="2277949"/>
            </a:xfrm>
            <a:prstGeom prst="rect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B0F68160-18C8-F157-5356-B01DD85BC143}"/>
                </a:ext>
              </a:extLst>
            </p:cNvPr>
            <p:cNvSpPr txBox="1"/>
            <p:nvPr/>
          </p:nvSpPr>
          <p:spPr>
            <a:xfrm>
              <a:off x="10016242" y="4718530"/>
              <a:ext cx="3665438" cy="3231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fontAlgn="b"/>
              <a:r>
                <a:rPr lang="es-PE" sz="1500" u="sng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claudia.ramos@vanguardfresh.pe</a:t>
              </a:r>
              <a:endParaRPr lang="es-PE" sz="1500" b="1" u="sng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D7B70EDF-3C32-D40C-18BA-FF910EAF1E6D}"/>
                </a:ext>
              </a:extLst>
            </p:cNvPr>
            <p:cNvSpPr txBox="1"/>
            <p:nvPr/>
          </p:nvSpPr>
          <p:spPr>
            <a:xfrm>
              <a:off x="10016243" y="5022499"/>
              <a:ext cx="3781201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fontAlgn="b"/>
              <a:r>
                <a:rPr lang="es-PE" sz="1600" u="sng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ana.barrios@vanguardfresh.pe</a:t>
              </a:r>
              <a:endParaRPr lang="es-PE" sz="1600" b="1" u="sng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181F189-3755-8224-C2FC-6E9E824A48AF}"/>
              </a:ext>
            </a:extLst>
          </p:cNvPr>
          <p:cNvSpPr/>
          <p:nvPr/>
        </p:nvSpPr>
        <p:spPr>
          <a:xfrm>
            <a:off x="230203" y="3446363"/>
            <a:ext cx="1625600" cy="3429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49D841B3-4939-5CE4-C9E6-A3AACF5D3FF9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32443" y="6378246"/>
            <a:ext cx="3594092" cy="1042280"/>
          </a:xfrm>
          <a:prstGeom prst="bentConnector3">
            <a:avLst>
              <a:gd name="adj1" fmla="val 1049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6BC82E70-98E8-B221-D1AF-BBE7F6990EDE}"/>
              </a:ext>
            </a:extLst>
          </p:cNvPr>
          <p:cNvSpPr txBox="1"/>
          <p:nvPr/>
        </p:nvSpPr>
        <p:spPr>
          <a:xfrm>
            <a:off x="3450630" y="7184089"/>
            <a:ext cx="2665738" cy="258532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El administrador debe tener privilegios sobre la vista </a:t>
            </a:r>
            <a:r>
              <a:rPr lang="es-MX" b="1" dirty="0"/>
              <a:t>"Configuración",</a:t>
            </a:r>
            <a:r>
              <a:rPr lang="es-MX" dirty="0"/>
              <a:t> donde podrá crear usuarios tanto para el aplicativo móvil como para la vista "IN HOUSE", y asignarles los permisos según sea necesario.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558657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F2748B6-2806-43EE-99D1-3ECCB49DD127}"/>
              </a:ext>
            </a:extLst>
          </p:cNvPr>
          <p:cNvSpPr txBox="1"/>
          <p:nvPr/>
        </p:nvSpPr>
        <p:spPr>
          <a:xfrm>
            <a:off x="1905000" y="4914900"/>
            <a:ext cx="10090884" cy="912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8800" spc="61">
                <a:solidFill>
                  <a:schemeClr val="bg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472294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2f7de6e-bdef-4e7a-b6bc-df125b3cc854">
      <Terms xmlns="http://schemas.microsoft.com/office/infopath/2007/PartnerControls"/>
    </lcf76f155ced4ddcb4097134ff3c332f>
    <TaxCatchAll xmlns="92f1baa7-5e33-4db7-bbea-146f6332166d" xsi:nil="true"/>
    <Estado xmlns="12f7de6e-bdef-4e7a-b6bc-df125b3cc85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B76B0048288934EAC834BDDA95F5471" ma:contentTypeVersion="18" ma:contentTypeDescription="Crear nuevo documento." ma:contentTypeScope="" ma:versionID="d4644d7fac3c0d7dfa50d6634fe4c07d">
  <xsd:schema xmlns:xsd="http://www.w3.org/2001/XMLSchema" xmlns:xs="http://www.w3.org/2001/XMLSchema" xmlns:p="http://schemas.microsoft.com/office/2006/metadata/properties" xmlns:ns2="12f7de6e-bdef-4e7a-b6bc-df125b3cc854" xmlns:ns3="92f1baa7-5e33-4db7-bbea-146f6332166d" targetNamespace="http://schemas.microsoft.com/office/2006/metadata/properties" ma:root="true" ma:fieldsID="4592f8ff85c86fd95a60861d1f1abc12" ns2:_="" ns3:_="">
    <xsd:import namespace="12f7de6e-bdef-4e7a-b6bc-df125b3cc854"/>
    <xsd:import namespace="92f1baa7-5e33-4db7-bbea-146f633216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Estado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f7de6e-bdef-4e7a-b6bc-df125b3cc8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26e05b81-5f5b-4446-be1e-2fcad1503e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Estado" ma:index="23" nillable="true" ma:displayName="Estado" ma:format="Dropdown" ma:internalName="Estado">
      <xsd:simpleType>
        <xsd:restriction base="dms:Choice">
          <xsd:enumeration value="Pendiente"/>
          <xsd:enumeration value="En proceso"/>
          <xsd:enumeration value="Revisado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f1baa7-5e33-4db7-bbea-146f6332166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7bc27a6-d2d7-4e97-be60-baad0eca3bd8}" ma:internalName="TaxCatchAll" ma:showField="CatchAllData" ma:web="92f1baa7-5e33-4db7-bbea-146f633216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FEAFDF-6B90-46FB-A90C-14FF7AE342D2}">
  <ds:schemaRefs>
    <ds:schemaRef ds:uri="http://purl.org/dc/elements/1.1/"/>
    <ds:schemaRef ds:uri="http://www.w3.org/XML/1998/namespace"/>
    <ds:schemaRef ds:uri="92f1baa7-5e33-4db7-bbea-146f6332166d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12f7de6e-bdef-4e7a-b6bc-df125b3cc854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B447F5B-1B79-4BB6-B071-D23F173D0A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708921-1C51-4119-9D7D-703C0055F2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f7de6e-bdef-4e7a-b6bc-df125b3cc854"/>
    <ds:schemaRef ds:uri="92f1baa7-5e33-4db7-bbea-146f633216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4e05ea3-3981-4a7b-9be2-17535cf34b8f}" enabled="0" method="" siteId="{04e05ea3-3981-4a7b-9be2-17535cf34b8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9231</TotalTime>
  <Words>2052</Words>
  <Application>Microsoft Office PowerPoint</Application>
  <PresentationFormat>Personalizado</PresentationFormat>
  <Paragraphs>386</Paragraphs>
  <Slides>17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Abadi Extra Light</vt:lpstr>
      <vt:lpstr>Arial</vt:lpstr>
      <vt:lpstr>Aptos</vt:lpstr>
      <vt:lpstr>Segoe UI</vt:lpstr>
      <vt:lpstr>Poppins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de PPT - VGI 2024-v2.pptx</dc:title>
  <dc:creator>Andrea Mansilla</dc:creator>
  <cp:lastModifiedBy>Olivia Vilcas</cp:lastModifiedBy>
  <cp:revision>21</cp:revision>
  <dcterms:created xsi:type="dcterms:W3CDTF">2006-08-16T00:00:00Z</dcterms:created>
  <dcterms:modified xsi:type="dcterms:W3CDTF">2026-05-28T14:00:34Z</dcterms:modified>
  <dc:identifier>DAGBkj2nUgY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0x0101008B76B0048288934EAC834BDDA95F5471</vt:lpwstr>
  </property>
  <property fmtid="{D5CDD505-2E9C-101B-9397-08002B2CF9AE}" pid="3" name="MediaServiceImageTags">
    <vt:lpwstr/>
  </property>
</Properties>
</file>