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3"/>
  </p:notesMasterIdLst>
  <p:sldIdLst>
    <p:sldId id="281" r:id="rId5"/>
    <p:sldId id="282" r:id="rId6"/>
    <p:sldId id="358" r:id="rId7"/>
    <p:sldId id="302" r:id="rId8"/>
    <p:sldId id="325" r:id="rId9"/>
    <p:sldId id="310" r:id="rId10"/>
    <p:sldId id="303" r:id="rId11"/>
    <p:sldId id="306" r:id="rId12"/>
    <p:sldId id="341" r:id="rId13"/>
    <p:sldId id="314" r:id="rId14"/>
    <p:sldId id="321" r:id="rId15"/>
    <p:sldId id="362" r:id="rId16"/>
    <p:sldId id="353" r:id="rId17"/>
    <p:sldId id="304" r:id="rId18"/>
    <p:sldId id="335" r:id="rId19"/>
    <p:sldId id="340" r:id="rId20"/>
    <p:sldId id="326" r:id="rId21"/>
    <p:sldId id="301" r:id="rId22"/>
  </p:sldIdLst>
  <p:sldSz cx="18288000" cy="10287000"/>
  <p:notesSz cx="6858000" cy="9144000"/>
  <p:embeddedFontLst>
    <p:embeddedFont>
      <p:font typeface="Abadi Extra Light" panose="020B0604020202020204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040"/>
    <a:srgbClr val="003366"/>
    <a:srgbClr val="1F497D"/>
    <a:srgbClr val="54CF17"/>
    <a:srgbClr val="F2F2F2"/>
    <a:srgbClr val="212429"/>
    <a:srgbClr val="767676"/>
    <a:srgbClr val="D9D9D9"/>
    <a:srgbClr val="FFFFFF"/>
    <a:srgbClr val="676F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3884" autoAdjust="0"/>
  </p:normalViewPr>
  <p:slideViewPr>
    <p:cSldViewPr snapToGrid="0">
      <p:cViewPr varScale="1">
        <p:scale>
          <a:sx n="76" d="100"/>
          <a:sy n="76" d="100"/>
        </p:scale>
        <p:origin x="5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90094-C7C1-4EE4-AF77-BFB27B4278BD}" type="datetimeFigureOut">
              <a:rPr lang="es-PE" smtClean="0"/>
              <a:t>22/05/2026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AA2E2-E11A-45C9-8B71-5D33A97DF3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981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Screen 01, </a:t>
            </a:r>
            <a:r>
              <a:rPr lang="es-ES" dirty="0" err="1"/>
              <a:t>screen</a:t>
            </a:r>
            <a:r>
              <a:rPr lang="es-ES" dirty="0"/>
              <a:t> 02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37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Screen 03, </a:t>
            </a:r>
            <a:r>
              <a:rPr lang="es-ES" dirty="0" err="1"/>
              <a:t>screen</a:t>
            </a:r>
            <a:r>
              <a:rPr lang="es-ES" dirty="0"/>
              <a:t> 04, </a:t>
            </a:r>
            <a:r>
              <a:rPr lang="es-ES" dirty="0" err="1"/>
              <a:t>screen</a:t>
            </a:r>
            <a:r>
              <a:rPr lang="es-ES" dirty="0"/>
              <a:t> 05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716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screen</a:t>
            </a:r>
            <a:r>
              <a:rPr lang="es-ES" dirty="0"/>
              <a:t>  06, </a:t>
            </a:r>
            <a:r>
              <a:rPr lang="es-ES" dirty="0" err="1"/>
              <a:t>screen</a:t>
            </a:r>
            <a:r>
              <a:rPr lang="es-ES" dirty="0"/>
              <a:t> 07, </a:t>
            </a:r>
            <a:r>
              <a:rPr lang="es-ES" dirty="0" err="1"/>
              <a:t>screen</a:t>
            </a:r>
            <a:r>
              <a:rPr lang="es-ES" dirty="0"/>
              <a:t> 08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64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screen</a:t>
            </a:r>
            <a:r>
              <a:rPr lang="es-ES" dirty="0"/>
              <a:t> 09, </a:t>
            </a:r>
            <a:r>
              <a:rPr lang="es-ES" dirty="0" err="1"/>
              <a:t>screen</a:t>
            </a:r>
            <a:r>
              <a:rPr lang="es-ES" dirty="0"/>
              <a:t> 10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9336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screen</a:t>
            </a:r>
            <a:r>
              <a:rPr lang="es-ES" dirty="0"/>
              <a:t> 11, </a:t>
            </a:r>
            <a:r>
              <a:rPr lang="es-ES" dirty="0" err="1"/>
              <a:t>screen</a:t>
            </a:r>
            <a:r>
              <a:rPr lang="es-ES" dirty="0"/>
              <a:t> 12, </a:t>
            </a:r>
            <a:r>
              <a:rPr lang="es-ES" dirty="0" err="1"/>
              <a:t>screen</a:t>
            </a:r>
            <a:r>
              <a:rPr lang="es-ES"/>
              <a:t> 13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5716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5543-8FB3-7AF4-1372-EF1F4EFC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92640D-8CCF-E54F-34F7-771F73372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DB3C8E-3E29-F386-84A3-AB6322883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33316C-4667-9E16-FC49-04D46E8CF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8521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0021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3734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1ECC5-41A1-8F98-1989-AA74EDEA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72F892-A9B6-6546-519F-F3EE9382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E5F39D-D98D-30E9-F46C-F5AD0C155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59CE17-002A-EC66-3835-C7B4E61A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319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7.jpeg"/><Relationship Id="rId17" Type="http://schemas.microsoft.com/office/2007/relationships/hdphoto" Target="../media/hdphoto4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microsoft.com/office/2007/relationships/hdphoto" Target="../media/hdphoto3.wdp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svg"/><Relationship Id="rId1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2.png"/><Relationship Id="rId18" Type="http://schemas.openxmlformats.org/officeDocument/2006/relationships/image" Target="../media/image17.emf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1.png"/><Relationship Id="rId17" Type="http://schemas.microsoft.com/office/2007/relationships/hdphoto" Target="../media/hdphoto3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0.svg"/><Relationship Id="rId5" Type="http://schemas.openxmlformats.org/officeDocument/2006/relationships/image" Target="../media/image8.png"/><Relationship Id="rId15" Type="http://schemas.openxmlformats.org/officeDocument/2006/relationships/image" Target="../media/image23.jpe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microsoft.com/office/2007/relationships/hdphoto" Target="../media/hdphoto2.wdp"/><Relationship Id="rId1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12" Type="http://schemas.openxmlformats.org/officeDocument/2006/relationships/image" Target="../media/image1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7.jpeg"/><Relationship Id="rId5" Type="http://schemas.openxmlformats.org/officeDocument/2006/relationships/image" Target="../media/image25.png"/><Relationship Id="rId10" Type="http://schemas.microsoft.com/office/2007/relationships/hdphoto" Target="../media/hdphoto2.wdp"/><Relationship Id="rId4" Type="http://schemas.openxmlformats.org/officeDocument/2006/relationships/image" Target="../media/image2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7.emf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7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microsoft.com/office/2007/relationships/hdphoto" Target="../media/hdphoto7.wdp"/><Relationship Id="rId1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9.svg"/><Relationship Id="rId5" Type="http://schemas.openxmlformats.org/officeDocument/2006/relationships/image" Target="../media/image8.png"/><Relationship Id="rId15" Type="http://schemas.openxmlformats.org/officeDocument/2006/relationships/image" Target="../media/image9.png"/><Relationship Id="rId10" Type="http://schemas.openxmlformats.org/officeDocument/2006/relationships/image" Target="../media/image21.png"/><Relationship Id="rId19" Type="http://schemas.openxmlformats.org/officeDocument/2006/relationships/image" Target="../media/image14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12" Type="http://schemas.microsoft.com/office/2007/relationships/hdphoto" Target="../media/hdphoto7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microsoft.com/office/2007/relationships/hdphoto" Target="../media/hdphoto10.wdp"/><Relationship Id="rId3" Type="http://schemas.openxmlformats.org/officeDocument/2006/relationships/image" Target="../media/image33.png"/><Relationship Id="rId21" Type="http://schemas.openxmlformats.org/officeDocument/2006/relationships/image" Target="../media/image48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32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5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4" Type="http://schemas.openxmlformats.org/officeDocument/2006/relationships/image" Target="../media/image34.png"/><Relationship Id="rId9" Type="http://schemas.microsoft.com/office/2007/relationships/hdphoto" Target="../media/hdphoto8.wdp"/><Relationship Id="rId14" Type="http://schemas.microsoft.com/office/2007/relationships/hdphoto" Target="../media/hdphoto9.wdp"/><Relationship Id="rId22" Type="http://schemas.openxmlformats.org/officeDocument/2006/relationships/image" Target="../media/image49.png"/><Relationship Id="rId27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13" Type="http://schemas.openxmlformats.org/officeDocument/2006/relationships/image" Target="../media/image69.emf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7.png"/><Relationship Id="rId5" Type="http://schemas.openxmlformats.org/officeDocument/2006/relationships/image" Target="../media/image59.png"/><Relationship Id="rId10" Type="http://schemas.openxmlformats.org/officeDocument/2006/relationships/image" Target="../media/image66.png"/><Relationship Id="rId4" Type="http://schemas.openxmlformats.org/officeDocument/2006/relationships/image" Target="../media/image64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2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12F5DAF-21B4-4282-BA7F-761DEB7455AB}"/>
              </a:ext>
            </a:extLst>
          </p:cNvPr>
          <p:cNvSpPr txBox="1"/>
          <p:nvPr/>
        </p:nvSpPr>
        <p:spPr>
          <a:xfrm>
            <a:off x="906969" y="2930766"/>
            <a:ext cx="11818431" cy="3157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MX" sz="7200" spc="61" dirty="0">
                <a:solidFill>
                  <a:schemeClr val="bg1"/>
                </a:solidFill>
                <a:latin typeface="Poppins"/>
                <a:cs typeface="Poppins"/>
              </a:rPr>
              <a:t>Aplicativo para solicitud de Insectos Benéficos </a:t>
            </a:r>
            <a:endParaRPr lang="es-ES" sz="1200" dirty="0">
              <a:solidFill>
                <a:schemeClr val="bg1"/>
              </a:solidFill>
            </a:endParaRPr>
          </a:p>
          <a:p>
            <a:pPr algn="l">
              <a:lnSpc>
                <a:spcPts val="6249"/>
              </a:lnSpc>
            </a:pPr>
            <a:endParaRPr lang="en-US" sz="9600" spc="61" dirty="0">
              <a:solidFill>
                <a:schemeClr val="bg1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6E4DB37-974C-466A-99C6-072B26C40003}"/>
              </a:ext>
            </a:extLst>
          </p:cNvPr>
          <p:cNvCxnSpPr>
            <a:cxnSpLocks/>
          </p:cNvCxnSpPr>
          <p:nvPr/>
        </p:nvCxnSpPr>
        <p:spPr>
          <a:xfrm>
            <a:off x="1173480" y="5322529"/>
            <a:ext cx="1010412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82CC759-459D-6031-DA83-70E2E3C7A036}"/>
              </a:ext>
            </a:extLst>
          </p:cNvPr>
          <p:cNvSpPr/>
          <p:nvPr/>
        </p:nvSpPr>
        <p:spPr>
          <a:xfrm>
            <a:off x="1128546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C7DBA9A-2C8E-A158-B1E5-3D99FE0246C9}"/>
              </a:ext>
            </a:extLst>
          </p:cNvPr>
          <p:cNvSpPr txBox="1"/>
          <p:nvPr/>
        </p:nvSpPr>
        <p:spPr>
          <a:xfrm>
            <a:off x="1128546" y="1242401"/>
            <a:ext cx="130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u="sng" dirty="0">
                <a:solidFill>
                  <a:schemeClr val="tx2"/>
                </a:solidFill>
              </a:rPr>
              <a:t>FLUJO DE ENTREGA  DE INSECTOS BENEFICOS</a:t>
            </a:r>
            <a:endParaRPr lang="es-PE" sz="2800" b="1" u="sng" dirty="0">
              <a:solidFill>
                <a:schemeClr val="tx2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8DE19D-B1FD-C965-0A30-06F837F22FC3}"/>
              </a:ext>
            </a:extLst>
          </p:cNvPr>
          <p:cNvSpPr txBox="1"/>
          <p:nvPr/>
        </p:nvSpPr>
        <p:spPr>
          <a:xfrm>
            <a:off x="1907176" y="2847703"/>
            <a:ext cx="2791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PUBLICACIÓN:</a:t>
            </a:r>
          </a:p>
          <a:p>
            <a:endParaRPr lang="es-E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I+D carga el stock semanal disponibles para sobre y posturas en el aplicativo</a:t>
            </a:r>
            <a:endParaRPr lang="es-PE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6B61FC-CFF8-2F1C-4208-D9CECF662C81}"/>
              </a:ext>
            </a:extLst>
          </p:cNvPr>
          <p:cNvSpPr/>
          <p:nvPr/>
        </p:nvSpPr>
        <p:spPr>
          <a:xfrm>
            <a:off x="5325844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C6BE719-4282-A4C0-6047-26ECCFEDDDE6}"/>
              </a:ext>
            </a:extLst>
          </p:cNvPr>
          <p:cNvSpPr txBox="1"/>
          <p:nvPr/>
        </p:nvSpPr>
        <p:spPr>
          <a:xfrm>
            <a:off x="5674510" y="2903919"/>
            <a:ext cx="2791823" cy="25545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REQUERIMIENTO: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Jefa de sanidad o encargado de fundo envían su requerimiento indicando fundo, lote y cantidad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8A28DA-8231-E712-BD57-5D2B1CDD612C}"/>
              </a:ext>
            </a:extLst>
          </p:cNvPr>
          <p:cNvSpPr/>
          <p:nvPr/>
        </p:nvSpPr>
        <p:spPr>
          <a:xfrm>
            <a:off x="9239560" y="2293249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444736-B595-C257-A250-5358B7EA935F}"/>
              </a:ext>
            </a:extLst>
          </p:cNvPr>
          <p:cNvSpPr txBox="1"/>
          <p:nvPr/>
        </p:nvSpPr>
        <p:spPr>
          <a:xfrm>
            <a:off x="9621133" y="2886934"/>
            <a:ext cx="2791823" cy="224676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DESPACHO: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 recibir la solicitud. El </a:t>
            </a:r>
            <a:r>
              <a:rPr lang="es-ES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laboratio</a:t>
            </a:r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I+D , procede a despachar- logística de entrega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3C8358F-2196-31BF-D2AC-03F07AC66C55}"/>
              </a:ext>
            </a:extLst>
          </p:cNvPr>
          <p:cNvSpPr/>
          <p:nvPr/>
        </p:nvSpPr>
        <p:spPr>
          <a:xfrm>
            <a:off x="13200080" y="2280548"/>
            <a:ext cx="3554971" cy="383685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201813-2E8F-BD96-70DC-4D039C66FB76}"/>
              </a:ext>
            </a:extLst>
          </p:cNvPr>
          <p:cNvSpPr txBox="1"/>
          <p:nvPr/>
        </p:nvSpPr>
        <p:spPr>
          <a:xfrm>
            <a:off x="13751598" y="2933959"/>
            <a:ext cx="27918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Validación: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Sanidad da la confirmación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9565B9-D0F5-054E-43B1-3E51B03E57FE}"/>
              </a:ext>
            </a:extLst>
          </p:cNvPr>
          <p:cNvSpPr/>
          <p:nvPr/>
        </p:nvSpPr>
        <p:spPr>
          <a:xfrm>
            <a:off x="1113064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DE9BC8-DCC5-FB36-DD0A-448B07CE6891}"/>
              </a:ext>
            </a:extLst>
          </p:cNvPr>
          <p:cNvSpPr txBox="1"/>
          <p:nvPr/>
        </p:nvSpPr>
        <p:spPr>
          <a:xfrm>
            <a:off x="1532949" y="3004457"/>
            <a:ext cx="2791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PUBLICACIÓN:</a:t>
            </a:r>
          </a:p>
          <a:p>
            <a:endParaRPr lang="es-E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I+D carga el stock semanal disponibles para sobre y posturas en el aplicativo</a:t>
            </a:r>
            <a:endParaRPr lang="es-PE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CB01171-7E83-5A4C-6534-5CD0D276594C}"/>
              </a:ext>
            </a:extLst>
          </p:cNvPr>
          <p:cNvSpPr/>
          <p:nvPr/>
        </p:nvSpPr>
        <p:spPr>
          <a:xfrm>
            <a:off x="7512050" y="7001748"/>
            <a:ext cx="3263900" cy="305015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A791BC-D556-0A19-3531-B6B3D165EC73}"/>
              </a:ext>
            </a:extLst>
          </p:cNvPr>
          <p:cNvSpPr txBox="1"/>
          <p:nvPr/>
        </p:nvSpPr>
        <p:spPr>
          <a:xfrm>
            <a:off x="7991377" y="7671627"/>
            <a:ext cx="24963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REGISTRO: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Sanidad </a:t>
            </a:r>
            <a:r>
              <a:rPr lang="es-ES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regidtra</a:t>
            </a:r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el sistema la fecha y hora de liberación</a:t>
            </a:r>
          </a:p>
        </p:txBody>
      </p:sp>
    </p:spTree>
    <p:extLst>
      <p:ext uri="{BB962C8B-B14F-4D97-AF65-F5344CB8AC3E}">
        <p14:creationId xmlns:p14="http://schemas.microsoft.com/office/powerpoint/2010/main" val="406084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0A0B-4B07-BFB0-D150-296B33EB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lecha: pentágono 35">
            <a:extLst>
              <a:ext uri="{FF2B5EF4-FFF2-40B4-BE49-F238E27FC236}">
                <a16:creationId xmlns:a16="http://schemas.microsoft.com/office/drawing/2014/main" id="{37554EC4-4A52-CF71-02E0-8D470DCC7922}"/>
              </a:ext>
            </a:extLst>
          </p:cNvPr>
          <p:cNvSpPr/>
          <p:nvPr/>
        </p:nvSpPr>
        <p:spPr>
          <a:xfrm>
            <a:off x="860442" y="239405"/>
            <a:ext cx="11533890" cy="841311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3DB41465-8A99-288A-0EC5-5BE8546A4FC6}"/>
              </a:ext>
            </a:extLst>
          </p:cNvPr>
          <p:cNvGrpSpPr/>
          <p:nvPr/>
        </p:nvGrpSpPr>
        <p:grpSpPr>
          <a:xfrm>
            <a:off x="1210527" y="1366327"/>
            <a:ext cx="7593235" cy="7213793"/>
            <a:chOff x="1974866" y="1390569"/>
            <a:chExt cx="6643908" cy="7109639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5CF8B7B-3218-E478-EE5C-BDAA70B3DF20}"/>
                </a:ext>
              </a:extLst>
            </p:cNvPr>
            <p:cNvGrpSpPr/>
            <p:nvPr/>
          </p:nvGrpSpPr>
          <p:grpSpPr>
            <a:xfrm>
              <a:off x="1974866" y="1390569"/>
              <a:ext cx="6643908" cy="7109639"/>
              <a:chOff x="4720779" y="1218869"/>
              <a:chExt cx="6643908" cy="7109639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68DACCA3-C9C2-E8D9-F907-B9707EF42109}"/>
                  </a:ext>
                </a:extLst>
              </p:cNvPr>
              <p:cNvGrpSpPr/>
              <p:nvPr/>
            </p:nvGrpSpPr>
            <p:grpSpPr>
              <a:xfrm>
                <a:off x="4720779" y="1218869"/>
                <a:ext cx="6643908" cy="7109639"/>
                <a:chOff x="4608666" y="1378343"/>
                <a:chExt cx="6584651" cy="7308276"/>
              </a:xfrm>
            </p:grpSpPr>
            <p:grpSp>
              <p:nvGrpSpPr>
                <p:cNvPr id="4" name="Grupo 3">
                  <a:extLst>
                    <a:ext uri="{FF2B5EF4-FFF2-40B4-BE49-F238E27FC236}">
                      <a16:creationId xmlns:a16="http://schemas.microsoft.com/office/drawing/2014/main" id="{F2851C1E-2C84-D4AD-4910-2B25923B6030}"/>
                    </a:ext>
                  </a:extLst>
                </p:cNvPr>
                <p:cNvGrpSpPr/>
                <p:nvPr/>
              </p:nvGrpSpPr>
              <p:grpSpPr>
                <a:xfrm>
                  <a:off x="7471230" y="1378343"/>
                  <a:ext cx="3722087" cy="7308276"/>
                  <a:chOff x="7458531" y="1378343"/>
                  <a:chExt cx="3722088" cy="7308272"/>
                </a:xfrm>
              </p:grpSpPr>
              <p:pic>
                <p:nvPicPr>
                  <p:cNvPr id="12" name="Imagen 11">
                    <a:extLst>
                      <a:ext uri="{FF2B5EF4-FFF2-40B4-BE49-F238E27FC236}">
                        <a16:creationId xmlns:a16="http://schemas.microsoft.com/office/drawing/2014/main" id="{E287D320-C8D7-3803-166D-43D6C12192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458531" y="1378343"/>
                    <a:ext cx="3722088" cy="7308272"/>
                  </a:xfrm>
                  <a:prstGeom prst="rect">
                    <a:avLst/>
                  </a:prstGeom>
                  <a:ln w="38100" cap="sq">
                    <a:solidFill>
                      <a:srgbClr val="000000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  <p:sp>
                <p:nvSpPr>
                  <p:cNvPr id="13" name="Rectángulo 12">
                    <a:extLst>
                      <a:ext uri="{FF2B5EF4-FFF2-40B4-BE49-F238E27FC236}">
                        <a16:creationId xmlns:a16="http://schemas.microsoft.com/office/drawing/2014/main" id="{1023F439-0B53-F1A2-EA1E-88C293C16405}"/>
                      </a:ext>
                    </a:extLst>
                  </p:cNvPr>
                  <p:cNvSpPr/>
                  <p:nvPr/>
                </p:nvSpPr>
                <p:spPr>
                  <a:xfrm>
                    <a:off x="7471593" y="1600385"/>
                    <a:ext cx="3709025" cy="22009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</p:grpSp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9D347C28-565C-B184-CBC7-65D861BCC075}"/>
                    </a:ext>
                  </a:extLst>
                </p:cNvPr>
                <p:cNvSpPr/>
                <p:nvPr/>
              </p:nvSpPr>
              <p:spPr>
                <a:xfrm>
                  <a:off x="7898691" y="5143501"/>
                  <a:ext cx="2799787" cy="721723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cxnSp>
              <p:nvCxnSpPr>
                <p:cNvPr id="8" name="Conector recto de flecha 7">
                  <a:extLst>
                    <a:ext uri="{FF2B5EF4-FFF2-40B4-BE49-F238E27FC236}">
                      <a16:creationId xmlns:a16="http://schemas.microsoft.com/office/drawing/2014/main" id="{E59E78D0-BCED-873A-AE3A-6104142FD42D}"/>
                    </a:ext>
                  </a:extLst>
                </p:cNvPr>
                <p:cNvCxnSpPr>
                  <a:cxnSpLocks/>
                  <a:stCxn id="10" idx="3"/>
                  <a:endCxn id="6" idx="1"/>
                </p:cNvCxnSpPr>
                <p:nvPr/>
              </p:nvCxnSpPr>
              <p:spPr>
                <a:xfrm flipV="1">
                  <a:off x="6739100" y="5504363"/>
                  <a:ext cx="1159592" cy="122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cto de flecha 8">
                  <a:extLst>
                    <a:ext uri="{FF2B5EF4-FFF2-40B4-BE49-F238E27FC236}">
                      <a16:creationId xmlns:a16="http://schemas.microsoft.com/office/drawing/2014/main" id="{26DDFDB6-3265-C31E-16B9-03B34C0CB3D9}"/>
                    </a:ext>
                  </a:extLst>
                </p:cNvPr>
                <p:cNvCxnSpPr>
                  <a:cxnSpLocks/>
                  <a:stCxn id="11" idx="3"/>
                  <a:endCxn id="7" idx="1"/>
                </p:cNvCxnSpPr>
                <p:nvPr/>
              </p:nvCxnSpPr>
              <p:spPr>
                <a:xfrm>
                  <a:off x="6925145" y="6485710"/>
                  <a:ext cx="100759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7B2E023C-728A-CF3D-D09F-A56EBE559F3E}"/>
                    </a:ext>
                  </a:extLst>
                </p:cNvPr>
                <p:cNvSpPr txBox="1"/>
                <p:nvPr/>
              </p:nvSpPr>
              <p:spPr>
                <a:xfrm>
                  <a:off x="4608666" y="5193492"/>
                  <a:ext cx="2130434" cy="646331"/>
                </a:xfrm>
                <a:prstGeom prst="rect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dirty="0"/>
                    <a:t>Ingresar nombre del usuario.</a:t>
                  </a:r>
                  <a:endParaRPr lang="es-PE" dirty="0"/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D0B61637-73E6-FF51-3368-E301C34A3A56}"/>
                    </a:ext>
                  </a:extLst>
                </p:cNvPr>
                <p:cNvSpPr txBox="1"/>
                <p:nvPr/>
              </p:nvSpPr>
              <p:spPr>
                <a:xfrm>
                  <a:off x="4608666" y="6301044"/>
                  <a:ext cx="2316479" cy="369332"/>
                </a:xfrm>
                <a:prstGeom prst="rect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/>
                    <a:t>Ingresar contraseña.</a:t>
                  </a:r>
                  <a:endParaRPr lang="es-PE"/>
                </a:p>
              </p:txBody>
            </p:sp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42AD35BF-BDA1-847C-FB0A-4E27BC190CBB}"/>
                    </a:ext>
                  </a:extLst>
                </p:cNvPr>
                <p:cNvSpPr/>
                <p:nvPr/>
              </p:nvSpPr>
              <p:spPr>
                <a:xfrm>
                  <a:off x="7932743" y="6124848"/>
                  <a:ext cx="2799787" cy="721723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768B595-260E-074C-3E13-9DB993DC8079}"/>
                  </a:ext>
                </a:extLst>
              </p:cNvPr>
              <p:cNvSpPr/>
              <p:nvPr/>
            </p:nvSpPr>
            <p:spPr>
              <a:xfrm>
                <a:off x="8109341" y="3737154"/>
                <a:ext cx="2670089" cy="1069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000" b="1">
                    <a:solidFill>
                      <a:schemeClr val="tx1"/>
                    </a:solidFill>
                    <a:latin typeface="Abadi Extra Light" panose="020B0604020202020204" pitchFamily="34" charset="0"/>
                  </a:rPr>
                  <a:t>AGROI+D</a:t>
                </a:r>
                <a:endParaRPr lang="es-PE" sz="2000" b="1">
                  <a:solidFill>
                    <a:schemeClr val="tx1"/>
                  </a:solidFill>
                  <a:latin typeface="Abadi Extra Light" panose="020B0604020202020204" pitchFamily="34" charset="0"/>
                </a:endParaRPr>
              </a:p>
            </p:txBody>
          </p:sp>
        </p:grpSp>
        <p:pic>
          <p:nvPicPr>
            <p:cNvPr id="33" name="Imagen 32" descr="Manzana verde junto a un árbol&#10;&#10;Descripción generada automáticamente con confianza media">
              <a:extLst>
                <a:ext uri="{FF2B5EF4-FFF2-40B4-BE49-F238E27FC236}">
                  <a16:creationId xmlns:a16="http://schemas.microsoft.com/office/drawing/2014/main" id="{8F5EC040-6A32-4A86-ECD5-84E12E8DC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7032" y="1544173"/>
              <a:ext cx="3755583" cy="3097206"/>
            </a:xfrm>
            <a:prstGeom prst="rect">
              <a:avLst/>
            </a:prstGeom>
            <a:effectLst>
              <a:softEdge rad="635000"/>
            </a:effectLst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797A946-737E-3D03-C284-4B65998F628C}"/>
              </a:ext>
            </a:extLst>
          </p:cNvPr>
          <p:cNvSpPr txBox="1"/>
          <p:nvPr/>
        </p:nvSpPr>
        <p:spPr>
          <a:xfrm>
            <a:off x="1110956" y="412350"/>
            <a:ext cx="12176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INICIAL DEL ADMINISTRADOR Y DEL USUARIO DE APP I+D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600DD14-63D5-DA30-B03F-6B4CB9A5E65D}"/>
              </a:ext>
            </a:extLst>
          </p:cNvPr>
          <p:cNvGrpSpPr/>
          <p:nvPr/>
        </p:nvGrpSpPr>
        <p:grpSpPr>
          <a:xfrm>
            <a:off x="9147111" y="1402112"/>
            <a:ext cx="6249298" cy="7061154"/>
            <a:chOff x="9147111" y="1402112"/>
            <a:chExt cx="6249298" cy="7061154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373DCF2-9F28-ABCE-0723-FB88536C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30991" y="1402112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863BCC6A-BA2F-0FCB-5DDF-45BB9AEA45E0}"/>
                </a:ext>
              </a:extLst>
            </p:cNvPr>
            <p:cNvSpPr/>
            <p:nvPr/>
          </p:nvSpPr>
          <p:spPr>
            <a:xfrm>
              <a:off x="11558700" y="1634445"/>
              <a:ext cx="3810000" cy="47145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bg1"/>
                </a:solidFill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E66B6EA-472F-E2DF-CA76-9647D11E25B7}"/>
                </a:ext>
              </a:extLst>
            </p:cNvPr>
            <p:cNvSpPr/>
            <p:nvPr/>
          </p:nvSpPr>
          <p:spPr>
            <a:xfrm>
              <a:off x="11647722" y="1694033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I+D</a:t>
              </a:r>
              <a:endParaRPr lang="es-PE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pic>
          <p:nvPicPr>
            <p:cNvPr id="22" name="Imagen 21" descr="Logotipo, nombre de la empresa">
              <a:extLst>
                <a:ext uri="{FF2B5EF4-FFF2-40B4-BE49-F238E27FC236}">
                  <a16:creationId xmlns:a16="http://schemas.microsoft.com/office/drawing/2014/main" id="{1F3C33A1-0B41-E17D-8AD1-5DAC231EB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58339" y="2217771"/>
              <a:ext cx="2513026" cy="1154630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7F0ADBA-BA7B-7284-C1AC-97ACD1E26BB0}"/>
                </a:ext>
              </a:extLst>
            </p:cNvPr>
            <p:cNvSpPr/>
            <p:nvPr/>
          </p:nvSpPr>
          <p:spPr>
            <a:xfrm>
              <a:off x="11726900" y="3587718"/>
              <a:ext cx="3474972" cy="29268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BE1A81A-078C-24DE-F505-35D96331D1FF}"/>
                </a:ext>
              </a:extLst>
            </p:cNvPr>
            <p:cNvSpPr/>
            <p:nvPr/>
          </p:nvSpPr>
          <p:spPr>
            <a:xfrm>
              <a:off x="12141201" y="3894935"/>
              <a:ext cx="2839868" cy="475116"/>
            </a:xfrm>
            <a:prstGeom prst="rect">
              <a:avLst/>
            </a:prstGeom>
            <a:solidFill>
              <a:schemeClr val="tx2"/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Insectos Benéficos</a:t>
              </a:r>
              <a:endParaRPr lang="es-PE" b="1" dirty="0">
                <a:solidFill>
                  <a:schemeClr val="bg1"/>
                </a:solidFill>
                <a:latin typeface="Abadi Extra Light" panose="020B0204020104020204" pitchFamily="34" charset="0"/>
              </a:endParaRP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EC60F362-FB93-0718-6B17-DEC24AAD9CD1}"/>
                </a:ext>
              </a:extLst>
            </p:cNvPr>
            <p:cNvSpPr/>
            <p:nvPr/>
          </p:nvSpPr>
          <p:spPr>
            <a:xfrm>
              <a:off x="12214873" y="5439222"/>
              <a:ext cx="2839868" cy="544601"/>
            </a:xfrm>
            <a:prstGeom prst="rect">
              <a:avLst/>
            </a:prstGeom>
            <a:solidFill>
              <a:schemeClr val="tx2"/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Evaluación de Nematodos</a:t>
              </a:r>
            </a:p>
          </p:txBody>
        </p:sp>
        <p:sp>
          <p:nvSpPr>
            <p:cNvPr id="29" name="Diagrama de flujo: proceso alternativo 28">
              <a:extLst>
                <a:ext uri="{FF2B5EF4-FFF2-40B4-BE49-F238E27FC236}">
                  <a16:creationId xmlns:a16="http://schemas.microsoft.com/office/drawing/2014/main" id="{7AC86A1D-8A11-E03C-1FDE-1864769465FF}"/>
                </a:ext>
              </a:extLst>
            </p:cNvPr>
            <p:cNvSpPr/>
            <p:nvPr/>
          </p:nvSpPr>
          <p:spPr>
            <a:xfrm>
              <a:off x="12125895" y="3894933"/>
              <a:ext cx="2855174" cy="1134216"/>
            </a:xfrm>
            <a:prstGeom prst="flowChartAlternateProcess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806E357-9714-71D1-7DFD-409555DDFF86}"/>
                </a:ext>
              </a:extLst>
            </p:cNvPr>
            <p:cNvSpPr txBox="1"/>
            <p:nvPr/>
          </p:nvSpPr>
          <p:spPr>
            <a:xfrm>
              <a:off x="9147111" y="4661050"/>
              <a:ext cx="2040531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dirty="0"/>
                <a:t>Ingresamos a </a:t>
              </a:r>
              <a:r>
                <a:rPr lang="es-MX" b="1" dirty="0"/>
                <a:t>“Requerimiento de Insectos benéficos”</a:t>
              </a:r>
              <a:endParaRPr lang="es-PE" b="1" dirty="0"/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5A4E78C4-5888-BF4E-C245-437E2C33F1C8}"/>
                </a:ext>
              </a:extLst>
            </p:cNvPr>
            <p:cNvCxnSpPr>
              <a:cxnSpLocks/>
              <a:stCxn id="30" idx="3"/>
              <a:endCxn id="29" idx="1"/>
            </p:cNvCxnSpPr>
            <p:nvPr/>
          </p:nvCxnSpPr>
          <p:spPr>
            <a:xfrm flipV="1">
              <a:off x="11187642" y="4462041"/>
              <a:ext cx="938253" cy="6606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7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D21D83F1-BF40-89D1-D8A3-EB883EF3FD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65763" y="1682121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909CFEAA-1EB5-7D4D-8378-610B974017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480346">
              <a:off x="11805933" y="4574500"/>
              <a:ext cx="407047" cy="556704"/>
            </a:xfrm>
            <a:prstGeom prst="rect">
              <a:avLst/>
            </a:prstGeom>
          </p:spPr>
        </p:pic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DF2786A9-1457-133B-B6E5-EA66871A0394}"/>
              </a:ext>
            </a:extLst>
          </p:cNvPr>
          <p:cNvSpPr/>
          <p:nvPr/>
        </p:nvSpPr>
        <p:spPr>
          <a:xfrm>
            <a:off x="7620755" y="4235208"/>
            <a:ext cx="457200" cy="59310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785EECA-C8D9-0ABE-E99D-22161C4827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3255" t="12412" r="14188" b="21436"/>
          <a:stretch/>
        </p:blipFill>
        <p:spPr>
          <a:xfrm>
            <a:off x="13023370" y="4419557"/>
            <a:ext cx="1060223" cy="552360"/>
          </a:xfrm>
          <a:prstGeom prst="rect">
            <a:avLst/>
          </a:prstGeom>
        </p:spPr>
      </p:pic>
      <p:sp>
        <p:nvSpPr>
          <p:cNvPr id="38" name="Diagrama de flujo: proceso alternativo 37">
            <a:extLst>
              <a:ext uri="{FF2B5EF4-FFF2-40B4-BE49-F238E27FC236}">
                <a16:creationId xmlns:a16="http://schemas.microsoft.com/office/drawing/2014/main" id="{BF29C29F-BADA-B9AD-DA96-D3407FAD07F6}"/>
              </a:ext>
            </a:extLst>
          </p:cNvPr>
          <p:cNvSpPr/>
          <p:nvPr/>
        </p:nvSpPr>
        <p:spPr>
          <a:xfrm>
            <a:off x="12171698" y="5388112"/>
            <a:ext cx="2855174" cy="1134216"/>
          </a:xfrm>
          <a:prstGeom prst="flowChartAlternateProcess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0086619-C4FA-F3AC-ACC6-713DDBD6B87C}"/>
              </a:ext>
            </a:extLst>
          </p:cNvPr>
          <p:cNvSpPr txBox="1"/>
          <p:nvPr/>
        </p:nvSpPr>
        <p:spPr>
          <a:xfrm>
            <a:off x="15739758" y="6589943"/>
            <a:ext cx="204053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A futuro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384784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EB73A227-A206-B6D4-9312-F5C8BFE156B1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Lisa desplegable</a:t>
            </a:r>
            <a:endParaRPr lang="es-PE" sz="14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65ABD7A-1D56-97DA-5C75-B01DF51F3D83}"/>
              </a:ext>
            </a:extLst>
          </p:cNvPr>
          <p:cNvGrpSpPr/>
          <p:nvPr/>
        </p:nvGrpSpPr>
        <p:grpSpPr>
          <a:xfrm>
            <a:off x="1465533" y="164144"/>
            <a:ext cx="8912900" cy="1226029"/>
            <a:chOff x="1465533" y="164144"/>
            <a:chExt cx="8912900" cy="1226029"/>
          </a:xfrm>
        </p:grpSpPr>
        <p:sp>
          <p:nvSpPr>
            <p:cNvPr id="2" name="Flecha: pentágono 1">
              <a:extLst>
                <a:ext uri="{FF2B5EF4-FFF2-40B4-BE49-F238E27FC236}">
                  <a16:creationId xmlns:a16="http://schemas.microsoft.com/office/drawing/2014/main" id="{4D7A02B3-D861-CD66-00BE-21F1B56FB6C1}"/>
                </a:ext>
              </a:extLst>
            </p:cNvPr>
            <p:cNvSpPr/>
            <p:nvPr/>
          </p:nvSpPr>
          <p:spPr>
            <a:xfrm>
              <a:off x="1465533" y="164144"/>
              <a:ext cx="8315739" cy="1226029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rgbClr val="D3D3D7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ECA343A-56CE-001D-17C1-2D1431A29ADC}"/>
                </a:ext>
              </a:extLst>
            </p:cNvPr>
            <p:cNvSpPr txBox="1"/>
            <p:nvPr/>
          </p:nvSpPr>
          <p:spPr>
            <a:xfrm>
              <a:off x="1632374" y="304794"/>
              <a:ext cx="874605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>
                  <a:solidFill>
                    <a:schemeClr val="bg1"/>
                  </a:solidFill>
                </a:rPr>
                <a:t>VISTA DEL ADMINISTRADOR I+D</a:t>
              </a:r>
            </a:p>
            <a:p>
              <a:r>
                <a:rPr lang="es-MX" sz="2000" b="1" dirty="0">
                  <a:solidFill>
                    <a:schemeClr val="bg1"/>
                  </a:solidFill>
                </a:rPr>
                <a:t>(Coordinador I+D y Supervisor de insectos Benéficos )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0974A6B6-20B9-A87C-B4E5-1B16372D74BE}"/>
              </a:ext>
            </a:extLst>
          </p:cNvPr>
          <p:cNvGrpSpPr/>
          <p:nvPr/>
        </p:nvGrpSpPr>
        <p:grpSpPr>
          <a:xfrm>
            <a:off x="7590945" y="623236"/>
            <a:ext cx="4770461" cy="8035038"/>
            <a:chOff x="6715432" y="1100062"/>
            <a:chExt cx="4425107" cy="8035038"/>
          </a:xfrm>
        </p:grpSpPr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6D060E2F-F3D0-01BB-E9E1-ABEBE359D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15432" y="2073946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2A7BA2B-06FF-55B0-5635-9B3EFE89138E}"/>
                </a:ext>
              </a:extLst>
            </p:cNvPr>
            <p:cNvSpPr/>
            <p:nvPr/>
          </p:nvSpPr>
          <p:spPr>
            <a:xfrm>
              <a:off x="6756395" y="2306279"/>
              <a:ext cx="3810000" cy="4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81206A7-29AA-EB42-6E63-59D5699FBD2B}"/>
                </a:ext>
              </a:extLst>
            </p:cNvPr>
            <p:cNvSpPr/>
            <p:nvPr/>
          </p:nvSpPr>
          <p:spPr>
            <a:xfrm>
              <a:off x="6845417" y="2365867"/>
              <a:ext cx="1434667" cy="35227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F18527ED-8999-1DB6-38AD-7441D930DCC1}"/>
                </a:ext>
              </a:extLst>
            </p:cNvPr>
            <p:cNvSpPr/>
            <p:nvPr/>
          </p:nvSpPr>
          <p:spPr>
            <a:xfrm>
              <a:off x="6856168" y="2987432"/>
              <a:ext cx="3614356" cy="36079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85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D11CABEA-79CE-D7E6-6104-DADE2EAD7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9356" y="2355569"/>
              <a:ext cx="341153" cy="35227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0045FCCB-9DAE-BC9A-BFE0-83E005967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3856" y="3444272"/>
              <a:ext cx="3474972" cy="9192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E96C73FB-3DAE-1A54-8CAB-300DA5C1A056}"/>
                </a:ext>
              </a:extLst>
            </p:cNvPr>
            <p:cNvSpPr txBox="1"/>
            <p:nvPr/>
          </p:nvSpPr>
          <p:spPr>
            <a:xfrm>
              <a:off x="6989569" y="3496166"/>
              <a:ext cx="2832524" cy="8309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Fecha: 07/05/2026</a:t>
              </a:r>
            </a:p>
            <a:p>
              <a:r>
                <a:rPr lang="es-MX" sz="1600" b="1" dirty="0"/>
                <a:t>Mes: Mayo</a:t>
              </a:r>
            </a:p>
            <a:p>
              <a:r>
                <a:rPr lang="es-MX" sz="1600" b="1" dirty="0" err="1"/>
                <a:t>Cant</a:t>
              </a:r>
              <a:r>
                <a:rPr lang="es-MX" sz="1600" b="1" dirty="0"/>
                <a:t>. Total: 5000  millares</a:t>
              </a:r>
            </a:p>
          </p:txBody>
        </p:sp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3B1F9E46-72CE-8C3D-05DE-180B0DD20C0A}"/>
                </a:ext>
              </a:extLst>
            </p:cNvPr>
            <p:cNvSpPr/>
            <p:nvPr/>
          </p:nvSpPr>
          <p:spPr>
            <a:xfrm>
              <a:off x="10066693" y="2827756"/>
              <a:ext cx="386449" cy="43895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43AF6F6E-5238-1E7E-02EC-44315D25DB90}"/>
                </a:ext>
              </a:extLst>
            </p:cNvPr>
            <p:cNvSpPr/>
            <p:nvPr/>
          </p:nvSpPr>
          <p:spPr>
            <a:xfrm>
              <a:off x="6867096" y="3446818"/>
              <a:ext cx="3423411" cy="94445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CE32970B-DC6D-4231-69AE-BEDFD415CC3D}"/>
                </a:ext>
              </a:extLst>
            </p:cNvPr>
            <p:cNvSpPr txBox="1"/>
            <p:nvPr/>
          </p:nvSpPr>
          <p:spPr>
            <a:xfrm>
              <a:off x="7488922" y="7438149"/>
              <a:ext cx="2240012" cy="954107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Se podrá visualizar un historial mensual. Según las cantidades ingresadas, se calculará el total automáticamente. </a:t>
              </a:r>
              <a:endParaRPr lang="es-PE" sz="1400" dirty="0"/>
            </a:p>
          </p:txBody>
        </p:sp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A994FDC6-0E04-858C-E455-DC857B714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5824" y="2814629"/>
              <a:ext cx="1824903" cy="35587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9521C668-63F4-6D6A-B539-931F57C4F6B4}"/>
                </a:ext>
              </a:extLst>
            </p:cNvPr>
            <p:cNvSpPr txBox="1"/>
            <p:nvPr/>
          </p:nvSpPr>
          <p:spPr>
            <a:xfrm>
              <a:off x="6744907" y="2843754"/>
              <a:ext cx="853380" cy="3385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FECHA:</a:t>
              </a:r>
              <a:endParaRPr lang="es-PE" sz="1600" b="1"/>
            </a:p>
          </p:txBody>
        </p:sp>
        <p:cxnSp>
          <p:nvCxnSpPr>
            <p:cNvPr id="104" name="Conector recto de flecha 103">
              <a:extLst>
                <a:ext uri="{FF2B5EF4-FFF2-40B4-BE49-F238E27FC236}">
                  <a16:creationId xmlns:a16="http://schemas.microsoft.com/office/drawing/2014/main" id="{380D2B38-43FE-F1B3-1A55-5E93D1814AD5}"/>
                </a:ext>
              </a:extLst>
            </p:cNvPr>
            <p:cNvCxnSpPr>
              <a:cxnSpLocks/>
            </p:cNvCxnSpPr>
            <p:nvPr/>
          </p:nvCxnSpPr>
          <p:spPr>
            <a:xfrm>
              <a:off x="9743040" y="1591776"/>
              <a:ext cx="13763" cy="11889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111" name="Imagen 110">
              <a:extLst>
                <a:ext uri="{FF2B5EF4-FFF2-40B4-BE49-F238E27FC236}">
                  <a16:creationId xmlns:a16="http://schemas.microsoft.com/office/drawing/2014/main" id="{1EC27F0E-47BD-9280-C6A3-B41D33921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9796849" y="2781278"/>
              <a:ext cx="407047" cy="5567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B8F6DAEA-42F4-BAFB-375D-629107D32543}"/>
                </a:ext>
              </a:extLst>
            </p:cNvPr>
            <p:cNvSpPr txBox="1"/>
            <p:nvPr/>
          </p:nvSpPr>
          <p:spPr>
            <a:xfrm>
              <a:off x="9132789" y="1100062"/>
              <a:ext cx="2007750" cy="738664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Se podrá crear un nuevo stock cada vez que sea necesario.</a:t>
              </a:r>
              <a:endParaRPr lang="es-PE" sz="1400" dirty="0"/>
            </a:p>
          </p:txBody>
        </p:sp>
        <p:pic>
          <p:nvPicPr>
            <p:cNvPr id="7" name="Gráfico 6" descr="Insignia de seguir contorno">
              <a:extLst>
                <a:ext uri="{FF2B5EF4-FFF2-40B4-BE49-F238E27FC236}">
                  <a16:creationId xmlns:a16="http://schemas.microsoft.com/office/drawing/2014/main" id="{E862C6E0-CC48-E010-0A21-1E4B836B542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00740" y="2787316"/>
              <a:ext cx="512759" cy="512759"/>
            </a:xfrm>
            <a:prstGeom prst="rect">
              <a:avLst/>
            </a:prstGeom>
          </p:spPr>
        </p:pic>
      </p:grpSp>
      <p:sp>
        <p:nvSpPr>
          <p:cNvPr id="3140" name="CuadroTexto 3139">
            <a:extLst>
              <a:ext uri="{FF2B5EF4-FFF2-40B4-BE49-F238E27FC236}">
                <a16:creationId xmlns:a16="http://schemas.microsoft.com/office/drawing/2014/main" id="{23B91423-AD49-9033-DDF5-D612144B4418}"/>
              </a:ext>
            </a:extLst>
          </p:cNvPr>
          <p:cNvSpPr txBox="1"/>
          <p:nvPr/>
        </p:nvSpPr>
        <p:spPr>
          <a:xfrm>
            <a:off x="8542701" y="8862501"/>
            <a:ext cx="3912895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Al hacer clic en </a:t>
            </a:r>
            <a:r>
              <a:rPr lang="es-MX" sz="1400" b="1" dirty="0"/>
              <a:t>'Editar', </a:t>
            </a:r>
            <a:r>
              <a:rPr lang="es-MX" sz="1400" dirty="0"/>
              <a:t>solo se podrá modificar el campo </a:t>
            </a:r>
            <a:r>
              <a:rPr lang="es-MX" sz="1400" b="1" dirty="0"/>
              <a:t>“PROY. FINAL”, </a:t>
            </a:r>
            <a:r>
              <a:rPr lang="es-MX" sz="1400" dirty="0"/>
              <a:t>donde se ingresará la cantidad real. Si esta cantidad es diferente a la Proyección Inicial, el cambio se actualizará automáticamente en la vista principal.</a:t>
            </a:r>
            <a:endParaRPr lang="es-PE" sz="14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9F279BD-E153-9AED-81D7-CFA33F119276}"/>
              </a:ext>
            </a:extLst>
          </p:cNvPr>
          <p:cNvGrpSpPr/>
          <p:nvPr/>
        </p:nvGrpSpPr>
        <p:grpSpPr>
          <a:xfrm>
            <a:off x="6894893" y="2382239"/>
            <a:ext cx="4621815" cy="7345013"/>
            <a:chOff x="5718344" y="2382239"/>
            <a:chExt cx="4517639" cy="7345013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40E258B1-A1AF-D013-3B55-69020D48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9569" t="10214" r="39364" b="79038"/>
            <a:stretch>
              <a:fillRect/>
            </a:stretch>
          </p:blipFill>
          <p:spPr>
            <a:xfrm>
              <a:off x="7595898" y="2382239"/>
              <a:ext cx="1548102" cy="253761"/>
            </a:xfrm>
            <a:prstGeom prst="rect">
              <a:avLst/>
            </a:prstGeom>
          </p:spPr>
        </p:pic>
        <p:pic>
          <p:nvPicPr>
            <p:cNvPr id="3115" name="Imagen 3114">
              <a:extLst>
                <a:ext uri="{FF2B5EF4-FFF2-40B4-BE49-F238E27FC236}">
                  <a16:creationId xmlns:a16="http://schemas.microsoft.com/office/drawing/2014/main" id="{58C9A01F-3411-27BE-D08B-304EF2DEA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9672" y="3445600"/>
              <a:ext cx="258549" cy="259201"/>
            </a:xfrm>
            <a:prstGeom prst="rect">
              <a:avLst/>
            </a:prstGeom>
          </p:spPr>
        </p:pic>
        <p:sp>
          <p:nvSpPr>
            <p:cNvPr id="3139" name="Rectángulo 3138">
              <a:extLst>
                <a:ext uri="{FF2B5EF4-FFF2-40B4-BE49-F238E27FC236}">
                  <a16:creationId xmlns:a16="http://schemas.microsoft.com/office/drawing/2014/main" id="{C4C165EB-E27C-DC05-34AC-AA68DD5AD557}"/>
                </a:ext>
              </a:extLst>
            </p:cNvPr>
            <p:cNvSpPr/>
            <p:nvPr/>
          </p:nvSpPr>
          <p:spPr>
            <a:xfrm>
              <a:off x="9854856" y="3467445"/>
              <a:ext cx="258550" cy="259201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3142" name="Conector: angular 3141">
              <a:extLst>
                <a:ext uri="{FF2B5EF4-FFF2-40B4-BE49-F238E27FC236}">
                  <a16:creationId xmlns:a16="http://schemas.microsoft.com/office/drawing/2014/main" id="{91EE3FEE-5595-1C1D-6FF5-8F525D70BD6F}"/>
                </a:ext>
              </a:extLst>
            </p:cNvPr>
            <p:cNvCxnSpPr>
              <a:cxnSpLocks/>
              <a:stCxn id="3140" idx="0"/>
              <a:endCxn id="3139" idx="3"/>
            </p:cNvCxnSpPr>
            <p:nvPr/>
          </p:nvCxnSpPr>
          <p:spPr>
            <a:xfrm rot="5400000" flipH="1" flipV="1">
              <a:off x="7080635" y="5829731"/>
              <a:ext cx="5265455" cy="800087"/>
            </a:xfrm>
            <a:prstGeom prst="bentConnector4">
              <a:avLst>
                <a:gd name="adj1" fmla="val 470"/>
                <a:gd name="adj2" fmla="val 128572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14" name="Conector: angular 3313">
              <a:extLst>
                <a:ext uri="{FF2B5EF4-FFF2-40B4-BE49-F238E27FC236}">
                  <a16:creationId xmlns:a16="http://schemas.microsoft.com/office/drawing/2014/main" id="{3281A54A-8295-47B7-218A-BBAE2432416D}"/>
                </a:ext>
              </a:extLst>
            </p:cNvPr>
            <p:cNvCxnSpPr>
              <a:cxnSpLocks/>
              <a:endCxn id="90" idx="2"/>
            </p:cNvCxnSpPr>
            <p:nvPr/>
          </p:nvCxnSpPr>
          <p:spPr>
            <a:xfrm rot="16200000" flipV="1">
              <a:off x="6847556" y="5429110"/>
              <a:ext cx="3029970" cy="63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15" name="CuadroTexto 3314">
              <a:extLst>
                <a:ext uri="{FF2B5EF4-FFF2-40B4-BE49-F238E27FC236}">
                  <a16:creationId xmlns:a16="http://schemas.microsoft.com/office/drawing/2014/main" id="{65FD7F78-82F4-136B-9AD9-88A3F8DB168F}"/>
                </a:ext>
              </a:extLst>
            </p:cNvPr>
            <p:cNvSpPr txBox="1"/>
            <p:nvPr/>
          </p:nvSpPr>
          <p:spPr>
            <a:xfrm>
              <a:off x="5718344" y="8988588"/>
              <a:ext cx="1271340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la fecha debe generarse según registro </a:t>
              </a:r>
              <a:endParaRPr lang="es-PE" sz="1400" dirty="0"/>
            </a:p>
          </p:txBody>
        </p:sp>
        <p:sp>
          <p:nvSpPr>
            <p:cNvPr id="3321" name="Rectángulo 3320">
              <a:extLst>
                <a:ext uri="{FF2B5EF4-FFF2-40B4-BE49-F238E27FC236}">
                  <a16:creationId xmlns:a16="http://schemas.microsoft.com/office/drawing/2014/main" id="{117D3300-4513-20AE-1EF6-E2A072A41734}"/>
                </a:ext>
              </a:extLst>
            </p:cNvPr>
            <p:cNvSpPr/>
            <p:nvPr/>
          </p:nvSpPr>
          <p:spPr>
            <a:xfrm>
              <a:off x="6746676" y="3057551"/>
              <a:ext cx="1682840" cy="248419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3323" name="Conector: angular 3322">
              <a:extLst>
                <a:ext uri="{FF2B5EF4-FFF2-40B4-BE49-F238E27FC236}">
                  <a16:creationId xmlns:a16="http://schemas.microsoft.com/office/drawing/2014/main" id="{CB52705B-1500-4D2A-36A4-186E5F80BD4F}"/>
                </a:ext>
              </a:extLst>
            </p:cNvPr>
            <p:cNvCxnSpPr>
              <a:cxnSpLocks/>
              <a:stCxn id="3315" idx="0"/>
              <a:endCxn id="3321" idx="1"/>
            </p:cNvCxnSpPr>
            <p:nvPr/>
          </p:nvCxnSpPr>
          <p:spPr>
            <a:xfrm rot="5400000" flipH="1" flipV="1">
              <a:off x="3646932" y="5888844"/>
              <a:ext cx="5806827" cy="3926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28" name="Rectángulo 3327">
              <a:extLst>
                <a:ext uri="{FF2B5EF4-FFF2-40B4-BE49-F238E27FC236}">
                  <a16:creationId xmlns:a16="http://schemas.microsoft.com/office/drawing/2014/main" id="{30D0C831-5049-7241-36DB-64FCF22DAA56}"/>
                </a:ext>
              </a:extLst>
            </p:cNvPr>
            <p:cNvSpPr/>
            <p:nvPr/>
          </p:nvSpPr>
          <p:spPr>
            <a:xfrm>
              <a:off x="9398300" y="3467445"/>
              <a:ext cx="407889" cy="2592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VER</a:t>
              </a:r>
              <a:r>
                <a:rPr lang="es-MX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 </a:t>
              </a:r>
            </a:p>
          </p:txBody>
        </p:sp>
        <p:sp>
          <p:nvSpPr>
            <p:cNvPr id="3338" name="CuadroTexto 3337">
              <a:extLst>
                <a:ext uri="{FF2B5EF4-FFF2-40B4-BE49-F238E27FC236}">
                  <a16:creationId xmlns:a16="http://schemas.microsoft.com/office/drawing/2014/main" id="{F86F7EA6-FA00-2215-1C58-90461FF2C8BC}"/>
                </a:ext>
              </a:extLst>
            </p:cNvPr>
            <p:cNvSpPr txBox="1"/>
            <p:nvPr/>
          </p:nvSpPr>
          <p:spPr>
            <a:xfrm>
              <a:off x="8964643" y="4216362"/>
              <a:ext cx="1271340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/>
                <a:t>Permitir tener una vista emergente</a:t>
              </a:r>
              <a:endParaRPr lang="es-PE" sz="1400"/>
            </a:p>
          </p:txBody>
        </p:sp>
        <p:cxnSp>
          <p:nvCxnSpPr>
            <p:cNvPr id="3340" name="Conector recto 3339">
              <a:extLst>
                <a:ext uri="{FF2B5EF4-FFF2-40B4-BE49-F238E27FC236}">
                  <a16:creationId xmlns:a16="http://schemas.microsoft.com/office/drawing/2014/main" id="{76D4AE45-3ADF-E416-54F1-888F8756F65A}"/>
                </a:ext>
              </a:extLst>
            </p:cNvPr>
            <p:cNvCxnSpPr>
              <a:stCxn id="3338" idx="0"/>
              <a:endCxn id="3328" idx="2"/>
            </p:cNvCxnSpPr>
            <p:nvPr/>
          </p:nvCxnSpPr>
          <p:spPr>
            <a:xfrm flipV="1">
              <a:off x="9600313" y="3726646"/>
              <a:ext cx="1932" cy="48971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158" name="Grupo 3157">
            <a:extLst>
              <a:ext uri="{FF2B5EF4-FFF2-40B4-BE49-F238E27FC236}">
                <a16:creationId xmlns:a16="http://schemas.microsoft.com/office/drawing/2014/main" id="{58CE68D6-2197-8058-12B8-EBB6742409A0}"/>
              </a:ext>
            </a:extLst>
          </p:cNvPr>
          <p:cNvGrpSpPr/>
          <p:nvPr/>
        </p:nvGrpSpPr>
        <p:grpSpPr>
          <a:xfrm>
            <a:off x="32617" y="1597120"/>
            <a:ext cx="6945054" cy="7061154"/>
            <a:chOff x="-809657" y="1576407"/>
            <a:chExt cx="6945054" cy="7061154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75F2B96D-6FDC-4C86-2E0C-440D899B68AA}"/>
                </a:ext>
              </a:extLst>
            </p:cNvPr>
            <p:cNvGrpSpPr/>
            <p:nvPr/>
          </p:nvGrpSpPr>
          <p:grpSpPr>
            <a:xfrm>
              <a:off x="-809657" y="1576407"/>
              <a:ext cx="6945054" cy="7061154"/>
              <a:chOff x="-809657" y="2073946"/>
              <a:chExt cx="6945054" cy="7061154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0746CAE-1415-AA4F-0BB7-9D941ADE230F}"/>
                  </a:ext>
                </a:extLst>
              </p:cNvPr>
              <p:cNvSpPr txBox="1"/>
              <p:nvPr/>
            </p:nvSpPr>
            <p:spPr>
              <a:xfrm>
                <a:off x="-809657" y="3812295"/>
                <a:ext cx="2547879" cy="52322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400" dirty="0">
                    <a:latin typeface="Poppins" panose="00000500000000000000" pitchFamily="2" charset="0"/>
                    <a:cs typeface="Poppins" panose="00000500000000000000" pitchFamily="2" charset="0"/>
                  </a:rPr>
                  <a:t>Ingresamos a </a:t>
                </a:r>
                <a:r>
                  <a:rPr lang="es-MX" sz="14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“Programación ”</a:t>
                </a:r>
                <a:endParaRPr lang="es-PE" sz="1400" b="1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D595A79B-B425-8BF7-A3FD-7528B120A1AC}"/>
                  </a:ext>
                </a:extLst>
              </p:cNvPr>
              <p:cNvGrpSpPr/>
              <p:nvPr/>
            </p:nvGrpSpPr>
            <p:grpSpPr>
              <a:xfrm>
                <a:off x="1738222" y="2073946"/>
                <a:ext cx="4397175" cy="7061154"/>
                <a:chOff x="1738222" y="2073946"/>
                <a:chExt cx="4397175" cy="7061154"/>
              </a:xfrm>
            </p:grpSpPr>
            <p:pic>
              <p:nvPicPr>
                <p:cNvPr id="9" name="Imagen 8">
                  <a:extLst>
                    <a:ext uri="{FF2B5EF4-FFF2-40B4-BE49-F238E27FC236}">
                      <a16:creationId xmlns:a16="http://schemas.microsoft.com/office/drawing/2014/main" id="{E775C68D-54DA-BE7F-C1EE-26A5D9B0F3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69979" y="2073946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F4F45FFB-1EA7-979C-8B97-68088EC1812D}"/>
                    </a:ext>
                  </a:extLst>
                </p:cNvPr>
                <p:cNvSpPr/>
                <p:nvPr/>
              </p:nvSpPr>
              <p:spPr>
                <a:xfrm>
                  <a:off x="2269259" y="2364395"/>
                  <a:ext cx="3810000" cy="471451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323C22B6-C1E4-1DC6-DAFC-5F27E180A9A9}"/>
                    </a:ext>
                  </a:extLst>
                </p:cNvPr>
                <p:cNvSpPr/>
                <p:nvPr/>
              </p:nvSpPr>
              <p:spPr>
                <a:xfrm>
                  <a:off x="2472438" y="2365867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pic>
              <p:nvPicPr>
                <p:cNvPr id="12" name="Imagen 11" descr="Logotipo, nombre de la empresa">
                  <a:extLst>
                    <a:ext uri="{FF2B5EF4-FFF2-40B4-BE49-F238E27FC236}">
                      <a16:creationId xmlns:a16="http://schemas.microsoft.com/office/drawing/2014/main" id="{9B44C9CF-549B-B05F-8813-14653A4539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7010" y="2879347"/>
                  <a:ext cx="2513026" cy="774543"/>
                </a:xfrm>
                <a:prstGeom prst="rect">
                  <a:avLst/>
                </a:prstGeom>
              </p:spPr>
            </p:pic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D8828D6E-E01D-445A-00C1-11B3BB493C4D}"/>
                    </a:ext>
                  </a:extLst>
                </p:cNvPr>
                <p:cNvSpPr/>
                <p:nvPr/>
              </p:nvSpPr>
              <p:spPr>
                <a:xfrm>
                  <a:off x="2466209" y="3959827"/>
                  <a:ext cx="3562788" cy="23358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/>
                </a:p>
              </p:txBody>
            </p: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BFE53D51-24B1-48C8-A2B6-0A19234F05B7}"/>
                    </a:ext>
                  </a:extLst>
                </p:cNvPr>
                <p:cNvSpPr/>
                <p:nvPr/>
              </p:nvSpPr>
              <p:spPr>
                <a:xfrm>
                  <a:off x="2817510" y="4657723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Solicitud de Requerimientos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sp>
              <p:nvSpPr>
                <p:cNvPr id="6" name="Rectángulo 5">
                  <a:extLst>
                    <a:ext uri="{FF2B5EF4-FFF2-40B4-BE49-F238E27FC236}">
                      <a16:creationId xmlns:a16="http://schemas.microsoft.com/office/drawing/2014/main" id="{AE1245DA-353F-1BC3-742C-BCC46A0B8ED8}"/>
                    </a:ext>
                  </a:extLst>
                </p:cNvPr>
                <p:cNvSpPr/>
                <p:nvPr/>
              </p:nvSpPr>
              <p:spPr>
                <a:xfrm>
                  <a:off x="2789980" y="3935453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Programación 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cxnSp>
              <p:nvCxnSpPr>
                <p:cNvPr id="17" name="Conector recto de flecha 16">
                  <a:extLst>
                    <a:ext uri="{FF2B5EF4-FFF2-40B4-BE49-F238E27FC236}">
                      <a16:creationId xmlns:a16="http://schemas.microsoft.com/office/drawing/2014/main" id="{CAAC1BFD-2661-A0A4-8B80-180E7A85596B}"/>
                    </a:ext>
                  </a:extLst>
                </p:cNvPr>
                <p:cNvCxnSpPr>
                  <a:cxnSpLocks/>
                  <a:stCxn id="16" idx="3"/>
                </p:cNvCxnSpPr>
                <p:nvPr/>
              </p:nvCxnSpPr>
              <p:spPr>
                <a:xfrm>
                  <a:off x="1738222" y="4073905"/>
                  <a:ext cx="884303" cy="2000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5" name="Diagrama de flujo: proceso alternativo 14">
                  <a:extLst>
                    <a:ext uri="{FF2B5EF4-FFF2-40B4-BE49-F238E27FC236}">
                      <a16:creationId xmlns:a16="http://schemas.microsoft.com/office/drawing/2014/main" id="{7FD188F7-6386-22CD-B8FC-BFE0AAED591F}"/>
                    </a:ext>
                  </a:extLst>
                </p:cNvPr>
                <p:cNvSpPr/>
                <p:nvPr/>
              </p:nvSpPr>
              <p:spPr>
                <a:xfrm>
                  <a:off x="2811466" y="3964984"/>
                  <a:ext cx="2855174" cy="488398"/>
                </a:xfrm>
                <a:prstGeom prst="flowChartAlternateProcess">
                  <a:avLst/>
                </a:prstGeom>
                <a:noFill/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110" name="Imagen 109">
                  <a:extLst>
                    <a:ext uri="{FF2B5EF4-FFF2-40B4-BE49-F238E27FC236}">
                      <a16:creationId xmlns:a16="http://schemas.microsoft.com/office/drawing/2014/main" id="{1CE9B896-BA5D-7E95-7FCA-A91DDFC3B2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 rot="4967358">
                  <a:off x="2549534" y="4141873"/>
                  <a:ext cx="407047" cy="556704"/>
                </a:xfrm>
                <a:prstGeom prst="rect">
                  <a:avLst/>
                </a:prstGeom>
              </p:spPr>
            </p:pic>
          </p:grpSp>
        </p:grpSp>
        <p:sp>
          <p:nvSpPr>
            <p:cNvPr id="3155" name="Rectángulo 3154">
              <a:extLst>
                <a:ext uri="{FF2B5EF4-FFF2-40B4-BE49-F238E27FC236}">
                  <a16:creationId xmlns:a16="http://schemas.microsoft.com/office/drawing/2014/main" id="{A0A4D2DC-91A9-7441-FDB0-8B46F58416CA}"/>
                </a:ext>
              </a:extLst>
            </p:cNvPr>
            <p:cNvSpPr/>
            <p:nvPr/>
          </p:nvSpPr>
          <p:spPr>
            <a:xfrm>
              <a:off x="2739169" y="5090708"/>
              <a:ext cx="3011110" cy="48222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Proyección: Mayo 5000 </a:t>
              </a:r>
              <a:r>
                <a:rPr lang="es-MX" sz="14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mll</a:t>
              </a:r>
              <a:endParaRPr lang="es-PE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A5A814B-49DE-915B-220B-FE34DEBFBB3B}"/>
              </a:ext>
            </a:extLst>
          </p:cNvPr>
          <p:cNvSpPr txBox="1"/>
          <p:nvPr/>
        </p:nvSpPr>
        <p:spPr>
          <a:xfrm>
            <a:off x="-66543" y="5551148"/>
            <a:ext cx="2902052" cy="18774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La información se actualizará automáticamente cada vez que se registre la </a:t>
            </a:r>
            <a:r>
              <a:rPr lang="es-MX" sz="1450" b="1" dirty="0">
                <a:latin typeface="Poppins" panose="00000500000000000000" pitchFamily="2" charset="0"/>
                <a:cs typeface="Poppins" panose="00000500000000000000" pitchFamily="2" charset="0"/>
              </a:rPr>
              <a:t>“Programación Semanal”</a:t>
            </a:r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b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Además, el sistema deberá notificar al usuario mediante una alerta o notificación a su correo electrónico.</a:t>
            </a:r>
            <a:endParaRPr lang="es-PE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ABBEDC6-51D4-6CF7-11C7-981920894979}"/>
              </a:ext>
            </a:extLst>
          </p:cNvPr>
          <p:cNvSpPr/>
          <p:nvPr/>
        </p:nvSpPr>
        <p:spPr>
          <a:xfrm>
            <a:off x="3547316" y="5046579"/>
            <a:ext cx="3032597" cy="233587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8B9012D-628B-E3BB-2519-4FDBEA3CEFF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835509" y="6489867"/>
            <a:ext cx="627890" cy="10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DA0D7F72-3776-A8AA-CA6F-AB2609F50C41}"/>
              </a:ext>
            </a:extLst>
          </p:cNvPr>
          <p:cNvSpPr/>
          <p:nvPr/>
        </p:nvSpPr>
        <p:spPr>
          <a:xfrm>
            <a:off x="348449" y="338125"/>
            <a:ext cx="1033664" cy="7768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1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66A6E58-DD09-25B1-BF39-F68113EF7D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95042" y="2016082"/>
            <a:ext cx="1284972" cy="1211260"/>
          </a:xfrm>
          <a:prstGeom prst="rect">
            <a:avLst/>
          </a:prstGeom>
        </p:spPr>
      </p:pic>
      <p:sp>
        <p:nvSpPr>
          <p:cNvPr id="35" name="Elipse 34">
            <a:extLst>
              <a:ext uri="{FF2B5EF4-FFF2-40B4-BE49-F238E27FC236}">
                <a16:creationId xmlns:a16="http://schemas.microsoft.com/office/drawing/2014/main" id="{9C8D76FE-5604-4432-6357-FE2AD2AE1F8F}"/>
              </a:ext>
            </a:extLst>
          </p:cNvPr>
          <p:cNvSpPr/>
          <p:nvPr/>
        </p:nvSpPr>
        <p:spPr>
          <a:xfrm>
            <a:off x="6389421" y="4226102"/>
            <a:ext cx="387561" cy="35285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2AE55CB-B0E5-55DF-5E87-744FF81098CD}"/>
              </a:ext>
            </a:extLst>
          </p:cNvPr>
          <p:cNvSpPr txBox="1"/>
          <p:nvPr/>
        </p:nvSpPr>
        <p:spPr>
          <a:xfrm>
            <a:off x="4273782" y="9012322"/>
            <a:ext cx="229401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Icono de notificación indica que hay solicitud de crisopas por parte del usuario</a:t>
            </a:r>
            <a:endParaRPr lang="es-PE" sz="1400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BD1347A-5388-92F6-571D-872073DC39D1}"/>
              </a:ext>
            </a:extLst>
          </p:cNvPr>
          <p:cNvSpPr/>
          <p:nvPr/>
        </p:nvSpPr>
        <p:spPr>
          <a:xfrm>
            <a:off x="10536228" y="2287011"/>
            <a:ext cx="422683" cy="45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dirty="0"/>
              <a:t>+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E484D0C5-5A07-AEEF-5A7D-506ED28E0D9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7967" y="5602355"/>
            <a:ext cx="2995804" cy="1755054"/>
          </a:xfrm>
          <a:prstGeom prst="rect">
            <a:avLst/>
          </a:prstGeom>
        </p:spPr>
      </p:pic>
      <p:cxnSp>
        <p:nvCxnSpPr>
          <p:cNvPr id="3136" name="Conector: angular 3135">
            <a:extLst>
              <a:ext uri="{FF2B5EF4-FFF2-40B4-BE49-F238E27FC236}">
                <a16:creationId xmlns:a16="http://schemas.microsoft.com/office/drawing/2014/main" id="{5417B499-19B5-C2E2-FA04-0C6D2C6ECCD1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6567793" y="4507175"/>
            <a:ext cx="132645" cy="4874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D8B32F45-90CE-F368-BA4B-B27225853FD9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Lista desplegable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266" name="Grupo 3265">
            <a:extLst>
              <a:ext uri="{FF2B5EF4-FFF2-40B4-BE49-F238E27FC236}">
                <a16:creationId xmlns:a16="http://schemas.microsoft.com/office/drawing/2014/main" id="{B0C30725-6D64-57D7-9247-E6451076E687}"/>
              </a:ext>
            </a:extLst>
          </p:cNvPr>
          <p:cNvGrpSpPr/>
          <p:nvPr/>
        </p:nvGrpSpPr>
        <p:grpSpPr>
          <a:xfrm>
            <a:off x="4124501" y="7558141"/>
            <a:ext cx="2095644" cy="291934"/>
            <a:chOff x="10955573" y="4291145"/>
            <a:chExt cx="2095644" cy="287749"/>
          </a:xfrm>
        </p:grpSpPr>
        <p:sp>
          <p:nvSpPr>
            <p:cNvPr id="3267" name="Rectángulo 3266">
              <a:extLst>
                <a:ext uri="{FF2B5EF4-FFF2-40B4-BE49-F238E27FC236}">
                  <a16:creationId xmlns:a16="http://schemas.microsoft.com/office/drawing/2014/main" id="{32A97645-428D-F382-4736-18285A015B2C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3268" name="Rectángulo 3267">
              <a:extLst>
                <a:ext uri="{FF2B5EF4-FFF2-40B4-BE49-F238E27FC236}">
                  <a16:creationId xmlns:a16="http://schemas.microsoft.com/office/drawing/2014/main" id="{800575DF-F24E-C96B-ED6B-DCC5B79DD0C1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3294" name="CuadroTexto 3293">
            <a:extLst>
              <a:ext uri="{FF2B5EF4-FFF2-40B4-BE49-F238E27FC236}">
                <a16:creationId xmlns:a16="http://schemas.microsoft.com/office/drawing/2014/main" id="{B0A2EE68-3CD0-14A5-359C-76872410807B}"/>
              </a:ext>
            </a:extLst>
          </p:cNvPr>
          <p:cNvSpPr txBox="1"/>
          <p:nvPr/>
        </p:nvSpPr>
        <p:spPr>
          <a:xfrm>
            <a:off x="1847126" y="9120044"/>
            <a:ext cx="229401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Es el termómetro de consumo mensual, medirá la disponibilidad de </a:t>
            </a:r>
            <a:r>
              <a:rPr lang="es-MX" sz="1400" dirty="0" err="1"/>
              <a:t>Chrisopas</a:t>
            </a:r>
            <a:endParaRPr lang="es-PE" sz="1400" dirty="0"/>
          </a:p>
        </p:txBody>
      </p:sp>
      <p:cxnSp>
        <p:nvCxnSpPr>
          <p:cNvPr id="3296" name="Conector recto de flecha 3295">
            <a:extLst>
              <a:ext uri="{FF2B5EF4-FFF2-40B4-BE49-F238E27FC236}">
                <a16:creationId xmlns:a16="http://schemas.microsoft.com/office/drawing/2014/main" id="{7F088410-CC48-8A81-A549-66C4187551DB}"/>
              </a:ext>
            </a:extLst>
          </p:cNvPr>
          <p:cNvCxnSpPr>
            <a:cxnSpLocks/>
            <a:stCxn id="3294" idx="0"/>
          </p:cNvCxnSpPr>
          <p:nvPr/>
        </p:nvCxnSpPr>
        <p:spPr>
          <a:xfrm flipV="1">
            <a:off x="2994132" y="7850747"/>
            <a:ext cx="1432463" cy="1269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307" name="Imagen 3306">
            <a:extLst>
              <a:ext uri="{FF2B5EF4-FFF2-40B4-BE49-F238E27FC236}">
                <a16:creationId xmlns:a16="http://schemas.microsoft.com/office/drawing/2014/main" id="{82E528E8-A598-2402-FB80-58462BA974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30474" y="2491418"/>
            <a:ext cx="2049540" cy="53678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2A3F245-9AD0-B332-DF1A-2BDB9F98BAEF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Lisa desplegable</a:t>
            </a:r>
            <a:endParaRPr lang="es-PE" sz="14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1CE7123-9074-5690-4250-EAEDA5A3A2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95042" y="2016082"/>
            <a:ext cx="1284972" cy="121126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1C582CF-96CA-5A3F-4865-7A90705CD8B1}"/>
              </a:ext>
            </a:extLst>
          </p:cNvPr>
          <p:cNvSpPr txBox="1"/>
          <p:nvPr/>
        </p:nvSpPr>
        <p:spPr>
          <a:xfrm>
            <a:off x="16238398" y="914687"/>
            <a:ext cx="1772088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 ingresar el mes, deben mostrarse automáticamente los números de semana correspondientes.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17D314D-402F-C9CD-AE6C-89313F72D2D7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Lista desplegable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68B5E88-A4E0-355D-6E8B-AA0029B0E659}"/>
              </a:ext>
            </a:extLst>
          </p:cNvPr>
          <p:cNvSpPr txBox="1"/>
          <p:nvPr/>
        </p:nvSpPr>
        <p:spPr>
          <a:xfrm>
            <a:off x="16268149" y="3304379"/>
            <a:ext cx="1911865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</a:t>
            </a:r>
            <a:r>
              <a:rPr kumimoji="0" lang="es-MX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Proy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Inicial”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debe de estar registrado en el in 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house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-En la 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</a:t>
            </a:r>
            <a:r>
              <a:rPr kumimoji="0" lang="es-MX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Proy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Final”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debe permitir ingresar las cantidades todos los lunes y jueves de cada semana, con hora límite hasta las 23:59 del mismo </a:t>
            </a:r>
            <a:r>
              <a:rPr lang="es-MX" sz="1400" dirty="0">
                <a:solidFill>
                  <a:prstClr val="black"/>
                </a:solidFill>
                <a:latin typeface="Calibri"/>
              </a:rPr>
              <a:t>día. 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95419ED2-AD52-D3E6-33FB-BA4D8B6B9740}"/>
              </a:ext>
            </a:extLst>
          </p:cNvPr>
          <p:cNvGrpSpPr/>
          <p:nvPr/>
        </p:nvGrpSpPr>
        <p:grpSpPr>
          <a:xfrm>
            <a:off x="12233401" y="1576407"/>
            <a:ext cx="4034748" cy="7061154"/>
            <a:chOff x="12233401" y="1576407"/>
            <a:chExt cx="4034748" cy="7061154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4E866CA0-F73C-1B47-0DD2-2E5C3C5A4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9281" y="1576407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46ED85E6-9964-BFB7-1AAD-033DA65AE8A7}"/>
                </a:ext>
              </a:extLst>
            </p:cNvPr>
            <p:cNvSpPr/>
            <p:nvPr/>
          </p:nvSpPr>
          <p:spPr>
            <a:xfrm>
              <a:off x="12276990" y="1808740"/>
              <a:ext cx="3810000" cy="471451"/>
            </a:xfrm>
            <a:prstGeom prst="rect">
              <a:avLst/>
            </a:prstGeom>
            <a:solidFill>
              <a:srgbClr val="1F497D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B08ABEF5-2BBE-B7A1-735A-EBC5BB8D2C04}"/>
                </a:ext>
              </a:extLst>
            </p:cNvPr>
            <p:cNvSpPr/>
            <p:nvPr/>
          </p:nvSpPr>
          <p:spPr>
            <a:xfrm>
              <a:off x="12366012" y="1868328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400" b="0" i="0" u="none" strike="noStrike" kern="1200" cap="none" spc="0" normalizeH="0" baseline="0" noProof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badi Extra Light" panose="020B0604020202020204" pitchFamily="34" charset="0"/>
                  <a:ea typeface="+mn-ea"/>
                  <a:cs typeface="+mn-cs"/>
                </a:rPr>
                <a:t>AGROI+D</a:t>
              </a:r>
              <a:endParaRPr kumimoji="0" lang="es-PE" sz="2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badi Extra Light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7708A8FE-BC31-DD90-B70C-AE075D7DDF8C}"/>
                </a:ext>
              </a:extLst>
            </p:cNvPr>
            <p:cNvSpPr/>
            <p:nvPr/>
          </p:nvSpPr>
          <p:spPr>
            <a:xfrm>
              <a:off x="12442092" y="2549315"/>
              <a:ext cx="3474972" cy="360799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1D124DF-46A5-12E5-8CA8-7C88C6B955C6}"/>
                </a:ext>
              </a:extLst>
            </p:cNvPr>
            <p:cNvSpPr txBox="1"/>
            <p:nvPr/>
          </p:nvSpPr>
          <p:spPr>
            <a:xfrm>
              <a:off x="12288642" y="3019451"/>
              <a:ext cx="32658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PLANIFICACION MENSUAL:</a:t>
              </a:r>
              <a:endPara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FA03290-95F6-640B-47A8-BFC3FDCF428A}"/>
                </a:ext>
              </a:extLst>
            </p:cNvPr>
            <p:cNvSpPr txBox="1"/>
            <p:nvPr/>
          </p:nvSpPr>
          <p:spPr>
            <a:xfrm>
              <a:off x="12309597" y="2275009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*MES:</a:t>
              </a:r>
              <a:endParaRPr kumimoji="0" lang="es-P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FAF0EE54-F36D-396D-8340-03679801C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270777" y="2296345"/>
              <a:ext cx="1303863" cy="295316"/>
            </a:xfrm>
            <a:prstGeom prst="rect">
              <a:avLst/>
            </a:prstGeom>
          </p:spPr>
        </p:pic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C4C82D84-5D72-3BDD-2ABD-1EBB184EB2EA}"/>
                </a:ext>
              </a:extLst>
            </p:cNvPr>
            <p:cNvSpPr txBox="1"/>
            <p:nvPr/>
          </p:nvSpPr>
          <p:spPr>
            <a:xfrm>
              <a:off x="13270779" y="2306976"/>
              <a:ext cx="63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1200" dirty="0">
                  <a:solidFill>
                    <a:prstClr val="black"/>
                  </a:solidFill>
                  <a:latin typeface="Calibri"/>
                </a:rPr>
                <a:t>Mayo</a:t>
              </a:r>
              <a:endPara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FDECFE5-7A6B-F39A-90F7-8A98008A1A6C}"/>
                </a:ext>
              </a:extLst>
            </p:cNvPr>
            <p:cNvSpPr/>
            <p:nvPr/>
          </p:nvSpPr>
          <p:spPr>
            <a:xfrm>
              <a:off x="14510538" y="6291651"/>
              <a:ext cx="1397112" cy="41770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Enviar Stock</a:t>
              </a:r>
            </a:p>
          </p:txBody>
        </p:sp>
        <p:pic>
          <p:nvPicPr>
            <p:cNvPr id="43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C662A73F-390B-A839-D836-2D718593C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96465" y="1858030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0BF86ECF-8BD5-F348-D233-F53562BB94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14990547" y="6871881"/>
              <a:ext cx="407047" cy="556704"/>
            </a:xfrm>
            <a:prstGeom prst="rect">
              <a:avLst/>
            </a:prstGeom>
          </p:spPr>
        </p:pic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38AE216B-0A05-0733-03E4-21AD1A423107}"/>
                </a:ext>
              </a:extLst>
            </p:cNvPr>
            <p:cNvSpPr txBox="1"/>
            <p:nvPr/>
          </p:nvSpPr>
          <p:spPr>
            <a:xfrm>
              <a:off x="12296900" y="2619174"/>
              <a:ext cx="10065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*ESPECIE:</a:t>
              </a:r>
              <a:endParaRPr kumimoji="0" lang="es-P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509252C4-99ED-F9D8-EE17-4D0574512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264485" y="2608949"/>
              <a:ext cx="1324774" cy="319763"/>
            </a:xfrm>
            <a:prstGeom prst="rect">
              <a:avLst/>
            </a:prstGeom>
          </p:spPr>
        </p:pic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9D5BE65D-AE15-31B5-9140-2DB1B552A0C4}"/>
                </a:ext>
              </a:extLst>
            </p:cNvPr>
            <p:cNvSpPr txBox="1"/>
            <p:nvPr/>
          </p:nvSpPr>
          <p:spPr>
            <a:xfrm>
              <a:off x="13259758" y="2637150"/>
              <a:ext cx="9538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CHRYSOPAS</a:t>
              </a:r>
              <a:endPara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6A160E0-7B77-223C-AB38-C26569093C09}"/>
                </a:ext>
              </a:extLst>
            </p:cNvPr>
            <p:cNvSpPr/>
            <p:nvPr/>
          </p:nvSpPr>
          <p:spPr>
            <a:xfrm>
              <a:off x="14350868" y="2639925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199A0058-E53C-9F0C-EFF3-44FDED9A5853}"/>
                </a:ext>
              </a:extLst>
            </p:cNvPr>
            <p:cNvSpPr/>
            <p:nvPr/>
          </p:nvSpPr>
          <p:spPr>
            <a:xfrm>
              <a:off x="12233401" y="2966459"/>
              <a:ext cx="3881297" cy="56238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504AE1A3-DA99-CB07-9292-2A40AABCB9E3}"/>
                </a:ext>
              </a:extLst>
            </p:cNvPr>
            <p:cNvSpPr/>
            <p:nvPr/>
          </p:nvSpPr>
          <p:spPr>
            <a:xfrm>
              <a:off x="12241237" y="5556908"/>
              <a:ext cx="3881297" cy="56238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DB7C185F-CC66-E6DD-C150-B2CE2D3D15DA}"/>
                </a:ext>
              </a:extLst>
            </p:cNvPr>
            <p:cNvSpPr/>
            <p:nvPr/>
          </p:nvSpPr>
          <p:spPr>
            <a:xfrm>
              <a:off x="14347009" y="2305720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31F606DE-83B4-23F7-68F5-A1767160D7CE}"/>
                </a:ext>
              </a:extLst>
            </p:cNvPr>
            <p:cNvSpPr/>
            <p:nvPr/>
          </p:nvSpPr>
          <p:spPr>
            <a:xfrm>
              <a:off x="12403867" y="2296442"/>
              <a:ext cx="2236191" cy="29409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919D87E3-B21A-0A81-E566-12CD295351F4}"/>
                </a:ext>
              </a:extLst>
            </p:cNvPr>
            <p:cNvSpPr/>
            <p:nvPr/>
          </p:nvSpPr>
          <p:spPr>
            <a:xfrm>
              <a:off x="12387490" y="2601228"/>
              <a:ext cx="2265514" cy="33984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0F0D93CB-E4E2-06B7-066B-E34BBD703023}"/>
                </a:ext>
              </a:extLst>
            </p:cNvPr>
            <p:cNvCxnSpPr>
              <a:cxnSpLocks/>
              <a:stCxn id="20" idx="1"/>
              <a:endCxn id="56" idx="3"/>
            </p:cNvCxnSpPr>
            <p:nvPr/>
          </p:nvCxnSpPr>
          <p:spPr>
            <a:xfrm flipH="1">
              <a:off x="14653004" y="2763089"/>
              <a:ext cx="1615145" cy="80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52" name="Conector: angular 3151">
              <a:extLst>
                <a:ext uri="{FF2B5EF4-FFF2-40B4-BE49-F238E27FC236}">
                  <a16:creationId xmlns:a16="http://schemas.microsoft.com/office/drawing/2014/main" id="{58EAF9F8-D625-A851-FC94-E22F518947DC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rot="10800000" flipH="1" flipV="1">
              <a:off x="12403866" y="2443487"/>
              <a:ext cx="123339" cy="1904935"/>
            </a:xfrm>
            <a:prstGeom prst="bentConnector3">
              <a:avLst>
                <a:gd name="adj1" fmla="val -77226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164" name="Cerrar llave 3163">
              <a:extLst>
                <a:ext uri="{FF2B5EF4-FFF2-40B4-BE49-F238E27FC236}">
                  <a16:creationId xmlns:a16="http://schemas.microsoft.com/office/drawing/2014/main" id="{7104AFA7-B4E0-4195-27F7-1278DE96E6B0}"/>
                </a:ext>
              </a:extLst>
            </p:cNvPr>
            <p:cNvSpPr/>
            <p:nvPr/>
          </p:nvSpPr>
          <p:spPr>
            <a:xfrm>
              <a:off x="15533574" y="3282222"/>
              <a:ext cx="573596" cy="2008959"/>
            </a:xfrm>
            <a:prstGeom prst="rightBrace">
              <a:avLst>
                <a:gd name="adj1" fmla="val 8333"/>
                <a:gd name="adj2" fmla="val 50632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3165" name="Conector: angular 3164">
            <a:extLst>
              <a:ext uri="{FF2B5EF4-FFF2-40B4-BE49-F238E27FC236}">
                <a16:creationId xmlns:a16="http://schemas.microsoft.com/office/drawing/2014/main" id="{EC2FBD18-E9B0-10CE-CC56-AAD0F3A95E9D}"/>
              </a:ext>
            </a:extLst>
          </p:cNvPr>
          <p:cNvCxnSpPr>
            <a:cxnSpLocks/>
            <a:stCxn id="19" idx="2"/>
            <a:endCxn id="55" idx="3"/>
          </p:cNvCxnSpPr>
          <p:nvPr/>
        </p:nvCxnSpPr>
        <p:spPr>
          <a:xfrm rot="5400000">
            <a:off x="15702625" y="1021671"/>
            <a:ext cx="359250" cy="2484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166" name="Imagen 3165">
            <a:extLst>
              <a:ext uri="{FF2B5EF4-FFF2-40B4-BE49-F238E27FC236}">
                <a16:creationId xmlns:a16="http://schemas.microsoft.com/office/drawing/2014/main" id="{8D09D728-550B-C200-4A1A-C57860EB2C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50470" y="3486900"/>
            <a:ext cx="2995804" cy="1755054"/>
          </a:xfrm>
          <a:prstGeom prst="rect">
            <a:avLst/>
          </a:prstGeom>
        </p:spPr>
      </p:pic>
      <p:sp>
        <p:nvSpPr>
          <p:cNvPr id="3167" name="Rectángulo 3166">
            <a:extLst>
              <a:ext uri="{FF2B5EF4-FFF2-40B4-BE49-F238E27FC236}">
                <a16:creationId xmlns:a16="http://schemas.microsoft.com/office/drawing/2014/main" id="{3AEA70CD-ABD7-FC9D-DE56-2800CDB9B0E4}"/>
              </a:ext>
            </a:extLst>
          </p:cNvPr>
          <p:cNvSpPr/>
          <p:nvPr/>
        </p:nvSpPr>
        <p:spPr>
          <a:xfrm>
            <a:off x="12522464" y="3296400"/>
            <a:ext cx="3011110" cy="2382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 final</a:t>
            </a:r>
            <a:endParaRPr lang="es-PE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172" name="Conector recto de flecha 3171">
            <a:extLst>
              <a:ext uri="{FF2B5EF4-FFF2-40B4-BE49-F238E27FC236}">
                <a16:creationId xmlns:a16="http://schemas.microsoft.com/office/drawing/2014/main" id="{B77AF5EA-340C-9033-1C92-AB4A13BF98DE}"/>
              </a:ext>
            </a:extLst>
          </p:cNvPr>
          <p:cNvCxnSpPr>
            <a:cxnSpLocks/>
          </p:cNvCxnSpPr>
          <p:nvPr/>
        </p:nvCxnSpPr>
        <p:spPr>
          <a:xfrm flipH="1" flipV="1">
            <a:off x="15194071" y="5216554"/>
            <a:ext cx="15023" cy="104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74" name="CuadroTexto 3173">
            <a:extLst>
              <a:ext uri="{FF2B5EF4-FFF2-40B4-BE49-F238E27FC236}">
                <a16:creationId xmlns:a16="http://schemas.microsoft.com/office/drawing/2014/main" id="{DD795FDF-349A-2169-D965-FC33C0A7AF8B}"/>
              </a:ext>
            </a:extLst>
          </p:cNvPr>
          <p:cNvSpPr txBox="1"/>
          <p:nvPr/>
        </p:nvSpPr>
        <p:spPr>
          <a:xfrm>
            <a:off x="16294600" y="5903028"/>
            <a:ext cx="177208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vez enviado la proyección final debe de llegar una notificación al usuario sanidad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autobot-watsap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75" name="Conector recto de flecha 3174">
            <a:extLst>
              <a:ext uri="{FF2B5EF4-FFF2-40B4-BE49-F238E27FC236}">
                <a16:creationId xmlns:a16="http://schemas.microsoft.com/office/drawing/2014/main" id="{BBF9AEB9-7525-3235-2BA3-C1E9BC70D6BA}"/>
              </a:ext>
            </a:extLst>
          </p:cNvPr>
          <p:cNvCxnSpPr>
            <a:cxnSpLocks/>
            <a:stCxn id="3174" idx="1"/>
            <a:endCxn id="42" idx="3"/>
          </p:cNvCxnSpPr>
          <p:nvPr/>
        </p:nvCxnSpPr>
        <p:spPr>
          <a:xfrm flipH="1" flipV="1">
            <a:off x="15907650" y="6500503"/>
            <a:ext cx="386950" cy="95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27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4B2F5193-93CC-9BB6-43B9-9BED81B36B1C}"/>
              </a:ext>
            </a:extLst>
          </p:cNvPr>
          <p:cNvCxnSpPr>
            <a:endCxn id="232" idx="2"/>
          </p:cNvCxnSpPr>
          <p:nvPr/>
        </p:nvCxnSpPr>
        <p:spPr>
          <a:xfrm flipV="1">
            <a:off x="9376757" y="6088920"/>
            <a:ext cx="2885" cy="379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58" name="Grupo 257">
            <a:extLst>
              <a:ext uri="{FF2B5EF4-FFF2-40B4-BE49-F238E27FC236}">
                <a16:creationId xmlns:a16="http://schemas.microsoft.com/office/drawing/2014/main" id="{7BB03ACB-A143-2B2B-727E-31BF4F863C90}"/>
              </a:ext>
            </a:extLst>
          </p:cNvPr>
          <p:cNvGrpSpPr/>
          <p:nvPr/>
        </p:nvGrpSpPr>
        <p:grpSpPr>
          <a:xfrm>
            <a:off x="5998059" y="1670075"/>
            <a:ext cx="12180683" cy="7061154"/>
            <a:chOff x="6126651" y="1612923"/>
            <a:chExt cx="12180683" cy="706115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A10D4B6-45DC-6EF8-EC5E-036523F90087}"/>
                </a:ext>
              </a:extLst>
            </p:cNvPr>
            <p:cNvGrpSpPr/>
            <p:nvPr/>
          </p:nvGrpSpPr>
          <p:grpSpPr>
            <a:xfrm>
              <a:off x="6126651" y="1612923"/>
              <a:ext cx="12180683" cy="7061154"/>
              <a:chOff x="7067979" y="1458674"/>
              <a:chExt cx="12180683" cy="7061154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A6A4E93F-2DE2-632D-A52A-FEDF0DDAD0FE}"/>
                  </a:ext>
                </a:extLst>
              </p:cNvPr>
              <p:cNvGrpSpPr/>
              <p:nvPr/>
            </p:nvGrpSpPr>
            <p:grpSpPr>
              <a:xfrm>
                <a:off x="7067979" y="1458674"/>
                <a:ext cx="3865418" cy="7061154"/>
                <a:chOff x="7322128" y="1054648"/>
                <a:chExt cx="3865418" cy="7061154"/>
              </a:xfrm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4262F1F4-C24D-B629-0F99-D036EC845CE6}"/>
                    </a:ext>
                  </a:extLst>
                </p:cNvPr>
                <p:cNvGrpSpPr/>
                <p:nvPr/>
              </p:nvGrpSpPr>
              <p:grpSpPr>
                <a:xfrm>
                  <a:off x="7322128" y="1054648"/>
                  <a:ext cx="3865418" cy="7061154"/>
                  <a:chOff x="8833428" y="1270548"/>
                  <a:chExt cx="3865418" cy="7061154"/>
                </a:xfrm>
              </p:grpSpPr>
              <p:pic>
                <p:nvPicPr>
                  <p:cNvPr id="32" name="Imagen 31">
                    <a:extLst>
                      <a:ext uri="{FF2B5EF4-FFF2-40B4-BE49-F238E27FC236}">
                        <a16:creationId xmlns:a16="http://schemas.microsoft.com/office/drawing/2014/main" id="{35787C05-333E-6127-BC51-D63BDA8695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833428" y="1270548"/>
                    <a:ext cx="3865418" cy="7061154"/>
                  </a:xfrm>
                  <a:prstGeom prst="rect">
                    <a:avLst/>
                  </a:prstGeom>
                  <a:ln w="38100" cap="sq">
                    <a:solidFill>
                      <a:srgbClr val="000000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8CB3BD4B-CA7E-4F32-DE3E-BA9332A697AB}"/>
                      </a:ext>
                    </a:extLst>
                  </p:cNvPr>
                  <p:cNvSpPr/>
                  <p:nvPr/>
                </p:nvSpPr>
                <p:spPr>
                  <a:xfrm>
                    <a:off x="8861137" y="1502881"/>
                    <a:ext cx="3810000" cy="471451"/>
                  </a:xfrm>
                  <a:prstGeom prst="rect">
                    <a:avLst/>
                  </a:prstGeom>
                  <a:solidFill>
                    <a:srgbClr val="1F497D"/>
                  </a:solidFill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C4025758-C526-C7A8-B01D-297CF20D1DCB}"/>
                      </a:ext>
                    </a:extLst>
                  </p:cNvPr>
                  <p:cNvSpPr/>
                  <p:nvPr/>
                </p:nvSpPr>
                <p:spPr>
                  <a:xfrm>
                    <a:off x="8950159" y="1562469"/>
                    <a:ext cx="1434667" cy="3522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240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rPr>
                      <a:t>AGROI+D</a:t>
                    </a:r>
                    <a:endParaRPr lang="es-PE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endParaRPr>
                  </a:p>
                </p:txBody>
              </p:sp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7AFA28C6-1DFE-340F-B433-87593904D71D}"/>
                      </a:ext>
                    </a:extLst>
                  </p:cNvPr>
                  <p:cNvSpPr/>
                  <p:nvPr/>
                </p:nvSpPr>
                <p:spPr>
                  <a:xfrm>
                    <a:off x="9029337" y="2184034"/>
                    <a:ext cx="3474972" cy="36079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</p:grpSp>
            <p:pic>
              <p:nvPicPr>
                <p:cNvPr id="31" name="Imagen 30">
                  <a:extLst>
                    <a:ext uri="{FF2B5EF4-FFF2-40B4-BE49-F238E27FC236}">
                      <a16:creationId xmlns:a16="http://schemas.microsoft.com/office/drawing/2014/main" id="{4ADC27B8-E61F-7C30-EAE6-F62251383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38859" y="2304884"/>
                  <a:ext cx="3474972" cy="1077218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A2AF5C68-8CE3-1DA6-3802-9AA0C26F5D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9972" y="1738760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F233BE-2C08-7BD9-A8DE-8FE149BEEE2D}"/>
                  </a:ext>
                </a:extLst>
              </p:cNvPr>
              <p:cNvSpPr txBox="1"/>
              <p:nvPr/>
            </p:nvSpPr>
            <p:spPr>
              <a:xfrm>
                <a:off x="7421283" y="2783285"/>
                <a:ext cx="28325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 de Solicitud: 08/07/2025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PENDIENTE</a:t>
                </a:r>
              </a:p>
            </p:txBody>
          </p:sp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A60317E9-5984-AB23-FDBF-5F9EB7901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53807" y="3315212"/>
                <a:ext cx="378733" cy="379688"/>
              </a:xfrm>
              <a:prstGeom prst="rect">
                <a:avLst/>
              </a:prstGeom>
            </p:spPr>
          </p:pic>
          <p:pic>
            <p:nvPicPr>
              <p:cNvPr id="144" name="Imagen 143">
                <a:extLst>
                  <a:ext uri="{FF2B5EF4-FFF2-40B4-BE49-F238E27FC236}">
                    <a16:creationId xmlns:a16="http://schemas.microsoft.com/office/drawing/2014/main" id="{0E78548B-28AA-74ED-84AE-98C9ACB4D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3344" y="3800989"/>
                <a:ext cx="3474972" cy="1077218"/>
              </a:xfrm>
              <a:prstGeom prst="rect">
                <a:avLst/>
              </a:prstGeom>
            </p:spPr>
          </p:pic>
          <p:pic>
            <p:nvPicPr>
              <p:cNvPr id="146" name="Imagen 145">
                <a:extLst>
                  <a:ext uri="{FF2B5EF4-FFF2-40B4-BE49-F238E27FC236}">
                    <a16:creationId xmlns:a16="http://schemas.microsoft.com/office/drawing/2014/main" id="{8E3820CB-2FCE-EDA7-DA4A-9259C00D4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42441" y="4342417"/>
                <a:ext cx="378733" cy="379688"/>
              </a:xfrm>
              <a:prstGeom prst="rect">
                <a:avLst/>
              </a:prstGeom>
            </p:spPr>
          </p:pic>
          <p:sp>
            <p:nvSpPr>
              <p:cNvPr id="162" name="CuadroTexto 161">
                <a:extLst>
                  <a:ext uri="{FF2B5EF4-FFF2-40B4-BE49-F238E27FC236}">
                    <a16:creationId xmlns:a16="http://schemas.microsoft.com/office/drawing/2014/main" id="{F0649BE9-040E-6D1D-71A5-CC855CFFB0B5}"/>
                  </a:ext>
                </a:extLst>
              </p:cNvPr>
              <p:cNvSpPr txBox="1"/>
              <p:nvPr/>
            </p:nvSpPr>
            <p:spPr>
              <a:xfrm>
                <a:off x="7361863" y="3833837"/>
                <a:ext cx="278493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/>
                  <a:t>Fecha de Solicitud:01/07/2025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APROBADO</a:t>
                </a:r>
              </a:p>
            </p:txBody>
          </p:sp>
          <p:sp>
            <p:nvSpPr>
              <p:cNvPr id="176" name="CuadroTexto 175">
                <a:extLst>
                  <a:ext uri="{FF2B5EF4-FFF2-40B4-BE49-F238E27FC236}">
                    <a16:creationId xmlns:a16="http://schemas.microsoft.com/office/drawing/2014/main" id="{F545DDF1-3B63-DE08-9D4D-57232A7FE754}"/>
                  </a:ext>
                </a:extLst>
              </p:cNvPr>
              <p:cNvSpPr txBox="1"/>
              <p:nvPr/>
            </p:nvSpPr>
            <p:spPr>
              <a:xfrm>
                <a:off x="7157063" y="2220116"/>
                <a:ext cx="1167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FECHA:</a:t>
                </a:r>
                <a:endParaRPr lang="es-PE" sz="1600" b="1"/>
              </a:p>
            </p:txBody>
          </p:sp>
          <p:sp>
            <p:nvSpPr>
              <p:cNvPr id="204" name="Rectángulo: esquinas redondeadas 203">
                <a:extLst>
                  <a:ext uri="{FF2B5EF4-FFF2-40B4-BE49-F238E27FC236}">
                    <a16:creationId xmlns:a16="http://schemas.microsoft.com/office/drawing/2014/main" id="{93B10260-29BA-0EB9-AC51-99F911BF2096}"/>
                  </a:ext>
                </a:extLst>
              </p:cNvPr>
              <p:cNvSpPr/>
              <p:nvPr/>
            </p:nvSpPr>
            <p:spPr>
              <a:xfrm>
                <a:off x="7254542" y="2756492"/>
                <a:ext cx="3380312" cy="1019384"/>
              </a:xfrm>
              <a:prstGeom prst="roundRect">
                <a:avLst/>
              </a:prstGeom>
              <a:solidFill>
                <a:srgbClr val="FFFF69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674F005D-3098-9217-F407-02392AC8BE99}"/>
                  </a:ext>
                </a:extLst>
              </p:cNvPr>
              <p:cNvSpPr txBox="1"/>
              <p:nvPr/>
            </p:nvSpPr>
            <p:spPr>
              <a:xfrm>
                <a:off x="11177115" y="2465008"/>
                <a:ext cx="2206941" cy="310854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400" dirty="0"/>
                  <a:t>Cada vez que se genere una nueva solicitud se debe poner en automático el estado en </a:t>
                </a:r>
                <a:r>
                  <a:rPr lang="es-MX" sz="1400" b="1" dirty="0"/>
                  <a:t>Pendiente</a:t>
                </a:r>
                <a:r>
                  <a:rPr lang="es-MX" sz="1400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sz="1400" dirty="0"/>
                  <a:t>Este debe mostrarse en color </a:t>
                </a:r>
                <a:r>
                  <a:rPr lang="es-MX" sz="1400" b="1" dirty="0"/>
                  <a:t>Amarillo</a:t>
                </a:r>
                <a:r>
                  <a:rPr lang="es-MX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sz="1400" dirty="0"/>
                  <a:t>Si al editar la solicitud se selecciona la opción </a:t>
                </a:r>
                <a:r>
                  <a:rPr lang="es-MX" sz="1400" b="1" dirty="0"/>
                  <a:t>"Aprobado"</a:t>
                </a:r>
                <a:r>
                  <a:rPr lang="es-MX" sz="1400" dirty="0"/>
                  <a:t>, el color debe cambiar a </a:t>
                </a:r>
                <a:r>
                  <a:rPr lang="es-MX" sz="1400" b="1" dirty="0"/>
                  <a:t>verde</a:t>
                </a:r>
                <a:r>
                  <a:rPr lang="es-MX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sz="1400" dirty="0"/>
                  <a:t>Cuando la solicitud se marque como </a:t>
                </a:r>
                <a:r>
                  <a:rPr lang="es-MX" sz="1400" b="1" dirty="0"/>
                  <a:t>“Entregado"</a:t>
                </a:r>
                <a:r>
                  <a:rPr lang="es-MX" sz="1400" dirty="0"/>
                  <a:t>, ya no debe tener </a:t>
                </a:r>
                <a:r>
                  <a:rPr lang="es-MX" sz="1400" b="1" dirty="0"/>
                  <a:t>ningún color.</a:t>
                </a:r>
              </a:p>
            </p:txBody>
          </p:sp>
          <p:pic>
            <p:nvPicPr>
              <p:cNvPr id="231" name="Imagen 230">
                <a:extLst>
                  <a:ext uri="{FF2B5EF4-FFF2-40B4-BE49-F238E27FC236}">
                    <a16:creationId xmlns:a16="http://schemas.microsoft.com/office/drawing/2014/main" id="{8E35F4EA-3D75-C5A2-337F-160BDAECA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6973" y="4943702"/>
                <a:ext cx="3474972" cy="1218297"/>
              </a:xfrm>
              <a:prstGeom prst="rect">
                <a:avLst/>
              </a:prstGeom>
            </p:spPr>
          </p:pic>
          <p:sp>
            <p:nvSpPr>
              <p:cNvPr id="228" name="Rectángulo: esquinas redondeadas 227">
                <a:extLst>
                  <a:ext uri="{FF2B5EF4-FFF2-40B4-BE49-F238E27FC236}">
                    <a16:creationId xmlns:a16="http://schemas.microsoft.com/office/drawing/2014/main" id="{BEC7F30E-4800-20B7-1BAB-7CBB0CDCD7B3}"/>
                  </a:ext>
                </a:extLst>
              </p:cNvPr>
              <p:cNvSpPr/>
              <p:nvPr/>
            </p:nvSpPr>
            <p:spPr>
              <a:xfrm>
                <a:off x="7230377" y="3843848"/>
                <a:ext cx="3419255" cy="979942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232" name="Imagen 231">
                <a:extLst>
                  <a:ext uri="{FF2B5EF4-FFF2-40B4-BE49-F238E27FC236}">
                    <a16:creationId xmlns:a16="http://schemas.microsoft.com/office/drawing/2014/main" id="{8A43EF63-7CD3-8F88-0CE8-65CE361F5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60195" y="5497831"/>
                <a:ext cx="378733" cy="379688"/>
              </a:xfrm>
              <a:prstGeom prst="rect">
                <a:avLst/>
              </a:prstGeom>
            </p:spPr>
          </p:pic>
          <p:sp>
            <p:nvSpPr>
              <p:cNvPr id="233" name="CuadroTexto 232">
                <a:extLst>
                  <a:ext uri="{FF2B5EF4-FFF2-40B4-BE49-F238E27FC236}">
                    <a16:creationId xmlns:a16="http://schemas.microsoft.com/office/drawing/2014/main" id="{6DBBCCA3-5AD3-3A15-6D99-6C6630D5A96D}"/>
                  </a:ext>
                </a:extLst>
              </p:cNvPr>
              <p:cNvSpPr txBox="1"/>
              <p:nvPr/>
            </p:nvSpPr>
            <p:spPr>
              <a:xfrm>
                <a:off x="7408192" y="4989251"/>
                <a:ext cx="278493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 dirty="0"/>
                  <a:t>Fecha de Solicitud:01/07/2025</a:t>
                </a:r>
              </a:p>
              <a:p>
                <a:r>
                  <a:rPr lang="es-MX" sz="1600" b="1" dirty="0"/>
                  <a:t>Especie: </a:t>
                </a:r>
                <a:r>
                  <a:rPr lang="es-MX" sz="1600" b="1" dirty="0" err="1"/>
                  <a:t>Chrysopas</a:t>
                </a:r>
                <a:endParaRPr lang="es-MX" sz="1600" b="1" dirty="0"/>
              </a:p>
              <a:p>
                <a:r>
                  <a:rPr lang="es-MX" sz="1600" b="1" dirty="0"/>
                  <a:t>Estado: ENTREGADO</a:t>
                </a:r>
              </a:p>
              <a:p>
                <a:r>
                  <a:rPr lang="es-MX" sz="1600" b="1" dirty="0"/>
                  <a:t>RECIBIDO</a:t>
                </a:r>
              </a:p>
            </p:txBody>
          </p:sp>
          <p:sp>
            <p:nvSpPr>
              <p:cNvPr id="174" name="Rectángulo 173">
                <a:extLst>
                  <a:ext uri="{FF2B5EF4-FFF2-40B4-BE49-F238E27FC236}">
                    <a16:creationId xmlns:a16="http://schemas.microsoft.com/office/drawing/2014/main" id="{98929ACB-9951-FC28-9658-533F22DCE482}"/>
                  </a:ext>
                </a:extLst>
              </p:cNvPr>
              <p:cNvSpPr/>
              <p:nvPr/>
            </p:nvSpPr>
            <p:spPr>
              <a:xfrm>
                <a:off x="7252522" y="2692365"/>
                <a:ext cx="3416276" cy="3442842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79B6771E-F068-3E2D-C73E-E8F66B7A0572}"/>
                  </a:ext>
                </a:extLst>
              </p:cNvPr>
              <p:cNvSpPr/>
              <p:nvPr/>
            </p:nvSpPr>
            <p:spPr>
              <a:xfrm>
                <a:off x="10241338" y="5508532"/>
                <a:ext cx="378733" cy="379688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cxnSp>
            <p:nvCxnSpPr>
              <p:cNvPr id="237" name="Conector recto de flecha 236">
                <a:extLst>
                  <a:ext uri="{FF2B5EF4-FFF2-40B4-BE49-F238E27FC236}">
                    <a16:creationId xmlns:a16="http://schemas.microsoft.com/office/drawing/2014/main" id="{38842EFE-31C4-FFE9-6986-4E5E77688B84}"/>
                  </a:ext>
                </a:extLst>
              </p:cNvPr>
              <p:cNvCxnSpPr>
                <a:cxnSpLocks/>
                <a:endCxn id="204" idx="3"/>
              </p:cNvCxnSpPr>
              <p:nvPr/>
            </p:nvCxnSpPr>
            <p:spPr>
              <a:xfrm flipH="1" flipV="1">
                <a:off x="10634854" y="3266184"/>
                <a:ext cx="522830" cy="24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Conector recto de flecha 238">
                <a:extLst>
                  <a:ext uri="{FF2B5EF4-FFF2-40B4-BE49-F238E27FC236}">
                    <a16:creationId xmlns:a16="http://schemas.microsoft.com/office/drawing/2014/main" id="{B3BE6B9E-8B7D-8DAA-23B5-47B9473E0414}"/>
                  </a:ext>
                </a:extLst>
              </p:cNvPr>
              <p:cNvCxnSpPr>
                <a:cxnSpLocks/>
                <a:endCxn id="228" idx="3"/>
              </p:cNvCxnSpPr>
              <p:nvPr/>
            </p:nvCxnSpPr>
            <p:spPr>
              <a:xfrm flipH="1" flipV="1">
                <a:off x="10649632" y="4333819"/>
                <a:ext cx="508052" cy="87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1" name="Conector recto de flecha 240">
                <a:extLst>
                  <a:ext uri="{FF2B5EF4-FFF2-40B4-BE49-F238E27FC236}">
                    <a16:creationId xmlns:a16="http://schemas.microsoft.com/office/drawing/2014/main" id="{688A56A8-1E84-451F-CDDA-0AB841EFAB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78772" y="5207818"/>
                <a:ext cx="485196" cy="979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pic>
            <p:nvPicPr>
              <p:cNvPr id="242" name="Imagen 241">
                <a:extLst>
                  <a:ext uri="{FF2B5EF4-FFF2-40B4-BE49-F238E27FC236}">
                    <a16:creationId xmlns:a16="http://schemas.microsoft.com/office/drawing/2014/main" id="{05F8E80B-FC7D-FA23-8D68-456669544E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25233" t="14388" r="27148" b="24106"/>
              <a:stretch/>
            </p:blipFill>
            <p:spPr>
              <a:xfrm>
                <a:off x="10446677" y="5665796"/>
                <a:ext cx="407047" cy="556704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8CAEB96-DA6A-B937-1E0E-7D3DF29141FC}"/>
                  </a:ext>
                </a:extLst>
              </p:cNvPr>
              <p:cNvSpPr txBox="1"/>
              <p:nvPr/>
            </p:nvSpPr>
            <p:spPr>
              <a:xfrm>
                <a:off x="17841840" y="1797396"/>
                <a:ext cx="1406822" cy="206210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600" dirty="0"/>
                  <a:t>El administrador podrá subir una foto del acta para que el usuario tenga visualización.</a:t>
                </a:r>
                <a:endParaRPr lang="es-PE" sz="1600" dirty="0"/>
              </a:p>
            </p:txBody>
          </p:sp>
        </p:grp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917D77F6-1776-2FC9-67E6-619360D9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7807" y="2374294"/>
              <a:ext cx="1731359" cy="295316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E4C5E2F5-5C08-5711-DBD0-229002161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9569" t="10214" r="39364" b="79038"/>
            <a:stretch>
              <a:fillRect/>
            </a:stretch>
          </p:blipFill>
          <p:spPr>
            <a:xfrm>
              <a:off x="7046954" y="2391098"/>
              <a:ext cx="1548102" cy="253761"/>
            </a:xfrm>
            <a:prstGeom prst="rect">
              <a:avLst/>
            </a:prstGeom>
          </p:spPr>
        </p:pic>
        <p:grpSp>
          <p:nvGrpSpPr>
            <p:cNvPr id="120" name="Grupo 119">
              <a:extLst>
                <a:ext uri="{FF2B5EF4-FFF2-40B4-BE49-F238E27FC236}">
                  <a16:creationId xmlns:a16="http://schemas.microsoft.com/office/drawing/2014/main" id="{A23DA3EC-54FB-7470-5BE0-43524DBD98C6}"/>
                </a:ext>
              </a:extLst>
            </p:cNvPr>
            <p:cNvGrpSpPr/>
            <p:nvPr/>
          </p:nvGrpSpPr>
          <p:grpSpPr>
            <a:xfrm>
              <a:off x="7443468" y="5927268"/>
              <a:ext cx="278321" cy="279487"/>
              <a:chOff x="1514760" y="9143243"/>
              <a:chExt cx="278321" cy="279487"/>
            </a:xfrm>
          </p:grpSpPr>
          <p:sp>
            <p:nvSpPr>
              <p:cNvPr id="117" name="Elipse 116">
                <a:extLst>
                  <a:ext uri="{FF2B5EF4-FFF2-40B4-BE49-F238E27FC236}">
                    <a16:creationId xmlns:a16="http://schemas.microsoft.com/office/drawing/2014/main" id="{121E05D6-83B6-D350-F703-FFDF63671832}"/>
                  </a:ext>
                </a:extLst>
              </p:cNvPr>
              <p:cNvSpPr/>
              <p:nvPr/>
            </p:nvSpPr>
            <p:spPr>
              <a:xfrm>
                <a:off x="1514760" y="9143243"/>
                <a:ext cx="278321" cy="279487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pic>
            <p:nvPicPr>
              <p:cNvPr id="118" name="Gráfico 117" descr="Marca de verificación con relleno sólido">
                <a:extLst>
                  <a:ext uri="{FF2B5EF4-FFF2-40B4-BE49-F238E27FC236}">
                    <a16:creationId xmlns:a16="http://schemas.microsoft.com/office/drawing/2014/main" id="{7B2CC7A1-3629-ABC4-67B3-49D36FE5B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573470" y="9202536"/>
                <a:ext cx="160899" cy="160899"/>
              </a:xfrm>
              <a:prstGeom prst="rect">
                <a:avLst/>
              </a:prstGeom>
            </p:spPr>
          </p:pic>
        </p:grpSp>
      </p:grp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B9B3DE60-AD21-8CAD-29F9-CFF8A76B8E7C}"/>
              </a:ext>
            </a:extLst>
          </p:cNvPr>
          <p:cNvSpPr/>
          <p:nvPr/>
        </p:nvSpPr>
        <p:spPr>
          <a:xfrm>
            <a:off x="6394227" y="5964508"/>
            <a:ext cx="1298123" cy="37910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27" name="Conector recto de flecha 126">
            <a:extLst>
              <a:ext uri="{FF2B5EF4-FFF2-40B4-BE49-F238E27FC236}">
                <a16:creationId xmlns:a16="http://schemas.microsoft.com/office/drawing/2014/main" id="{282F92D9-D522-ED26-B4DF-955896D5D005}"/>
              </a:ext>
            </a:extLst>
          </p:cNvPr>
          <p:cNvCxnSpPr>
            <a:cxnSpLocks/>
            <a:stCxn id="112" idx="0"/>
            <a:endCxn id="125" idx="2"/>
          </p:cNvCxnSpPr>
          <p:nvPr/>
        </p:nvCxnSpPr>
        <p:spPr>
          <a:xfrm flipH="1" flipV="1">
            <a:off x="7043289" y="6343614"/>
            <a:ext cx="92383" cy="419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337DA62-136B-07FA-B9DF-33F1ADB3327A}"/>
              </a:ext>
            </a:extLst>
          </p:cNvPr>
          <p:cNvGrpSpPr/>
          <p:nvPr/>
        </p:nvGrpSpPr>
        <p:grpSpPr>
          <a:xfrm>
            <a:off x="12816177" y="1547478"/>
            <a:ext cx="4659155" cy="7061154"/>
            <a:chOff x="12816177" y="1447462"/>
            <a:chExt cx="4659155" cy="7061154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63448F97-1ED1-04B8-AE50-00BDB7FFFDEC}"/>
                </a:ext>
              </a:extLst>
            </p:cNvPr>
            <p:cNvGrpSpPr/>
            <p:nvPr/>
          </p:nvGrpSpPr>
          <p:grpSpPr>
            <a:xfrm>
              <a:off x="12816177" y="1447462"/>
              <a:ext cx="4659155" cy="7061154"/>
              <a:chOff x="13453698" y="1443673"/>
              <a:chExt cx="4659155" cy="7061154"/>
            </a:xfrm>
          </p:grpSpPr>
          <p:grpSp>
            <p:nvGrpSpPr>
              <p:cNvPr id="181" name="Grupo 180">
                <a:extLst>
                  <a:ext uri="{FF2B5EF4-FFF2-40B4-BE49-F238E27FC236}">
                    <a16:creationId xmlns:a16="http://schemas.microsoft.com/office/drawing/2014/main" id="{7A7FDB77-4BDC-0E0D-BB01-E1A8FFD005CC}"/>
                  </a:ext>
                </a:extLst>
              </p:cNvPr>
              <p:cNvGrpSpPr/>
              <p:nvPr/>
            </p:nvGrpSpPr>
            <p:grpSpPr>
              <a:xfrm>
                <a:off x="13453698" y="1443673"/>
                <a:ext cx="3865418" cy="7061154"/>
                <a:chOff x="12275795" y="1255725"/>
                <a:chExt cx="3865418" cy="7061154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E2D375E3-23AD-3447-0CAF-2357EFAF78B6}"/>
                    </a:ext>
                  </a:extLst>
                </p:cNvPr>
                <p:cNvGrpSpPr/>
                <p:nvPr/>
              </p:nvGrpSpPr>
              <p:grpSpPr>
                <a:xfrm>
                  <a:off x="12275795" y="1255725"/>
                  <a:ext cx="3865418" cy="7061154"/>
                  <a:chOff x="9344819" y="1270548"/>
                  <a:chExt cx="3865418" cy="7061154"/>
                </a:xfrm>
              </p:grpSpPr>
              <p:grpSp>
                <p:nvGrpSpPr>
                  <p:cNvPr id="46" name="Grupo 45">
                    <a:extLst>
                      <a:ext uri="{FF2B5EF4-FFF2-40B4-BE49-F238E27FC236}">
                        <a16:creationId xmlns:a16="http://schemas.microsoft.com/office/drawing/2014/main" id="{F803ADD3-4BC8-D83C-B27C-42D3672723FF}"/>
                      </a:ext>
                    </a:extLst>
                  </p:cNvPr>
                  <p:cNvGrpSpPr/>
                  <p:nvPr/>
                </p:nvGrpSpPr>
                <p:grpSpPr>
                  <a:xfrm>
                    <a:off x="9344819" y="1270548"/>
                    <a:ext cx="3865418" cy="7061154"/>
                    <a:chOff x="8833428" y="1270548"/>
                    <a:chExt cx="3865418" cy="7061154"/>
                  </a:xfrm>
                </p:grpSpPr>
                <p:pic>
                  <p:nvPicPr>
                    <p:cNvPr id="48" name="Imagen 47">
                      <a:extLst>
                        <a:ext uri="{FF2B5EF4-FFF2-40B4-BE49-F238E27FC236}">
                          <a16:creationId xmlns:a16="http://schemas.microsoft.com/office/drawing/2014/main" id="{32B2AB3F-E6F9-F120-FBB3-A7582CF2935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8833428" y="1270548"/>
                      <a:ext cx="3865418" cy="7061154"/>
                    </a:xfrm>
                    <a:prstGeom prst="rect">
                      <a:avLst/>
                    </a:prstGeom>
                    <a:ln w="38100" cap="sq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rgbClr val="000000">
                          <a:alpha val="43000"/>
                        </a:srgbClr>
                      </a:outerShdw>
                    </a:effectLst>
                  </p:spPr>
                </p:pic>
                <p:sp>
                  <p:nvSpPr>
                    <p:cNvPr id="49" name="Rectángulo 48">
                      <a:extLst>
                        <a:ext uri="{FF2B5EF4-FFF2-40B4-BE49-F238E27FC236}">
                          <a16:creationId xmlns:a16="http://schemas.microsoft.com/office/drawing/2014/main" id="{6AD3A12D-5275-4CB9-0837-4E93E550C7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137" y="1502881"/>
                      <a:ext cx="3810000" cy="471451"/>
                    </a:xfrm>
                    <a:prstGeom prst="rect">
                      <a:avLst/>
                    </a:prstGeom>
                    <a:solidFill>
                      <a:srgbClr val="1F497D"/>
                    </a:solidFill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  <p:sp>
                  <p:nvSpPr>
                    <p:cNvPr id="50" name="Rectángulo 49">
                      <a:extLst>
                        <a:ext uri="{FF2B5EF4-FFF2-40B4-BE49-F238E27FC236}">
                          <a16:creationId xmlns:a16="http://schemas.microsoft.com/office/drawing/2014/main" id="{9E0CB705-E8C7-1D46-84B2-04116B693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159" y="1562469"/>
                      <a:ext cx="1434667" cy="3522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240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rPr>
                        <a:t>AGROI+D</a:t>
                      </a:r>
                      <a:endParaRPr lang="es-PE" sz="240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endParaRPr>
                    </a:p>
                  </p:txBody>
                </p:sp>
                <p:sp>
                  <p:nvSpPr>
                    <p:cNvPr id="51" name="Rectángulo 50">
                      <a:extLst>
                        <a:ext uri="{FF2B5EF4-FFF2-40B4-BE49-F238E27FC236}">
                          <a16:creationId xmlns:a16="http://schemas.microsoft.com/office/drawing/2014/main" id="{07C6498B-4B87-DD31-C6BF-4330238E8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5604" y="2184034"/>
                      <a:ext cx="3601761" cy="36079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 dirty="0"/>
                    </a:p>
                  </p:txBody>
                </p:sp>
              </p:grpSp>
              <p:pic>
                <p:nvPicPr>
                  <p:cNvPr id="45" name="Picture 4" descr="Gráficos escalables iconos de computadora gráficos de red portátiles, icono  de salida, cdr, texto, icono de salida png | PNGWing">
                    <a:extLst>
                      <a:ext uri="{FF2B5EF4-FFF2-40B4-BE49-F238E27FC236}">
                        <a16:creationId xmlns:a16="http://schemas.microsoft.com/office/drawing/2014/main" id="{FFF52C78-A61B-A05D-31A3-C4417D51AA8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895" b="96632" l="543" r="97283">
                                <a14:foregroundMark x1="50042" y1="12244" x2="36739" y2="5895"/>
                                <a14:foregroundMark x1="57985" y1="16034" x2="57540" y2="15821"/>
                                <a14:foregroundMark x1="59239" y1="16632" x2="58355" y2="16210"/>
                                <a14:foregroundMark x1="36739" y1="5895" x2="20435" y2="7158"/>
                                <a14:foregroundMark x1="12737" y1="15836" x2="6522" y2="22842"/>
                                <a14:foregroundMark x1="20435" y1="7158" x2="15617" y2="12589"/>
                                <a14:foregroundMark x1="6522" y1="22842" x2="5435" y2="74421"/>
                                <a14:foregroundMark x1="5435" y1="74421" x2="11957" y2="90842"/>
                                <a14:foregroundMark x1="11957" y1="90842" x2="33587" y2="94947"/>
                                <a14:foregroundMark x1="33587" y1="94947" x2="55435" y2="90526"/>
                                <a14:foregroundMark x1="55435" y1="90526" x2="63043" y2="80000"/>
                                <a14:foregroundMark x1="44565" y1="47263" x2="78696" y2="44632"/>
                                <a14:foregroundMark x1="77496" y1="56958" x2="76739" y2="64737"/>
                                <a14:foregroundMark x1="78696" y1="44632" x2="77613" y2="55759"/>
                                <a14:foregroundMark x1="76739" y1="64737" x2="95000" y2="53684"/>
                                <a14:foregroundMark x1="95000" y1="53684" x2="79239" y2="39368"/>
                                <a14:foregroundMark x1="79239" y1="39368" x2="77065" y2="35895"/>
                                <a14:foregroundMark x1="79130" y1="47579" x2="38804" y2="50632"/>
                                <a14:foregroundMark x1="38804" y1="50632" x2="81630" y2="47789"/>
                                <a14:foregroundMark x1="81630" y1="47789" x2="82500" y2="47789"/>
                                <a14:foregroundMark x1="75870" y1="41158" x2="90479" y2="39510"/>
                                <a14:foregroundMark x1="91797" y1="39625" x2="94783" y2="52737"/>
                                <a14:foregroundMark x1="97065" y1="49579" x2="97391" y2="52105"/>
                                <a14:foregroundMark x1="54365" y1="11816" x2="43913" y2="2526"/>
                                <a14:foregroundMark x1="59072" y1="16000" x2="57962" y2="15013"/>
                                <a14:foregroundMark x1="59783" y1="16632" x2="59072" y2="16000"/>
                                <a14:foregroundMark x1="43913" y1="2526" x2="15761" y2="3579"/>
                                <a14:foregroundMark x1="15761" y1="3579" x2="1413" y2="14842"/>
                                <a14:foregroundMark x1="1413" y1="14842" x2="978" y2="72737"/>
                                <a14:foregroundMark x1="978" y1="72737" x2="9783" y2="23579"/>
                                <a14:foregroundMark x1="23895" y1="12054" x2="24348" y2="11684"/>
                                <a14:foregroundMark x1="9783" y1="23579" x2="12657" y2="21232"/>
                                <a14:foregroundMark x1="56397" y1="12187" x2="57935" y2="12211"/>
                                <a14:foregroundMark x1="24348" y1="11684" x2="49938" y2="12086"/>
                                <a14:foregroundMark x1="58952" y1="14352" x2="60435" y2="17474"/>
                                <a14:foregroundMark x1="57935" y1="12211" x2="58861" y2="14161"/>
                                <a14:foregroundMark x1="61630" y1="17789" x2="53043" y2="3579"/>
                                <a14:foregroundMark x1="53043" y1="3579" x2="45543" y2="4947"/>
                                <a14:foregroundMark x1="53587" y1="1895" x2="67283" y2="9368"/>
                                <a14:foregroundMark x1="67283" y1="9368" x2="60978" y2="9474"/>
                                <a14:foregroundMark x1="8261" y1="8421" x2="217" y2="51579"/>
                                <a14:foregroundMark x1="217" y1="51579" x2="1087" y2="72000"/>
                                <a14:foregroundMark x1="1087" y1="72000" x2="9891" y2="34211"/>
                                <a14:foregroundMark x1="3261" y1="77684" x2="9239" y2="96842"/>
                                <a14:foregroundMark x1="9239" y1="96842" x2="35652" y2="98737"/>
                                <a14:foregroundMark x1="35652" y1="98737" x2="55435" y2="94000"/>
                                <a14:foregroundMark x1="55435" y1="94000" x2="67609" y2="84211"/>
                                <a14:foregroundMark x1="67609" y1="84211" x2="51413" y2="92632"/>
                                <a14:foregroundMark x1="13242" y1="84716" x2="652" y2="82105"/>
                                <a14:foregroundMark x1="27115" y1="87593" x2="26755" y2="87518"/>
                                <a14:foregroundMark x1="51413" y1="92632" x2="28349" y2="87849"/>
                                <a14:foregroundMark x1="652" y1="82105" x2="1304" y2="79579"/>
                                <a14:foregroundMark x1="21630" y1="94632" x2="47065" y2="96632"/>
                                <a14:foregroundMark x1="47065" y1="96632" x2="65000" y2="90211"/>
                                <a14:foregroundMark x1="65000" y1="90211" x2="69022" y2="86947"/>
                                <a14:backgroundMark x1="52717" y1="18842" x2="22500" y2="24105"/>
                                <a14:backgroundMark x1="22500" y1="24105" x2="20326" y2="44632"/>
                                <a14:backgroundMark x1="20326" y1="44632" x2="28913" y2="62842"/>
                                <a14:backgroundMark x1="28913" y1="62842" x2="42500" y2="70105"/>
                                <a14:backgroundMark x1="42500" y1="70105" x2="58152" y2="64105"/>
                                <a14:backgroundMark x1="58152" y1="64105" x2="72717" y2="74947"/>
                                <a14:backgroundMark x1="72717" y1="74947" x2="72717" y2="75053"/>
                                <a14:backgroundMark x1="24783" y1="14737" x2="14565" y2="20947"/>
                                <a14:backgroundMark x1="22391" y1="14526" x2="14348" y2="19579"/>
                                <a14:backgroundMark x1="51196" y1="13895" x2="56413" y2="16421"/>
                                <a14:backgroundMark x1="56630" y1="16421" x2="57391" y2="16105"/>
                                <a14:backgroundMark x1="57609" y1="17474" x2="55978" y2="13368"/>
                                <a14:backgroundMark x1="52065" y1="13053" x2="51304" y2="12947"/>
                                <a14:backgroundMark x1="55109" y1="13158" x2="57283" y2="16211"/>
                                <a14:backgroundMark x1="57065" y1="14632" x2="57283" y2="16000"/>
                                <a14:backgroundMark x1="57065" y1="15579" x2="57500" y2="15579"/>
                                <a14:backgroundMark x1="57500" y1="16000" x2="57500" y2="16000"/>
                                <a14:backgroundMark x1="57609" y1="16105" x2="57500" y2="15474"/>
                                <a14:backgroundMark x1="58043" y1="16211" x2="58043" y2="15263"/>
                                <a14:backgroundMark x1="57826" y1="15053" x2="57717" y2="14842"/>
                                <a14:backgroundMark x1="56413" y1="13579" x2="50652" y2="12526"/>
                                <a14:backgroundMark x1="51087" y1="12842" x2="50435" y2="12842"/>
                                <a14:backgroundMark x1="24674" y1="13263" x2="21304" y2="13158"/>
                                <a14:backgroundMark x1="15326" y1="13158" x2="13587" y2="15789"/>
                                <a14:backgroundMark x1="13587" y1="18632" x2="13478" y2="21263"/>
                                <a14:backgroundMark x1="16304" y1="13158" x2="12935" y2="16000"/>
                                <a14:backgroundMark x1="15870" y1="12842" x2="15870" y2="13053"/>
                                <a14:backgroundMark x1="92283" y1="39789" x2="91848" y2="39263"/>
                                <a14:backgroundMark x1="91087" y1="37263" x2="91848" y2="38421"/>
                                <a14:backgroundMark x1="92717" y1="39368" x2="91522" y2="38632"/>
                                <a14:backgroundMark x1="92283" y1="39368" x2="91630" y2="38421"/>
                                <a14:backgroundMark x1="90326" y1="37053" x2="92609" y2="38947"/>
                                <a14:backgroundMark x1="92609" y1="39789" x2="92283" y2="39263"/>
                                <a14:backgroundMark x1="76957" y1="57053" x2="77609" y2="56737"/>
                                <a14:backgroundMark x1="14130" y1="83579" x2="26957" y2="86737"/>
                                <a14:backgroundMark x1="27935" y1="87263" x2="26957" y2="87368"/>
                                <a14:backgroundMark x1="13587" y1="85263" x2="13587" y2="84632"/>
                                <a14:backgroundMark x1="25761" y1="87474" x2="26848" y2="87368"/>
                                <a14:backgroundMark x1="13370" y1="84842" x2="13370" y2="84737"/>
                                <a14:backgroundMark x1="13152" y1="84947" x2="13043" y2="84842"/>
                                <a14:backgroundMark x1="13261" y1="85053" x2="13152" y2="84842"/>
                                <a14:backgroundMark x1="13152" y1="84842" x2="13370" y2="8410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786812" y="1550634"/>
                    <a:ext cx="341153" cy="35227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29" name="Grupo 128">
                  <a:extLst>
                    <a:ext uri="{FF2B5EF4-FFF2-40B4-BE49-F238E27FC236}">
                      <a16:creationId xmlns:a16="http://schemas.microsoft.com/office/drawing/2014/main" id="{0779303A-56D4-F4FF-4789-DB40EFAE9005}"/>
                    </a:ext>
                  </a:extLst>
                </p:cNvPr>
                <p:cNvGrpSpPr/>
                <p:nvPr/>
              </p:nvGrpSpPr>
              <p:grpSpPr>
                <a:xfrm>
                  <a:off x="12374248" y="1997800"/>
                  <a:ext cx="2096432" cy="1645011"/>
                  <a:chOff x="12554043" y="2498741"/>
                  <a:chExt cx="2096432" cy="1645011"/>
                </a:xfrm>
              </p:grpSpPr>
              <p:sp>
                <p:nvSpPr>
                  <p:cNvPr id="113" name="CuadroTexto 112">
                    <a:extLst>
                      <a:ext uri="{FF2B5EF4-FFF2-40B4-BE49-F238E27FC236}">
                        <a16:creationId xmlns:a16="http://schemas.microsoft.com/office/drawing/2014/main" id="{3B7B7B17-CEE5-867D-827D-2D254B20AD59}"/>
                      </a:ext>
                    </a:extLst>
                  </p:cNvPr>
                  <p:cNvSpPr txBox="1"/>
                  <p:nvPr/>
                </p:nvSpPr>
                <p:spPr>
                  <a:xfrm>
                    <a:off x="12580487" y="2797785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FUNDO:</a:t>
                    </a:r>
                    <a:endParaRPr lang="es-PE" sz="1600" b="1"/>
                  </a:p>
                </p:txBody>
              </p:sp>
              <p:sp>
                <p:nvSpPr>
                  <p:cNvPr id="114" name="CuadroTexto 113">
                    <a:extLst>
                      <a:ext uri="{FF2B5EF4-FFF2-40B4-BE49-F238E27FC236}">
                        <a16:creationId xmlns:a16="http://schemas.microsoft.com/office/drawing/2014/main" id="{B17CF684-2846-EF01-0F85-9F167A8BCC81}"/>
                      </a:ext>
                    </a:extLst>
                  </p:cNvPr>
                  <p:cNvSpPr txBox="1"/>
                  <p:nvPr/>
                </p:nvSpPr>
                <p:spPr>
                  <a:xfrm>
                    <a:off x="12593934" y="3119577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LOTE:</a:t>
                    </a:r>
                    <a:endParaRPr lang="es-PE" sz="1600" b="1"/>
                  </a:p>
                </p:txBody>
              </p:sp>
              <p:sp>
                <p:nvSpPr>
                  <p:cNvPr id="119" name="CuadroTexto 118">
                    <a:extLst>
                      <a:ext uri="{FF2B5EF4-FFF2-40B4-BE49-F238E27FC236}">
                        <a16:creationId xmlns:a16="http://schemas.microsoft.com/office/drawing/2014/main" id="{624C6011-A47F-6748-A507-7AC624CC47FD}"/>
                      </a:ext>
                    </a:extLst>
                  </p:cNvPr>
                  <p:cNvSpPr txBox="1"/>
                  <p:nvPr/>
                </p:nvSpPr>
                <p:spPr>
                  <a:xfrm>
                    <a:off x="12580486" y="2498741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FECHA:</a:t>
                    </a:r>
                    <a:endParaRPr lang="es-PE" sz="1600" b="1"/>
                  </a:p>
                </p:txBody>
              </p:sp>
              <p:sp>
                <p:nvSpPr>
                  <p:cNvPr id="121" name="CuadroTexto 120">
                    <a:extLst>
                      <a:ext uri="{FF2B5EF4-FFF2-40B4-BE49-F238E27FC236}">
                        <a16:creationId xmlns:a16="http://schemas.microsoft.com/office/drawing/2014/main" id="{D1C3A945-870E-0EF1-DB96-7A112CFF5EC0}"/>
                      </a:ext>
                    </a:extLst>
                  </p:cNvPr>
                  <p:cNvSpPr txBox="1"/>
                  <p:nvPr/>
                </p:nvSpPr>
                <p:spPr>
                  <a:xfrm>
                    <a:off x="12567422" y="3483259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ESPECIE:</a:t>
                    </a:r>
                    <a:endParaRPr lang="es-PE" sz="1600" b="1"/>
                  </a:p>
                </p:txBody>
              </p:sp>
              <p:sp>
                <p:nvSpPr>
                  <p:cNvPr id="124" name="CuadroTexto 123">
                    <a:extLst>
                      <a:ext uri="{FF2B5EF4-FFF2-40B4-BE49-F238E27FC236}">
                        <a16:creationId xmlns:a16="http://schemas.microsoft.com/office/drawing/2014/main" id="{EE1078CA-6786-563E-BCB4-62018E8EAC01}"/>
                      </a:ext>
                    </a:extLst>
                  </p:cNvPr>
                  <p:cNvSpPr txBox="1"/>
                  <p:nvPr/>
                </p:nvSpPr>
                <p:spPr>
                  <a:xfrm>
                    <a:off x="12554043" y="3805198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CANTIDAD:</a:t>
                    </a:r>
                    <a:endParaRPr lang="es-PE" sz="1600" b="1"/>
                  </a:p>
                </p:txBody>
              </p:sp>
              <p:pic>
                <p:nvPicPr>
                  <p:cNvPr id="128" name="Imagen 127">
                    <a:extLst>
                      <a:ext uri="{FF2B5EF4-FFF2-40B4-BE49-F238E27FC236}">
                        <a16:creationId xmlns:a16="http://schemas.microsoft.com/office/drawing/2014/main" id="{75DCFD9A-D987-2E99-B799-76D2C9ACC5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3612105" y="3824722"/>
                    <a:ext cx="1038370" cy="29531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B9EB91EE-4BA8-A097-1B5D-81F7675DBA11}"/>
                    </a:ext>
                  </a:extLst>
                </p:cNvPr>
                <p:cNvSpPr txBox="1"/>
                <p:nvPr/>
              </p:nvSpPr>
              <p:spPr>
                <a:xfrm>
                  <a:off x="12383901" y="3481457"/>
                  <a:ext cx="11557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PLAGA OBJETIVO:</a:t>
                  </a:r>
                  <a:endParaRPr lang="es-PE" sz="1600" b="1"/>
                </a:p>
              </p:txBody>
            </p:sp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7121FA65-C023-C1FF-BD8E-B6D3D1E207A7}"/>
                    </a:ext>
                  </a:extLst>
                </p:cNvPr>
                <p:cNvSpPr txBox="1"/>
                <p:nvPr/>
              </p:nvSpPr>
              <p:spPr>
                <a:xfrm>
                  <a:off x="12443258" y="396110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>
                      <a:highlight>
                        <a:srgbClr val="FFFF00"/>
                      </a:highlight>
                    </a:rPr>
                    <a:t>ESTADO</a:t>
                  </a:r>
                  <a:r>
                    <a:rPr lang="es-MX" sz="1600" b="1" dirty="0"/>
                    <a:t>:</a:t>
                  </a:r>
                  <a:endParaRPr lang="es-PE" sz="1600" b="1" dirty="0"/>
                </a:p>
              </p:txBody>
            </p:sp>
            <p:sp>
              <p:nvSpPr>
                <p:cNvPr id="135" name="Rectángulo 134">
                  <a:extLst>
                    <a:ext uri="{FF2B5EF4-FFF2-40B4-BE49-F238E27FC236}">
                      <a16:creationId xmlns:a16="http://schemas.microsoft.com/office/drawing/2014/main" id="{BC0D6A2C-CA62-B1A1-DAE5-FDD37D8D7CE0}"/>
                    </a:ext>
                  </a:extLst>
                </p:cNvPr>
                <p:cNvSpPr/>
                <p:nvPr/>
              </p:nvSpPr>
              <p:spPr>
                <a:xfrm>
                  <a:off x="15070807" y="4217481"/>
                  <a:ext cx="223773" cy="27048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dirty="0"/>
                    <a:t>v</a:t>
                  </a:r>
                  <a:endParaRPr lang="es-PE" dirty="0"/>
                </a:p>
              </p:txBody>
            </p:sp>
            <p:sp>
              <p:nvSpPr>
                <p:cNvPr id="136" name="CuadroTexto 135">
                  <a:extLst>
                    <a:ext uri="{FF2B5EF4-FFF2-40B4-BE49-F238E27FC236}">
                      <a16:creationId xmlns:a16="http://schemas.microsoft.com/office/drawing/2014/main" id="{B56A3D86-04D4-6CBE-9019-1C8956640412}"/>
                    </a:ext>
                  </a:extLst>
                </p:cNvPr>
                <p:cNvSpPr txBox="1"/>
                <p:nvPr/>
              </p:nvSpPr>
              <p:spPr>
                <a:xfrm>
                  <a:off x="12360801" y="5808233"/>
                  <a:ext cx="19518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139" name="Imagen 138">
                  <a:extLst>
                    <a:ext uri="{FF2B5EF4-FFF2-40B4-BE49-F238E27FC236}">
                      <a16:creationId xmlns:a16="http://schemas.microsoft.com/office/drawing/2014/main" id="{6EFE9E5F-533D-3C75-27FF-703572A175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015756" y="5762274"/>
                  <a:ext cx="1846187" cy="384513"/>
                </a:xfrm>
                <a:prstGeom prst="rect">
                  <a:avLst/>
                </a:prstGeom>
              </p:spPr>
            </p:pic>
            <p:pic>
              <p:nvPicPr>
                <p:cNvPr id="140" name="Imagen 139">
                  <a:extLst>
                    <a:ext uri="{FF2B5EF4-FFF2-40B4-BE49-F238E27FC236}">
                      <a16:creationId xmlns:a16="http://schemas.microsoft.com/office/drawing/2014/main" id="{095C52F7-B6F3-B17B-C415-48E7947E0D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40232" y="2306815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1" name="Imagen 140">
                  <a:extLst>
                    <a:ext uri="{FF2B5EF4-FFF2-40B4-BE49-F238E27FC236}">
                      <a16:creationId xmlns:a16="http://schemas.microsoft.com/office/drawing/2014/main" id="{F933E7A4-6954-F45C-E734-99DBED7CB5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9558" y="2639669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2" name="Imagen 141">
                  <a:extLst>
                    <a:ext uri="{FF2B5EF4-FFF2-40B4-BE49-F238E27FC236}">
                      <a16:creationId xmlns:a16="http://schemas.microsoft.com/office/drawing/2014/main" id="{D674CB90-F309-E218-A05B-757E610932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3530" y="297573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3" name="Imagen 142">
                  <a:extLst>
                    <a:ext uri="{FF2B5EF4-FFF2-40B4-BE49-F238E27FC236}">
                      <a16:creationId xmlns:a16="http://schemas.microsoft.com/office/drawing/2014/main" id="{2B2063CE-E51F-4BB0-1CE3-837CAC673B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80819" y="365413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59" name="Imagen 158">
                  <a:extLst>
                    <a:ext uri="{FF2B5EF4-FFF2-40B4-BE49-F238E27FC236}">
                      <a16:creationId xmlns:a16="http://schemas.microsoft.com/office/drawing/2014/main" id="{4A9D1378-6E92-D237-3F88-0E4298D44F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44226" y="7419288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165" name="CuadroTexto 164">
                  <a:extLst>
                    <a:ext uri="{FF2B5EF4-FFF2-40B4-BE49-F238E27FC236}">
                      <a16:creationId xmlns:a16="http://schemas.microsoft.com/office/drawing/2014/main" id="{D1275FA9-9AD8-9D2C-E881-5FE36FF74F77}"/>
                    </a:ext>
                  </a:extLst>
                </p:cNvPr>
                <p:cNvSpPr txBox="1"/>
                <p:nvPr/>
              </p:nvSpPr>
              <p:spPr>
                <a:xfrm>
                  <a:off x="13399368" y="2324398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166" name="CuadroTexto 165">
                  <a:extLst>
                    <a:ext uri="{FF2B5EF4-FFF2-40B4-BE49-F238E27FC236}">
                      <a16:creationId xmlns:a16="http://schemas.microsoft.com/office/drawing/2014/main" id="{51C71240-312B-B802-0DD7-A997DE3FADD5}"/>
                    </a:ext>
                  </a:extLst>
                </p:cNvPr>
                <p:cNvSpPr txBox="1"/>
                <p:nvPr/>
              </p:nvSpPr>
              <p:spPr>
                <a:xfrm>
                  <a:off x="13418702" y="2667960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167" name="CuadroTexto 166">
                  <a:extLst>
                    <a:ext uri="{FF2B5EF4-FFF2-40B4-BE49-F238E27FC236}">
                      <a16:creationId xmlns:a16="http://schemas.microsoft.com/office/drawing/2014/main" id="{0ECF9D22-E0AC-9053-A664-2821ED0DA3F2}"/>
                    </a:ext>
                  </a:extLst>
                </p:cNvPr>
                <p:cNvSpPr txBox="1"/>
                <p:nvPr/>
              </p:nvSpPr>
              <p:spPr>
                <a:xfrm>
                  <a:off x="13374459" y="2973735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168" name="CuadroTexto 167">
                  <a:extLst>
                    <a:ext uri="{FF2B5EF4-FFF2-40B4-BE49-F238E27FC236}">
                      <a16:creationId xmlns:a16="http://schemas.microsoft.com/office/drawing/2014/main" id="{8E21AF69-9EEB-9D09-AD7F-66C1C18CBEA4}"/>
                    </a:ext>
                  </a:extLst>
                </p:cNvPr>
                <p:cNvSpPr txBox="1"/>
                <p:nvPr/>
              </p:nvSpPr>
              <p:spPr>
                <a:xfrm>
                  <a:off x="13451834" y="3295189"/>
                  <a:ext cx="81542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169" name="CuadroTexto 168">
                  <a:extLst>
                    <a:ext uri="{FF2B5EF4-FFF2-40B4-BE49-F238E27FC236}">
                      <a16:creationId xmlns:a16="http://schemas.microsoft.com/office/drawing/2014/main" id="{B5C624A0-0555-0DD3-2A84-3E423201370D}"/>
                    </a:ext>
                  </a:extLst>
                </p:cNvPr>
                <p:cNvSpPr txBox="1"/>
                <p:nvPr/>
              </p:nvSpPr>
              <p:spPr>
                <a:xfrm>
                  <a:off x="13413006" y="364880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TRIPS</a:t>
                  </a:r>
                  <a:endParaRPr lang="es-PE" sz="1200"/>
                </a:p>
              </p:txBody>
            </p:sp>
            <p:pic>
              <p:nvPicPr>
                <p:cNvPr id="171" name="Imagen 170">
                  <a:extLst>
                    <a:ext uri="{FF2B5EF4-FFF2-40B4-BE49-F238E27FC236}">
                      <a16:creationId xmlns:a16="http://schemas.microsoft.com/office/drawing/2014/main" id="{F450461D-BA3F-150E-0340-31E02936C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3598" y="4153415"/>
                  <a:ext cx="1757228" cy="663069"/>
                </a:xfrm>
                <a:prstGeom prst="rect">
                  <a:avLst/>
                </a:prstGeom>
              </p:spPr>
            </p:pic>
            <p:sp>
              <p:nvSpPr>
                <p:cNvPr id="172" name="CuadroTexto 171">
                  <a:extLst>
                    <a:ext uri="{FF2B5EF4-FFF2-40B4-BE49-F238E27FC236}">
                      <a16:creationId xmlns:a16="http://schemas.microsoft.com/office/drawing/2014/main" id="{880EDBE2-29E4-8F92-4B97-817DA7BF88B2}"/>
                    </a:ext>
                  </a:extLst>
                </p:cNvPr>
                <p:cNvSpPr txBox="1"/>
                <p:nvPr/>
              </p:nvSpPr>
              <p:spPr>
                <a:xfrm>
                  <a:off x="13428338" y="4230468"/>
                  <a:ext cx="117314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100"/>
                    <a:t>- APROBADO</a:t>
                  </a:r>
                </a:p>
                <a:p>
                  <a:r>
                    <a:rPr lang="es-MX" sz="1100"/>
                    <a:t>- ENTREGADO   </a:t>
                  </a:r>
                  <a:endParaRPr lang="es-PE" sz="1100"/>
                </a:p>
              </p:txBody>
            </p:sp>
            <p:sp>
              <p:nvSpPr>
                <p:cNvPr id="173" name="Rectángulo: esquinas redondeadas 172">
                  <a:extLst>
                    <a:ext uri="{FF2B5EF4-FFF2-40B4-BE49-F238E27FC236}">
                      <a16:creationId xmlns:a16="http://schemas.microsoft.com/office/drawing/2014/main" id="{48ADD382-DACC-F635-F1D0-F8E37CFDA580}"/>
                    </a:ext>
                  </a:extLst>
                </p:cNvPr>
                <p:cNvSpPr/>
                <p:nvPr/>
              </p:nvSpPr>
              <p:spPr>
                <a:xfrm>
                  <a:off x="13435341" y="4264317"/>
                  <a:ext cx="1678275" cy="195259"/>
                </a:xfrm>
                <a:prstGeom prst="roundRect">
                  <a:avLst/>
                </a:prstGeom>
                <a:solidFill>
                  <a:schemeClr val="accent3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82" name="CuadroTexto 181">
                <a:extLst>
                  <a:ext uri="{FF2B5EF4-FFF2-40B4-BE49-F238E27FC236}">
                    <a16:creationId xmlns:a16="http://schemas.microsoft.com/office/drawing/2014/main" id="{92852099-301B-9384-331D-10751097FE62}"/>
                  </a:ext>
                </a:extLst>
              </p:cNvPr>
              <p:cNvSpPr txBox="1"/>
              <p:nvPr/>
            </p:nvSpPr>
            <p:spPr>
              <a:xfrm>
                <a:off x="13578594" y="4903609"/>
                <a:ext cx="14746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 DE LIBERACION :</a:t>
                </a:r>
                <a:endParaRPr lang="es-PE" sz="1600" b="1"/>
              </a:p>
            </p:txBody>
          </p:sp>
          <p:pic>
            <p:nvPicPr>
              <p:cNvPr id="184" name="Imagen 183">
                <a:extLst>
                  <a:ext uri="{FF2B5EF4-FFF2-40B4-BE49-F238E27FC236}">
                    <a16:creationId xmlns:a16="http://schemas.microsoft.com/office/drawing/2014/main" id="{CF82E9B2-7E07-5F61-D920-C23685790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09467" y="5081618"/>
                <a:ext cx="2018828" cy="295316"/>
              </a:xfrm>
              <a:prstGeom prst="rect">
                <a:avLst/>
              </a:prstGeom>
            </p:spPr>
          </p:pic>
          <p:sp>
            <p:nvSpPr>
              <p:cNvPr id="198" name="Rectángulo 197">
                <a:extLst>
                  <a:ext uri="{FF2B5EF4-FFF2-40B4-BE49-F238E27FC236}">
                    <a16:creationId xmlns:a16="http://schemas.microsoft.com/office/drawing/2014/main" id="{A12736FF-7D92-1AAE-B1A3-759605853DE8}"/>
                  </a:ext>
                </a:extLst>
              </p:cNvPr>
              <p:cNvSpPr/>
              <p:nvPr/>
            </p:nvSpPr>
            <p:spPr>
              <a:xfrm>
                <a:off x="13573120" y="4198813"/>
                <a:ext cx="3460101" cy="813765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EAD45292-0D89-C169-9FD6-7AD92191F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6712" y="2175911"/>
                <a:ext cx="1731359" cy="295316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A36BBFE-66AC-9DE3-EDC7-7E72AA8EBCC7}"/>
                  </a:ext>
                </a:extLst>
              </p:cNvPr>
              <p:cNvSpPr txBox="1"/>
              <p:nvPr/>
            </p:nvSpPr>
            <p:spPr>
              <a:xfrm>
                <a:off x="14560172" y="2158888"/>
                <a:ext cx="1155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/>
                  <a:t>08/07/2025</a:t>
                </a:r>
                <a:endParaRPr lang="es-PE" sz="1400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3353A8BC-B17A-2490-A616-988BF9E2CCF4}"/>
                  </a:ext>
                </a:extLst>
              </p:cNvPr>
              <p:cNvSpPr/>
              <p:nvPr/>
            </p:nvSpPr>
            <p:spPr>
              <a:xfrm>
                <a:off x="16549805" y="4244005"/>
                <a:ext cx="344648" cy="377586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92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682B4914-0533-7E99-3108-54ABFE557F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54" t="15503" r="33075" b="19871"/>
              <a:stretch>
                <a:fillRect/>
              </a:stretch>
            </p:blipFill>
            <p:spPr bwMode="auto">
              <a:xfrm>
                <a:off x="16586566" y="4247691"/>
                <a:ext cx="277239" cy="357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3" name="Conector: angular 42">
                <a:extLst>
                  <a:ext uri="{FF2B5EF4-FFF2-40B4-BE49-F238E27FC236}">
                    <a16:creationId xmlns:a16="http://schemas.microsoft.com/office/drawing/2014/main" id="{CD643513-1BF2-AA96-2DBC-16612D451657}"/>
                  </a:ext>
                </a:extLst>
              </p:cNvPr>
              <p:cNvCxnSpPr>
                <a:cxnSpLocks/>
                <a:stCxn id="37" idx="2"/>
                <a:endCxn id="40" idx="3"/>
              </p:cNvCxnSpPr>
              <p:nvPr/>
            </p:nvCxnSpPr>
            <p:spPr>
              <a:xfrm rot="5400000">
                <a:off x="17270802" y="3590747"/>
                <a:ext cx="465703" cy="121839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850B99DB-65EA-C09B-A737-893DFDEABD73}"/>
                </a:ext>
              </a:extLst>
            </p:cNvPr>
            <p:cNvSpPr txBox="1"/>
            <p:nvPr/>
          </p:nvSpPr>
          <p:spPr>
            <a:xfrm>
              <a:off x="12888881" y="6397164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97394701-7282-4101-5E5E-1FC3E3DF27A1}"/>
                </a:ext>
              </a:extLst>
            </p:cNvPr>
            <p:cNvSpPr txBox="1"/>
            <p:nvPr/>
          </p:nvSpPr>
          <p:spPr>
            <a:xfrm>
              <a:off x="12881663" y="6773989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573C15C-3389-4627-51C7-6C7E51723321}"/>
                </a:ext>
              </a:extLst>
            </p:cNvPr>
            <p:cNvSpPr txBox="1"/>
            <p:nvPr/>
          </p:nvSpPr>
          <p:spPr>
            <a:xfrm>
              <a:off x="12883541" y="7116615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58" name="Imagen 57">
              <a:extLst>
                <a:ext uri="{FF2B5EF4-FFF2-40B4-BE49-F238E27FC236}">
                  <a16:creationId xmlns:a16="http://schemas.microsoft.com/office/drawing/2014/main" id="{E8ADE12F-FCA4-DD4C-C239-EBF794F3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58414" y="6729896"/>
              <a:ext cx="1493033" cy="323496"/>
            </a:xfrm>
            <a:prstGeom prst="rect">
              <a:avLst/>
            </a:prstGeom>
          </p:spPr>
        </p:pic>
        <p:pic>
          <p:nvPicPr>
            <p:cNvPr id="59" name="Imagen 58">
              <a:extLst>
                <a:ext uri="{FF2B5EF4-FFF2-40B4-BE49-F238E27FC236}">
                  <a16:creationId xmlns:a16="http://schemas.microsoft.com/office/drawing/2014/main" id="{A603E100-0805-4D92-176E-49616AED6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95089" y="7221369"/>
              <a:ext cx="1493033" cy="323496"/>
            </a:xfrm>
            <a:prstGeom prst="rect">
              <a:avLst/>
            </a:prstGeom>
          </p:spPr>
        </p:pic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9D67D999-0A4D-364A-DC68-1875EF14AB8D}"/>
                </a:ext>
              </a:extLst>
            </p:cNvPr>
            <p:cNvSpPr txBox="1"/>
            <p:nvPr/>
          </p:nvSpPr>
          <p:spPr>
            <a:xfrm>
              <a:off x="14640237" y="6749335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BEAB0CC3-27AE-53FB-8DB9-3E86CDE6F2F1}"/>
                </a:ext>
              </a:extLst>
            </p:cNvPr>
            <p:cNvSpPr txBox="1"/>
            <p:nvPr/>
          </p:nvSpPr>
          <p:spPr>
            <a:xfrm>
              <a:off x="14667597" y="725217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EF0008F9-6613-416F-292A-0425474D0B38}"/>
                </a:ext>
              </a:extLst>
            </p:cNvPr>
            <p:cNvSpPr/>
            <p:nvPr/>
          </p:nvSpPr>
          <p:spPr>
            <a:xfrm>
              <a:off x="12895235" y="6377819"/>
              <a:ext cx="3634515" cy="123608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7" name="CuadroTexto 136">
              <a:extLst>
                <a:ext uri="{FF2B5EF4-FFF2-40B4-BE49-F238E27FC236}">
                  <a16:creationId xmlns:a16="http://schemas.microsoft.com/office/drawing/2014/main" id="{7E7D591E-6977-669A-56A1-57C3EBADED2C}"/>
                </a:ext>
              </a:extLst>
            </p:cNvPr>
            <p:cNvSpPr txBox="1"/>
            <p:nvPr/>
          </p:nvSpPr>
          <p:spPr>
            <a:xfrm>
              <a:off x="12951538" y="5428121"/>
              <a:ext cx="14746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HORA DE LIBERACION:</a:t>
              </a:r>
              <a:endParaRPr lang="es-PE" sz="1600" b="1"/>
            </a:p>
          </p:txBody>
        </p:sp>
        <p:pic>
          <p:nvPicPr>
            <p:cNvPr id="138" name="Imagen 137">
              <a:extLst>
                <a:ext uri="{FF2B5EF4-FFF2-40B4-BE49-F238E27FC236}">
                  <a16:creationId xmlns:a16="http://schemas.microsoft.com/office/drawing/2014/main" id="{D5149EAF-BCA4-BAB5-74D3-35D06033A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71946" y="5607307"/>
              <a:ext cx="2018828" cy="295316"/>
            </a:xfrm>
            <a:prstGeom prst="rect">
              <a:avLst/>
            </a:prstGeom>
          </p:spPr>
        </p:pic>
      </p:grp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90488423-7721-2E36-F7D9-EA6F97E88C50}"/>
              </a:ext>
            </a:extLst>
          </p:cNvPr>
          <p:cNvSpPr txBox="1"/>
          <p:nvPr/>
        </p:nvSpPr>
        <p:spPr>
          <a:xfrm>
            <a:off x="6027578" y="6762734"/>
            <a:ext cx="2216187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300" dirty="0">
                <a:latin typeface="Poppins" panose="00000500000000000000" pitchFamily="2" charset="0"/>
                <a:cs typeface="Poppins" panose="00000500000000000000" pitchFamily="2" charset="0"/>
              </a:rPr>
              <a:t>Cuando el usuario haga clic en el botón Recibido, debe aparecer en esta vista el recibido con un </a:t>
            </a:r>
            <a:r>
              <a:rPr lang="es-MX" sz="1300" dirty="0" err="1">
                <a:latin typeface="Poppins" panose="00000500000000000000" pitchFamily="2" charset="0"/>
                <a:cs typeface="Poppins" panose="00000500000000000000" pitchFamily="2" charset="0"/>
              </a:rPr>
              <a:t>check</a:t>
            </a:r>
            <a:r>
              <a:rPr lang="es-MX" sz="1300" dirty="0">
                <a:latin typeface="Poppins" panose="00000500000000000000" pitchFamily="2" charset="0"/>
                <a:cs typeface="Poppins" panose="00000500000000000000" pitchFamily="2" charset="0"/>
              </a:rPr>
              <a:t> dando la conformidad del envío.</a:t>
            </a:r>
            <a:endParaRPr lang="es-PE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B349061A-CBEB-9928-E6A3-05DE004978F3}"/>
              </a:ext>
            </a:extLst>
          </p:cNvPr>
          <p:cNvSpPr/>
          <p:nvPr/>
        </p:nvSpPr>
        <p:spPr>
          <a:xfrm rot="15445096">
            <a:off x="8678776" y="773409"/>
            <a:ext cx="1280181" cy="1948482"/>
          </a:xfrm>
          <a:prstGeom prst="triangle">
            <a:avLst>
              <a:gd name="adj" fmla="val 5155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FECDDEB-DBFE-E250-E7F2-F829484E855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547" t="24110"/>
          <a:stretch>
            <a:fillRect/>
          </a:stretch>
        </p:blipFill>
        <p:spPr>
          <a:xfrm>
            <a:off x="9981628" y="837462"/>
            <a:ext cx="2837856" cy="1384012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602BBB44-0F26-5EA0-692E-BBCE51DF06CB}"/>
              </a:ext>
            </a:extLst>
          </p:cNvPr>
          <p:cNvSpPr txBox="1"/>
          <p:nvPr/>
        </p:nvSpPr>
        <p:spPr>
          <a:xfrm>
            <a:off x="9746971" y="6132201"/>
            <a:ext cx="3035130" cy="21236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Al seleccionar la opción “</a:t>
            </a:r>
            <a:r>
              <a:rPr lang="es-MX" sz="1200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Editar”, </a:t>
            </a:r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solo se podrá modificar el campo </a:t>
            </a:r>
            <a:r>
              <a:rPr lang="es-MX" sz="1200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“Estado”</a:t>
            </a:r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, el cual podrá establecerse en:</a:t>
            </a:r>
          </a:p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-Aprobado</a:t>
            </a:r>
          </a:p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-Entregado</a:t>
            </a:r>
          </a:p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Cada vez que se realice un cambio en el estado, el sistema deberá enviar una notificación por correo electrónico al usuario correspondiente.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934AC743-C504-B77A-699E-ACF4846FF641}"/>
              </a:ext>
            </a:extLst>
          </p:cNvPr>
          <p:cNvCxnSpPr>
            <a:cxnSpLocks/>
            <a:stCxn id="63" idx="1"/>
          </p:cNvCxnSpPr>
          <p:nvPr/>
        </p:nvCxnSpPr>
        <p:spPr>
          <a:xfrm rot="10800000">
            <a:off x="9539895" y="6040410"/>
            <a:ext cx="207077" cy="1153620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8196892-E339-11C8-AE05-A97C8359F99D}"/>
              </a:ext>
            </a:extLst>
          </p:cNvPr>
          <p:cNvSpPr txBox="1"/>
          <p:nvPr/>
        </p:nvSpPr>
        <p:spPr>
          <a:xfrm>
            <a:off x="8724839" y="8943733"/>
            <a:ext cx="6169376" cy="12464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También se podrá modificar el campo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“Presentaciones entregadas”. </a:t>
            </a:r>
          </a:p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Una vez que el estado se actualice a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“ENTREGADO”, </a:t>
            </a:r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será obligatorio registrar las cantidades entregadas según la presentación correspondiente.</a:t>
            </a:r>
          </a:p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Las cantidades ingresadas en el campo de presentaciones deben coincidir con la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cantidad</a:t>
            </a:r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 solicitada, es decir, la suma total debe ser exacta</a:t>
            </a:r>
            <a:endParaRPr lang="es-PE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726490E1-FFCE-C3C9-F4D4-50A0F645A0F3}"/>
              </a:ext>
            </a:extLst>
          </p:cNvPr>
          <p:cNvCxnSpPr>
            <a:cxnSpLocks/>
            <a:stCxn id="194" idx="1"/>
            <a:endCxn id="69" idx="1"/>
          </p:cNvCxnSpPr>
          <p:nvPr/>
        </p:nvCxnSpPr>
        <p:spPr>
          <a:xfrm rot="10800000" flipV="1">
            <a:off x="8724840" y="5909777"/>
            <a:ext cx="446579" cy="3657204"/>
          </a:xfrm>
          <a:prstGeom prst="bentConnector3">
            <a:avLst>
              <a:gd name="adj1" fmla="val 15118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C3E4DB5A-480F-EDEA-E134-DE7AD282D925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14894215" y="7774252"/>
            <a:ext cx="282285" cy="17927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12F8DB9-DC49-C4FA-3853-F341CD5267EE}"/>
              </a:ext>
            </a:extLst>
          </p:cNvPr>
          <p:cNvSpPr txBox="1"/>
          <p:nvPr/>
        </p:nvSpPr>
        <p:spPr>
          <a:xfrm>
            <a:off x="10567631" y="235521"/>
            <a:ext cx="7148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MX" sz="2700" b="1" u="sng" dirty="0">
                <a:solidFill>
                  <a:srgbClr val="558BA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INGRESO DE REQUERIMIENTO POR EL USURIO</a:t>
            </a:r>
            <a:endParaRPr lang="es-PE" sz="2700" b="1" u="sng" dirty="0">
              <a:solidFill>
                <a:srgbClr val="558BA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8A2E8BB7-2CC9-EE23-DF7B-C910F5ABA827}"/>
              </a:ext>
            </a:extLst>
          </p:cNvPr>
          <p:cNvSpPr/>
          <p:nvPr/>
        </p:nvSpPr>
        <p:spPr>
          <a:xfrm>
            <a:off x="921475" y="149461"/>
            <a:ext cx="8315739" cy="1226029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 w="57150">
            <a:solidFill>
              <a:srgbClr val="D3D3D7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9D4A87-C2A2-8A4F-E5BB-4BDCF1FBE380}"/>
              </a:ext>
            </a:extLst>
          </p:cNvPr>
          <p:cNvSpPr txBox="1"/>
          <p:nvPr/>
        </p:nvSpPr>
        <p:spPr>
          <a:xfrm>
            <a:off x="920229" y="261706"/>
            <a:ext cx="7804610" cy="95410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3600" b="1" dirty="0">
                <a:solidFill>
                  <a:schemeClr val="bg1"/>
                </a:solidFill>
              </a:rPr>
              <a:t>VISTA DEL ADMINISTRADOR I+D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(Coordinado I+D y Supervisor de insectos Benéficos )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1B905B3-B0AD-B505-7164-6EB9A647B9D0}"/>
              </a:ext>
            </a:extLst>
          </p:cNvPr>
          <p:cNvSpPr/>
          <p:nvPr/>
        </p:nvSpPr>
        <p:spPr>
          <a:xfrm>
            <a:off x="1932742" y="5655046"/>
            <a:ext cx="3032597" cy="233587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0480D82-6F8A-0931-2A9F-77490E327642}"/>
              </a:ext>
            </a:extLst>
          </p:cNvPr>
          <p:cNvSpPr txBox="1"/>
          <p:nvPr/>
        </p:nvSpPr>
        <p:spPr>
          <a:xfrm>
            <a:off x="49207" y="2933991"/>
            <a:ext cx="1334201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 err="1">
                <a:latin typeface="Poppins" panose="00000500000000000000" pitchFamily="2" charset="0"/>
                <a:cs typeface="Poppins" panose="00000500000000000000" pitchFamily="2" charset="0"/>
              </a:rPr>
              <a:t>Notificaciónque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  indica que hay solicitud de crisopas por parte del usuario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3B39EDDE-9F1A-5820-0181-FDF943DFAD34}"/>
              </a:ext>
            </a:extLst>
          </p:cNvPr>
          <p:cNvGrpSpPr/>
          <p:nvPr/>
        </p:nvGrpSpPr>
        <p:grpSpPr>
          <a:xfrm>
            <a:off x="1515388" y="1670075"/>
            <a:ext cx="3719414" cy="7061154"/>
            <a:chOff x="1412021" y="1576407"/>
            <a:chExt cx="3866138" cy="7061154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162B20A0-6790-EC96-40A5-70637A9DF177}"/>
                </a:ext>
              </a:extLst>
            </p:cNvPr>
            <p:cNvGrpSpPr/>
            <p:nvPr/>
          </p:nvGrpSpPr>
          <p:grpSpPr>
            <a:xfrm>
              <a:off x="1412021" y="1576407"/>
              <a:ext cx="3866138" cy="7061154"/>
              <a:chOff x="2269259" y="2073946"/>
              <a:chExt cx="3866138" cy="7061154"/>
            </a:xfrm>
          </p:grpSpPr>
          <p:pic>
            <p:nvPicPr>
              <p:cNvPr id="47" name="Imagen 46">
                <a:extLst>
                  <a:ext uri="{FF2B5EF4-FFF2-40B4-BE49-F238E27FC236}">
                    <a16:creationId xmlns:a16="http://schemas.microsoft.com/office/drawing/2014/main" id="{16685748-4FE2-5482-68FE-519A0C342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9979" y="2073946"/>
                <a:ext cx="3865418" cy="7061154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63047BDD-27B9-DA22-67A4-016EE9277024}"/>
                  </a:ext>
                </a:extLst>
              </p:cNvPr>
              <p:cNvSpPr/>
              <p:nvPr/>
            </p:nvSpPr>
            <p:spPr>
              <a:xfrm>
                <a:off x="2269259" y="2364395"/>
                <a:ext cx="3810000" cy="47145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5EBFE4DA-7965-AB11-E28B-302A614117F6}"/>
                  </a:ext>
                </a:extLst>
              </p:cNvPr>
              <p:cNvSpPr/>
              <p:nvPr/>
            </p:nvSpPr>
            <p:spPr>
              <a:xfrm>
                <a:off x="2472438" y="2365867"/>
                <a:ext cx="1434667" cy="3522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rPr>
                  <a:t>AGROI+D</a:t>
                </a:r>
                <a:endParaRPr lang="es-PE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endParaRPr>
              </a:p>
            </p:txBody>
          </p:sp>
          <p:pic>
            <p:nvPicPr>
              <p:cNvPr id="64" name="Imagen 63" descr="Logotipo, nombre de la empresa">
                <a:extLst>
                  <a:ext uri="{FF2B5EF4-FFF2-40B4-BE49-F238E27FC236}">
                    <a16:creationId xmlns:a16="http://schemas.microsoft.com/office/drawing/2014/main" id="{C4BEF277-2072-E1FC-8975-2FBA231CD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344" y="2911364"/>
                <a:ext cx="2513026" cy="798499"/>
              </a:xfrm>
              <a:prstGeom prst="rect">
                <a:avLst/>
              </a:prstGeom>
            </p:spPr>
          </p:pic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CFB91E6A-44E3-7291-2C0B-FFDA90BAF2E5}"/>
                  </a:ext>
                </a:extLst>
              </p:cNvPr>
              <p:cNvSpPr/>
              <p:nvPr/>
            </p:nvSpPr>
            <p:spPr>
              <a:xfrm>
                <a:off x="2466209" y="3959827"/>
                <a:ext cx="3562788" cy="23358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49F23571-0AB9-B964-77CC-EBF8B4327A19}"/>
                  </a:ext>
                </a:extLst>
              </p:cNvPr>
              <p:cNvSpPr/>
              <p:nvPr/>
            </p:nvSpPr>
            <p:spPr>
              <a:xfrm>
                <a:off x="2826772" y="4810932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Solicitud de Requerimientos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pic>
            <p:nvPicPr>
              <p:cNvPr id="67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71CA5319-8DF5-EC9A-450C-5D95AF86C1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0479" y="2353955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3327B3EE-FC74-4A94-6E88-D56DCA8F71DD}"/>
                  </a:ext>
                </a:extLst>
              </p:cNvPr>
              <p:cNvSpPr/>
              <p:nvPr/>
            </p:nvSpPr>
            <p:spPr>
              <a:xfrm>
                <a:off x="2789980" y="3935453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Programación semanal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sp>
            <p:nvSpPr>
              <p:cNvPr id="75" name="Diagrama de flujo: proceso alternativo 74">
                <a:extLst>
                  <a:ext uri="{FF2B5EF4-FFF2-40B4-BE49-F238E27FC236}">
                    <a16:creationId xmlns:a16="http://schemas.microsoft.com/office/drawing/2014/main" id="{BDF2A900-85B3-F9C3-AFAD-99B9127589EF}"/>
                  </a:ext>
                </a:extLst>
              </p:cNvPr>
              <p:cNvSpPr/>
              <p:nvPr/>
            </p:nvSpPr>
            <p:spPr>
              <a:xfrm>
                <a:off x="2811466" y="3964984"/>
                <a:ext cx="2855174" cy="488398"/>
              </a:xfrm>
              <a:prstGeom prst="flowChartAlternateProcess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76" name="Imagen 75">
                <a:extLst>
                  <a:ext uri="{FF2B5EF4-FFF2-40B4-BE49-F238E27FC236}">
                    <a16:creationId xmlns:a16="http://schemas.microsoft.com/office/drawing/2014/main" id="{762E7B1D-E0BA-E81D-702B-95C914E785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25233" t="14388" r="27148" b="24106"/>
              <a:stretch/>
            </p:blipFill>
            <p:spPr>
              <a:xfrm rot="4160401">
                <a:off x="2611570" y="5174395"/>
                <a:ext cx="391599" cy="578665"/>
              </a:xfrm>
              <a:prstGeom prst="rect">
                <a:avLst/>
              </a:prstGeom>
            </p:spPr>
          </p:pic>
        </p:grp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A2B43ED8-FD09-61CA-3520-E694382F3062}"/>
                </a:ext>
              </a:extLst>
            </p:cNvPr>
            <p:cNvSpPr/>
            <p:nvPr/>
          </p:nvSpPr>
          <p:spPr>
            <a:xfrm>
              <a:off x="2025160" y="4059869"/>
              <a:ext cx="387561" cy="35285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000" b="1" dirty="0"/>
                <a:t>2</a:t>
              </a:r>
            </a:p>
          </p:txBody>
        </p:sp>
      </p:grp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8D55C040-A9EB-1FBE-FB68-022EF4B244A2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1357227" y="3674902"/>
            <a:ext cx="748031" cy="65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Conector: angular 98">
            <a:extLst>
              <a:ext uri="{FF2B5EF4-FFF2-40B4-BE49-F238E27FC236}">
                <a16:creationId xmlns:a16="http://schemas.microsoft.com/office/drawing/2014/main" id="{458B20E7-2E3B-E9FA-8BE9-94E2E4721B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916543" y="5167418"/>
            <a:ext cx="1500209" cy="387314"/>
          </a:xfrm>
          <a:prstGeom prst="bentConnector3">
            <a:avLst>
              <a:gd name="adj1" fmla="val 98571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4D238E82-B411-D92B-DB03-321E3A8A5C4C}"/>
              </a:ext>
            </a:extLst>
          </p:cNvPr>
          <p:cNvSpPr/>
          <p:nvPr/>
        </p:nvSpPr>
        <p:spPr>
          <a:xfrm rot="16200000">
            <a:off x="3896867" y="3915694"/>
            <a:ext cx="2831952" cy="1388514"/>
          </a:xfrm>
          <a:prstGeom prst="triangle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8792FA10-52BB-D7F0-EE6A-7E35D9DD02A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83581" y="5984731"/>
            <a:ext cx="2995804" cy="1755054"/>
          </a:xfrm>
          <a:prstGeom prst="rect">
            <a:avLst/>
          </a:prstGeom>
        </p:spPr>
      </p:pic>
      <p:sp>
        <p:nvSpPr>
          <p:cNvPr id="98" name="Rectángulo 97">
            <a:extLst>
              <a:ext uri="{FF2B5EF4-FFF2-40B4-BE49-F238E27FC236}">
                <a16:creationId xmlns:a16="http://schemas.microsoft.com/office/drawing/2014/main" id="{E9918301-5197-785D-FCDA-CDFF47110B5A}"/>
              </a:ext>
            </a:extLst>
          </p:cNvPr>
          <p:cNvSpPr/>
          <p:nvPr/>
        </p:nvSpPr>
        <p:spPr>
          <a:xfrm>
            <a:off x="1902871" y="5468039"/>
            <a:ext cx="2973609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AA95E8FD-EF90-95A5-467B-AC16F39B79C3}"/>
              </a:ext>
            </a:extLst>
          </p:cNvPr>
          <p:cNvGrpSpPr/>
          <p:nvPr/>
        </p:nvGrpSpPr>
        <p:grpSpPr>
          <a:xfrm>
            <a:off x="2370746" y="7774252"/>
            <a:ext cx="2095644" cy="291934"/>
            <a:chOff x="10955573" y="4291145"/>
            <a:chExt cx="2095644" cy="287749"/>
          </a:xfrm>
        </p:grpSpPr>
        <p:sp>
          <p:nvSpPr>
            <p:cNvPr id="101" name="Rectángulo 100">
              <a:extLst>
                <a:ext uri="{FF2B5EF4-FFF2-40B4-BE49-F238E27FC236}">
                  <a16:creationId xmlns:a16="http://schemas.microsoft.com/office/drawing/2014/main" id="{65378CF0-1FFC-6676-D1DB-AE99CA3E876B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8D633B75-0442-E3B1-C7EF-A681B68C9768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282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lecha: pentágono 110">
            <a:extLst>
              <a:ext uri="{FF2B5EF4-FFF2-40B4-BE49-F238E27FC236}">
                <a16:creationId xmlns:a16="http://schemas.microsoft.com/office/drawing/2014/main" id="{4551E292-EB0C-AA9A-601E-D919998386C3}"/>
              </a:ext>
            </a:extLst>
          </p:cNvPr>
          <p:cNvSpPr/>
          <p:nvPr/>
        </p:nvSpPr>
        <p:spPr>
          <a:xfrm>
            <a:off x="1150362" y="213173"/>
            <a:ext cx="8181897" cy="1133107"/>
          </a:xfrm>
          <a:prstGeom prst="homePlate">
            <a:avLst/>
          </a:prstGeom>
          <a:solidFill>
            <a:srgbClr val="1F497D"/>
          </a:solidFill>
          <a:ln w="57150"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3C2D1DC-1A57-6FF2-5AB4-84C6F6DAA7A2}"/>
              </a:ext>
            </a:extLst>
          </p:cNvPr>
          <p:cNvSpPr txBox="1"/>
          <p:nvPr/>
        </p:nvSpPr>
        <p:spPr>
          <a:xfrm>
            <a:off x="5006978" y="1603357"/>
            <a:ext cx="12123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usurario al ingresar nuevo requerimiento llenara el formulario</a:t>
            </a:r>
          </a:p>
        </p:txBody>
      </p:sp>
      <p:grpSp>
        <p:nvGrpSpPr>
          <p:cNvPr id="89" name="Grupo 88">
            <a:extLst>
              <a:ext uri="{FF2B5EF4-FFF2-40B4-BE49-F238E27FC236}">
                <a16:creationId xmlns:a16="http://schemas.microsoft.com/office/drawing/2014/main" id="{007356DE-6249-5939-059A-8E33FDBB1FC9}"/>
              </a:ext>
            </a:extLst>
          </p:cNvPr>
          <p:cNvGrpSpPr/>
          <p:nvPr/>
        </p:nvGrpSpPr>
        <p:grpSpPr>
          <a:xfrm>
            <a:off x="8267955" y="2220830"/>
            <a:ext cx="8344251" cy="7061154"/>
            <a:chOff x="9289035" y="1356910"/>
            <a:chExt cx="8344251" cy="7061154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D5145956-A9F5-7029-97B4-16B1D27B9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3209" y="1356910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D3624F0E-AAAD-02D6-3808-1C3DFB3A3F7F}"/>
                </a:ext>
              </a:extLst>
            </p:cNvPr>
            <p:cNvSpPr/>
            <p:nvPr/>
          </p:nvSpPr>
          <p:spPr>
            <a:xfrm>
              <a:off x="9289035" y="1710917"/>
              <a:ext cx="3832106" cy="4714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EC2CB60-090B-ED6E-EC23-B029C90F3633}"/>
                </a:ext>
              </a:extLst>
            </p:cNvPr>
            <p:cNvSpPr/>
            <p:nvPr/>
          </p:nvSpPr>
          <p:spPr>
            <a:xfrm>
              <a:off x="9429940" y="1679674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CA92F46-CE02-FE6B-66D1-7D63BE5A2428}"/>
                </a:ext>
              </a:extLst>
            </p:cNvPr>
            <p:cNvSpPr/>
            <p:nvPr/>
          </p:nvSpPr>
          <p:spPr>
            <a:xfrm>
              <a:off x="9438575" y="2294385"/>
              <a:ext cx="3628067" cy="36079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55CF34A-9844-1463-6C5A-259410D9A58D}"/>
                </a:ext>
              </a:extLst>
            </p:cNvPr>
            <p:cNvSpPr txBox="1"/>
            <p:nvPr/>
          </p:nvSpPr>
          <p:spPr>
            <a:xfrm>
              <a:off x="9522181" y="2803796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*FUNDO:</a:t>
              </a:r>
              <a:endParaRPr lang="es-PE" sz="1600" b="1">
                <a:solidFill>
                  <a:srgbClr val="FF0000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6C7483-9C24-1AF5-6727-DF597796BD57}"/>
                </a:ext>
              </a:extLst>
            </p:cNvPr>
            <p:cNvSpPr txBox="1"/>
            <p:nvPr/>
          </p:nvSpPr>
          <p:spPr>
            <a:xfrm>
              <a:off x="9522181" y="3165929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*LOTE:</a:t>
              </a:r>
              <a:endParaRPr lang="es-PE" sz="1600" b="1"/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7A18F1A-D676-9E92-EE48-857C7789C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600" y="2826427"/>
              <a:ext cx="2519554" cy="304843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3D3D69CB-B0A9-3D59-C103-70AE67826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600" y="3215519"/>
              <a:ext cx="2519554" cy="304843"/>
            </a:xfrm>
            <a:prstGeom prst="rect">
              <a:avLst/>
            </a:prstGeom>
          </p:spPr>
        </p:pic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485D12C-3D55-44CF-61EF-0BD856DF6325}"/>
                </a:ext>
              </a:extLst>
            </p:cNvPr>
            <p:cNvSpPr/>
            <p:nvPr/>
          </p:nvSpPr>
          <p:spPr>
            <a:xfrm>
              <a:off x="12773380" y="2854962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v</a:t>
              </a:r>
              <a:endParaRPr lang="es-PE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824581F-C22F-6887-539F-9C50D19A9CA2}"/>
                </a:ext>
              </a:extLst>
            </p:cNvPr>
            <p:cNvSpPr/>
            <p:nvPr/>
          </p:nvSpPr>
          <p:spPr>
            <a:xfrm>
              <a:off x="12773380" y="3243829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v</a:t>
              </a:r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7B26466-19F2-151C-FF81-61369B848FA6}"/>
                </a:ext>
              </a:extLst>
            </p:cNvPr>
            <p:cNvSpPr txBox="1"/>
            <p:nvPr/>
          </p:nvSpPr>
          <p:spPr>
            <a:xfrm>
              <a:off x="9522180" y="2437517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*FECHA:</a:t>
              </a:r>
              <a:endParaRPr lang="es-PE" sz="1600" b="1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1361320-09A1-2CE6-6EE7-78AC9B601D87}"/>
                </a:ext>
              </a:extLst>
            </p:cNvPr>
            <p:cNvSpPr txBox="1"/>
            <p:nvPr/>
          </p:nvSpPr>
          <p:spPr>
            <a:xfrm>
              <a:off x="9471016" y="3658394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*ESPECIE:</a:t>
              </a:r>
              <a:endParaRPr lang="es-PE" sz="1600" b="1"/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1F7AC335-58CF-94F6-ABA1-43A2C97B3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599" y="3666705"/>
              <a:ext cx="2519554" cy="304843"/>
            </a:xfrm>
            <a:prstGeom prst="rect">
              <a:avLst/>
            </a:prstGeom>
          </p:spPr>
        </p:pic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B45BC48E-DBC8-575B-DE7A-C507C67684EE}"/>
                </a:ext>
              </a:extLst>
            </p:cNvPr>
            <p:cNvSpPr/>
            <p:nvPr/>
          </p:nvSpPr>
          <p:spPr>
            <a:xfrm>
              <a:off x="12773379" y="3695015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v</a:t>
              </a:r>
              <a:endParaRPr lang="es-PE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9E3F3630-3BBA-CC5E-76AD-939DB9E3A948}"/>
                </a:ext>
              </a:extLst>
            </p:cNvPr>
            <p:cNvSpPr txBox="1"/>
            <p:nvPr/>
          </p:nvSpPr>
          <p:spPr>
            <a:xfrm>
              <a:off x="9445980" y="4609984"/>
              <a:ext cx="12855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*CANTIDAD:</a:t>
              </a:r>
              <a:endParaRPr lang="es-PE" sz="1600" b="1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06064AD-DE9F-D7C6-735E-2AF8C4E9E60D}"/>
                </a:ext>
              </a:extLst>
            </p:cNvPr>
            <p:cNvSpPr txBox="1"/>
            <p:nvPr/>
          </p:nvSpPr>
          <p:spPr>
            <a:xfrm>
              <a:off x="9467372" y="5027155"/>
              <a:ext cx="1155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*PLAGA OBJETIVO:</a:t>
              </a:r>
              <a:endParaRPr lang="es-PE" sz="1600" b="1"/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5474782-12F7-388F-D6E6-323898412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61646" y="5300501"/>
              <a:ext cx="2519554" cy="304843"/>
            </a:xfrm>
            <a:prstGeom prst="rect">
              <a:avLst/>
            </a:prstGeom>
          </p:spPr>
        </p:pic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81BD99C8-86D7-20B4-4F12-C56A4E508DBE}"/>
                </a:ext>
              </a:extLst>
            </p:cNvPr>
            <p:cNvSpPr/>
            <p:nvPr/>
          </p:nvSpPr>
          <p:spPr>
            <a:xfrm>
              <a:off x="12757426" y="5328811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</a:t>
              </a:r>
              <a:endParaRPr lang="es-PE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586E51E-D300-7494-39E5-CE36CCB9210A}"/>
                </a:ext>
              </a:extLst>
            </p:cNvPr>
            <p:cNvSpPr txBox="1"/>
            <p:nvPr/>
          </p:nvSpPr>
          <p:spPr>
            <a:xfrm>
              <a:off x="9467371" y="5811659"/>
              <a:ext cx="16677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OBSERVACIONES:</a:t>
              </a:r>
              <a:endParaRPr lang="es-PE" sz="1600" b="1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42E856BE-6D67-EE37-67FC-55AB55613279}"/>
                </a:ext>
              </a:extLst>
            </p:cNvPr>
            <p:cNvSpPr/>
            <p:nvPr/>
          </p:nvSpPr>
          <p:spPr>
            <a:xfrm>
              <a:off x="10461646" y="6186732"/>
              <a:ext cx="2590316" cy="10448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4123E76E-76FA-A551-7FFD-7F79A9A8F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41226" y="6200717"/>
              <a:ext cx="408005" cy="408005"/>
            </a:xfrm>
            <a:prstGeom prst="rect">
              <a:avLst/>
            </a:prstGeom>
          </p:spPr>
        </p:pic>
        <p:pic>
          <p:nvPicPr>
            <p:cNvPr id="11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2B7042D6-1292-455E-E9D7-B94FDF39F0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5202" y="1681446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35ED6E0-076A-8FDD-B0F2-A75A85764C55}"/>
                </a:ext>
              </a:extLst>
            </p:cNvPr>
            <p:cNvSpPr/>
            <p:nvPr/>
          </p:nvSpPr>
          <p:spPr>
            <a:xfrm>
              <a:off x="10532677" y="7500143"/>
              <a:ext cx="1397112" cy="41770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Enviar solicitud</a:t>
              </a: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22461980-7172-1BBD-FF52-6A4A27D72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5399" y="4630464"/>
              <a:ext cx="1038370" cy="295316"/>
            </a:xfrm>
            <a:prstGeom prst="rect">
              <a:avLst/>
            </a:prstGeom>
          </p:spPr>
        </p:pic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114D933-71FF-8085-70FD-94C6D2E567C5}"/>
                </a:ext>
              </a:extLst>
            </p:cNvPr>
            <p:cNvSpPr txBox="1"/>
            <p:nvPr/>
          </p:nvSpPr>
          <p:spPr>
            <a:xfrm>
              <a:off x="10486555" y="2857136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LOS LAURELES</a:t>
              </a:r>
              <a:endParaRPr lang="es-PE" sz="120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3A7D26A5-973B-7C61-351B-F55AFFE0771A}"/>
                </a:ext>
              </a:extLst>
            </p:cNvPr>
            <p:cNvSpPr txBox="1"/>
            <p:nvPr/>
          </p:nvSpPr>
          <p:spPr>
            <a:xfrm>
              <a:off x="10492442" y="324103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LL06</a:t>
              </a:r>
              <a:endParaRPr lang="es-PE" sz="1200"/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67F89E60-2BE9-65D7-82B9-23AE816B255F}"/>
                </a:ext>
              </a:extLst>
            </p:cNvPr>
            <p:cNvSpPr txBox="1"/>
            <p:nvPr/>
          </p:nvSpPr>
          <p:spPr>
            <a:xfrm>
              <a:off x="10448946" y="368429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CHRYSOPAS</a:t>
              </a:r>
              <a:endParaRPr lang="es-PE" sz="1200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71AF4F5C-54E9-A3BB-E5FC-670E175216C4}"/>
                </a:ext>
              </a:extLst>
            </p:cNvPr>
            <p:cNvSpPr txBox="1"/>
            <p:nvPr/>
          </p:nvSpPr>
          <p:spPr>
            <a:xfrm>
              <a:off x="10640621" y="4640537"/>
              <a:ext cx="807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highlight>
                    <a:srgbClr val="00FF00"/>
                  </a:highlight>
                </a:rPr>
                <a:t>550 </a:t>
              </a:r>
              <a:r>
                <a:rPr lang="es-MX" sz="1200" dirty="0" err="1">
                  <a:highlight>
                    <a:srgbClr val="00FF00"/>
                  </a:highlight>
                </a:rPr>
                <a:t>mill</a:t>
              </a:r>
              <a:endParaRPr lang="es-PE" sz="1200" dirty="0">
                <a:highlight>
                  <a:srgbClr val="00FF00"/>
                </a:highlight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FBDE7477-8BBE-F200-51AF-1AEE806A4161}"/>
                </a:ext>
              </a:extLst>
            </p:cNvPr>
            <p:cNvSpPr txBox="1"/>
            <p:nvPr/>
          </p:nvSpPr>
          <p:spPr>
            <a:xfrm>
              <a:off x="10475519" y="5287771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/>
                <a:t>TRIPS</a:t>
              </a:r>
              <a:endParaRPr lang="es-PE" sz="1200" dirty="0"/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7E9D1B85-3FCD-B39E-DA1E-1C3378FA21D4}"/>
                </a:ext>
              </a:extLst>
            </p:cNvPr>
            <p:cNvSpPr/>
            <p:nvPr/>
          </p:nvSpPr>
          <p:spPr>
            <a:xfrm>
              <a:off x="9522179" y="2385060"/>
              <a:ext cx="2696229" cy="36914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C377E244-799B-3A11-8D60-8656B1906CBF}"/>
                </a:ext>
              </a:extLst>
            </p:cNvPr>
            <p:cNvSpPr/>
            <p:nvPr/>
          </p:nvSpPr>
          <p:spPr>
            <a:xfrm>
              <a:off x="9529432" y="2808431"/>
              <a:ext cx="3522530" cy="33637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209CB2D2-D42B-4B33-CB2F-96A1AA4D38C1}"/>
                </a:ext>
              </a:extLst>
            </p:cNvPr>
            <p:cNvSpPr/>
            <p:nvPr/>
          </p:nvSpPr>
          <p:spPr>
            <a:xfrm>
              <a:off x="9531207" y="3208594"/>
              <a:ext cx="3522530" cy="33637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4CD588F5-52B2-508F-FA3C-275F0453D0B8}"/>
                </a:ext>
              </a:extLst>
            </p:cNvPr>
            <p:cNvSpPr/>
            <p:nvPr/>
          </p:nvSpPr>
          <p:spPr>
            <a:xfrm>
              <a:off x="9529237" y="3622473"/>
              <a:ext cx="3522530" cy="479627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3CA73B5F-0900-693E-B827-B77A4953CF6C}"/>
                </a:ext>
              </a:extLst>
            </p:cNvPr>
            <p:cNvSpPr/>
            <p:nvPr/>
          </p:nvSpPr>
          <p:spPr>
            <a:xfrm>
              <a:off x="9539962" y="4648695"/>
              <a:ext cx="1807672" cy="27593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780B4FE-CE77-CC62-2097-C4EC1CD22847}"/>
                </a:ext>
              </a:extLst>
            </p:cNvPr>
            <p:cNvSpPr/>
            <p:nvPr/>
          </p:nvSpPr>
          <p:spPr>
            <a:xfrm>
              <a:off x="9522180" y="5065442"/>
              <a:ext cx="3522530" cy="613209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E51EA763-24E3-2113-0362-358FAF2CE8D8}"/>
                </a:ext>
              </a:extLst>
            </p:cNvPr>
            <p:cNvSpPr/>
            <p:nvPr/>
          </p:nvSpPr>
          <p:spPr>
            <a:xfrm>
              <a:off x="9522180" y="5823090"/>
              <a:ext cx="3556610" cy="141640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30D3E53B-9D0A-6F51-3A36-CB4AFD26FD30}"/>
                </a:ext>
              </a:extLst>
            </p:cNvPr>
            <p:cNvCxnSpPr>
              <a:cxnSpLocks/>
              <a:stCxn id="69" idx="1"/>
              <a:endCxn id="52" idx="3"/>
            </p:cNvCxnSpPr>
            <p:nvPr/>
          </p:nvCxnSpPr>
          <p:spPr>
            <a:xfrm flipH="1">
              <a:off x="12218408" y="2008832"/>
              <a:ext cx="1200856" cy="5608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C9C36D6C-B5C1-DAC3-6677-B1680D3B04FC}"/>
                </a:ext>
              </a:extLst>
            </p:cNvPr>
            <p:cNvSpPr/>
            <p:nvPr/>
          </p:nvSpPr>
          <p:spPr>
            <a:xfrm>
              <a:off x="13419264" y="1753130"/>
              <a:ext cx="4214022" cy="51140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La fecha debe aparecer por defecto.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3654155E-CD56-2BA7-4F5A-306502065FBF}"/>
                </a:ext>
              </a:extLst>
            </p:cNvPr>
            <p:cNvCxnSpPr>
              <a:cxnSpLocks/>
              <a:stCxn id="83" idx="1"/>
              <a:endCxn id="53" idx="3"/>
            </p:cNvCxnSpPr>
            <p:nvPr/>
          </p:nvCxnSpPr>
          <p:spPr>
            <a:xfrm flipH="1">
              <a:off x="13051962" y="2597066"/>
              <a:ext cx="367302" cy="3795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C9054B14-94CA-1844-3E07-ACDAFEDFCADE}"/>
                </a:ext>
              </a:extLst>
            </p:cNvPr>
            <p:cNvSpPr txBox="1"/>
            <p:nvPr/>
          </p:nvSpPr>
          <p:spPr>
            <a:xfrm>
              <a:off x="13419264" y="2435483"/>
              <a:ext cx="4203832" cy="32316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los fundos 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0" name="Conector recto de flecha 89">
              <a:extLst>
                <a:ext uri="{FF2B5EF4-FFF2-40B4-BE49-F238E27FC236}">
                  <a16:creationId xmlns:a16="http://schemas.microsoft.com/office/drawing/2014/main" id="{12A0743C-BBD1-55E6-BEA6-836CA5FA6A89}"/>
                </a:ext>
              </a:extLst>
            </p:cNvPr>
            <p:cNvCxnSpPr>
              <a:cxnSpLocks/>
              <a:stCxn id="91" idx="1"/>
              <a:endCxn id="54" idx="3"/>
            </p:cNvCxnSpPr>
            <p:nvPr/>
          </p:nvCxnSpPr>
          <p:spPr>
            <a:xfrm flipH="1">
              <a:off x="13053737" y="3237949"/>
              <a:ext cx="358274" cy="1388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3E170705-39C6-A75D-BA1B-C300F8ADBB2E}"/>
                </a:ext>
              </a:extLst>
            </p:cNvPr>
            <p:cNvSpPr txBox="1"/>
            <p:nvPr/>
          </p:nvSpPr>
          <p:spPr>
            <a:xfrm>
              <a:off x="13412011" y="2960950"/>
              <a:ext cx="4203832" cy="55399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los lotes según el fundo seleccionado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7032150F-C524-3C76-C37A-76E4EC916FF8}"/>
                </a:ext>
              </a:extLst>
            </p:cNvPr>
            <p:cNvSpPr txBox="1"/>
            <p:nvPr/>
          </p:nvSpPr>
          <p:spPr>
            <a:xfrm>
              <a:off x="13419263" y="3583859"/>
              <a:ext cx="4196580" cy="55399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cada tipo de Insectos Benéficos.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776FCE7F-93F7-6E1A-CBFD-55BD9721EAFA}"/>
                </a:ext>
              </a:extLst>
            </p:cNvPr>
            <p:cNvCxnSpPr>
              <a:cxnSpLocks/>
              <a:stCxn id="94" idx="1"/>
              <a:endCxn id="55" idx="3"/>
            </p:cNvCxnSpPr>
            <p:nvPr/>
          </p:nvCxnSpPr>
          <p:spPr>
            <a:xfrm flipH="1">
              <a:off x="13051767" y="3860858"/>
              <a:ext cx="367496" cy="1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E985F0EA-6941-CA92-081C-997335AC82DF}"/>
                </a:ext>
              </a:extLst>
            </p:cNvPr>
            <p:cNvSpPr txBox="1"/>
            <p:nvPr/>
          </p:nvSpPr>
          <p:spPr>
            <a:xfrm>
              <a:off x="13419263" y="4676512"/>
              <a:ext cx="4196579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El campo de cantidad debe ser editable, además, no se puede ingresar una cantidad mayor a la total.</a:t>
              </a:r>
              <a:endParaRPr lang="es-PE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100" name="Conector recto de flecha 99">
              <a:extLst>
                <a:ext uri="{FF2B5EF4-FFF2-40B4-BE49-F238E27FC236}">
                  <a16:creationId xmlns:a16="http://schemas.microsoft.com/office/drawing/2014/main" id="{EDD7D22B-C577-4417-E018-2B07D3DE55F8}"/>
                </a:ext>
              </a:extLst>
            </p:cNvPr>
            <p:cNvCxnSpPr>
              <a:cxnSpLocks/>
              <a:stCxn id="99" idx="1"/>
            </p:cNvCxnSpPr>
            <p:nvPr/>
          </p:nvCxnSpPr>
          <p:spPr>
            <a:xfrm flipH="1" flipV="1">
              <a:off x="12809206" y="4878464"/>
              <a:ext cx="610057" cy="167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9A251C42-7A88-734F-A89B-83E708239768}"/>
                </a:ext>
              </a:extLst>
            </p:cNvPr>
            <p:cNvSpPr txBox="1"/>
            <p:nvPr/>
          </p:nvSpPr>
          <p:spPr>
            <a:xfrm>
              <a:off x="13419264" y="5385938"/>
              <a:ext cx="3973386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dirty="0"/>
                <a:t>Lista desplegable de las plagas objetivo.</a:t>
              </a:r>
              <a:endParaRPr lang="es-PE" dirty="0"/>
            </a:p>
          </p:txBody>
        </p:sp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B1BB03C2-40D0-5E2E-6D99-673BBBE65BFD}"/>
                </a:ext>
              </a:extLst>
            </p:cNvPr>
            <p:cNvCxnSpPr>
              <a:cxnSpLocks/>
              <a:stCxn id="102" idx="1"/>
              <a:endCxn id="57" idx="3"/>
            </p:cNvCxnSpPr>
            <p:nvPr/>
          </p:nvCxnSpPr>
          <p:spPr>
            <a:xfrm flipH="1" flipV="1">
              <a:off x="13044710" y="5372047"/>
              <a:ext cx="374554" cy="1985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Conector recto de flecha 104">
              <a:extLst>
                <a:ext uri="{FF2B5EF4-FFF2-40B4-BE49-F238E27FC236}">
                  <a16:creationId xmlns:a16="http://schemas.microsoft.com/office/drawing/2014/main" id="{BB851AF0-43C6-0A86-BDBC-8573183443C5}"/>
                </a:ext>
              </a:extLst>
            </p:cNvPr>
            <p:cNvCxnSpPr>
              <a:cxnSpLocks/>
              <a:stCxn id="107" idx="1"/>
              <a:endCxn id="58" idx="3"/>
            </p:cNvCxnSpPr>
            <p:nvPr/>
          </p:nvCxnSpPr>
          <p:spPr>
            <a:xfrm flipH="1" flipV="1">
              <a:off x="13078790" y="6531291"/>
              <a:ext cx="374483" cy="179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0F4F8C0B-7296-2BB6-BA8B-A586DBA371DD}"/>
                </a:ext>
              </a:extLst>
            </p:cNvPr>
            <p:cNvSpPr txBox="1"/>
            <p:nvPr/>
          </p:nvSpPr>
          <p:spPr>
            <a:xfrm>
              <a:off x="13453273" y="6087527"/>
              <a:ext cx="3973386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/>
                <a:t>Campo editable de observaciones.</a:t>
              </a:r>
            </a:p>
            <a:p>
              <a:r>
                <a:rPr lang="es-MX"/>
                <a:t>La cantidad máxima de fotos que se pueden realizar son </a:t>
              </a:r>
              <a:r>
                <a:rPr lang="es-MX" b="1"/>
                <a:t>2</a:t>
              </a:r>
              <a:r>
                <a:rPr lang="es-MX"/>
                <a:t>.</a:t>
              </a:r>
              <a:endParaRPr lang="es-PE"/>
            </a:p>
          </p:txBody>
        </p:sp>
        <p:cxnSp>
          <p:nvCxnSpPr>
            <p:cNvPr id="108" name="Conector recto de flecha 107">
              <a:extLst>
                <a:ext uri="{FF2B5EF4-FFF2-40B4-BE49-F238E27FC236}">
                  <a16:creationId xmlns:a16="http://schemas.microsoft.com/office/drawing/2014/main" id="{37EACCBF-B677-F828-73DE-F8BFC109D69B}"/>
                </a:ext>
              </a:extLst>
            </p:cNvPr>
            <p:cNvCxnSpPr>
              <a:cxnSpLocks/>
              <a:stCxn id="110" idx="1"/>
              <a:endCxn id="42" idx="2"/>
            </p:cNvCxnSpPr>
            <p:nvPr/>
          </p:nvCxnSpPr>
          <p:spPr>
            <a:xfrm flipH="1">
              <a:off x="11231233" y="7816313"/>
              <a:ext cx="2198220" cy="1015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9CF967B5-DE16-022F-4DBB-47097BF7C772}"/>
                </a:ext>
              </a:extLst>
            </p:cNvPr>
            <p:cNvSpPr txBox="1"/>
            <p:nvPr/>
          </p:nvSpPr>
          <p:spPr>
            <a:xfrm>
              <a:off x="13429453" y="7446981"/>
              <a:ext cx="3608159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Una vez llenado toda la información hacemos </a:t>
              </a:r>
              <a:r>
                <a:rPr lang="es-MX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click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 en </a:t>
              </a:r>
              <a:r>
                <a:rPr lang="es-MX" sz="1400" b="1" dirty="0">
                  <a:latin typeface="Poppins" panose="00000500000000000000" pitchFamily="2" charset="0"/>
                  <a:cs typeface="Poppins" panose="00000500000000000000" pitchFamily="2" charset="0"/>
                </a:rPr>
                <a:t>“enviar solicitud“ 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el requerimiento se guardará.</a:t>
              </a:r>
              <a:endParaRPr lang="es-PE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15" name="Imagen 114">
              <a:extLst>
                <a:ext uri="{FF2B5EF4-FFF2-40B4-BE49-F238E27FC236}">
                  <a16:creationId xmlns:a16="http://schemas.microsoft.com/office/drawing/2014/main" id="{E1D7B804-066F-6217-AE59-B37BC90D0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11601702" y="7776641"/>
              <a:ext cx="407047" cy="556704"/>
            </a:xfrm>
            <a:prstGeom prst="rect">
              <a:avLst/>
            </a:prstGeom>
          </p:spPr>
        </p:pic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6DBF346A-8017-6FAA-5F92-3F7E7F0AFD22}"/>
                </a:ext>
              </a:extLst>
            </p:cNvPr>
            <p:cNvSpPr txBox="1"/>
            <p:nvPr/>
          </p:nvSpPr>
          <p:spPr>
            <a:xfrm>
              <a:off x="9463775" y="4206469"/>
              <a:ext cx="1853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*ET.FENOLOGICA:</a:t>
              </a:r>
              <a:endParaRPr lang="es-PE" sz="1600" b="1"/>
            </a:p>
          </p:txBody>
        </p:sp>
        <p:pic>
          <p:nvPicPr>
            <p:cNvPr id="120" name="Imagen 119">
              <a:extLst>
                <a:ext uri="{FF2B5EF4-FFF2-40B4-BE49-F238E27FC236}">
                  <a16:creationId xmlns:a16="http://schemas.microsoft.com/office/drawing/2014/main" id="{BB52C761-FDDB-FA71-068D-2FE58B988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6131" y="4241659"/>
              <a:ext cx="1903294" cy="295316"/>
            </a:xfrm>
            <a:prstGeom prst="rect">
              <a:avLst/>
            </a:prstGeom>
          </p:spPr>
        </p:pic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465EE143-EC47-7567-5D1C-BAB8DB505B68}"/>
                </a:ext>
              </a:extLst>
            </p:cNvPr>
            <p:cNvSpPr txBox="1"/>
            <p:nvPr/>
          </p:nvSpPr>
          <p:spPr>
            <a:xfrm>
              <a:off x="10972349" y="426774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POST COSECHA</a:t>
              </a:r>
              <a:endParaRPr lang="es-PE" sz="1200"/>
            </a:p>
          </p:txBody>
        </p:sp>
        <p:sp>
          <p:nvSpPr>
            <p:cNvPr id="121" name="Rectángulo 120">
              <a:extLst>
                <a:ext uri="{FF2B5EF4-FFF2-40B4-BE49-F238E27FC236}">
                  <a16:creationId xmlns:a16="http://schemas.microsoft.com/office/drawing/2014/main" id="{E73894B8-BC31-1B26-CC18-1199B8179C5B}"/>
                </a:ext>
              </a:extLst>
            </p:cNvPr>
            <p:cNvSpPr/>
            <p:nvPr/>
          </p:nvSpPr>
          <p:spPr>
            <a:xfrm>
              <a:off x="9509481" y="4221788"/>
              <a:ext cx="3542286" cy="34411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A4CCBFBC-7320-F119-EB49-790F8F1DA3D2}"/>
                </a:ext>
              </a:extLst>
            </p:cNvPr>
            <p:cNvSpPr/>
            <p:nvPr/>
          </p:nvSpPr>
          <p:spPr>
            <a:xfrm>
              <a:off x="12661493" y="4250230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</a:t>
              </a:r>
              <a:endParaRPr lang="es-PE" dirty="0"/>
            </a:p>
          </p:txBody>
        </p:sp>
        <p:sp>
          <p:nvSpPr>
            <p:cNvPr id="125" name="CuadroTexto 124">
              <a:extLst>
                <a:ext uri="{FF2B5EF4-FFF2-40B4-BE49-F238E27FC236}">
                  <a16:creationId xmlns:a16="http://schemas.microsoft.com/office/drawing/2014/main" id="{9C73558E-4A16-6E17-1320-281EB1976DAD}"/>
                </a:ext>
              </a:extLst>
            </p:cNvPr>
            <p:cNvSpPr txBox="1"/>
            <p:nvPr/>
          </p:nvSpPr>
          <p:spPr>
            <a:xfrm>
              <a:off x="13429453" y="4242911"/>
              <a:ext cx="4203833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/>
                <a:t>Lista desplegable de las etapas fenológicas.</a:t>
              </a:r>
              <a:endParaRPr lang="es-PE"/>
            </a:p>
          </p:txBody>
        </p:sp>
        <p:cxnSp>
          <p:nvCxnSpPr>
            <p:cNvPr id="126" name="Conector recto de flecha 125">
              <a:extLst>
                <a:ext uri="{FF2B5EF4-FFF2-40B4-BE49-F238E27FC236}">
                  <a16:creationId xmlns:a16="http://schemas.microsoft.com/office/drawing/2014/main" id="{B997AF17-45AF-449C-F05A-1B4DE25471DA}"/>
                </a:ext>
              </a:extLst>
            </p:cNvPr>
            <p:cNvCxnSpPr>
              <a:cxnSpLocks/>
              <a:stCxn id="125" idx="1"/>
              <a:endCxn id="121" idx="3"/>
            </p:cNvCxnSpPr>
            <p:nvPr/>
          </p:nvCxnSpPr>
          <p:spPr>
            <a:xfrm flipH="1" flipV="1">
              <a:off x="13051767" y="4393843"/>
              <a:ext cx="377686" cy="337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64" name="Imagen 63">
              <a:extLst>
                <a:ext uri="{FF2B5EF4-FFF2-40B4-BE49-F238E27FC236}">
                  <a16:creationId xmlns:a16="http://schemas.microsoft.com/office/drawing/2014/main" id="{31C15CEB-2353-6C6C-C36A-13C4B3CB6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50211" y="2443031"/>
              <a:ext cx="1038370" cy="295316"/>
            </a:xfrm>
            <a:prstGeom prst="rect">
              <a:avLst/>
            </a:prstGeom>
          </p:spPr>
        </p:pic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3ED377E0-635B-DE8D-4821-F84176EC4EB6}"/>
                </a:ext>
              </a:extLst>
            </p:cNvPr>
            <p:cNvSpPr txBox="1"/>
            <p:nvPr/>
          </p:nvSpPr>
          <p:spPr>
            <a:xfrm>
              <a:off x="10456018" y="2428408"/>
              <a:ext cx="1155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/>
                <a:t>08/07/2025</a:t>
              </a:r>
              <a:endParaRPr lang="es-PE" sz="1400"/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6F2809-71B1-D88D-FE45-7B501C61E9BF}"/>
              </a:ext>
            </a:extLst>
          </p:cNvPr>
          <p:cNvSpPr txBox="1"/>
          <p:nvPr/>
        </p:nvSpPr>
        <p:spPr>
          <a:xfrm>
            <a:off x="5006978" y="9527399"/>
            <a:ext cx="1123909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Cuando el administrador registre el stock, la cantidad ingresada deberá mostrarse en esta vista.</a:t>
            </a:r>
            <a:b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A medida que se realicen solicitudes eh ingresen las cantidades en el campo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“CANTIDAD”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, el stock se irá descontando automáticamente hasta llegar a cero y no se podrán realizar nuevos requerimientos.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03D1FB-1D96-F9DE-7911-A1C7A365C136}"/>
              </a:ext>
            </a:extLst>
          </p:cNvPr>
          <p:cNvSpPr txBox="1"/>
          <p:nvPr/>
        </p:nvSpPr>
        <p:spPr>
          <a:xfrm>
            <a:off x="209613" y="4293891"/>
            <a:ext cx="2170127" cy="8617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>
                <a:latin typeface="Poppins" panose="00000500000000000000" pitchFamily="2" charset="0"/>
                <a:cs typeface="Poppins" panose="00000500000000000000" pitchFamily="2" charset="0"/>
              </a:rPr>
              <a:t>Ingresamos a </a:t>
            </a:r>
            <a:r>
              <a:rPr lang="es-MX" sz="1600" b="1" dirty="0">
                <a:latin typeface="Poppins" panose="00000500000000000000" pitchFamily="2" charset="0"/>
                <a:cs typeface="Poppins" panose="00000500000000000000" pitchFamily="2" charset="0"/>
              </a:rPr>
              <a:t>“Nuevo Requerimiento</a:t>
            </a:r>
            <a:r>
              <a:rPr lang="es-MX" b="1" dirty="0"/>
              <a:t>”</a:t>
            </a:r>
            <a:endParaRPr lang="es-PE" b="1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464929A6-C060-FA6C-6572-B3E6D5B4E53D}"/>
              </a:ext>
            </a:extLst>
          </p:cNvPr>
          <p:cNvSpPr txBox="1"/>
          <p:nvPr/>
        </p:nvSpPr>
        <p:spPr>
          <a:xfrm>
            <a:off x="215766" y="6512671"/>
            <a:ext cx="2654434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La información se actualizará automáticamente cada vez que el administrador ingrese el stock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“Programación Semanal”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b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77E222A-4631-0EC4-0CE9-54EE9B67AA50}"/>
              </a:ext>
            </a:extLst>
          </p:cNvPr>
          <p:cNvGrpSpPr/>
          <p:nvPr/>
        </p:nvGrpSpPr>
        <p:grpSpPr>
          <a:xfrm>
            <a:off x="2379740" y="2319754"/>
            <a:ext cx="4508795" cy="7061154"/>
            <a:chOff x="2321349" y="1478726"/>
            <a:chExt cx="4508795" cy="7061154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B88B1F5-4F8A-8579-1704-2B458DB8A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4726" y="1478726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A706338-6709-E8A9-89EA-DEED47053F7A}"/>
                </a:ext>
              </a:extLst>
            </p:cNvPr>
            <p:cNvSpPr/>
            <p:nvPr/>
          </p:nvSpPr>
          <p:spPr>
            <a:xfrm>
              <a:off x="2992435" y="1711059"/>
              <a:ext cx="3810000" cy="4714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CD5A709C-6521-D48B-E083-98E9D9DF7690}"/>
                </a:ext>
              </a:extLst>
            </p:cNvPr>
            <p:cNvSpPr/>
            <p:nvPr/>
          </p:nvSpPr>
          <p:spPr>
            <a:xfrm>
              <a:off x="3081457" y="1770647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pic>
          <p:nvPicPr>
            <p:cNvPr id="60" name="Imagen 59" descr="Logotipo, nombre de la empresa">
              <a:extLst>
                <a:ext uri="{FF2B5EF4-FFF2-40B4-BE49-F238E27FC236}">
                  <a16:creationId xmlns:a16="http://schemas.microsoft.com/office/drawing/2014/main" id="{1BBA8E07-A07F-08CC-875A-C722FC52A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074" y="2294385"/>
              <a:ext cx="2513026" cy="929870"/>
            </a:xfrm>
            <a:prstGeom prst="rect">
              <a:avLst/>
            </a:prstGeom>
          </p:spPr>
        </p:pic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019DA534-EA46-8A4F-7FC6-935D04F016CE}"/>
                </a:ext>
              </a:extLst>
            </p:cNvPr>
            <p:cNvSpPr/>
            <p:nvPr/>
          </p:nvSpPr>
          <p:spPr>
            <a:xfrm>
              <a:off x="3144177" y="3293322"/>
              <a:ext cx="3474972" cy="23358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ABD82EB9-7BA3-2AE5-8A6D-20E1A2B242C3}"/>
                </a:ext>
              </a:extLst>
            </p:cNvPr>
            <p:cNvSpPr/>
            <p:nvPr/>
          </p:nvSpPr>
          <p:spPr>
            <a:xfrm>
              <a:off x="3574936" y="3483868"/>
              <a:ext cx="2640439" cy="5446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Nuevo Requerimiento</a:t>
              </a:r>
              <a:endParaRPr lang="es-PE" b="1" dirty="0">
                <a:solidFill>
                  <a:schemeClr val="tx1"/>
                </a:solidFill>
                <a:latin typeface="Abadi Extra Light" panose="020B0204020104020204" pitchFamily="34" charset="0"/>
              </a:endParaRP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49EA6AD9-B1C5-702A-C448-87AFA0C659AD}"/>
                </a:ext>
              </a:extLst>
            </p:cNvPr>
            <p:cNvSpPr/>
            <p:nvPr/>
          </p:nvSpPr>
          <p:spPr>
            <a:xfrm>
              <a:off x="3574936" y="4205622"/>
              <a:ext cx="2640439" cy="5446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Historial de Requerimiento</a:t>
              </a:r>
              <a:endParaRPr lang="es-PE" b="1" dirty="0">
                <a:solidFill>
                  <a:schemeClr val="tx1"/>
                </a:solidFill>
                <a:latin typeface="Abadi Extra Light" panose="020B0204020104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01FF6EE-C84D-0609-AA06-2EC37D5A9082}"/>
                </a:ext>
              </a:extLst>
            </p:cNvPr>
            <p:cNvCxnSpPr>
              <a:cxnSpLocks/>
              <a:stCxn id="14" idx="3"/>
              <a:endCxn id="61" idx="1"/>
            </p:cNvCxnSpPr>
            <p:nvPr/>
          </p:nvCxnSpPr>
          <p:spPr>
            <a:xfrm flipV="1">
              <a:off x="2321349" y="3756169"/>
              <a:ext cx="1253587" cy="1275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028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AD02AFBA-DA56-E809-EBBE-0E0075CA1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9498" y="1758735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90A5D7A0-7332-B1EB-454F-9651EDF4FF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183318">
              <a:off x="3182117" y="3895525"/>
              <a:ext cx="407047" cy="556704"/>
            </a:xfrm>
            <a:prstGeom prst="rect">
              <a:avLst/>
            </a:prstGeom>
          </p:spPr>
        </p:pic>
        <p:cxnSp>
          <p:nvCxnSpPr>
            <p:cNvPr id="101" name="Conector recto de flecha 100">
              <a:extLst>
                <a:ext uri="{FF2B5EF4-FFF2-40B4-BE49-F238E27FC236}">
                  <a16:creationId xmlns:a16="http://schemas.microsoft.com/office/drawing/2014/main" id="{930DE29E-F02C-9C58-C564-23F496FBDFD0}"/>
                </a:ext>
              </a:extLst>
            </p:cNvPr>
            <p:cNvCxnSpPr>
              <a:cxnSpLocks/>
              <a:stCxn id="98" idx="3"/>
              <a:endCxn id="117" idx="1"/>
            </p:cNvCxnSpPr>
            <p:nvPr/>
          </p:nvCxnSpPr>
          <p:spPr>
            <a:xfrm flipV="1">
              <a:off x="2811809" y="6370850"/>
              <a:ext cx="685122" cy="1010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7" name="Rectángulo: esquinas redondeadas 116">
              <a:extLst>
                <a:ext uri="{FF2B5EF4-FFF2-40B4-BE49-F238E27FC236}">
                  <a16:creationId xmlns:a16="http://schemas.microsoft.com/office/drawing/2014/main" id="{B69EF631-38A7-A33B-BE42-C714CC341977}"/>
                </a:ext>
              </a:extLst>
            </p:cNvPr>
            <p:cNvSpPr/>
            <p:nvPr/>
          </p:nvSpPr>
          <p:spPr>
            <a:xfrm>
              <a:off x="3496931" y="5241436"/>
              <a:ext cx="3013304" cy="2258827"/>
            </a:xfrm>
            <a:prstGeom prst="roundRect">
              <a:avLst>
                <a:gd name="adj" fmla="val 5270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484907C-9EDC-A5DE-4D3E-414DEE7A1CFE}"/>
              </a:ext>
            </a:extLst>
          </p:cNvPr>
          <p:cNvSpPr txBox="1"/>
          <p:nvPr/>
        </p:nvSpPr>
        <p:spPr>
          <a:xfrm>
            <a:off x="1446116" y="227820"/>
            <a:ext cx="7340698" cy="954107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DEL USUARIO </a:t>
            </a:r>
          </a:p>
          <a:p>
            <a:r>
              <a:rPr lang="es-MX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Sanidad (jefa de sanidad,…………………)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B496D9E-DBF1-B5AA-57D6-CF14BE0708DF}"/>
              </a:ext>
            </a:extLst>
          </p:cNvPr>
          <p:cNvSpPr/>
          <p:nvPr/>
        </p:nvSpPr>
        <p:spPr>
          <a:xfrm>
            <a:off x="34623" y="228103"/>
            <a:ext cx="1033664" cy="776825"/>
          </a:xfrm>
          <a:prstGeom prst="ellipse">
            <a:avLst/>
          </a:prstGeom>
          <a:solidFill>
            <a:srgbClr val="1F49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2</a:t>
            </a:r>
          </a:p>
        </p:txBody>
      </p:sp>
      <p:cxnSp>
        <p:nvCxnSpPr>
          <p:cNvPr id="88" name="Conector: angular 87">
            <a:extLst>
              <a:ext uri="{FF2B5EF4-FFF2-40B4-BE49-F238E27FC236}">
                <a16:creationId xmlns:a16="http://schemas.microsoft.com/office/drawing/2014/main" id="{C0F4D0E8-BCB5-9C51-B79F-537EE1311E3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70964" y="8148263"/>
            <a:ext cx="2203628" cy="554644"/>
          </a:xfrm>
          <a:prstGeom prst="bentConnector3">
            <a:avLst>
              <a:gd name="adj1" fmla="val 99564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6" name="Imagen 1055">
            <a:extLst>
              <a:ext uri="{FF2B5EF4-FFF2-40B4-BE49-F238E27FC236}">
                <a16:creationId xmlns:a16="http://schemas.microsoft.com/office/drawing/2014/main" id="{2C79D052-A541-1EF8-E4DF-E08D330730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3788" y="6614595"/>
            <a:ext cx="2995804" cy="1755054"/>
          </a:xfrm>
          <a:prstGeom prst="rect">
            <a:avLst/>
          </a:prstGeom>
        </p:spPr>
      </p:pic>
      <p:grpSp>
        <p:nvGrpSpPr>
          <p:cNvPr id="1057" name="Grupo 1056">
            <a:extLst>
              <a:ext uri="{FF2B5EF4-FFF2-40B4-BE49-F238E27FC236}">
                <a16:creationId xmlns:a16="http://schemas.microsoft.com/office/drawing/2014/main" id="{D1C8CF0A-C925-650B-6233-CD4A634434A7}"/>
              </a:ext>
            </a:extLst>
          </p:cNvPr>
          <p:cNvGrpSpPr/>
          <p:nvPr/>
        </p:nvGrpSpPr>
        <p:grpSpPr>
          <a:xfrm>
            <a:off x="4113293" y="8552675"/>
            <a:ext cx="2095644" cy="291934"/>
            <a:chOff x="10955573" y="4291145"/>
            <a:chExt cx="2095644" cy="287749"/>
          </a:xfrm>
        </p:grpSpPr>
        <p:sp>
          <p:nvSpPr>
            <p:cNvPr id="1058" name="Rectángulo 1057">
              <a:extLst>
                <a:ext uri="{FF2B5EF4-FFF2-40B4-BE49-F238E27FC236}">
                  <a16:creationId xmlns:a16="http://schemas.microsoft.com/office/drawing/2014/main" id="{EE7DA4F0-27C1-F2B4-1444-883E9818BC22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1059" name="Rectángulo 1058">
              <a:extLst>
                <a:ext uri="{FF2B5EF4-FFF2-40B4-BE49-F238E27FC236}">
                  <a16:creationId xmlns:a16="http://schemas.microsoft.com/office/drawing/2014/main" id="{33029008-24B6-13CE-6448-533B7A787C65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1061" name="Rectángulo 1060">
            <a:extLst>
              <a:ext uri="{FF2B5EF4-FFF2-40B4-BE49-F238E27FC236}">
                <a16:creationId xmlns:a16="http://schemas.microsoft.com/office/drawing/2014/main" id="{4BCA4497-8F10-6B42-4C33-64D20031613E}"/>
              </a:ext>
            </a:extLst>
          </p:cNvPr>
          <p:cNvSpPr/>
          <p:nvPr/>
        </p:nvSpPr>
        <p:spPr>
          <a:xfrm>
            <a:off x="3528493" y="6117581"/>
            <a:ext cx="3011110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2" name="CuadroTexto 1061">
            <a:extLst>
              <a:ext uri="{FF2B5EF4-FFF2-40B4-BE49-F238E27FC236}">
                <a16:creationId xmlns:a16="http://schemas.microsoft.com/office/drawing/2014/main" id="{9345C0C0-3887-452C-56D9-10AA927E110D}"/>
              </a:ext>
            </a:extLst>
          </p:cNvPr>
          <p:cNvSpPr txBox="1"/>
          <p:nvPr/>
        </p:nvSpPr>
        <p:spPr>
          <a:xfrm>
            <a:off x="553967" y="8696154"/>
            <a:ext cx="170961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Es el termómetro de consumo mensual</a:t>
            </a:r>
            <a:endParaRPr lang="es-PE" sz="1400" dirty="0"/>
          </a:p>
        </p:txBody>
      </p:sp>
      <p:cxnSp>
        <p:nvCxnSpPr>
          <p:cNvPr id="1063" name="Conector recto de flecha 1062">
            <a:extLst>
              <a:ext uri="{FF2B5EF4-FFF2-40B4-BE49-F238E27FC236}">
                <a16:creationId xmlns:a16="http://schemas.microsoft.com/office/drawing/2014/main" id="{92EB567C-201A-0B96-195D-B34FABB9FC8B}"/>
              </a:ext>
            </a:extLst>
          </p:cNvPr>
          <p:cNvCxnSpPr>
            <a:cxnSpLocks/>
            <a:stCxn id="1062" idx="3"/>
          </p:cNvCxnSpPr>
          <p:nvPr/>
        </p:nvCxnSpPr>
        <p:spPr>
          <a:xfrm flipV="1">
            <a:off x="2263585" y="8703043"/>
            <a:ext cx="1794900" cy="254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68" name="Triángulo isósceles 1067">
            <a:extLst>
              <a:ext uri="{FF2B5EF4-FFF2-40B4-BE49-F238E27FC236}">
                <a16:creationId xmlns:a16="http://schemas.microsoft.com/office/drawing/2014/main" id="{39C5C5FB-9339-82CA-469B-261432A76D3E}"/>
              </a:ext>
            </a:extLst>
          </p:cNvPr>
          <p:cNvSpPr/>
          <p:nvPr/>
        </p:nvSpPr>
        <p:spPr>
          <a:xfrm rot="16200000">
            <a:off x="5939511" y="3408866"/>
            <a:ext cx="2495613" cy="2483093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082" name="Imagen 1081">
            <a:extLst>
              <a:ext uri="{FF2B5EF4-FFF2-40B4-BE49-F238E27FC236}">
                <a16:creationId xmlns:a16="http://schemas.microsoft.com/office/drawing/2014/main" id="{A6B7CC29-8843-673A-AD08-0B8C195F2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268" y="5480023"/>
            <a:ext cx="1038370" cy="295316"/>
          </a:xfrm>
          <a:prstGeom prst="rect">
            <a:avLst/>
          </a:prstGeom>
        </p:spPr>
      </p:pic>
      <p:sp>
        <p:nvSpPr>
          <p:cNvPr id="1083" name="CuadroTexto 1082">
            <a:extLst>
              <a:ext uri="{FF2B5EF4-FFF2-40B4-BE49-F238E27FC236}">
                <a16:creationId xmlns:a16="http://schemas.microsoft.com/office/drawing/2014/main" id="{B8D5C068-5CDE-BD44-D164-A63A1097B96B}"/>
              </a:ext>
            </a:extLst>
          </p:cNvPr>
          <p:cNvSpPr txBox="1"/>
          <p:nvPr/>
        </p:nvSpPr>
        <p:spPr>
          <a:xfrm>
            <a:off x="10793795" y="5474438"/>
            <a:ext cx="807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300 </a:t>
            </a:r>
            <a:r>
              <a:rPr lang="es-MX" sz="1200" dirty="0" err="1"/>
              <a:t>mill</a:t>
            </a:r>
            <a:endParaRPr lang="es-PE" sz="1200" dirty="0"/>
          </a:p>
        </p:txBody>
      </p:sp>
      <p:pic>
        <p:nvPicPr>
          <p:cNvPr id="1084" name="Imagen 1083">
            <a:extLst>
              <a:ext uri="{FF2B5EF4-FFF2-40B4-BE49-F238E27FC236}">
                <a16:creationId xmlns:a16="http://schemas.microsoft.com/office/drawing/2014/main" id="{B58A663F-1DDF-D9CC-4402-59706F541C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4054" t="21866" r="40079" b="16403"/>
          <a:stretch/>
        </p:blipFill>
        <p:spPr>
          <a:xfrm flipV="1">
            <a:off x="11926582" y="5410226"/>
            <a:ext cx="242269" cy="31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9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Flecha: pentágono 2202">
            <a:extLst>
              <a:ext uri="{FF2B5EF4-FFF2-40B4-BE49-F238E27FC236}">
                <a16:creationId xmlns:a16="http://schemas.microsoft.com/office/drawing/2014/main" id="{CF937D7D-D1BE-5514-69C3-87791BB60584}"/>
              </a:ext>
            </a:extLst>
          </p:cNvPr>
          <p:cNvSpPr/>
          <p:nvPr/>
        </p:nvSpPr>
        <p:spPr>
          <a:xfrm>
            <a:off x="822060" y="293001"/>
            <a:ext cx="6663764" cy="841311"/>
          </a:xfrm>
          <a:prstGeom prst="homePlate">
            <a:avLst/>
          </a:prstGeom>
          <a:solidFill>
            <a:srgbClr val="1F497D"/>
          </a:solidFill>
          <a:ln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101DFA2-8C71-AED4-96A7-913684634308}"/>
              </a:ext>
            </a:extLst>
          </p:cNvPr>
          <p:cNvSpPr txBox="1"/>
          <p:nvPr/>
        </p:nvSpPr>
        <p:spPr>
          <a:xfrm>
            <a:off x="1241584" y="448269"/>
            <a:ext cx="3762585" cy="584775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DEL USUARIO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475A565-9917-247E-40C7-95B55F28664B}"/>
              </a:ext>
            </a:extLst>
          </p:cNvPr>
          <p:cNvGrpSpPr/>
          <p:nvPr/>
        </p:nvGrpSpPr>
        <p:grpSpPr>
          <a:xfrm>
            <a:off x="1212938" y="1499797"/>
            <a:ext cx="3865418" cy="7061154"/>
            <a:chOff x="1212938" y="1499797"/>
            <a:chExt cx="3865418" cy="7061154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653FBD11-81BE-B833-016B-D911547D34F0}"/>
                </a:ext>
              </a:extLst>
            </p:cNvPr>
            <p:cNvGrpSpPr/>
            <p:nvPr/>
          </p:nvGrpSpPr>
          <p:grpSpPr>
            <a:xfrm>
              <a:off x="1212938" y="1499797"/>
              <a:ext cx="3865418" cy="7061154"/>
              <a:chOff x="4968636" y="1248414"/>
              <a:chExt cx="3865418" cy="7061154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9CA73C2B-571A-336E-5E75-6A833311EBB7}"/>
                  </a:ext>
                </a:extLst>
              </p:cNvPr>
              <p:cNvGrpSpPr/>
              <p:nvPr/>
            </p:nvGrpSpPr>
            <p:grpSpPr>
              <a:xfrm>
                <a:off x="4968636" y="1248414"/>
                <a:ext cx="3865418" cy="7061154"/>
                <a:chOff x="8833428" y="1270548"/>
                <a:chExt cx="3865418" cy="7061154"/>
              </a:xfrm>
            </p:grpSpPr>
            <p:pic>
              <p:nvPicPr>
                <p:cNvPr id="8" name="Imagen 7">
                  <a:extLst>
                    <a:ext uri="{FF2B5EF4-FFF2-40B4-BE49-F238E27FC236}">
                      <a16:creationId xmlns:a16="http://schemas.microsoft.com/office/drawing/2014/main" id="{388BBEF6-4F85-213E-39EE-55DA94BF6B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33428" y="1270548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DB824B83-8B08-3157-9C17-2453BCDD92EC}"/>
                    </a:ext>
                  </a:extLst>
                </p:cNvPr>
                <p:cNvSpPr/>
                <p:nvPr/>
              </p:nvSpPr>
              <p:spPr>
                <a:xfrm>
                  <a:off x="8861137" y="1502881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05AB7B4C-4F6F-DC4A-3AE1-5E7A7D5CC0AD}"/>
                    </a:ext>
                  </a:extLst>
                </p:cNvPr>
                <p:cNvSpPr/>
                <p:nvPr/>
              </p:nvSpPr>
              <p:spPr>
                <a:xfrm>
                  <a:off x="8950159" y="1562469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pic>
              <p:nvPicPr>
                <p:cNvPr id="11" name="Imagen 10" descr="Logotipo, nombre de la empresa">
                  <a:extLst>
                    <a:ext uri="{FF2B5EF4-FFF2-40B4-BE49-F238E27FC236}">
                      <a16:creationId xmlns:a16="http://schemas.microsoft.com/office/drawing/2014/main" id="{8852AECC-72E4-6D26-AECC-FD56EA10B6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60776" y="2086207"/>
                  <a:ext cx="2513026" cy="1154630"/>
                </a:xfrm>
                <a:prstGeom prst="rect">
                  <a:avLst/>
                </a:prstGeom>
              </p:spPr>
            </p:pic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086FCF0-4FEB-D9AF-4979-950522DBE2A5}"/>
                    </a:ext>
                  </a:extLst>
                </p:cNvPr>
                <p:cNvSpPr/>
                <p:nvPr/>
              </p:nvSpPr>
              <p:spPr>
                <a:xfrm>
                  <a:off x="9029337" y="3410434"/>
                  <a:ext cx="3474972" cy="23358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3EF91D91-2BE7-1DBE-2B63-A927A7D25D13}"/>
                    </a:ext>
                  </a:extLst>
                </p:cNvPr>
                <p:cNvSpPr/>
                <p:nvPr/>
              </p:nvSpPr>
              <p:spPr>
                <a:xfrm>
                  <a:off x="9501988" y="3387045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Nuevo Requerimiento</a:t>
                  </a:r>
                  <a:endParaRPr lang="es-PE" b="1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E0AC20CE-2BD2-F90A-F561-00E9174221C2}"/>
                    </a:ext>
                  </a:extLst>
                </p:cNvPr>
                <p:cNvSpPr/>
                <p:nvPr/>
              </p:nvSpPr>
              <p:spPr>
                <a:xfrm>
                  <a:off x="9504533" y="4107739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Historial de Requerimiento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cxnSp>
              <p:nvCxnSpPr>
                <p:cNvPr id="27" name="Conector recto de flecha 26">
                  <a:extLst>
                    <a:ext uri="{FF2B5EF4-FFF2-40B4-BE49-F238E27FC236}">
                      <a16:creationId xmlns:a16="http://schemas.microsoft.com/office/drawing/2014/main" id="{5FC0FA6B-4FF3-AFCF-4635-C9EB18ACBA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33401" y="4438759"/>
                  <a:ext cx="863183" cy="72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3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A0D68368-959B-5BF8-C293-91E29471BE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18714" y="1540333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24B91DDD-17B8-7490-03D4-BACE99FAD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782351">
              <a:off x="1658702" y="4404188"/>
              <a:ext cx="407047" cy="556704"/>
            </a:xfrm>
            <a:prstGeom prst="rect">
              <a:avLst/>
            </a:prstGeom>
          </p:spPr>
        </p:pic>
      </p:grpSp>
      <p:grpSp>
        <p:nvGrpSpPr>
          <p:cNvPr id="2097" name="Grupo 2096">
            <a:extLst>
              <a:ext uri="{FF2B5EF4-FFF2-40B4-BE49-F238E27FC236}">
                <a16:creationId xmlns:a16="http://schemas.microsoft.com/office/drawing/2014/main" id="{BBD4B174-633D-7714-2175-C44D8F776AEF}"/>
              </a:ext>
            </a:extLst>
          </p:cNvPr>
          <p:cNvGrpSpPr/>
          <p:nvPr/>
        </p:nvGrpSpPr>
        <p:grpSpPr>
          <a:xfrm>
            <a:off x="11526465" y="1499797"/>
            <a:ext cx="3865418" cy="7061154"/>
            <a:chOff x="9495593" y="1248414"/>
            <a:chExt cx="3865418" cy="7061154"/>
          </a:xfrm>
        </p:grpSpPr>
        <p:grpSp>
          <p:nvGrpSpPr>
            <p:cNvPr id="2098" name="Grupo 2097">
              <a:extLst>
                <a:ext uri="{FF2B5EF4-FFF2-40B4-BE49-F238E27FC236}">
                  <a16:creationId xmlns:a16="http://schemas.microsoft.com/office/drawing/2014/main" id="{78BE8053-73EB-D7FF-FCBA-D95E46CCF36E}"/>
                </a:ext>
              </a:extLst>
            </p:cNvPr>
            <p:cNvGrpSpPr/>
            <p:nvPr/>
          </p:nvGrpSpPr>
          <p:grpSpPr>
            <a:xfrm>
              <a:off x="9495593" y="1248414"/>
              <a:ext cx="3865418" cy="7061154"/>
              <a:chOff x="9660570" y="1248414"/>
              <a:chExt cx="3865418" cy="7061154"/>
            </a:xfrm>
          </p:grpSpPr>
          <p:grpSp>
            <p:nvGrpSpPr>
              <p:cNvPr id="2119" name="Grupo 2118">
                <a:extLst>
                  <a:ext uri="{FF2B5EF4-FFF2-40B4-BE49-F238E27FC236}">
                    <a16:creationId xmlns:a16="http://schemas.microsoft.com/office/drawing/2014/main" id="{BDECDCB3-51B7-44BA-8502-F73FA1902775}"/>
                  </a:ext>
                </a:extLst>
              </p:cNvPr>
              <p:cNvGrpSpPr/>
              <p:nvPr/>
            </p:nvGrpSpPr>
            <p:grpSpPr>
              <a:xfrm>
                <a:off x="9660570" y="1248414"/>
                <a:ext cx="3865418" cy="7061154"/>
                <a:chOff x="9306719" y="1270548"/>
                <a:chExt cx="3865418" cy="7061154"/>
              </a:xfrm>
            </p:grpSpPr>
            <p:grpSp>
              <p:nvGrpSpPr>
                <p:cNvPr id="2121" name="Grupo 2120">
                  <a:extLst>
                    <a:ext uri="{FF2B5EF4-FFF2-40B4-BE49-F238E27FC236}">
                      <a16:creationId xmlns:a16="http://schemas.microsoft.com/office/drawing/2014/main" id="{BAF63159-070A-788A-703A-8D70DED56E58}"/>
                    </a:ext>
                  </a:extLst>
                </p:cNvPr>
                <p:cNvGrpSpPr/>
                <p:nvPr/>
              </p:nvGrpSpPr>
              <p:grpSpPr>
                <a:xfrm>
                  <a:off x="9306719" y="1270548"/>
                  <a:ext cx="3865418" cy="7061154"/>
                  <a:chOff x="7284028" y="1054648"/>
                  <a:chExt cx="3865418" cy="7061154"/>
                </a:xfrm>
              </p:grpSpPr>
              <p:grpSp>
                <p:nvGrpSpPr>
                  <p:cNvPr id="2123" name="Grupo 2122">
                    <a:extLst>
                      <a:ext uri="{FF2B5EF4-FFF2-40B4-BE49-F238E27FC236}">
                        <a16:creationId xmlns:a16="http://schemas.microsoft.com/office/drawing/2014/main" id="{403E0C91-B69B-BC18-F3A1-FEECF471B4F5}"/>
                      </a:ext>
                    </a:extLst>
                  </p:cNvPr>
                  <p:cNvGrpSpPr/>
                  <p:nvPr/>
                </p:nvGrpSpPr>
                <p:grpSpPr>
                  <a:xfrm>
                    <a:off x="7284028" y="1054648"/>
                    <a:ext cx="3865418" cy="7061154"/>
                    <a:chOff x="8795328" y="1270548"/>
                    <a:chExt cx="3865418" cy="7061154"/>
                  </a:xfrm>
                </p:grpSpPr>
                <p:pic>
                  <p:nvPicPr>
                    <p:cNvPr id="2125" name="Imagen 2124">
                      <a:extLst>
                        <a:ext uri="{FF2B5EF4-FFF2-40B4-BE49-F238E27FC236}">
                          <a16:creationId xmlns:a16="http://schemas.microsoft.com/office/drawing/2014/main" id="{F6F5CD6A-474F-AD70-ACFD-7BEB68B8C04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8795328" y="1270548"/>
                      <a:ext cx="3865418" cy="7061154"/>
                    </a:xfrm>
                    <a:prstGeom prst="rect">
                      <a:avLst/>
                    </a:prstGeom>
                    <a:ln w="38100" cap="sq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rgbClr val="000000">
                          <a:alpha val="43000"/>
                        </a:srgbClr>
                      </a:outerShdw>
                    </a:effectLst>
                  </p:spPr>
                </p:pic>
                <p:sp>
                  <p:nvSpPr>
                    <p:cNvPr id="2126" name="Rectángulo 2125">
                      <a:extLst>
                        <a:ext uri="{FF2B5EF4-FFF2-40B4-BE49-F238E27FC236}">
                          <a16:creationId xmlns:a16="http://schemas.microsoft.com/office/drawing/2014/main" id="{0494409D-00F2-6C5D-8D23-9A9054C48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037" y="1502881"/>
                      <a:ext cx="3810000" cy="47145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  <p:sp>
                  <p:nvSpPr>
                    <p:cNvPr id="2127" name="Rectángulo 2126">
                      <a:extLst>
                        <a:ext uri="{FF2B5EF4-FFF2-40B4-BE49-F238E27FC236}">
                          <a16:creationId xmlns:a16="http://schemas.microsoft.com/office/drawing/2014/main" id="{5A42C38E-AC93-B576-F45E-E36079F537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159" y="1562469"/>
                      <a:ext cx="1434667" cy="3522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240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rPr>
                        <a:t>AGROI+D</a:t>
                      </a:r>
                      <a:endParaRPr lang="es-PE" sz="240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endParaRPr>
                    </a:p>
                  </p:txBody>
                </p:sp>
                <p:sp>
                  <p:nvSpPr>
                    <p:cNvPr id="2128" name="Rectángulo 2127">
                      <a:extLst>
                        <a:ext uri="{FF2B5EF4-FFF2-40B4-BE49-F238E27FC236}">
                          <a16:creationId xmlns:a16="http://schemas.microsoft.com/office/drawing/2014/main" id="{3FDE8174-4A04-6466-B85F-A16FE4D41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9337" y="2184034"/>
                      <a:ext cx="3474972" cy="36079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</p:grpSp>
              <p:pic>
                <p:nvPicPr>
                  <p:cNvPr id="2124" name="Imagen 2123">
                    <a:extLst>
                      <a:ext uri="{FF2B5EF4-FFF2-40B4-BE49-F238E27FC236}">
                        <a16:creationId xmlns:a16="http://schemas.microsoft.com/office/drawing/2014/main" id="{84FE0211-31BC-32A2-56BB-518E68ABC8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454394" y="2397218"/>
                    <a:ext cx="3474972" cy="113880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22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886196C7-5FC4-4A90-3ABA-0703F6C39F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86812" y="1550634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120" name="Rectángulo 2119">
                <a:extLst>
                  <a:ext uri="{FF2B5EF4-FFF2-40B4-BE49-F238E27FC236}">
                    <a16:creationId xmlns:a16="http://schemas.microsoft.com/office/drawing/2014/main" id="{F5307FFA-3796-7002-C9AB-394ED0E1F5CC}"/>
                  </a:ext>
                </a:extLst>
              </p:cNvPr>
              <p:cNvSpPr/>
              <p:nvPr/>
            </p:nvSpPr>
            <p:spPr>
              <a:xfrm>
                <a:off x="12737977" y="3402686"/>
                <a:ext cx="411504" cy="19095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100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VER</a:t>
                </a:r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</p:txBody>
          </p:sp>
        </p:grpSp>
        <p:pic>
          <p:nvPicPr>
            <p:cNvPr id="2099" name="Imagen 2098">
              <a:extLst>
                <a:ext uri="{FF2B5EF4-FFF2-40B4-BE49-F238E27FC236}">
                  <a16:creationId xmlns:a16="http://schemas.microsoft.com/office/drawing/2014/main" id="{5E20E625-0473-E945-86F2-927DAED84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50424" y="3700032"/>
              <a:ext cx="3474972" cy="1232763"/>
            </a:xfrm>
            <a:prstGeom prst="rect">
              <a:avLst/>
            </a:prstGeom>
          </p:spPr>
        </p:pic>
        <p:sp>
          <p:nvSpPr>
            <p:cNvPr id="2100" name="CuadroTexto 2099">
              <a:extLst>
                <a:ext uri="{FF2B5EF4-FFF2-40B4-BE49-F238E27FC236}">
                  <a16:creationId xmlns:a16="http://schemas.microsoft.com/office/drawing/2014/main" id="{95ADF0EF-1EAD-4052-FEBB-31C93F3E2647}"/>
                </a:ext>
              </a:extLst>
            </p:cNvPr>
            <p:cNvSpPr txBox="1"/>
            <p:nvPr/>
          </p:nvSpPr>
          <p:spPr>
            <a:xfrm>
              <a:off x="9861672" y="3763928"/>
              <a:ext cx="27849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/>
                <a:t>Fecha de Solicitud:01/07/2025</a:t>
              </a:r>
            </a:p>
            <a:p>
              <a:r>
                <a:rPr lang="es-MX" sz="1600" b="1"/>
                <a:t>Especie: Chrysopas</a:t>
              </a:r>
            </a:p>
            <a:p>
              <a:r>
                <a:rPr lang="es-MX" sz="1600" b="1"/>
                <a:t>Estado: Entregado</a:t>
              </a:r>
              <a:endParaRPr lang="es-PE" sz="1600" b="1"/>
            </a:p>
          </p:txBody>
        </p:sp>
        <p:sp>
          <p:nvSpPr>
            <p:cNvPr id="2101" name="Rectángulo 2100">
              <a:extLst>
                <a:ext uri="{FF2B5EF4-FFF2-40B4-BE49-F238E27FC236}">
                  <a16:creationId xmlns:a16="http://schemas.microsoft.com/office/drawing/2014/main" id="{A753168F-9286-B753-E5C6-E9A0645CC8D4}"/>
                </a:ext>
              </a:extLst>
            </p:cNvPr>
            <p:cNvSpPr/>
            <p:nvPr/>
          </p:nvSpPr>
          <p:spPr>
            <a:xfrm>
              <a:off x="12500230" y="4551428"/>
              <a:ext cx="407889" cy="20843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VER</a:t>
              </a:r>
              <a:r>
                <a:rPr lang="es-MX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 </a:t>
              </a:r>
            </a:p>
          </p:txBody>
        </p:sp>
        <p:sp>
          <p:nvSpPr>
            <p:cNvPr id="2102" name="CuadroTexto 2101">
              <a:extLst>
                <a:ext uri="{FF2B5EF4-FFF2-40B4-BE49-F238E27FC236}">
                  <a16:creationId xmlns:a16="http://schemas.microsoft.com/office/drawing/2014/main" id="{1ABF0A25-B7ED-4D6E-3DA6-F7EB3FC41E1D}"/>
                </a:ext>
              </a:extLst>
            </p:cNvPr>
            <p:cNvSpPr txBox="1"/>
            <p:nvPr/>
          </p:nvSpPr>
          <p:spPr>
            <a:xfrm>
              <a:off x="9861672" y="2642878"/>
              <a:ext cx="283252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Fecha de Solicitud: 08/07/2025</a:t>
              </a:r>
            </a:p>
            <a:p>
              <a:r>
                <a:rPr lang="es-MX" sz="1600" b="1" dirty="0"/>
                <a:t>Especie: </a:t>
              </a:r>
              <a:r>
                <a:rPr lang="es-MX" sz="1600" b="1" dirty="0" err="1"/>
                <a:t>Chrysopas</a:t>
              </a:r>
              <a:endParaRPr lang="es-MX" sz="1600" b="1" dirty="0"/>
            </a:p>
            <a:p>
              <a:r>
                <a:rPr lang="es-MX" sz="1600" b="1" dirty="0"/>
                <a:t>Estado: Aprobado  </a:t>
              </a:r>
            </a:p>
            <a:p>
              <a:endParaRPr lang="es-PE" sz="1600" b="1" dirty="0"/>
            </a:p>
          </p:txBody>
        </p:sp>
        <p:sp>
          <p:nvSpPr>
            <p:cNvPr id="2105" name="CuadroTexto 2104">
              <a:extLst>
                <a:ext uri="{FF2B5EF4-FFF2-40B4-BE49-F238E27FC236}">
                  <a16:creationId xmlns:a16="http://schemas.microsoft.com/office/drawing/2014/main" id="{E902B4AD-7E4B-B4C1-8415-9D2D6D7A74BF}"/>
                </a:ext>
              </a:extLst>
            </p:cNvPr>
            <p:cNvSpPr txBox="1"/>
            <p:nvPr/>
          </p:nvSpPr>
          <p:spPr>
            <a:xfrm>
              <a:off x="9726176" y="2102314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FECHA:</a:t>
              </a:r>
              <a:endParaRPr lang="es-PE" sz="1600" b="1"/>
            </a:p>
          </p:txBody>
        </p:sp>
        <p:pic>
          <p:nvPicPr>
            <p:cNvPr id="2117" name="Imagen 2116">
              <a:extLst>
                <a:ext uri="{FF2B5EF4-FFF2-40B4-BE49-F238E27FC236}">
                  <a16:creationId xmlns:a16="http://schemas.microsoft.com/office/drawing/2014/main" id="{B7712608-9C28-4A9D-74B7-A35BF338E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4140" y="3368018"/>
              <a:ext cx="258549" cy="259201"/>
            </a:xfrm>
            <a:prstGeom prst="rect">
              <a:avLst/>
            </a:prstGeom>
          </p:spPr>
        </p:pic>
        <p:pic>
          <p:nvPicPr>
            <p:cNvPr id="2118" name="Imagen 2117">
              <a:extLst>
                <a:ext uri="{FF2B5EF4-FFF2-40B4-BE49-F238E27FC236}">
                  <a16:creationId xmlns:a16="http://schemas.microsoft.com/office/drawing/2014/main" id="{DCBF5F35-5F58-3C29-1AD4-39317054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4865" y="4515896"/>
              <a:ext cx="258549" cy="259201"/>
            </a:xfrm>
            <a:prstGeom prst="rect">
              <a:avLst/>
            </a:prstGeom>
          </p:spPr>
        </p:pic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19675BD9-D6D5-488C-3E95-36879D5E7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4586" y="2376443"/>
            <a:ext cx="1824903" cy="35587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50D610C-7F64-9558-42FE-115E08217650}"/>
              </a:ext>
            </a:extLst>
          </p:cNvPr>
          <p:cNvGrpSpPr/>
          <p:nvPr/>
        </p:nvGrpSpPr>
        <p:grpSpPr>
          <a:xfrm>
            <a:off x="5759413" y="201412"/>
            <a:ext cx="6986000" cy="9716364"/>
            <a:chOff x="5759413" y="201412"/>
            <a:chExt cx="6986000" cy="9716364"/>
          </a:xfrm>
        </p:grpSpPr>
        <p:grpSp>
          <p:nvGrpSpPr>
            <p:cNvPr id="111" name="Grupo 110">
              <a:extLst>
                <a:ext uri="{FF2B5EF4-FFF2-40B4-BE49-F238E27FC236}">
                  <a16:creationId xmlns:a16="http://schemas.microsoft.com/office/drawing/2014/main" id="{ACDF1CC7-C02C-08B8-6271-1249991ED587}"/>
                </a:ext>
              </a:extLst>
            </p:cNvPr>
            <p:cNvGrpSpPr/>
            <p:nvPr/>
          </p:nvGrpSpPr>
          <p:grpSpPr>
            <a:xfrm>
              <a:off x="5759413" y="201412"/>
              <a:ext cx="6986000" cy="9716364"/>
              <a:chOff x="9533693" y="-13716"/>
              <a:chExt cx="6986000" cy="9716364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5C6775B8-2DDF-A3C8-04EE-0DE76777BD60}"/>
                  </a:ext>
                </a:extLst>
              </p:cNvPr>
              <p:cNvGrpSpPr/>
              <p:nvPr/>
            </p:nvGrpSpPr>
            <p:grpSpPr>
              <a:xfrm>
                <a:off x="9533693" y="1248414"/>
                <a:ext cx="3865418" cy="7061154"/>
                <a:chOff x="9698670" y="1248414"/>
                <a:chExt cx="3865418" cy="7061154"/>
              </a:xfrm>
            </p:grpSpPr>
            <p:grpSp>
              <p:nvGrpSpPr>
                <p:cNvPr id="45" name="Grupo 44">
                  <a:extLst>
                    <a:ext uri="{FF2B5EF4-FFF2-40B4-BE49-F238E27FC236}">
                      <a16:creationId xmlns:a16="http://schemas.microsoft.com/office/drawing/2014/main" id="{A210F44C-47EB-FF46-9A71-4932E365BE16}"/>
                    </a:ext>
                  </a:extLst>
                </p:cNvPr>
                <p:cNvGrpSpPr/>
                <p:nvPr/>
              </p:nvGrpSpPr>
              <p:grpSpPr>
                <a:xfrm>
                  <a:off x="9698670" y="1248414"/>
                  <a:ext cx="3865418" cy="7061154"/>
                  <a:chOff x="9344819" y="1270548"/>
                  <a:chExt cx="3865418" cy="7061154"/>
                </a:xfrm>
              </p:grpSpPr>
              <p:grpSp>
                <p:nvGrpSpPr>
                  <p:cNvPr id="46" name="Grupo 45">
                    <a:extLst>
                      <a:ext uri="{FF2B5EF4-FFF2-40B4-BE49-F238E27FC236}">
                        <a16:creationId xmlns:a16="http://schemas.microsoft.com/office/drawing/2014/main" id="{18B66306-F86C-528F-3CD8-D194FDFC1A88}"/>
                      </a:ext>
                    </a:extLst>
                  </p:cNvPr>
                  <p:cNvGrpSpPr/>
                  <p:nvPr/>
                </p:nvGrpSpPr>
                <p:grpSpPr>
                  <a:xfrm>
                    <a:off x="9344819" y="1270548"/>
                    <a:ext cx="3865418" cy="7061154"/>
                    <a:chOff x="7322128" y="1054648"/>
                    <a:chExt cx="3865418" cy="7061154"/>
                  </a:xfrm>
                </p:grpSpPr>
                <p:grpSp>
                  <p:nvGrpSpPr>
                    <p:cNvPr id="48" name="Grupo 47">
                      <a:extLst>
                        <a:ext uri="{FF2B5EF4-FFF2-40B4-BE49-F238E27FC236}">
                          <a16:creationId xmlns:a16="http://schemas.microsoft.com/office/drawing/2014/main" id="{F24FAF1E-6397-DBB3-C154-CFC207B1CC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22128" y="1054648"/>
                      <a:ext cx="3865418" cy="7061154"/>
                      <a:chOff x="8833428" y="1270548"/>
                      <a:chExt cx="3865418" cy="7061154"/>
                    </a:xfrm>
                  </p:grpSpPr>
                  <p:pic>
                    <p:nvPicPr>
                      <p:cNvPr id="69" name="Imagen 68">
                        <a:extLst>
                          <a:ext uri="{FF2B5EF4-FFF2-40B4-BE49-F238E27FC236}">
                            <a16:creationId xmlns:a16="http://schemas.microsoft.com/office/drawing/2014/main" id="{738C6A7F-6E90-F0DF-8C38-9C04D73D721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33428" y="1270548"/>
                        <a:ext cx="3865418" cy="7061154"/>
                      </a:xfrm>
                      <a:prstGeom prst="rect">
                        <a:avLst/>
                      </a:prstGeom>
                      <a:ln w="38100" cap="sq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rgbClr val="000000">
                            <a:alpha val="43000"/>
                          </a:srgbClr>
                        </a:outerShdw>
                      </a:effectLst>
                    </p:spPr>
                  </p:pic>
                  <p:sp>
                    <p:nvSpPr>
                      <p:cNvPr id="70" name="Rectángulo 69">
                        <a:extLst>
                          <a:ext uri="{FF2B5EF4-FFF2-40B4-BE49-F238E27FC236}">
                            <a16:creationId xmlns:a16="http://schemas.microsoft.com/office/drawing/2014/main" id="{5E57B0E2-F06F-F195-4504-E0C2B85D38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61137" y="1502881"/>
                        <a:ext cx="3810000" cy="471451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3">
                          <a:shade val="50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PE"/>
                      </a:p>
                    </p:txBody>
                  </p:sp>
                  <p:sp>
                    <p:nvSpPr>
                      <p:cNvPr id="71" name="Rectángulo 70">
                        <a:extLst>
                          <a:ext uri="{FF2B5EF4-FFF2-40B4-BE49-F238E27FC236}">
                            <a16:creationId xmlns:a16="http://schemas.microsoft.com/office/drawing/2014/main" id="{BD81F873-6A46-F339-2D67-1AF644515E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0159" y="1562469"/>
                        <a:ext cx="1434667" cy="352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sz="240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Abadi Extra Light" panose="020B0604020202020204" pitchFamily="34" charset="0"/>
                          </a:rPr>
                          <a:t>AGROI+D</a:t>
                        </a:r>
                        <a:endParaRPr lang="es-PE" sz="24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72" name="Rectángulo 71">
                        <a:extLst>
                          <a:ext uri="{FF2B5EF4-FFF2-40B4-BE49-F238E27FC236}">
                            <a16:creationId xmlns:a16="http://schemas.microsoft.com/office/drawing/2014/main" id="{C6A08A3F-0ABD-1313-EC9F-939BB6276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29337" y="2184034"/>
                        <a:ext cx="3474972" cy="36079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PE"/>
                      </a:p>
                    </p:txBody>
                  </p:sp>
                </p:grpSp>
                <p:pic>
                  <p:nvPicPr>
                    <p:cNvPr id="56" name="Imagen 55">
                      <a:extLst>
                        <a:ext uri="{FF2B5EF4-FFF2-40B4-BE49-F238E27FC236}">
                          <a16:creationId xmlns:a16="http://schemas.microsoft.com/office/drawing/2014/main" id="{5F6D4F45-6183-B54D-FA64-F6E81945020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454394" y="2397218"/>
                      <a:ext cx="3474972" cy="113880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7" name="Picture 4" descr="Gráficos escalables iconos de computadora gráficos de red portátiles, icono  de salida, cdr, texto, icono de salida png | PNGWing">
                    <a:extLst>
                      <a:ext uri="{FF2B5EF4-FFF2-40B4-BE49-F238E27FC236}">
                        <a16:creationId xmlns:a16="http://schemas.microsoft.com/office/drawing/2014/main" id="{5326116C-4308-1474-350A-582259F5399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895" b="96632" l="543" r="97283">
                                <a14:foregroundMark x1="50042" y1="12244" x2="36739" y2="5895"/>
                                <a14:foregroundMark x1="57985" y1="16034" x2="57540" y2="15821"/>
                                <a14:foregroundMark x1="59239" y1="16632" x2="58355" y2="16210"/>
                                <a14:foregroundMark x1="36739" y1="5895" x2="20435" y2="7158"/>
                                <a14:foregroundMark x1="12737" y1="15836" x2="6522" y2="22842"/>
                                <a14:foregroundMark x1="20435" y1="7158" x2="15617" y2="12589"/>
                                <a14:foregroundMark x1="6522" y1="22842" x2="5435" y2="74421"/>
                                <a14:foregroundMark x1="5435" y1="74421" x2="11957" y2="90842"/>
                                <a14:foregroundMark x1="11957" y1="90842" x2="33587" y2="94947"/>
                                <a14:foregroundMark x1="33587" y1="94947" x2="55435" y2="90526"/>
                                <a14:foregroundMark x1="55435" y1="90526" x2="63043" y2="80000"/>
                                <a14:foregroundMark x1="44565" y1="47263" x2="78696" y2="44632"/>
                                <a14:foregroundMark x1="77496" y1="56958" x2="76739" y2="64737"/>
                                <a14:foregroundMark x1="78696" y1="44632" x2="77613" y2="55759"/>
                                <a14:foregroundMark x1="76739" y1="64737" x2="95000" y2="53684"/>
                                <a14:foregroundMark x1="95000" y1="53684" x2="79239" y2="39368"/>
                                <a14:foregroundMark x1="79239" y1="39368" x2="77065" y2="35895"/>
                                <a14:foregroundMark x1="79130" y1="47579" x2="38804" y2="50632"/>
                                <a14:foregroundMark x1="38804" y1="50632" x2="81630" y2="47789"/>
                                <a14:foregroundMark x1="81630" y1="47789" x2="82500" y2="47789"/>
                                <a14:foregroundMark x1="75870" y1="41158" x2="90479" y2="39510"/>
                                <a14:foregroundMark x1="91797" y1="39625" x2="94783" y2="52737"/>
                                <a14:foregroundMark x1="97065" y1="49579" x2="97391" y2="52105"/>
                                <a14:foregroundMark x1="54365" y1="11816" x2="43913" y2="2526"/>
                                <a14:foregroundMark x1="59072" y1="16000" x2="57962" y2="15013"/>
                                <a14:foregroundMark x1="59783" y1="16632" x2="59072" y2="16000"/>
                                <a14:foregroundMark x1="43913" y1="2526" x2="15761" y2="3579"/>
                                <a14:foregroundMark x1="15761" y1="3579" x2="1413" y2="14842"/>
                                <a14:foregroundMark x1="1413" y1="14842" x2="978" y2="72737"/>
                                <a14:foregroundMark x1="978" y1="72737" x2="9783" y2="23579"/>
                                <a14:foregroundMark x1="23895" y1="12054" x2="24348" y2="11684"/>
                                <a14:foregroundMark x1="9783" y1="23579" x2="12657" y2="21232"/>
                                <a14:foregroundMark x1="56397" y1="12187" x2="57935" y2="12211"/>
                                <a14:foregroundMark x1="24348" y1="11684" x2="49938" y2="12086"/>
                                <a14:foregroundMark x1="58952" y1="14352" x2="60435" y2="17474"/>
                                <a14:foregroundMark x1="57935" y1="12211" x2="58861" y2="14161"/>
                                <a14:foregroundMark x1="61630" y1="17789" x2="53043" y2="3579"/>
                                <a14:foregroundMark x1="53043" y1="3579" x2="45543" y2="4947"/>
                                <a14:foregroundMark x1="53587" y1="1895" x2="67283" y2="9368"/>
                                <a14:foregroundMark x1="67283" y1="9368" x2="60978" y2="9474"/>
                                <a14:foregroundMark x1="8261" y1="8421" x2="217" y2="51579"/>
                                <a14:foregroundMark x1="217" y1="51579" x2="1087" y2="72000"/>
                                <a14:foregroundMark x1="1087" y1="72000" x2="9891" y2="34211"/>
                                <a14:foregroundMark x1="3261" y1="77684" x2="9239" y2="96842"/>
                                <a14:foregroundMark x1="9239" y1="96842" x2="35652" y2="98737"/>
                                <a14:foregroundMark x1="35652" y1="98737" x2="55435" y2="94000"/>
                                <a14:foregroundMark x1="55435" y1="94000" x2="67609" y2="84211"/>
                                <a14:foregroundMark x1="67609" y1="84211" x2="51413" y2="92632"/>
                                <a14:foregroundMark x1="13242" y1="84716" x2="652" y2="82105"/>
                                <a14:foregroundMark x1="27115" y1="87593" x2="26755" y2="87518"/>
                                <a14:foregroundMark x1="51413" y1="92632" x2="28349" y2="87849"/>
                                <a14:foregroundMark x1="652" y1="82105" x2="1304" y2="79579"/>
                                <a14:foregroundMark x1="21630" y1="94632" x2="47065" y2="96632"/>
                                <a14:foregroundMark x1="47065" y1="96632" x2="65000" y2="90211"/>
                                <a14:foregroundMark x1="65000" y1="90211" x2="69022" y2="86947"/>
                                <a14:backgroundMark x1="52717" y1="18842" x2="22500" y2="24105"/>
                                <a14:backgroundMark x1="22500" y1="24105" x2="20326" y2="44632"/>
                                <a14:backgroundMark x1="20326" y1="44632" x2="28913" y2="62842"/>
                                <a14:backgroundMark x1="28913" y1="62842" x2="42500" y2="70105"/>
                                <a14:backgroundMark x1="42500" y1="70105" x2="58152" y2="64105"/>
                                <a14:backgroundMark x1="58152" y1="64105" x2="72717" y2="74947"/>
                                <a14:backgroundMark x1="72717" y1="74947" x2="72717" y2="75053"/>
                                <a14:backgroundMark x1="24783" y1="14737" x2="14565" y2="20947"/>
                                <a14:backgroundMark x1="22391" y1="14526" x2="14348" y2="19579"/>
                                <a14:backgroundMark x1="51196" y1="13895" x2="56413" y2="16421"/>
                                <a14:backgroundMark x1="56630" y1="16421" x2="57391" y2="16105"/>
                                <a14:backgroundMark x1="57609" y1="17474" x2="55978" y2="13368"/>
                                <a14:backgroundMark x1="52065" y1="13053" x2="51304" y2="12947"/>
                                <a14:backgroundMark x1="55109" y1="13158" x2="57283" y2="16211"/>
                                <a14:backgroundMark x1="57065" y1="14632" x2="57283" y2="16000"/>
                                <a14:backgroundMark x1="57065" y1="15579" x2="57500" y2="15579"/>
                                <a14:backgroundMark x1="57500" y1="16000" x2="57500" y2="16000"/>
                                <a14:backgroundMark x1="57609" y1="16105" x2="57500" y2="15474"/>
                                <a14:backgroundMark x1="58043" y1="16211" x2="58043" y2="15263"/>
                                <a14:backgroundMark x1="57826" y1="15053" x2="57717" y2="14842"/>
                                <a14:backgroundMark x1="56413" y1="13579" x2="50652" y2="12526"/>
                                <a14:backgroundMark x1="51087" y1="12842" x2="50435" y2="12842"/>
                                <a14:backgroundMark x1="24674" y1="13263" x2="21304" y2="13158"/>
                                <a14:backgroundMark x1="15326" y1="13158" x2="13587" y2="15789"/>
                                <a14:backgroundMark x1="13587" y1="18632" x2="13478" y2="21263"/>
                                <a14:backgroundMark x1="16304" y1="13158" x2="12935" y2="16000"/>
                                <a14:backgroundMark x1="15870" y1="12842" x2="15870" y2="13053"/>
                                <a14:backgroundMark x1="92283" y1="39789" x2="91848" y2="39263"/>
                                <a14:backgroundMark x1="91087" y1="37263" x2="91848" y2="38421"/>
                                <a14:backgroundMark x1="92717" y1="39368" x2="91522" y2="38632"/>
                                <a14:backgroundMark x1="92283" y1="39368" x2="91630" y2="38421"/>
                                <a14:backgroundMark x1="90326" y1="37053" x2="92609" y2="38947"/>
                                <a14:backgroundMark x1="92609" y1="39789" x2="92283" y2="39263"/>
                                <a14:backgroundMark x1="76957" y1="57053" x2="77609" y2="56737"/>
                                <a14:backgroundMark x1="14130" y1="83579" x2="26957" y2="86737"/>
                                <a14:backgroundMark x1="27935" y1="87263" x2="26957" y2="87368"/>
                                <a14:backgroundMark x1="13587" y1="85263" x2="13587" y2="84632"/>
                                <a14:backgroundMark x1="25761" y1="87474" x2="26848" y2="87368"/>
                                <a14:backgroundMark x1="13370" y1="84842" x2="13370" y2="84737"/>
                                <a14:backgroundMark x1="13152" y1="84947" x2="13043" y2="84842"/>
                                <a14:backgroundMark x1="13261" y1="85053" x2="13152" y2="84842"/>
                                <a14:backgroundMark x1="13152" y1="84842" x2="13370" y2="8410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786812" y="1550634"/>
                    <a:ext cx="341153" cy="35227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5A6DB7C8-0592-E886-928D-C5166D207C0F}"/>
                    </a:ext>
                  </a:extLst>
                </p:cNvPr>
                <p:cNvSpPr/>
                <p:nvPr/>
              </p:nvSpPr>
              <p:spPr>
                <a:xfrm>
                  <a:off x="12737977" y="3402686"/>
                  <a:ext cx="411504" cy="190959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1100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VER</a:t>
                  </a:r>
                  <a:r>
                    <a:rPr lang="es-MX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 </a:t>
                  </a:r>
                </a:p>
              </p:txBody>
            </p:sp>
          </p:grpSp>
          <p:pic>
            <p:nvPicPr>
              <p:cNvPr id="77" name="Imagen 76">
                <a:extLst>
                  <a:ext uri="{FF2B5EF4-FFF2-40B4-BE49-F238E27FC236}">
                    <a16:creationId xmlns:a16="http://schemas.microsoft.com/office/drawing/2014/main" id="{01D591BF-EE57-C5C5-C96B-450F056E3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50424" y="3700032"/>
                <a:ext cx="3474972" cy="1269018"/>
              </a:xfrm>
              <a:prstGeom prst="rect">
                <a:avLst/>
              </a:prstGeom>
            </p:spPr>
          </p:pic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731E2FF-0C5C-42F7-0EB8-0FE5820D285B}"/>
                  </a:ext>
                </a:extLst>
              </p:cNvPr>
              <p:cNvSpPr txBox="1"/>
              <p:nvPr/>
            </p:nvSpPr>
            <p:spPr>
              <a:xfrm>
                <a:off x="9861672" y="3763928"/>
                <a:ext cx="278493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 dirty="0"/>
                  <a:t>Fecha de Solicitud:01/07/2025</a:t>
                </a:r>
              </a:p>
              <a:p>
                <a:r>
                  <a:rPr lang="es-MX" sz="1600" b="1" dirty="0"/>
                  <a:t>Especie: </a:t>
                </a:r>
                <a:r>
                  <a:rPr lang="es-MX" sz="1600" b="1" dirty="0" err="1"/>
                  <a:t>Chrysopas</a:t>
                </a:r>
                <a:endParaRPr lang="es-MX" sz="1600" b="1" dirty="0"/>
              </a:p>
              <a:p>
                <a:r>
                  <a:rPr lang="es-MX" sz="1600" b="1" dirty="0"/>
                  <a:t>Estado: Entregado</a:t>
                </a:r>
                <a:endParaRPr lang="es-PE" sz="1600" b="1" dirty="0"/>
              </a:p>
            </p:txBody>
          </p:sp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226CCE0A-957A-6149-50BF-9B109635C093}"/>
                  </a:ext>
                </a:extLst>
              </p:cNvPr>
              <p:cNvSpPr/>
              <p:nvPr/>
            </p:nvSpPr>
            <p:spPr>
              <a:xfrm>
                <a:off x="12529258" y="4580456"/>
                <a:ext cx="407889" cy="2084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100" b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VER</a:t>
                </a:r>
                <a:r>
                  <a:rPr lang="es-MX" b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737D491A-3A8B-59FA-57C4-D40E0D69744E}"/>
                  </a:ext>
                </a:extLst>
              </p:cNvPr>
              <p:cNvSpPr txBox="1"/>
              <p:nvPr/>
            </p:nvSpPr>
            <p:spPr>
              <a:xfrm>
                <a:off x="9861672" y="2642878"/>
                <a:ext cx="283252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 de Solicitud: 08/07/2025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Aprobado  </a:t>
                </a:r>
              </a:p>
              <a:p>
                <a:endParaRPr lang="es-PE" sz="1600" b="1"/>
              </a:p>
            </p:txBody>
          </p:sp>
          <p:pic>
            <p:nvPicPr>
              <p:cNvPr id="86" name="Imagen 85">
                <a:extLst>
                  <a:ext uri="{FF2B5EF4-FFF2-40B4-BE49-F238E27FC236}">
                    <a16:creationId xmlns:a16="http://schemas.microsoft.com/office/drawing/2014/main" id="{01AD3ABA-901B-A155-F61B-7B53A3C02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03906" y="3184235"/>
                <a:ext cx="216956" cy="218451"/>
              </a:xfrm>
              <a:prstGeom prst="rect">
                <a:avLst/>
              </a:prstGeom>
            </p:spPr>
          </p:pic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55F156AF-19F7-A0B8-EE66-891BEACCC2C6}"/>
                  </a:ext>
                </a:extLst>
              </p:cNvPr>
              <p:cNvSpPr txBox="1"/>
              <p:nvPr/>
            </p:nvSpPr>
            <p:spPr>
              <a:xfrm>
                <a:off x="9726176" y="2102314"/>
                <a:ext cx="1155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FECHA:</a:t>
                </a:r>
                <a:endParaRPr lang="es-PE" sz="1600" b="1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59653C94-5D7F-3071-EFEF-7E94A340ABCE}"/>
                  </a:ext>
                </a:extLst>
              </p:cNvPr>
              <p:cNvSpPr/>
              <p:nvPr/>
            </p:nvSpPr>
            <p:spPr>
              <a:xfrm>
                <a:off x="9726176" y="2073311"/>
                <a:ext cx="3344504" cy="405889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5F5BB09C-2098-CBA4-1B5F-C4A947C99BE8}"/>
                  </a:ext>
                </a:extLst>
              </p:cNvPr>
              <p:cNvSpPr txBox="1"/>
              <p:nvPr/>
            </p:nvSpPr>
            <p:spPr>
              <a:xfrm>
                <a:off x="11761977" y="-13716"/>
                <a:ext cx="4757716" cy="92333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El campo de fecha debe ser editable y permitir la selección de fechas anteriores a la actual. Además de poder seleccionar de forma semanal.</a:t>
                </a:r>
                <a:endParaRPr lang="es-PE" dirty="0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2041B241-06F4-AC05-5794-E0475CD9CEF7}"/>
                  </a:ext>
                </a:extLst>
              </p:cNvPr>
              <p:cNvSpPr/>
              <p:nvPr/>
            </p:nvSpPr>
            <p:spPr>
              <a:xfrm>
                <a:off x="9717602" y="2578118"/>
                <a:ext cx="3407794" cy="2546818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00" name="CuadroTexto 99">
                <a:extLst>
                  <a:ext uri="{FF2B5EF4-FFF2-40B4-BE49-F238E27FC236}">
                    <a16:creationId xmlns:a16="http://schemas.microsoft.com/office/drawing/2014/main" id="{8321D470-D2CF-08A7-5EC9-3F06B0E4D583}"/>
                  </a:ext>
                </a:extLst>
              </p:cNvPr>
              <p:cNvSpPr txBox="1"/>
              <p:nvPr/>
            </p:nvSpPr>
            <p:spPr>
              <a:xfrm>
                <a:off x="13604837" y="3614917"/>
                <a:ext cx="1534034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Resumen del registro del requerimiento solicitado</a:t>
                </a:r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C02316CA-D2DD-9B91-9383-85DD8BBBFCF0}"/>
                  </a:ext>
                </a:extLst>
              </p:cNvPr>
              <p:cNvSpPr/>
              <p:nvPr/>
            </p:nvSpPr>
            <p:spPr>
              <a:xfrm>
                <a:off x="12459002" y="4537643"/>
                <a:ext cx="515742" cy="287419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cxnSp>
            <p:nvCxnSpPr>
              <p:cNvPr id="105" name="Conector recto de flecha 104">
                <a:extLst>
                  <a:ext uri="{FF2B5EF4-FFF2-40B4-BE49-F238E27FC236}">
                    <a16:creationId xmlns:a16="http://schemas.microsoft.com/office/drawing/2014/main" id="{9E42E343-E6CF-A15E-CBF0-43F643ACAFBE}"/>
                  </a:ext>
                </a:extLst>
              </p:cNvPr>
              <p:cNvCxnSpPr>
                <a:cxnSpLocks/>
                <a:stCxn id="107" idx="0"/>
                <a:endCxn id="101" idx="2"/>
              </p:cNvCxnSpPr>
              <p:nvPr/>
            </p:nvCxnSpPr>
            <p:spPr>
              <a:xfrm flipH="1" flipV="1">
                <a:off x="12716873" y="4825062"/>
                <a:ext cx="16329" cy="36772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F2F16C18-9C09-D179-42A7-592D045124DA}"/>
                  </a:ext>
                </a:extLst>
              </p:cNvPr>
              <p:cNvSpPr txBox="1"/>
              <p:nvPr/>
            </p:nvSpPr>
            <p:spPr>
              <a:xfrm>
                <a:off x="11135764" y="8502319"/>
                <a:ext cx="3194876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Al seleccionar el botón “</a:t>
                </a:r>
                <a:r>
                  <a:rPr lang="es-MX" b="1" dirty="0"/>
                  <a:t>VER”</a:t>
                </a:r>
                <a:r>
                  <a:rPr lang="es-MX" dirty="0"/>
                  <a:t> te debe salir una pantalla emergente con los detalles de la solicitud.</a:t>
                </a:r>
              </a:p>
            </p:txBody>
          </p:sp>
          <p:pic>
            <p:nvPicPr>
              <p:cNvPr id="108" name="Imagen 107">
                <a:extLst>
                  <a:ext uri="{FF2B5EF4-FFF2-40B4-BE49-F238E27FC236}">
                    <a16:creationId xmlns:a16="http://schemas.microsoft.com/office/drawing/2014/main" id="{D8FD059B-0C81-300B-0421-1B0E2A3DA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14140" y="3368018"/>
                <a:ext cx="258549" cy="259201"/>
              </a:xfrm>
              <a:prstGeom prst="rect">
                <a:avLst/>
              </a:prstGeom>
            </p:spPr>
          </p:pic>
          <p:pic>
            <p:nvPicPr>
              <p:cNvPr id="109" name="Imagen 108">
                <a:extLst>
                  <a:ext uri="{FF2B5EF4-FFF2-40B4-BE49-F238E27FC236}">
                    <a16:creationId xmlns:a16="http://schemas.microsoft.com/office/drawing/2014/main" id="{207D9301-74E2-7D54-38BF-11A3F5311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84752" y="4584411"/>
                <a:ext cx="258549" cy="259201"/>
              </a:xfrm>
              <a:prstGeom prst="rect">
                <a:avLst/>
              </a:prstGeom>
            </p:spPr>
          </p:pic>
          <p:cxnSp>
            <p:nvCxnSpPr>
              <p:cNvPr id="95" name="Conector recto de flecha 94">
                <a:extLst>
                  <a:ext uri="{FF2B5EF4-FFF2-40B4-BE49-F238E27FC236}">
                    <a16:creationId xmlns:a16="http://schemas.microsoft.com/office/drawing/2014/main" id="{03221F33-C19A-3572-17A9-FDF8784F7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81424" y="849256"/>
                <a:ext cx="22823" cy="14786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129" name="AutoShape 4" descr="Puntero De Clic Táctil Inteligente PNG ,dibujos Cursor Del Ratón, Puntero  Del Mouse De La Computadora, Símbolo Del Mouse PNG y Vector para Descargar  Gratis | Pngtree">
              <a:extLst>
                <a:ext uri="{FF2B5EF4-FFF2-40B4-BE49-F238E27FC236}">
                  <a16:creationId xmlns:a16="http://schemas.microsoft.com/office/drawing/2014/main" id="{91128E41-5EA6-611D-70B3-67A4B96C87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91600" y="49911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pic>
          <p:nvPicPr>
            <p:cNvPr id="2131" name="Imagen 2130">
              <a:extLst>
                <a:ext uri="{FF2B5EF4-FFF2-40B4-BE49-F238E27FC236}">
                  <a16:creationId xmlns:a16="http://schemas.microsoft.com/office/drawing/2014/main" id="{DB5C4643-D64C-D7F1-6CAF-365F54CF38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9006700" y="4783360"/>
              <a:ext cx="407047" cy="556704"/>
            </a:xfrm>
            <a:prstGeom prst="rect">
              <a:avLst/>
            </a:prstGeom>
          </p:spPr>
        </p:pic>
        <p:sp>
          <p:nvSpPr>
            <p:cNvPr id="2201" name="Cerrar llave 2200">
              <a:extLst>
                <a:ext uri="{FF2B5EF4-FFF2-40B4-BE49-F238E27FC236}">
                  <a16:creationId xmlns:a16="http://schemas.microsoft.com/office/drawing/2014/main" id="{106396FB-9DB3-2945-CF2B-E982C69DCEA2}"/>
                </a:ext>
              </a:extLst>
            </p:cNvPr>
            <p:cNvSpPr/>
            <p:nvPr/>
          </p:nvSpPr>
          <p:spPr>
            <a:xfrm>
              <a:off x="9354901" y="3418570"/>
              <a:ext cx="453839" cy="1241645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857421A-81B2-70D1-6201-85B64FB48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67254" y="2328199"/>
              <a:ext cx="1824903" cy="355870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963EE85-C005-ABB0-AE96-3C09AE146ECB}"/>
                </a:ext>
              </a:extLst>
            </p:cNvPr>
            <p:cNvSpPr txBox="1"/>
            <p:nvPr/>
          </p:nvSpPr>
          <p:spPr>
            <a:xfrm>
              <a:off x="5958548" y="5720051"/>
              <a:ext cx="2014493" cy="20928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Cada vez que el </a:t>
              </a:r>
              <a:r>
                <a:rPr lang="es-MX" sz="1400" dirty="0">
                  <a:highlight>
                    <a:srgbClr val="FFFF00"/>
                  </a:highlight>
                  <a:latin typeface="Poppins" panose="00000500000000000000" pitchFamily="2" charset="0"/>
                  <a:cs typeface="Poppins" panose="00000500000000000000" pitchFamily="2" charset="0"/>
                </a:rPr>
                <a:t>administrador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  registre un cambio de estado, se debe notificar al usuario mediante un aviso al correo electrónico del usuario solicitante</a:t>
              </a:r>
              <a:r>
                <a:rPr lang="es-MX" dirty="0"/>
                <a:t>.</a:t>
              </a:r>
              <a:endParaRPr lang="es-PE" dirty="0"/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B00F2D51-E3ED-8487-1247-14022D6B5D98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6950294" y="4785662"/>
              <a:ext cx="15501" cy="934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B12C352E-85C8-9279-F352-4006382D003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569" t="10214" r="39364" b="79038"/>
          <a:stretch>
            <a:fillRect/>
          </a:stretch>
        </p:blipFill>
        <p:spPr>
          <a:xfrm>
            <a:off x="6733727" y="2381663"/>
            <a:ext cx="1548102" cy="2537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EAE3B26-530F-AFAA-A768-31D5B372CD0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47" t="24110"/>
          <a:stretch>
            <a:fillRect/>
          </a:stretch>
        </p:blipFill>
        <p:spPr>
          <a:xfrm>
            <a:off x="6726512" y="2677105"/>
            <a:ext cx="2837856" cy="13840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7140108-3423-D0F9-EC11-B36317D99D3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569" t="10214" r="39364" b="79038"/>
          <a:stretch>
            <a:fillRect/>
          </a:stretch>
        </p:blipFill>
        <p:spPr>
          <a:xfrm>
            <a:off x="12492898" y="2397277"/>
            <a:ext cx="1548102" cy="253761"/>
          </a:xfrm>
          <a:prstGeom prst="rect">
            <a:avLst/>
          </a:prstGeom>
        </p:spPr>
      </p:pic>
      <p:sp>
        <p:nvSpPr>
          <p:cNvPr id="92" name="CuadroTexto 91">
            <a:extLst>
              <a:ext uri="{FF2B5EF4-FFF2-40B4-BE49-F238E27FC236}">
                <a16:creationId xmlns:a16="http://schemas.microsoft.com/office/drawing/2014/main" id="{4F0CE082-4D8A-C50E-DC6B-2620BA55E020}"/>
              </a:ext>
            </a:extLst>
          </p:cNvPr>
          <p:cNvSpPr txBox="1"/>
          <p:nvPr/>
        </p:nvSpPr>
        <p:spPr>
          <a:xfrm>
            <a:off x="-60831" y="4482906"/>
            <a:ext cx="133377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Ingresamos</a:t>
            </a:r>
            <a:endParaRPr lang="es-PE" b="1" dirty="0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A2F4894-B7AA-1B63-AA87-7577D9DEE17F}"/>
              </a:ext>
            </a:extLst>
          </p:cNvPr>
          <p:cNvSpPr/>
          <p:nvPr/>
        </p:nvSpPr>
        <p:spPr>
          <a:xfrm>
            <a:off x="14233641" y="4807073"/>
            <a:ext cx="1042753" cy="250913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ysClr val="windowText" lastClr="000000"/>
                </a:solidFill>
              </a:rPr>
              <a:t>RECIBIDO</a:t>
            </a:r>
            <a:endParaRPr lang="es-PE" sz="1400" b="1">
              <a:solidFill>
                <a:sysClr val="windowText" lastClr="000000"/>
              </a:solidFill>
            </a:endParaRP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2B7A64BB-8BE0-B290-C1A0-D8894DFBD9A7}"/>
              </a:ext>
            </a:extLst>
          </p:cNvPr>
          <p:cNvSpPr/>
          <p:nvPr/>
        </p:nvSpPr>
        <p:spPr>
          <a:xfrm>
            <a:off x="7273218" y="4810053"/>
            <a:ext cx="1042753" cy="250913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ysClr val="windowText" lastClr="000000"/>
                </a:solidFill>
              </a:rPr>
              <a:t>RECIBIDO</a:t>
            </a:r>
            <a:endParaRPr lang="es-PE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E06DEE3D-CD97-4788-0B25-D18C3A7EEECF}"/>
              </a:ext>
            </a:extLst>
          </p:cNvPr>
          <p:cNvSpPr/>
          <p:nvPr/>
        </p:nvSpPr>
        <p:spPr>
          <a:xfrm>
            <a:off x="6011192" y="4547333"/>
            <a:ext cx="1978414" cy="1927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C0D0BD88-929E-C5FA-F64B-87513593D4E4}"/>
              </a:ext>
            </a:extLst>
          </p:cNvPr>
          <p:cNvSpPr/>
          <p:nvPr/>
        </p:nvSpPr>
        <p:spPr>
          <a:xfrm rot="16200000">
            <a:off x="14779770" y="1265877"/>
            <a:ext cx="2633655" cy="2441683"/>
          </a:xfrm>
          <a:prstGeom prst="triangle">
            <a:avLst>
              <a:gd name="adj" fmla="val 5349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0746D565-BABC-AC3B-C741-244936CF47A7}"/>
              </a:ext>
            </a:extLst>
          </p:cNvPr>
          <p:cNvGrpSpPr/>
          <p:nvPr/>
        </p:nvGrpSpPr>
        <p:grpSpPr>
          <a:xfrm>
            <a:off x="16289791" y="421434"/>
            <a:ext cx="2145582" cy="3639683"/>
            <a:chOff x="3797789" y="577175"/>
            <a:chExt cx="2145582" cy="3697701"/>
          </a:xfrm>
        </p:grpSpPr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37739A77-56D3-754A-1029-6913D789A5AF}"/>
                </a:ext>
              </a:extLst>
            </p:cNvPr>
            <p:cNvSpPr/>
            <p:nvPr/>
          </p:nvSpPr>
          <p:spPr>
            <a:xfrm>
              <a:off x="3797789" y="577175"/>
              <a:ext cx="2145582" cy="3681863"/>
            </a:xfrm>
            <a:prstGeom prst="rect">
              <a:avLst/>
            </a:prstGeom>
            <a:solidFill>
              <a:srgbClr val="D3D3D7"/>
            </a:solidFill>
            <a:ln>
              <a:solidFill>
                <a:srgbClr val="D3D3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6C5693E7-08C8-5129-F97D-8C64AD05BF0D}"/>
                </a:ext>
              </a:extLst>
            </p:cNvPr>
            <p:cNvSpPr txBox="1"/>
            <p:nvPr/>
          </p:nvSpPr>
          <p:spPr>
            <a:xfrm>
              <a:off x="3850954" y="758085"/>
              <a:ext cx="1892878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/>
                <a:t>FECHA:     08/07/2025</a:t>
              </a:r>
            </a:p>
            <a:p>
              <a:endParaRPr lang="es-MX" sz="1100" dirty="0"/>
            </a:p>
            <a:p>
              <a:r>
                <a:rPr lang="es-MX" sz="1100" dirty="0"/>
                <a:t>FUNDO:    LOS LAURELES</a:t>
              </a:r>
            </a:p>
            <a:p>
              <a:endParaRPr lang="es-MX" sz="1100" dirty="0"/>
            </a:p>
            <a:p>
              <a:r>
                <a:rPr lang="es-MX" sz="1100" dirty="0"/>
                <a:t>LOTE:        LL06</a:t>
              </a:r>
            </a:p>
            <a:p>
              <a:endParaRPr lang="es-MX" sz="1100" dirty="0"/>
            </a:p>
            <a:p>
              <a:r>
                <a:rPr lang="es-MX" sz="1100" dirty="0"/>
                <a:t>ESPECIE:  CHRYSOPAS</a:t>
              </a:r>
            </a:p>
            <a:p>
              <a:endParaRPr lang="es-MX" sz="1100" dirty="0"/>
            </a:p>
            <a:p>
              <a:r>
                <a:rPr lang="es-MX" sz="1100" dirty="0"/>
                <a:t>CANTIDAD: 1210</a:t>
              </a:r>
            </a:p>
            <a:p>
              <a:endParaRPr lang="es-MX" sz="1100" dirty="0"/>
            </a:p>
            <a:p>
              <a:r>
                <a:rPr lang="es-MX" sz="1100" dirty="0"/>
                <a:t>PLAGA OBJETIVO: TRIPS</a:t>
              </a:r>
            </a:p>
            <a:p>
              <a:endParaRPr lang="es-MX" sz="1100" dirty="0"/>
            </a:p>
            <a:p>
              <a:r>
                <a:rPr lang="es-MX" sz="1100" dirty="0"/>
                <a:t>FECHA DE LIBERACION: 08/07/2025</a:t>
              </a:r>
            </a:p>
            <a:p>
              <a:endParaRPr lang="es-MX" sz="1100" dirty="0"/>
            </a:p>
            <a:p>
              <a:r>
                <a:rPr lang="es-MX" sz="1100" dirty="0"/>
                <a:t>OBSERVACIONES: </a:t>
              </a:r>
              <a:endParaRPr lang="es-PE" sz="1100" dirty="0"/>
            </a:p>
          </p:txBody>
        </p:sp>
        <p:sp>
          <p:nvSpPr>
            <p:cNvPr id="113" name="Rectángulo: esquinas redondeadas 112">
              <a:extLst>
                <a:ext uri="{FF2B5EF4-FFF2-40B4-BE49-F238E27FC236}">
                  <a16:creationId xmlns:a16="http://schemas.microsoft.com/office/drawing/2014/main" id="{98F1F472-3A12-F99A-6FC0-7FCAC8172DDB}"/>
                </a:ext>
              </a:extLst>
            </p:cNvPr>
            <p:cNvSpPr/>
            <p:nvPr/>
          </p:nvSpPr>
          <p:spPr>
            <a:xfrm>
              <a:off x="4432546" y="800491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4" name="Rectángulo: esquinas redondeadas 113">
              <a:extLst>
                <a:ext uri="{FF2B5EF4-FFF2-40B4-BE49-F238E27FC236}">
                  <a16:creationId xmlns:a16="http://schemas.microsoft.com/office/drawing/2014/main" id="{F42F25CE-8AFF-E819-B73B-5F675C1CBA45}"/>
                </a:ext>
              </a:extLst>
            </p:cNvPr>
            <p:cNvSpPr/>
            <p:nvPr/>
          </p:nvSpPr>
          <p:spPr>
            <a:xfrm>
              <a:off x="4460033" y="1132369"/>
              <a:ext cx="950866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5" name="Rectángulo: esquinas redondeadas 114">
              <a:extLst>
                <a:ext uri="{FF2B5EF4-FFF2-40B4-BE49-F238E27FC236}">
                  <a16:creationId xmlns:a16="http://schemas.microsoft.com/office/drawing/2014/main" id="{9A635186-91B2-1DEE-CD07-7B143D0FB58A}"/>
                </a:ext>
              </a:extLst>
            </p:cNvPr>
            <p:cNvSpPr/>
            <p:nvPr/>
          </p:nvSpPr>
          <p:spPr>
            <a:xfrm>
              <a:off x="4472874" y="1471636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6" name="Rectángulo: esquinas redondeadas 115">
              <a:extLst>
                <a:ext uri="{FF2B5EF4-FFF2-40B4-BE49-F238E27FC236}">
                  <a16:creationId xmlns:a16="http://schemas.microsoft.com/office/drawing/2014/main" id="{FC5D7CDB-968B-F579-6F44-C462AADE770B}"/>
                </a:ext>
              </a:extLst>
            </p:cNvPr>
            <p:cNvSpPr/>
            <p:nvPr/>
          </p:nvSpPr>
          <p:spPr>
            <a:xfrm>
              <a:off x="4505310" y="1817752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7" name="Rectángulo: esquinas redondeadas 116">
              <a:extLst>
                <a:ext uri="{FF2B5EF4-FFF2-40B4-BE49-F238E27FC236}">
                  <a16:creationId xmlns:a16="http://schemas.microsoft.com/office/drawing/2014/main" id="{9B0789FD-002D-BF40-24DE-250DB45DADF4}"/>
                </a:ext>
              </a:extLst>
            </p:cNvPr>
            <p:cNvSpPr/>
            <p:nvPr/>
          </p:nvSpPr>
          <p:spPr>
            <a:xfrm>
              <a:off x="4563069" y="2138449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8" name="Rectángulo: esquinas redondeadas 117">
              <a:extLst>
                <a:ext uri="{FF2B5EF4-FFF2-40B4-BE49-F238E27FC236}">
                  <a16:creationId xmlns:a16="http://schemas.microsoft.com/office/drawing/2014/main" id="{22DF2E48-421A-3B88-7512-C70E82644126}"/>
                </a:ext>
              </a:extLst>
            </p:cNvPr>
            <p:cNvSpPr/>
            <p:nvPr/>
          </p:nvSpPr>
          <p:spPr>
            <a:xfrm>
              <a:off x="4922738" y="2439533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9" name="Rectángulo: esquinas redondeadas 118">
              <a:extLst>
                <a:ext uri="{FF2B5EF4-FFF2-40B4-BE49-F238E27FC236}">
                  <a16:creationId xmlns:a16="http://schemas.microsoft.com/office/drawing/2014/main" id="{F704E305-FCB7-3552-C0ED-FC2819D05564}"/>
                </a:ext>
              </a:extLst>
            </p:cNvPr>
            <p:cNvSpPr/>
            <p:nvPr/>
          </p:nvSpPr>
          <p:spPr>
            <a:xfrm>
              <a:off x="3907713" y="2976671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0" name="Rectángulo: esquinas redondeadas 119">
              <a:extLst>
                <a:ext uri="{FF2B5EF4-FFF2-40B4-BE49-F238E27FC236}">
                  <a16:creationId xmlns:a16="http://schemas.microsoft.com/office/drawing/2014/main" id="{12F5163D-CF56-EE6A-50BF-BAD8C4D74B90}"/>
                </a:ext>
              </a:extLst>
            </p:cNvPr>
            <p:cNvSpPr/>
            <p:nvPr/>
          </p:nvSpPr>
          <p:spPr>
            <a:xfrm>
              <a:off x="4922738" y="3301507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1" name="Rectángulo: esquinas redondeadas 120">
              <a:extLst>
                <a:ext uri="{FF2B5EF4-FFF2-40B4-BE49-F238E27FC236}">
                  <a16:creationId xmlns:a16="http://schemas.microsoft.com/office/drawing/2014/main" id="{9424DAC9-B912-CD80-F36B-186696825BF7}"/>
                </a:ext>
              </a:extLst>
            </p:cNvPr>
            <p:cNvSpPr/>
            <p:nvPr/>
          </p:nvSpPr>
          <p:spPr>
            <a:xfrm>
              <a:off x="5381233" y="4060272"/>
              <a:ext cx="491061" cy="214604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/>
                <a:t>OK</a:t>
              </a:r>
              <a:endParaRPr lang="es-PE" sz="1000"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9183C8F0-6AA1-D9C9-51F9-454C0F3EE7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0708" y="5822115"/>
            <a:ext cx="2995804" cy="1755054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DC3914AE-7786-C0C2-AF38-BE6510B51BD3}"/>
              </a:ext>
            </a:extLst>
          </p:cNvPr>
          <p:cNvGrpSpPr/>
          <p:nvPr/>
        </p:nvGrpSpPr>
        <p:grpSpPr>
          <a:xfrm>
            <a:off x="2330213" y="7760195"/>
            <a:ext cx="2095644" cy="291934"/>
            <a:chOff x="10955573" y="4291145"/>
            <a:chExt cx="2095644" cy="28774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84BCDB1-98B9-D64D-6B7B-6BD941646BA5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314587DE-2B12-12A0-70BC-0DBB83FBBACC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08571C1-229A-C2AE-84B1-79A04FE72CB9}"/>
              </a:ext>
            </a:extLst>
          </p:cNvPr>
          <p:cNvSpPr/>
          <p:nvPr/>
        </p:nvSpPr>
        <p:spPr>
          <a:xfrm>
            <a:off x="1770707" y="5325101"/>
            <a:ext cx="2985815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527D2860-06C2-5117-BE76-1DF2F874D1DC}"/>
              </a:ext>
            </a:extLst>
          </p:cNvPr>
          <p:cNvSpPr/>
          <p:nvPr/>
        </p:nvSpPr>
        <p:spPr>
          <a:xfrm rot="15983339">
            <a:off x="3837448" y="3869375"/>
            <a:ext cx="2667002" cy="1320899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931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BA13-D4ED-7C0B-E47B-AAFD8A4E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Flecha: pentágono 2202">
            <a:extLst>
              <a:ext uri="{FF2B5EF4-FFF2-40B4-BE49-F238E27FC236}">
                <a16:creationId xmlns:a16="http://schemas.microsoft.com/office/drawing/2014/main" id="{0F1F59EB-44D3-5B81-17BF-892B22922B70}"/>
              </a:ext>
            </a:extLst>
          </p:cNvPr>
          <p:cNvSpPr/>
          <p:nvPr/>
        </p:nvSpPr>
        <p:spPr>
          <a:xfrm>
            <a:off x="822060" y="293001"/>
            <a:ext cx="6663764" cy="841311"/>
          </a:xfrm>
          <a:prstGeom prst="homePlate">
            <a:avLst/>
          </a:prstGeom>
          <a:solidFill>
            <a:srgbClr val="1F497D"/>
          </a:solidFill>
          <a:ln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0BCDFE6-CB78-4B18-4B2D-4E0C52716FCE}"/>
              </a:ext>
            </a:extLst>
          </p:cNvPr>
          <p:cNvSpPr txBox="1"/>
          <p:nvPr/>
        </p:nvSpPr>
        <p:spPr>
          <a:xfrm>
            <a:off x="1241584" y="448269"/>
            <a:ext cx="3762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>
                <a:solidFill>
                  <a:schemeClr val="bg1"/>
                </a:solidFill>
              </a:rPr>
              <a:t>VISTA DEL USUARIO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F28561D-A98F-F5DC-2FED-5C78B989E511}"/>
              </a:ext>
            </a:extLst>
          </p:cNvPr>
          <p:cNvGrpSpPr/>
          <p:nvPr/>
        </p:nvGrpSpPr>
        <p:grpSpPr>
          <a:xfrm>
            <a:off x="3418256" y="1612923"/>
            <a:ext cx="3865418" cy="7061154"/>
            <a:chOff x="4968636" y="1248414"/>
            <a:chExt cx="3865418" cy="706115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9AC22D6A-DDD1-09E0-6E0B-5FCBFAD6D4FC}"/>
                </a:ext>
              </a:extLst>
            </p:cNvPr>
            <p:cNvGrpSpPr/>
            <p:nvPr/>
          </p:nvGrpSpPr>
          <p:grpSpPr>
            <a:xfrm>
              <a:off x="4968636" y="1248414"/>
              <a:ext cx="3865418" cy="7061154"/>
              <a:chOff x="8833428" y="1270548"/>
              <a:chExt cx="3865418" cy="7061154"/>
            </a:xfrm>
          </p:grpSpPr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A17F5090-E57E-665F-A0D9-26932C011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3428" y="1270548"/>
                <a:ext cx="3865418" cy="7061154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7870BE31-18F6-FE89-BBEE-AB9CF2397ABA}"/>
                  </a:ext>
                </a:extLst>
              </p:cNvPr>
              <p:cNvSpPr/>
              <p:nvPr/>
            </p:nvSpPr>
            <p:spPr>
              <a:xfrm>
                <a:off x="8861137" y="1502881"/>
                <a:ext cx="3810000" cy="471451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4320F8AD-D565-FF99-67C8-8505D9E05060}"/>
                  </a:ext>
                </a:extLst>
              </p:cNvPr>
              <p:cNvSpPr/>
              <p:nvPr/>
            </p:nvSpPr>
            <p:spPr>
              <a:xfrm>
                <a:off x="8950159" y="1562469"/>
                <a:ext cx="1434667" cy="3522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rPr>
                  <a:t>AGROI+D</a:t>
                </a:r>
                <a:endParaRPr lang="es-PE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endParaRPr>
              </a:p>
            </p:txBody>
          </p:sp>
          <p:pic>
            <p:nvPicPr>
              <p:cNvPr id="11" name="Imagen 10" descr="Logotipo, nombre de la empresa">
                <a:extLst>
                  <a:ext uri="{FF2B5EF4-FFF2-40B4-BE49-F238E27FC236}">
                    <a16:creationId xmlns:a16="http://schemas.microsoft.com/office/drawing/2014/main" id="{B025C496-2681-D8E7-CCFC-30D631D39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60776" y="2086207"/>
                <a:ext cx="2513026" cy="1154630"/>
              </a:xfrm>
              <a:prstGeom prst="rect">
                <a:avLst/>
              </a:prstGeom>
            </p:spPr>
          </p:pic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5175A11B-C0F6-6CC2-849C-9E96BD765F7C}"/>
                  </a:ext>
                </a:extLst>
              </p:cNvPr>
              <p:cNvSpPr/>
              <p:nvPr/>
            </p:nvSpPr>
            <p:spPr>
              <a:xfrm>
                <a:off x="8861137" y="3435161"/>
                <a:ext cx="3837709" cy="23358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9A7D4EDA-51A2-C34A-F22F-DD4EFC697C22}"/>
                  </a:ext>
                </a:extLst>
              </p:cNvPr>
              <p:cNvSpPr/>
              <p:nvPr/>
            </p:nvSpPr>
            <p:spPr>
              <a:xfrm>
                <a:off x="9417852" y="3485520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Nuevo Requerimiento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2942AC05-00D5-6D9B-2589-4008B9212217}"/>
                  </a:ext>
                </a:extLst>
              </p:cNvPr>
              <p:cNvSpPr/>
              <p:nvPr/>
            </p:nvSpPr>
            <p:spPr>
              <a:xfrm>
                <a:off x="9426095" y="4177279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Historial de Requerimiento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p:grpSp>
        <p:pic>
          <p:nvPicPr>
            <p:cNvPr id="43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7D93C6AB-B455-1215-67C8-6BE0310F3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8714" y="1540333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AA28B6D-8AC8-BB53-71BE-F0BE44865A41}"/>
              </a:ext>
            </a:extLst>
          </p:cNvPr>
          <p:cNvSpPr txBox="1"/>
          <p:nvPr/>
        </p:nvSpPr>
        <p:spPr>
          <a:xfrm>
            <a:off x="4397654" y="6431831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27</a:t>
            </a:r>
            <a:endParaRPr lang="es-PE" sz="120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D910937-7480-2383-58A2-CD3653745E04}"/>
              </a:ext>
            </a:extLst>
          </p:cNvPr>
          <p:cNvSpPr txBox="1"/>
          <p:nvPr/>
        </p:nvSpPr>
        <p:spPr>
          <a:xfrm>
            <a:off x="4382015" y="6751066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28</a:t>
            </a:r>
            <a:endParaRPr lang="es-PE" sz="120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C298989-4ECF-55D7-072F-B5EC61FC610D}"/>
              </a:ext>
            </a:extLst>
          </p:cNvPr>
          <p:cNvSpPr txBox="1"/>
          <p:nvPr/>
        </p:nvSpPr>
        <p:spPr>
          <a:xfrm>
            <a:off x="4389273" y="7106667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29</a:t>
            </a:r>
            <a:endParaRPr lang="es-PE" sz="120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526C025-B556-AE51-DD38-8584BCEC4B81}"/>
              </a:ext>
            </a:extLst>
          </p:cNvPr>
          <p:cNvSpPr/>
          <p:nvPr/>
        </p:nvSpPr>
        <p:spPr>
          <a:xfrm>
            <a:off x="3619943" y="7475076"/>
            <a:ext cx="3377749" cy="80294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78A06AB-5898-0948-E07C-9BA4D5912C97}"/>
              </a:ext>
            </a:extLst>
          </p:cNvPr>
          <p:cNvGrpSpPr/>
          <p:nvPr/>
        </p:nvGrpSpPr>
        <p:grpSpPr>
          <a:xfrm>
            <a:off x="3750930" y="7462268"/>
            <a:ext cx="3300396" cy="934232"/>
            <a:chOff x="3549575" y="8135925"/>
            <a:chExt cx="3098697" cy="781710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C71C871-D437-A7E5-0C69-C4078FBDB160}"/>
                </a:ext>
              </a:extLst>
            </p:cNvPr>
            <p:cNvSpPr txBox="1"/>
            <p:nvPr/>
          </p:nvSpPr>
          <p:spPr>
            <a:xfrm>
              <a:off x="4001083" y="8135925"/>
              <a:ext cx="2647189" cy="781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5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ALERTA</a:t>
              </a:r>
            </a:p>
            <a:p>
              <a:r>
                <a:rPr lang="es-MX" sz="11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 SE INGRESO LA INFORMACION DE LA LIBERACION</a:t>
              </a:r>
            </a:p>
            <a:p>
              <a:r>
                <a:rPr lang="es-MX" sz="11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FECHA DE SOLICITUD:08/07/2025</a:t>
              </a:r>
              <a:endParaRPr lang="es-PE" sz="11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6C452E09-8151-C49B-D33C-24553E436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5154" b="85462" l="58462" r="91462">
                          <a14:foregroundMark x1="78385" y1="61000" x2="66231" y2="74308"/>
                          <a14:foregroundMark x1="66231" y1="74308" x2="87462" y2="73308"/>
                          <a14:foregroundMark x1="87462" y1="73308" x2="68000" y2="58308"/>
                          <a14:foregroundMark x1="68000" y1="58308" x2="75077" y2="75385"/>
                          <a14:foregroundMark x1="75077" y1="75385" x2="73385" y2="67000"/>
                          <a14:foregroundMark x1="78692" y1="67000" x2="83385" y2="62769"/>
                          <a14:foregroundMark x1="87462" y1="68385" x2="64538" y2="66077"/>
                          <a14:foregroundMark x1="64538" y1="66077" x2="83231" y2="76308"/>
                          <a14:foregroundMark x1="83231" y1="76308" x2="87846" y2="63923"/>
                          <a14:foregroundMark x1="86154" y1="64077" x2="65385" y2="67692"/>
                          <a14:foregroundMark x1="65385" y1="67692" x2="77154" y2="80769"/>
                          <a14:foregroundMark x1="77154" y1="80769" x2="82154" y2="64769"/>
                          <a14:foregroundMark x1="85077" y1="64077" x2="63769" y2="66231"/>
                          <a14:foregroundMark x1="63769" y1="66231" x2="81846" y2="77692"/>
                          <a14:foregroundMark x1="81846" y1="77692" x2="80846" y2="57385"/>
                          <a14:foregroundMark x1="80846" y1="57385" x2="78231" y2="56231"/>
                          <a14:foregroundMark x1="79923" y1="58923" x2="64462" y2="72000"/>
                          <a14:foregroundMark x1="64462" y1="72000" x2="90231" y2="75923"/>
                          <a14:foregroundMark x1="90231" y1="75923" x2="78231" y2="59462"/>
                          <a14:foregroundMark x1="78231" y1="59462" x2="74923" y2="59615"/>
                          <a14:foregroundMark x1="85923" y1="61692" x2="65385" y2="60077"/>
                          <a14:foregroundMark x1="65385" y1="60077" x2="73462" y2="80000"/>
                          <a14:foregroundMark x1="73462" y1="80000" x2="84231" y2="76692"/>
                          <a14:foregroundMark x1="84231" y1="60692" x2="63769" y2="59846"/>
                          <a14:foregroundMark x1="63769" y1="59846" x2="69308" y2="80769"/>
                          <a14:foregroundMark x1="69308" y1="80769" x2="84077" y2="79077"/>
                          <a14:foregroundMark x1="84769" y1="61385" x2="66154" y2="59231"/>
                          <a14:foregroundMark x1="66154" y1="59231" x2="64769" y2="79923"/>
                          <a14:foregroundMark x1="64769" y1="79923" x2="86000" y2="77308"/>
                          <a14:foregroundMark x1="86000" y1="77308" x2="88000" y2="74615"/>
                          <a14:foregroundMark x1="88538" y1="76846" x2="68538" y2="81923"/>
                          <a14:foregroundMark x1="68538" y1="81923" x2="63154" y2="61692"/>
                          <a14:foregroundMark x1="63154" y1="61692" x2="77000" y2="56923"/>
                          <a14:foregroundMark x1="77000" y1="56923" x2="61538" y2="65692"/>
                          <a14:foregroundMark x1="61538" y1="65692" x2="72154" y2="83000"/>
                          <a14:foregroundMark x1="72154" y1="83000" x2="86846" y2="80077"/>
                          <a14:foregroundMark x1="87462" y1="63923" x2="85413" y2="82852"/>
                          <a14:foregroundMark x1="83330" y1="84340" x2="65091" y2="82445"/>
                          <a14:foregroundMark x1="63666" y1="81339" x2="61692" y2="62692"/>
                          <a14:foregroundMark x1="61692" y1="62692" x2="86692" y2="60308"/>
                          <a14:foregroundMark x1="87086" y1="60908" x2="70826" y2="55632"/>
                          <a14:foregroundMark x1="70291" y1="55742" x2="64769" y2="60308"/>
                          <a14:foregroundMark x1="69077" y1="56923" x2="86154" y2="61154"/>
                          <a14:foregroundMark x1="87000" y1="61154" x2="72154" y2="56385"/>
                          <a14:foregroundMark x1="86462" y1="61154" x2="88538" y2="63615"/>
                          <a14:foregroundMark x1="80615" y1="83923" x2="62385" y2="76308"/>
                          <a14:foregroundMark x1="62385" y1="76308" x2="68538" y2="59385"/>
                          <a14:foregroundMark x1="68538" y1="59385" x2="87479" y2="61497"/>
                          <a14:foregroundMark x1="88523" y1="61543" x2="90982" y2="73061"/>
                          <a14:foregroundMark x1="90464" y1="73188" x2="75846" y2="56385"/>
                          <a14:foregroundMark x1="75846" y1="56385" x2="69615" y2="56692"/>
                          <a14:foregroundMark x1="84385" y1="59308" x2="85615" y2="60000"/>
                          <a14:foregroundMark x1="88053" y1="60587" x2="73077" y2="55846"/>
                          <a14:foregroundMark x1="87308" y1="60538" x2="70405" y2="55439"/>
                          <a14:foregroundMark x1="68385" y1="56923" x2="60385" y2="73308"/>
                          <a14:foregroundMark x1="60385" y1="73308" x2="77538" y2="84077"/>
                          <a14:foregroundMark x1="77538" y1="84077" x2="87154" y2="81308"/>
                          <a14:foregroundMark x1="86408" y1="80969" x2="69077" y2="85615"/>
                          <a14:foregroundMark x1="68575" y1="85166" x2="63923" y2="81000"/>
                          <a14:foregroundMark x1="62385" y1="62538" x2="60000" y2="76154"/>
                          <a14:foregroundMark x1="62231" y1="78538" x2="80462" y2="84923"/>
                          <a14:foregroundMark x1="80462" y1="84923" x2="71154" y2="84077"/>
                          <a14:foregroundMark x1="89923" y1="66846" x2="88385" y2="63923"/>
                          <a14:foregroundMark x1="89538" y1="68385" x2="74462" y2="56385"/>
                          <a14:foregroundMark x1="74462" y1="56385" x2="71308" y2="56385"/>
                          <a14:foregroundMark x1="71154" y1="56000" x2="86462" y2="62769"/>
                          <a14:foregroundMark x1="61538" y1="64462" x2="59846" y2="73769"/>
                          <a14:foregroundMark x1="59361" y1="71245" x2="72846" y2="62231"/>
                          <a14:foregroundMark x1="59615" y1="72231" x2="66692" y2="64077"/>
                          <a14:foregroundMark x1="60000" y1="73385" x2="65462" y2="63462"/>
                          <a14:foregroundMark x1="60000" y1="66846" x2="59462" y2="70385"/>
                          <a14:backgroundMark x1="70077" y1="54923" x2="69769" y2="54923"/>
                          <a14:backgroundMark x1="70231" y1="54538" x2="68000" y2="55154"/>
                          <a14:backgroundMark x1="58000" y1="71000" x2="58154" y2="72000"/>
                          <a14:backgroundMark x1="62923" y1="81923" x2="63308" y2="82308"/>
                          <a14:backgroundMark x1="82846" y1="85385" x2="87923" y2="82000"/>
                          <a14:backgroundMark x1="90000" y1="78462" x2="91308" y2="73923"/>
                          <a14:backgroundMark x1="91231" y1="73000" x2="91692" y2="74846"/>
                          <a14:backgroundMark x1="91692" y1="74077" x2="91538" y2="76308"/>
                          <a14:backgroundMark x1="90077" y1="61077" x2="88538" y2="59538"/>
                          <a14:backgroundMark x1="87308" y1="59154" x2="89308" y2="61077"/>
                          <a14:backgroundMark x1="89923" y1="61000" x2="88538" y2="59846"/>
                          <a14:backgroundMark x1="89231" y1="61538" x2="88385" y2="60231"/>
                          <a14:backgroundMark x1="87692" y1="59462" x2="88923" y2="61308"/>
                          <a14:backgroundMark x1="88154" y1="60769" x2="87923" y2="60231"/>
                          <a14:backgroundMark x1="87462" y1="81385" x2="87231" y2="81615"/>
                          <a14:backgroundMark x1="63000" y1="81846" x2="64308" y2="83231"/>
                          <a14:backgroundMark x1="63538" y1="82538" x2="64615" y2="83000"/>
                          <a14:backgroundMark x1="68462" y1="85846" x2="69615" y2="86231"/>
                          <a14:backgroundMark x1="68308" y1="85462" x2="69692" y2="86154"/>
                          <a14:backgroundMark x1="87077" y1="82077" x2="87615" y2="81385"/>
                        </a14:backgroundRemoval>
                      </a14:imgEffect>
                    </a14:imgLayer>
                  </a14:imgProps>
                </a:ext>
              </a:extLst>
            </a:blip>
            <a:srcRect l="56542" t="52367" r="7044" b="11512"/>
            <a:stretch>
              <a:fillRect/>
            </a:stretch>
          </p:blipFill>
          <p:spPr>
            <a:xfrm>
              <a:off x="3549575" y="8198511"/>
              <a:ext cx="519986" cy="515816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563002-DA4D-D987-DD3C-187BED36D15D}"/>
              </a:ext>
            </a:extLst>
          </p:cNvPr>
          <p:cNvSpPr txBox="1"/>
          <p:nvPr/>
        </p:nvSpPr>
        <p:spPr>
          <a:xfrm>
            <a:off x="6736698" y="7066722"/>
            <a:ext cx="32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1"/>
                </a:solidFill>
              </a:rPr>
              <a:t>x</a:t>
            </a:r>
            <a:endParaRPr lang="es-PE">
              <a:solidFill>
                <a:schemeClr val="bg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008A45-3079-F538-51B9-43077C12ABBA}"/>
              </a:ext>
            </a:extLst>
          </p:cNvPr>
          <p:cNvSpPr txBox="1"/>
          <p:nvPr/>
        </p:nvSpPr>
        <p:spPr>
          <a:xfrm>
            <a:off x="8440545" y="9086354"/>
            <a:ext cx="2778509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Esta alerta debe salir en caso no se haya ingresado la información de liberación dentro de las 30h.</a:t>
            </a:r>
            <a:endParaRPr lang="es-PE" sz="1600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8B0C89F-42F7-2345-85F7-DAEF2DB561A8}"/>
              </a:ext>
            </a:extLst>
          </p:cNvPr>
          <p:cNvGrpSpPr/>
          <p:nvPr/>
        </p:nvGrpSpPr>
        <p:grpSpPr>
          <a:xfrm>
            <a:off x="11739781" y="1622827"/>
            <a:ext cx="3865418" cy="7061154"/>
            <a:chOff x="10674555" y="1463929"/>
            <a:chExt cx="3865418" cy="706115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6F41AA3-BAF7-3957-693B-362B45892B8F}"/>
                </a:ext>
              </a:extLst>
            </p:cNvPr>
            <p:cNvGrpSpPr/>
            <p:nvPr/>
          </p:nvGrpSpPr>
          <p:grpSpPr>
            <a:xfrm>
              <a:off x="10674555" y="1463929"/>
              <a:ext cx="3865418" cy="7061154"/>
              <a:chOff x="9275362" y="1463929"/>
              <a:chExt cx="3865418" cy="7061154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F270A13B-4E68-FE44-43DA-172C01FF5E8B}"/>
                  </a:ext>
                </a:extLst>
              </p:cNvPr>
              <p:cNvGrpSpPr/>
              <p:nvPr/>
            </p:nvGrpSpPr>
            <p:grpSpPr>
              <a:xfrm>
                <a:off x="9275362" y="1463929"/>
                <a:ext cx="3865418" cy="7061154"/>
                <a:chOff x="9275362" y="1463929"/>
                <a:chExt cx="3865418" cy="7061154"/>
              </a:xfrm>
            </p:grpSpPr>
            <p:pic>
              <p:nvPicPr>
                <p:cNvPr id="50" name="Imagen 49">
                  <a:extLst>
                    <a:ext uri="{FF2B5EF4-FFF2-40B4-BE49-F238E27FC236}">
                      <a16:creationId xmlns:a16="http://schemas.microsoft.com/office/drawing/2014/main" id="{DC5BC623-9240-38AA-F37E-D87DC58ECE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5362" y="1463929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51" name="Rectángulo 50">
                  <a:extLst>
                    <a:ext uri="{FF2B5EF4-FFF2-40B4-BE49-F238E27FC236}">
                      <a16:creationId xmlns:a16="http://schemas.microsoft.com/office/drawing/2014/main" id="{18EB0423-476B-9140-7F9C-6D52E7B51B2E}"/>
                    </a:ext>
                  </a:extLst>
                </p:cNvPr>
                <p:cNvSpPr/>
                <p:nvPr/>
              </p:nvSpPr>
              <p:spPr>
                <a:xfrm>
                  <a:off x="9303071" y="1696262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2" name="Rectángulo 51">
                  <a:extLst>
                    <a:ext uri="{FF2B5EF4-FFF2-40B4-BE49-F238E27FC236}">
                      <a16:creationId xmlns:a16="http://schemas.microsoft.com/office/drawing/2014/main" id="{4F67989F-6873-B17F-2945-7AE44D8B7608}"/>
                    </a:ext>
                  </a:extLst>
                </p:cNvPr>
                <p:cNvSpPr/>
                <p:nvPr/>
              </p:nvSpPr>
              <p:spPr>
                <a:xfrm>
                  <a:off x="9392093" y="1755850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FF305F39-DC21-01A8-36EE-4E07BE513EA5}"/>
                    </a:ext>
                  </a:extLst>
                </p:cNvPr>
                <p:cNvSpPr/>
                <p:nvPr/>
              </p:nvSpPr>
              <p:spPr>
                <a:xfrm>
                  <a:off x="9471271" y="2377415"/>
                  <a:ext cx="3474972" cy="3607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54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618921E1-4DEE-C949-1C02-B896EE3E60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17355" y="1744015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0291084-51B8-BBCE-CC09-55D30396A1C7}"/>
                    </a:ext>
                  </a:extLst>
                </p:cNvPr>
                <p:cNvSpPr txBox="1"/>
                <p:nvPr/>
              </p:nvSpPr>
              <p:spPr>
                <a:xfrm>
                  <a:off x="9320048" y="2504988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FUNDO:</a:t>
                  </a:r>
                  <a:endParaRPr lang="es-PE" sz="1600" b="1"/>
                </a:p>
              </p:txBody>
            </p:sp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0C9F9F9C-B198-7366-4D00-F121C177685C}"/>
                    </a:ext>
                  </a:extLst>
                </p:cNvPr>
                <p:cNvSpPr txBox="1"/>
                <p:nvPr/>
              </p:nvSpPr>
              <p:spPr>
                <a:xfrm>
                  <a:off x="9335678" y="281317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LOTE:</a:t>
                  </a:r>
                  <a:endParaRPr lang="es-PE" sz="1600" b="1"/>
                </a:p>
              </p:txBody>
            </p:sp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F2CC20CE-7DE5-1BF3-4540-9E94E6045730}"/>
                    </a:ext>
                  </a:extLst>
                </p:cNvPr>
                <p:cNvSpPr txBox="1"/>
                <p:nvPr/>
              </p:nvSpPr>
              <p:spPr>
                <a:xfrm>
                  <a:off x="9335678" y="217850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242649F7-22CD-F9BB-DC49-680626FC3D5A}"/>
                    </a:ext>
                  </a:extLst>
                </p:cNvPr>
                <p:cNvSpPr txBox="1"/>
                <p:nvPr/>
              </p:nvSpPr>
              <p:spPr>
                <a:xfrm>
                  <a:off x="9335678" y="315018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ESPECIE:</a:t>
                  </a:r>
                  <a:endParaRPr lang="es-PE" sz="1600" b="1"/>
                </a:p>
              </p:txBody>
            </p:sp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F458CD89-60FB-75D2-4F6C-9A0B094644D3}"/>
                    </a:ext>
                  </a:extLst>
                </p:cNvPr>
                <p:cNvSpPr txBox="1"/>
                <p:nvPr/>
              </p:nvSpPr>
              <p:spPr>
                <a:xfrm>
                  <a:off x="9324059" y="3808828"/>
                  <a:ext cx="22224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CANTIDAD/MILLARES:</a:t>
                  </a:r>
                  <a:endParaRPr lang="es-PE" sz="1600" b="1" dirty="0"/>
                </a:p>
              </p:txBody>
            </p:sp>
            <p:pic>
              <p:nvPicPr>
                <p:cNvPr id="61" name="Imagen 60">
                  <a:extLst>
                    <a:ext uri="{FF2B5EF4-FFF2-40B4-BE49-F238E27FC236}">
                      <a16:creationId xmlns:a16="http://schemas.microsoft.com/office/drawing/2014/main" id="{6EF172A1-C472-8E8E-A556-C69B9853B7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36561" y="3801846"/>
                  <a:ext cx="1038370" cy="295316"/>
                </a:xfrm>
                <a:prstGeom prst="rect">
                  <a:avLst/>
                </a:prstGeom>
              </p:spPr>
            </p:pic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F5F3B79B-33F8-F0E2-E3B0-192FE6F466A2}"/>
                    </a:ext>
                  </a:extLst>
                </p:cNvPr>
                <p:cNvSpPr txBox="1"/>
                <p:nvPr/>
              </p:nvSpPr>
              <p:spPr>
                <a:xfrm>
                  <a:off x="9345450" y="4013835"/>
                  <a:ext cx="11557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PLAGA OBJETIVO:</a:t>
                  </a:r>
                  <a:endParaRPr lang="es-PE" sz="1600" b="1"/>
                </a:p>
              </p:txBody>
            </p:sp>
            <p:sp>
              <p:nvSpPr>
                <p:cNvPr id="99" name="CuadroTexto 98">
                  <a:extLst>
                    <a:ext uri="{FF2B5EF4-FFF2-40B4-BE49-F238E27FC236}">
                      <a16:creationId xmlns:a16="http://schemas.microsoft.com/office/drawing/2014/main" id="{B5DC6BDD-98D2-80A4-1962-F39F5670B4D6}"/>
                    </a:ext>
                  </a:extLst>
                </p:cNvPr>
                <p:cNvSpPr txBox="1"/>
                <p:nvPr/>
              </p:nvSpPr>
              <p:spPr>
                <a:xfrm>
                  <a:off x="9340618" y="5250226"/>
                  <a:ext cx="136144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*FECHA DE LIBERACION :</a:t>
                  </a:r>
                  <a:endParaRPr lang="es-PE" sz="1600" b="1"/>
                </a:p>
              </p:txBody>
            </p:sp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5A87C42B-5246-E6C1-CBAC-0C2BE105F43C}"/>
                    </a:ext>
                  </a:extLst>
                </p:cNvPr>
                <p:cNvSpPr txBox="1"/>
                <p:nvPr/>
              </p:nvSpPr>
              <p:spPr>
                <a:xfrm>
                  <a:off x="9341170" y="6375236"/>
                  <a:ext cx="16983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122" name="Imagen 121">
                  <a:extLst>
                    <a:ext uri="{FF2B5EF4-FFF2-40B4-BE49-F238E27FC236}">
                      <a16:creationId xmlns:a16="http://schemas.microsoft.com/office/drawing/2014/main" id="{B6F25E0F-E634-F9CD-C395-42BCA6CDF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66964" y="6375236"/>
                  <a:ext cx="1493033" cy="323496"/>
                </a:xfrm>
                <a:prstGeom prst="rect">
                  <a:avLst/>
                </a:prstGeom>
              </p:spPr>
            </p:pic>
            <p:pic>
              <p:nvPicPr>
                <p:cNvPr id="123" name="Imagen 122">
                  <a:extLst>
                    <a:ext uri="{FF2B5EF4-FFF2-40B4-BE49-F238E27FC236}">
                      <a16:creationId xmlns:a16="http://schemas.microsoft.com/office/drawing/2014/main" id="{AE36D9D1-D49D-011C-F284-FEA5280CA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73478" y="251501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4" name="Imagen 123">
                  <a:extLst>
                    <a:ext uri="{FF2B5EF4-FFF2-40B4-BE49-F238E27FC236}">
                      <a16:creationId xmlns:a16="http://schemas.microsoft.com/office/drawing/2014/main" id="{014F2E09-D858-E4A6-E137-7EE05D237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9357" y="2847872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5" name="Imagen 124">
                  <a:extLst>
                    <a:ext uri="{FF2B5EF4-FFF2-40B4-BE49-F238E27FC236}">
                      <a16:creationId xmlns:a16="http://schemas.microsoft.com/office/drawing/2014/main" id="{9E532EAE-1CA9-FD7A-1473-686BA9B93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9357" y="316940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6" name="Imagen 125">
                  <a:extLst>
                    <a:ext uri="{FF2B5EF4-FFF2-40B4-BE49-F238E27FC236}">
                      <a16:creationId xmlns:a16="http://schemas.microsoft.com/office/drawing/2014/main" id="{C8AEB40B-E840-B28F-E6D5-726309D400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29586" y="4280120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7" name="Imagen 126">
                  <a:extLst>
                    <a:ext uri="{FF2B5EF4-FFF2-40B4-BE49-F238E27FC236}">
                      <a16:creationId xmlns:a16="http://schemas.microsoft.com/office/drawing/2014/main" id="{360A764E-B4FF-7855-AFE6-3559E07696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547054" y="7512004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2048" name="CuadroTexto 2047">
                  <a:extLst>
                    <a:ext uri="{FF2B5EF4-FFF2-40B4-BE49-F238E27FC236}">
                      <a16:creationId xmlns:a16="http://schemas.microsoft.com/office/drawing/2014/main" id="{751D13A9-55EB-9788-4E6C-25700526B901}"/>
                    </a:ext>
                  </a:extLst>
                </p:cNvPr>
                <p:cNvSpPr txBox="1"/>
                <p:nvPr/>
              </p:nvSpPr>
              <p:spPr>
                <a:xfrm>
                  <a:off x="10232614" y="253260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2049" name="CuadroTexto 2048">
                  <a:extLst>
                    <a:ext uri="{FF2B5EF4-FFF2-40B4-BE49-F238E27FC236}">
                      <a16:creationId xmlns:a16="http://schemas.microsoft.com/office/drawing/2014/main" id="{1B7DEAE1-20C2-C6C2-ABC6-7A0EF3987D30}"/>
                    </a:ext>
                  </a:extLst>
                </p:cNvPr>
                <p:cNvSpPr txBox="1"/>
                <p:nvPr/>
              </p:nvSpPr>
              <p:spPr>
                <a:xfrm>
                  <a:off x="10238501" y="2876163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2050" name="CuadroTexto 2049">
                  <a:extLst>
                    <a:ext uri="{FF2B5EF4-FFF2-40B4-BE49-F238E27FC236}">
                      <a16:creationId xmlns:a16="http://schemas.microsoft.com/office/drawing/2014/main" id="{EE5CF3B3-BF18-C123-2602-482246D83EA0}"/>
                    </a:ext>
                  </a:extLst>
                </p:cNvPr>
                <p:cNvSpPr txBox="1"/>
                <p:nvPr/>
              </p:nvSpPr>
              <p:spPr>
                <a:xfrm>
                  <a:off x="10210680" y="318067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2051" name="CuadroTexto 2050">
                  <a:extLst>
                    <a:ext uri="{FF2B5EF4-FFF2-40B4-BE49-F238E27FC236}">
                      <a16:creationId xmlns:a16="http://schemas.microsoft.com/office/drawing/2014/main" id="{2AC64766-D477-40C1-4A36-A17F7F037786}"/>
                    </a:ext>
                  </a:extLst>
                </p:cNvPr>
                <p:cNvSpPr txBox="1"/>
                <p:nvPr/>
              </p:nvSpPr>
              <p:spPr>
                <a:xfrm>
                  <a:off x="11341812" y="3814534"/>
                  <a:ext cx="9299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2052" name="CuadroTexto 2051">
                  <a:extLst>
                    <a:ext uri="{FF2B5EF4-FFF2-40B4-BE49-F238E27FC236}">
                      <a16:creationId xmlns:a16="http://schemas.microsoft.com/office/drawing/2014/main" id="{24253816-55D0-1473-A631-BC2EB68EBC98}"/>
                    </a:ext>
                  </a:extLst>
                </p:cNvPr>
                <p:cNvSpPr txBox="1"/>
                <p:nvPr/>
              </p:nvSpPr>
              <p:spPr>
                <a:xfrm>
                  <a:off x="10361773" y="427479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TRIPS</a:t>
                  </a:r>
                  <a:endParaRPr lang="es-PE" sz="1200"/>
                </a:p>
              </p:txBody>
            </p:sp>
            <p:sp>
              <p:nvSpPr>
                <p:cNvPr id="2054" name="CuadroTexto 2053">
                  <a:extLst>
                    <a:ext uri="{FF2B5EF4-FFF2-40B4-BE49-F238E27FC236}">
                      <a16:creationId xmlns:a16="http://schemas.microsoft.com/office/drawing/2014/main" id="{6D53D886-D48A-18E0-5FF0-963B72FF9B94}"/>
                    </a:ext>
                  </a:extLst>
                </p:cNvPr>
                <p:cNvSpPr txBox="1"/>
                <p:nvPr/>
              </p:nvSpPr>
              <p:spPr>
                <a:xfrm>
                  <a:off x="9324059" y="3475206"/>
                  <a:ext cx="18533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ET.FENOLOGICA:</a:t>
                  </a:r>
                  <a:endParaRPr lang="es-PE" sz="1600" b="1"/>
                </a:p>
              </p:txBody>
            </p:sp>
            <p:pic>
              <p:nvPicPr>
                <p:cNvPr id="2055" name="Imagen 2054">
                  <a:extLst>
                    <a:ext uri="{FF2B5EF4-FFF2-40B4-BE49-F238E27FC236}">
                      <a16:creationId xmlns:a16="http://schemas.microsoft.com/office/drawing/2014/main" id="{09BCF086-D23E-63DF-442D-5E8292750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66414" y="3510396"/>
                  <a:ext cx="1508517" cy="264392"/>
                </a:xfrm>
                <a:prstGeom prst="rect">
                  <a:avLst/>
                </a:prstGeom>
              </p:spPr>
            </p:pic>
            <p:sp>
              <p:nvSpPr>
                <p:cNvPr id="2056" name="CuadroTexto 2055">
                  <a:extLst>
                    <a:ext uri="{FF2B5EF4-FFF2-40B4-BE49-F238E27FC236}">
                      <a16:creationId xmlns:a16="http://schemas.microsoft.com/office/drawing/2014/main" id="{B7C8CB2A-DE18-501A-18E1-8ADC9379995B}"/>
                    </a:ext>
                  </a:extLst>
                </p:cNvPr>
                <p:cNvSpPr txBox="1"/>
                <p:nvPr/>
              </p:nvSpPr>
              <p:spPr>
                <a:xfrm>
                  <a:off x="10832633" y="3536486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POST COSECHA</a:t>
                  </a:r>
                  <a:endParaRPr lang="es-PE" sz="1200"/>
                </a:p>
              </p:txBody>
            </p:sp>
            <p:sp>
              <p:nvSpPr>
                <p:cNvPr id="2057" name="CuadroTexto 2056">
                  <a:extLst>
                    <a:ext uri="{FF2B5EF4-FFF2-40B4-BE49-F238E27FC236}">
                      <a16:creationId xmlns:a16="http://schemas.microsoft.com/office/drawing/2014/main" id="{16DEDF45-02B5-2621-F27E-C8819FBE8D07}"/>
                    </a:ext>
                  </a:extLst>
                </p:cNvPr>
                <p:cNvSpPr txBox="1"/>
                <p:nvPr/>
              </p:nvSpPr>
              <p:spPr>
                <a:xfrm>
                  <a:off x="9366069" y="5744603"/>
                  <a:ext cx="19518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*HORA DE LIBERACION :</a:t>
                  </a:r>
                  <a:endParaRPr lang="es-PE" sz="1600" b="1"/>
                </a:p>
              </p:txBody>
            </p:sp>
            <p:pic>
              <p:nvPicPr>
                <p:cNvPr id="2058" name="Imagen 2057">
                  <a:extLst>
                    <a:ext uri="{FF2B5EF4-FFF2-40B4-BE49-F238E27FC236}">
                      <a16:creationId xmlns:a16="http://schemas.microsoft.com/office/drawing/2014/main" id="{EFE4BC35-04AB-D328-C654-B37C2FBFE3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43466" y="5950123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2059" name="Imagen 2058">
                  <a:extLst>
                    <a:ext uri="{FF2B5EF4-FFF2-40B4-BE49-F238E27FC236}">
                      <a16:creationId xmlns:a16="http://schemas.microsoft.com/office/drawing/2014/main" id="{A540ECCA-B77B-3CF0-89F6-EBDF2F63B7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24883" y="5432062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2061" name="Gráfico 2060" descr="Cámara con relleno sólido">
                  <a:extLst>
                    <a:ext uri="{FF2B5EF4-FFF2-40B4-BE49-F238E27FC236}">
                      <a16:creationId xmlns:a16="http://schemas.microsoft.com/office/drawing/2014/main" id="{F8798065-B01B-95B6-BC7F-BEB4C424DB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53928" y="5292800"/>
                  <a:ext cx="441121" cy="441121"/>
                </a:xfrm>
                <a:prstGeom prst="rect">
                  <a:avLst/>
                </a:prstGeom>
              </p:spPr>
            </p:pic>
            <p:sp>
              <p:nvSpPr>
                <p:cNvPr id="2064" name="CuadroTexto 2063">
                  <a:extLst>
                    <a:ext uri="{FF2B5EF4-FFF2-40B4-BE49-F238E27FC236}">
                      <a16:creationId xmlns:a16="http://schemas.microsoft.com/office/drawing/2014/main" id="{51967632-2853-273F-29C2-DB90FFF6363D}"/>
                    </a:ext>
                  </a:extLst>
                </p:cNvPr>
                <p:cNvSpPr txBox="1"/>
                <p:nvPr/>
              </p:nvSpPr>
              <p:spPr>
                <a:xfrm>
                  <a:off x="9340618" y="4774488"/>
                  <a:ext cx="13614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ESTADO:</a:t>
                  </a:r>
                  <a:endParaRPr lang="es-PE" sz="1600" b="1"/>
                </a:p>
              </p:txBody>
            </p:sp>
            <p:pic>
              <p:nvPicPr>
                <p:cNvPr id="2065" name="Imagen 2064">
                  <a:extLst>
                    <a:ext uri="{FF2B5EF4-FFF2-40B4-BE49-F238E27FC236}">
                      <a16:creationId xmlns:a16="http://schemas.microsoft.com/office/drawing/2014/main" id="{A5F608E1-06DD-5D11-EEB9-4AD79EF8E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70253" y="4785188"/>
                  <a:ext cx="1493033" cy="323496"/>
                </a:xfrm>
                <a:prstGeom prst="rect">
                  <a:avLst/>
                </a:prstGeom>
              </p:spPr>
            </p:pic>
            <p:sp>
              <p:nvSpPr>
                <p:cNvPr id="2066" name="CuadroTexto 2065">
                  <a:extLst>
                    <a:ext uri="{FF2B5EF4-FFF2-40B4-BE49-F238E27FC236}">
                      <a16:creationId xmlns:a16="http://schemas.microsoft.com/office/drawing/2014/main" id="{6C4C4060-A3BF-A417-01DD-237B50F37712}"/>
                    </a:ext>
                  </a:extLst>
                </p:cNvPr>
                <p:cNvSpPr txBox="1"/>
                <p:nvPr/>
              </p:nvSpPr>
              <p:spPr>
                <a:xfrm>
                  <a:off x="10398031" y="478957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ENTREGADO</a:t>
                  </a:r>
                  <a:endParaRPr lang="es-PE" sz="1200"/>
                </a:p>
              </p:txBody>
            </p:sp>
            <p:pic>
              <p:nvPicPr>
                <p:cNvPr id="2067" name="Imagen 2066">
                  <a:extLst>
                    <a:ext uri="{FF2B5EF4-FFF2-40B4-BE49-F238E27FC236}">
                      <a16:creationId xmlns:a16="http://schemas.microsoft.com/office/drawing/2014/main" id="{8ACCBE17-606A-C69B-70A2-05E839750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00451" y="2183549"/>
                  <a:ext cx="1468295" cy="302879"/>
                </a:xfrm>
                <a:prstGeom prst="rect">
                  <a:avLst/>
                </a:prstGeom>
                <a:solidFill>
                  <a:srgbClr val="D9D9D9">
                    <a:alpha val="50000"/>
                  </a:srgbClr>
                </a:solidFill>
                <a:ln>
                  <a:solidFill>
                    <a:srgbClr val="D9D9D9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</p:pic>
            <p:sp>
              <p:nvSpPr>
                <p:cNvPr id="2068" name="CuadroTexto 2067">
                  <a:extLst>
                    <a:ext uri="{FF2B5EF4-FFF2-40B4-BE49-F238E27FC236}">
                      <a16:creationId xmlns:a16="http://schemas.microsoft.com/office/drawing/2014/main" id="{E46A001D-DC80-2708-103D-F5F4AB995C2A}"/>
                    </a:ext>
                  </a:extLst>
                </p:cNvPr>
                <p:cNvSpPr txBox="1"/>
                <p:nvPr/>
              </p:nvSpPr>
              <p:spPr>
                <a:xfrm>
                  <a:off x="10243702" y="2197223"/>
                  <a:ext cx="11557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08/07/2025</a:t>
                  </a:r>
                  <a:endParaRPr lang="es-PE" sz="1200"/>
                </a:p>
              </p:txBody>
            </p:sp>
          </p:grpSp>
          <p:pic>
            <p:nvPicPr>
              <p:cNvPr id="49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B72BF1DF-3A8D-9AF5-5CC5-3428C02E16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60" t="8600" r="31610" b="19065"/>
              <a:stretch>
                <a:fillRect/>
              </a:stretch>
            </p:blipFill>
            <p:spPr bwMode="auto">
              <a:xfrm>
                <a:off x="12038732" y="4698414"/>
                <a:ext cx="288738" cy="400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6D9D6D1-7B33-7273-02BE-78A745936D4C}"/>
                </a:ext>
              </a:extLst>
            </p:cNvPr>
            <p:cNvSpPr txBox="1"/>
            <p:nvPr/>
          </p:nvSpPr>
          <p:spPr>
            <a:xfrm>
              <a:off x="10747006" y="6766937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C1F0617C-07B4-BE8A-108B-64698803109E}"/>
                </a:ext>
              </a:extLst>
            </p:cNvPr>
            <p:cNvSpPr txBox="1"/>
            <p:nvPr/>
          </p:nvSpPr>
          <p:spPr>
            <a:xfrm>
              <a:off x="10739788" y="7143762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049C3CFF-E4F6-D586-CD95-B649933CC231}"/>
                </a:ext>
              </a:extLst>
            </p:cNvPr>
            <p:cNvSpPr txBox="1"/>
            <p:nvPr/>
          </p:nvSpPr>
          <p:spPr>
            <a:xfrm>
              <a:off x="10741666" y="7486388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4F2164E6-6C46-1A15-D1EF-592208990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16539" y="7099669"/>
              <a:ext cx="1493033" cy="323496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0CFC0319-33A6-408E-1C66-738F1DAF8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53214" y="7591142"/>
              <a:ext cx="1493033" cy="323496"/>
            </a:xfrm>
            <a:prstGeom prst="rect">
              <a:avLst/>
            </a:prstGeom>
          </p:spPr>
        </p:pic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D1067B8F-6553-C0EF-0265-80BA7FA2C420}"/>
                </a:ext>
              </a:extLst>
            </p:cNvPr>
            <p:cNvSpPr txBox="1"/>
            <p:nvPr/>
          </p:nvSpPr>
          <p:spPr>
            <a:xfrm>
              <a:off x="12498362" y="711910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2E4D400-E928-D34F-EF0D-1B3CAFAD39E4}"/>
                </a:ext>
              </a:extLst>
            </p:cNvPr>
            <p:cNvSpPr txBox="1"/>
            <p:nvPr/>
          </p:nvSpPr>
          <p:spPr>
            <a:xfrm>
              <a:off x="12525722" y="7621952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</p:grpSp>
      <p:sp>
        <p:nvSpPr>
          <p:cNvPr id="2074" name="Rectángulo 2073">
            <a:extLst>
              <a:ext uri="{FF2B5EF4-FFF2-40B4-BE49-F238E27FC236}">
                <a16:creationId xmlns:a16="http://schemas.microsoft.com/office/drawing/2014/main" id="{34CE4204-0B5C-3505-7BBB-430C65B391FD}"/>
              </a:ext>
            </a:extLst>
          </p:cNvPr>
          <p:cNvSpPr/>
          <p:nvPr/>
        </p:nvSpPr>
        <p:spPr>
          <a:xfrm>
            <a:off x="11831847" y="5352251"/>
            <a:ext cx="3595322" cy="115311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76" name="Conector: angular 2075">
            <a:extLst>
              <a:ext uri="{FF2B5EF4-FFF2-40B4-BE49-F238E27FC236}">
                <a16:creationId xmlns:a16="http://schemas.microsoft.com/office/drawing/2014/main" id="{9ABF5EBF-CE45-5D0E-6B16-08AD4B2DBC61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>
            <a:off x="5283201" y="8313987"/>
            <a:ext cx="3157345" cy="1310976"/>
          </a:xfrm>
          <a:prstGeom prst="bentConnector3">
            <a:avLst>
              <a:gd name="adj1" fmla="val 10028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78" name="Conector: angular 2077">
            <a:extLst>
              <a:ext uri="{FF2B5EF4-FFF2-40B4-BE49-F238E27FC236}">
                <a16:creationId xmlns:a16="http://schemas.microsoft.com/office/drawing/2014/main" id="{6CAB24D6-C24F-D5A1-7777-ED393BBBE235}"/>
              </a:ext>
            </a:extLst>
          </p:cNvPr>
          <p:cNvCxnSpPr>
            <a:cxnSpLocks/>
            <a:stCxn id="26" idx="3"/>
            <a:endCxn id="2074" idx="3"/>
          </p:cNvCxnSpPr>
          <p:nvPr/>
        </p:nvCxnSpPr>
        <p:spPr>
          <a:xfrm flipV="1">
            <a:off x="11219054" y="5928807"/>
            <a:ext cx="4208115" cy="3696156"/>
          </a:xfrm>
          <a:prstGeom prst="bentConnector3">
            <a:avLst>
              <a:gd name="adj1" fmla="val 111468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86" name="Rectángulo 2085">
            <a:extLst>
              <a:ext uri="{FF2B5EF4-FFF2-40B4-BE49-F238E27FC236}">
                <a16:creationId xmlns:a16="http://schemas.microsoft.com/office/drawing/2014/main" id="{7E5609F2-ED15-CEE0-C150-8D92C288EED9}"/>
              </a:ext>
            </a:extLst>
          </p:cNvPr>
          <p:cNvSpPr/>
          <p:nvPr/>
        </p:nvSpPr>
        <p:spPr>
          <a:xfrm>
            <a:off x="9149772" y="4862930"/>
            <a:ext cx="1098836" cy="35587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92" name="Conector: angular 2091">
            <a:extLst>
              <a:ext uri="{FF2B5EF4-FFF2-40B4-BE49-F238E27FC236}">
                <a16:creationId xmlns:a16="http://schemas.microsoft.com/office/drawing/2014/main" id="{5E46D5C2-D7CE-3159-69CF-F3A78DABCCAE}"/>
              </a:ext>
            </a:extLst>
          </p:cNvPr>
          <p:cNvCxnSpPr>
            <a:cxnSpLocks/>
            <a:endCxn id="2086" idx="2"/>
          </p:cNvCxnSpPr>
          <p:nvPr/>
        </p:nvCxnSpPr>
        <p:spPr>
          <a:xfrm rot="5400000" flipH="1" flipV="1">
            <a:off x="9475819" y="5325866"/>
            <a:ext cx="330437" cy="1163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03" name="CuadroTexto 2102">
            <a:extLst>
              <a:ext uri="{FF2B5EF4-FFF2-40B4-BE49-F238E27FC236}">
                <a16:creationId xmlns:a16="http://schemas.microsoft.com/office/drawing/2014/main" id="{4C15F9D1-BF4A-EDB2-6A92-755E06661FC9}"/>
              </a:ext>
            </a:extLst>
          </p:cNvPr>
          <p:cNvSpPr txBox="1"/>
          <p:nvPr/>
        </p:nvSpPr>
        <p:spPr>
          <a:xfrm>
            <a:off x="8093433" y="5560254"/>
            <a:ext cx="3074525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Una vez que se haya habilitado el botón </a:t>
            </a:r>
            <a:r>
              <a:rPr lang="es-MX" sz="1600" b="1" dirty="0"/>
              <a:t>Recibido</a:t>
            </a:r>
            <a:r>
              <a:rPr lang="es-MX" sz="1600" dirty="0"/>
              <a:t> va a tener como máx. 30h para que se pueda seleccionar, pasando ese tiempo se va a deshabilitar y  aparecerá en automático en la vista del administrador el estado en </a:t>
            </a:r>
            <a:r>
              <a:rPr lang="es-MX" sz="1600" b="1" dirty="0"/>
              <a:t>“RECIBIDO”</a:t>
            </a:r>
            <a:endParaRPr lang="es-PE" sz="16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8154D6-0F57-F256-4383-3C5F13387F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2339" y="5684054"/>
            <a:ext cx="2995804" cy="175505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DC414D2-0E21-B876-8DB5-2CC4112B04DF}"/>
              </a:ext>
            </a:extLst>
          </p:cNvPr>
          <p:cNvSpPr/>
          <p:nvPr/>
        </p:nvSpPr>
        <p:spPr>
          <a:xfrm>
            <a:off x="3961838" y="5222523"/>
            <a:ext cx="2985815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8" name="Imagen 97">
            <a:extLst>
              <a:ext uri="{FF2B5EF4-FFF2-40B4-BE49-F238E27FC236}">
                <a16:creationId xmlns:a16="http://schemas.microsoft.com/office/drawing/2014/main" id="{A58F56CE-0BBE-7DC1-151F-3F96F73159A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233" t="14388" r="27148" b="24106"/>
          <a:stretch/>
        </p:blipFill>
        <p:spPr>
          <a:xfrm rot="4782351">
            <a:off x="3684758" y="4724868"/>
            <a:ext cx="407047" cy="556704"/>
          </a:xfrm>
          <a:prstGeom prst="rect">
            <a:avLst/>
          </a:prstGeom>
        </p:spPr>
      </p:pic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987DA33E-7187-00AC-9BEC-E79508175A20}"/>
              </a:ext>
            </a:extLst>
          </p:cNvPr>
          <p:cNvSpPr/>
          <p:nvPr/>
        </p:nvSpPr>
        <p:spPr>
          <a:xfrm rot="16200000">
            <a:off x="5309489" y="4242536"/>
            <a:ext cx="3817990" cy="1098836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BB62696-2263-E998-EAFA-02A6F3CE06F6}"/>
              </a:ext>
            </a:extLst>
          </p:cNvPr>
          <p:cNvGrpSpPr/>
          <p:nvPr/>
        </p:nvGrpSpPr>
        <p:grpSpPr>
          <a:xfrm>
            <a:off x="7612784" y="1612923"/>
            <a:ext cx="3865418" cy="7061154"/>
            <a:chOff x="8663978" y="1678695"/>
            <a:chExt cx="3865418" cy="706115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DDD3CB9-5B37-5F89-AB39-EC8D6A053B5B}"/>
                </a:ext>
              </a:extLst>
            </p:cNvPr>
            <p:cNvGrpSpPr/>
            <p:nvPr/>
          </p:nvGrpSpPr>
          <p:grpSpPr>
            <a:xfrm>
              <a:off x="8663978" y="1678695"/>
              <a:ext cx="3865418" cy="7061154"/>
              <a:chOff x="5759413" y="1463542"/>
              <a:chExt cx="3865418" cy="7061154"/>
            </a:xfrm>
          </p:grpSpPr>
          <p:grpSp>
            <p:nvGrpSpPr>
              <p:cNvPr id="111" name="Grupo 110">
                <a:extLst>
                  <a:ext uri="{FF2B5EF4-FFF2-40B4-BE49-F238E27FC236}">
                    <a16:creationId xmlns:a16="http://schemas.microsoft.com/office/drawing/2014/main" id="{786383D1-899A-6099-B977-74E1ECB8A4E3}"/>
                  </a:ext>
                </a:extLst>
              </p:cNvPr>
              <p:cNvGrpSpPr/>
              <p:nvPr/>
            </p:nvGrpSpPr>
            <p:grpSpPr>
              <a:xfrm>
                <a:off x="5759413" y="1463542"/>
                <a:ext cx="3865418" cy="7061154"/>
                <a:chOff x="9533693" y="1248414"/>
                <a:chExt cx="3865418" cy="7061154"/>
              </a:xfrm>
            </p:grpSpPr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57362CDD-F0FE-9C41-245C-1EF36E81ECC2}"/>
                    </a:ext>
                  </a:extLst>
                </p:cNvPr>
                <p:cNvGrpSpPr/>
                <p:nvPr/>
              </p:nvGrpSpPr>
              <p:grpSpPr>
                <a:xfrm>
                  <a:off x="9533693" y="1248414"/>
                  <a:ext cx="3865418" cy="7061154"/>
                  <a:chOff x="9698670" y="1248414"/>
                  <a:chExt cx="3865418" cy="7061154"/>
                </a:xfrm>
              </p:grpSpPr>
              <p:grpSp>
                <p:nvGrpSpPr>
                  <p:cNvPr id="45" name="Grupo 44">
                    <a:extLst>
                      <a:ext uri="{FF2B5EF4-FFF2-40B4-BE49-F238E27FC236}">
                        <a16:creationId xmlns:a16="http://schemas.microsoft.com/office/drawing/2014/main" id="{15D28F52-6D93-8BBC-AC96-FF8675C04E63}"/>
                      </a:ext>
                    </a:extLst>
                  </p:cNvPr>
                  <p:cNvGrpSpPr/>
                  <p:nvPr/>
                </p:nvGrpSpPr>
                <p:grpSpPr>
                  <a:xfrm>
                    <a:off x="9698670" y="1248414"/>
                    <a:ext cx="3865418" cy="7061154"/>
                    <a:chOff x="9344819" y="1270548"/>
                    <a:chExt cx="3865418" cy="7061154"/>
                  </a:xfrm>
                </p:grpSpPr>
                <p:grpSp>
                  <p:nvGrpSpPr>
                    <p:cNvPr id="46" name="Grupo 45">
                      <a:extLst>
                        <a:ext uri="{FF2B5EF4-FFF2-40B4-BE49-F238E27FC236}">
                          <a16:creationId xmlns:a16="http://schemas.microsoft.com/office/drawing/2014/main" id="{8C8A1AE7-B20B-368D-8960-ED18A1C8FA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44819" y="1270548"/>
                      <a:ext cx="3865418" cy="7061154"/>
                      <a:chOff x="7322128" y="1054648"/>
                      <a:chExt cx="3865418" cy="7061154"/>
                    </a:xfrm>
                  </p:grpSpPr>
                  <p:grpSp>
                    <p:nvGrpSpPr>
                      <p:cNvPr id="48" name="Grupo 47">
                        <a:extLst>
                          <a:ext uri="{FF2B5EF4-FFF2-40B4-BE49-F238E27FC236}">
                            <a16:creationId xmlns:a16="http://schemas.microsoft.com/office/drawing/2014/main" id="{5B2D5A15-4D73-E012-A381-FEE4025F4F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322128" y="1054648"/>
                        <a:ext cx="3865418" cy="7061154"/>
                        <a:chOff x="8833428" y="1270548"/>
                        <a:chExt cx="3865418" cy="7061154"/>
                      </a:xfrm>
                    </p:grpSpPr>
                    <p:pic>
                      <p:nvPicPr>
                        <p:cNvPr id="69" name="Imagen 68">
                          <a:extLst>
                            <a:ext uri="{FF2B5EF4-FFF2-40B4-BE49-F238E27FC236}">
                              <a16:creationId xmlns:a16="http://schemas.microsoft.com/office/drawing/2014/main" id="{2ECE96CF-3527-C294-3190-90E00308CE0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833428" y="1270548"/>
                          <a:ext cx="3865418" cy="7061154"/>
                        </a:xfrm>
                        <a:prstGeom prst="rect">
                          <a:avLst/>
                        </a:prstGeom>
                        <a:ln w="38100" cap="sq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  <a:effectLst>
                          <a:outerShdw blurRad="50800" dist="38100" dir="2700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:spPr>
                    </p:pic>
                    <p:sp>
                      <p:nvSpPr>
                        <p:cNvPr id="70" name="Rectángulo 69">
                          <a:extLst>
                            <a:ext uri="{FF2B5EF4-FFF2-40B4-BE49-F238E27FC236}">
                              <a16:creationId xmlns:a16="http://schemas.microsoft.com/office/drawing/2014/main" id="{ED799FDA-2D6F-2EB3-AA52-AFABD1F99F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61137" y="1502881"/>
                          <a:ext cx="3810000" cy="471451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3">
                            <a:shade val="50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PE"/>
                        </a:p>
                      </p:txBody>
                    </p:sp>
                    <p:sp>
                      <p:nvSpPr>
                        <p:cNvPr id="71" name="Rectángulo 70">
                          <a:extLst>
                            <a:ext uri="{FF2B5EF4-FFF2-40B4-BE49-F238E27FC236}">
                              <a16:creationId xmlns:a16="http://schemas.microsoft.com/office/drawing/2014/main" id="{64CF2D34-AD43-BB8F-6C06-7778120E2E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50159" y="1562469"/>
                          <a:ext cx="1434667" cy="352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s-MX" sz="240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Abadi Extra Light" panose="020B0604020202020204" pitchFamily="34" charset="0"/>
                            </a:rPr>
                            <a:t>AGROI+D</a:t>
                          </a:r>
                          <a:endParaRPr lang="es-PE" sz="240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Abadi Extra Light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72" name="Rectángulo 71">
                          <a:extLst>
                            <a:ext uri="{FF2B5EF4-FFF2-40B4-BE49-F238E27FC236}">
                              <a16:creationId xmlns:a16="http://schemas.microsoft.com/office/drawing/2014/main" id="{D7554DF2-0F8F-B18C-3CEF-2C58A8D505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29337" y="2184034"/>
                          <a:ext cx="3474972" cy="360799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PE"/>
                        </a:p>
                      </p:txBody>
                    </p:sp>
                  </p:grpSp>
                  <p:pic>
                    <p:nvPicPr>
                      <p:cNvPr id="56" name="Imagen 55">
                        <a:extLst>
                          <a:ext uri="{FF2B5EF4-FFF2-40B4-BE49-F238E27FC236}">
                            <a16:creationId xmlns:a16="http://schemas.microsoft.com/office/drawing/2014/main" id="{EAB266AB-E063-D0A7-233E-91B6DDFC8F5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54394" y="2397218"/>
                        <a:ext cx="3474972" cy="1138801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7" name="Picture 4" descr="Gráficos escalables iconos de computadora gráficos de red portátiles, icono  de salida, cdr, texto, icono de salida png | PNGWing">
                      <a:extLst>
                        <a:ext uri="{FF2B5EF4-FFF2-40B4-BE49-F238E27FC236}">
                          <a16:creationId xmlns:a16="http://schemas.microsoft.com/office/drawing/2014/main" id="{0E1CF9EB-AADA-172F-4B00-D6B13BFAB8C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>
                      <a:extLst>
                        <a:ext uri="{BEBA8EAE-BF5A-486C-A8C5-ECC9F3942E4B}">
                          <a14:imgProps xmlns:a14="http://schemas.microsoft.com/office/drawing/2010/main">
                            <a14:imgLayer r:embed="rId6">
                              <a14:imgEffect>
                                <a14:backgroundRemoval t="1895" b="96632" l="543" r="97283">
                                  <a14:foregroundMark x1="50042" y1="12244" x2="36739" y2="5895"/>
                                  <a14:foregroundMark x1="57985" y1="16034" x2="57540" y2="15821"/>
                                  <a14:foregroundMark x1="59239" y1="16632" x2="58355" y2="16210"/>
                                  <a14:foregroundMark x1="36739" y1="5895" x2="20435" y2="7158"/>
                                  <a14:foregroundMark x1="12737" y1="15836" x2="6522" y2="22842"/>
                                  <a14:foregroundMark x1="20435" y1="7158" x2="15617" y2="12589"/>
                                  <a14:foregroundMark x1="6522" y1="22842" x2="5435" y2="74421"/>
                                  <a14:foregroundMark x1="5435" y1="74421" x2="11957" y2="90842"/>
                                  <a14:foregroundMark x1="11957" y1="90842" x2="33587" y2="94947"/>
                                  <a14:foregroundMark x1="33587" y1="94947" x2="55435" y2="90526"/>
                                  <a14:foregroundMark x1="55435" y1="90526" x2="63043" y2="80000"/>
                                  <a14:foregroundMark x1="44565" y1="47263" x2="78696" y2="44632"/>
                                  <a14:foregroundMark x1="77496" y1="56958" x2="76739" y2="64737"/>
                                  <a14:foregroundMark x1="78696" y1="44632" x2="77613" y2="55759"/>
                                  <a14:foregroundMark x1="76739" y1="64737" x2="95000" y2="53684"/>
                                  <a14:foregroundMark x1="95000" y1="53684" x2="79239" y2="39368"/>
                                  <a14:foregroundMark x1="79239" y1="39368" x2="77065" y2="35895"/>
                                  <a14:foregroundMark x1="79130" y1="47579" x2="38804" y2="50632"/>
                                  <a14:foregroundMark x1="38804" y1="50632" x2="81630" y2="47789"/>
                                  <a14:foregroundMark x1="81630" y1="47789" x2="82500" y2="47789"/>
                                  <a14:foregroundMark x1="75870" y1="41158" x2="90479" y2="39510"/>
                                  <a14:foregroundMark x1="91797" y1="39625" x2="94783" y2="52737"/>
                                  <a14:foregroundMark x1="97065" y1="49579" x2="97391" y2="52105"/>
                                  <a14:foregroundMark x1="54365" y1="11816" x2="43913" y2="2526"/>
                                  <a14:foregroundMark x1="59072" y1="16000" x2="57962" y2="15013"/>
                                  <a14:foregroundMark x1="59783" y1="16632" x2="59072" y2="16000"/>
                                  <a14:foregroundMark x1="43913" y1="2526" x2="15761" y2="3579"/>
                                  <a14:foregroundMark x1="15761" y1="3579" x2="1413" y2="14842"/>
                                  <a14:foregroundMark x1="1413" y1="14842" x2="978" y2="72737"/>
                                  <a14:foregroundMark x1="978" y1="72737" x2="9783" y2="23579"/>
                                  <a14:foregroundMark x1="23895" y1="12054" x2="24348" y2="11684"/>
                                  <a14:foregroundMark x1="9783" y1="23579" x2="12657" y2="21232"/>
                                  <a14:foregroundMark x1="56397" y1="12187" x2="57935" y2="12211"/>
                                  <a14:foregroundMark x1="24348" y1="11684" x2="49938" y2="12086"/>
                                  <a14:foregroundMark x1="58952" y1="14352" x2="60435" y2="17474"/>
                                  <a14:foregroundMark x1="57935" y1="12211" x2="58861" y2="14161"/>
                                  <a14:foregroundMark x1="61630" y1="17789" x2="53043" y2="3579"/>
                                  <a14:foregroundMark x1="53043" y1="3579" x2="45543" y2="4947"/>
                                  <a14:foregroundMark x1="53587" y1="1895" x2="67283" y2="9368"/>
                                  <a14:foregroundMark x1="67283" y1="9368" x2="60978" y2="9474"/>
                                  <a14:foregroundMark x1="8261" y1="8421" x2="217" y2="51579"/>
                                  <a14:foregroundMark x1="217" y1="51579" x2="1087" y2="72000"/>
                                  <a14:foregroundMark x1="1087" y1="72000" x2="9891" y2="34211"/>
                                  <a14:foregroundMark x1="3261" y1="77684" x2="9239" y2="96842"/>
                                  <a14:foregroundMark x1="9239" y1="96842" x2="35652" y2="98737"/>
                                  <a14:foregroundMark x1="35652" y1="98737" x2="55435" y2="94000"/>
                                  <a14:foregroundMark x1="55435" y1="94000" x2="67609" y2="84211"/>
                                  <a14:foregroundMark x1="67609" y1="84211" x2="51413" y2="92632"/>
                                  <a14:foregroundMark x1="13242" y1="84716" x2="652" y2="82105"/>
                                  <a14:foregroundMark x1="27115" y1="87593" x2="26755" y2="87518"/>
                                  <a14:foregroundMark x1="51413" y1="92632" x2="28349" y2="87849"/>
                                  <a14:foregroundMark x1="652" y1="82105" x2="1304" y2="79579"/>
                                  <a14:foregroundMark x1="21630" y1="94632" x2="47065" y2="96632"/>
                                  <a14:foregroundMark x1="47065" y1="96632" x2="65000" y2="90211"/>
                                  <a14:foregroundMark x1="65000" y1="90211" x2="69022" y2="86947"/>
                                  <a14:backgroundMark x1="52717" y1="18842" x2="22500" y2="24105"/>
                                  <a14:backgroundMark x1="22500" y1="24105" x2="20326" y2="44632"/>
                                  <a14:backgroundMark x1="20326" y1="44632" x2="28913" y2="62842"/>
                                  <a14:backgroundMark x1="28913" y1="62842" x2="42500" y2="70105"/>
                                  <a14:backgroundMark x1="42500" y1="70105" x2="58152" y2="64105"/>
                                  <a14:backgroundMark x1="58152" y1="64105" x2="72717" y2="74947"/>
                                  <a14:backgroundMark x1="72717" y1="74947" x2="72717" y2="75053"/>
                                  <a14:backgroundMark x1="24783" y1="14737" x2="14565" y2="20947"/>
                                  <a14:backgroundMark x1="22391" y1="14526" x2="14348" y2="19579"/>
                                  <a14:backgroundMark x1="51196" y1="13895" x2="56413" y2="16421"/>
                                  <a14:backgroundMark x1="56630" y1="16421" x2="57391" y2="16105"/>
                                  <a14:backgroundMark x1="57609" y1="17474" x2="55978" y2="13368"/>
                                  <a14:backgroundMark x1="52065" y1="13053" x2="51304" y2="12947"/>
                                  <a14:backgroundMark x1="55109" y1="13158" x2="57283" y2="16211"/>
                                  <a14:backgroundMark x1="57065" y1="14632" x2="57283" y2="16000"/>
                                  <a14:backgroundMark x1="57065" y1="15579" x2="57500" y2="15579"/>
                                  <a14:backgroundMark x1="57500" y1="16000" x2="57500" y2="16000"/>
                                  <a14:backgroundMark x1="57609" y1="16105" x2="57500" y2="15474"/>
                                  <a14:backgroundMark x1="58043" y1="16211" x2="58043" y2="15263"/>
                                  <a14:backgroundMark x1="57826" y1="15053" x2="57717" y2="14842"/>
                                  <a14:backgroundMark x1="56413" y1="13579" x2="50652" y2="12526"/>
                                  <a14:backgroundMark x1="51087" y1="12842" x2="50435" y2="12842"/>
                                  <a14:backgroundMark x1="24674" y1="13263" x2="21304" y2="13158"/>
                                  <a14:backgroundMark x1="15326" y1="13158" x2="13587" y2="15789"/>
                                  <a14:backgroundMark x1="13587" y1="18632" x2="13478" y2="21263"/>
                                  <a14:backgroundMark x1="16304" y1="13158" x2="12935" y2="16000"/>
                                  <a14:backgroundMark x1="15870" y1="12842" x2="15870" y2="13053"/>
                                  <a14:backgroundMark x1="92283" y1="39789" x2="91848" y2="39263"/>
                                  <a14:backgroundMark x1="91087" y1="37263" x2="91848" y2="38421"/>
                                  <a14:backgroundMark x1="92717" y1="39368" x2="91522" y2="38632"/>
                                  <a14:backgroundMark x1="92283" y1="39368" x2="91630" y2="38421"/>
                                  <a14:backgroundMark x1="90326" y1="37053" x2="92609" y2="38947"/>
                                  <a14:backgroundMark x1="92609" y1="39789" x2="92283" y2="39263"/>
                                  <a14:backgroundMark x1="76957" y1="57053" x2="77609" y2="56737"/>
                                  <a14:backgroundMark x1="14130" y1="83579" x2="26957" y2="86737"/>
                                  <a14:backgroundMark x1="27935" y1="87263" x2="26957" y2="87368"/>
                                  <a14:backgroundMark x1="13587" y1="85263" x2="13587" y2="84632"/>
                                  <a14:backgroundMark x1="25761" y1="87474" x2="26848" y2="87368"/>
                                  <a14:backgroundMark x1="13370" y1="84842" x2="13370" y2="84737"/>
                                  <a14:backgroundMark x1="13152" y1="84947" x2="13043" y2="84842"/>
                                  <a14:backgroundMark x1="13261" y1="85053" x2="13152" y2="84842"/>
                                  <a14:backgroundMark x1="13152" y1="84842" x2="13370" y2="84105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2786812" y="1550634"/>
                      <a:ext cx="341153" cy="35227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74" name="Rectángulo 73">
                    <a:extLst>
                      <a:ext uri="{FF2B5EF4-FFF2-40B4-BE49-F238E27FC236}">
                        <a16:creationId xmlns:a16="http://schemas.microsoft.com/office/drawing/2014/main" id="{ABCB862F-635A-002B-9883-FB46E9FB6054}"/>
                      </a:ext>
                    </a:extLst>
                  </p:cNvPr>
                  <p:cNvSpPr/>
                  <p:nvPr/>
                </p:nvSpPr>
                <p:spPr>
                  <a:xfrm>
                    <a:off x="12737977" y="3402686"/>
                    <a:ext cx="411504" cy="190959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/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1100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VER</a:t>
                    </a:r>
                    <a:r>
                      <a:rPr lang="es-MX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 </a:t>
                    </a:r>
                  </a:p>
                </p:txBody>
              </p:sp>
            </p:grpSp>
            <p:pic>
              <p:nvPicPr>
                <p:cNvPr id="77" name="Imagen 76">
                  <a:extLst>
                    <a:ext uri="{FF2B5EF4-FFF2-40B4-BE49-F238E27FC236}">
                      <a16:creationId xmlns:a16="http://schemas.microsoft.com/office/drawing/2014/main" id="{5027A85B-D9EF-8C66-682A-DD959EF00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424" y="3700032"/>
                  <a:ext cx="3474972" cy="1269018"/>
                </a:xfrm>
                <a:prstGeom prst="rect">
                  <a:avLst/>
                </a:prstGeom>
              </p:spPr>
            </p:pic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CE03C6E8-189F-4F73-FCA2-1B11F9A15874}"/>
                    </a:ext>
                  </a:extLst>
                </p:cNvPr>
                <p:cNvSpPr txBox="1"/>
                <p:nvPr/>
              </p:nvSpPr>
              <p:spPr>
                <a:xfrm>
                  <a:off x="9861672" y="3763928"/>
                  <a:ext cx="278493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1600" b="1" dirty="0"/>
                    <a:t>Fecha de Solicitud:01/07/2025</a:t>
                  </a:r>
                </a:p>
                <a:p>
                  <a:r>
                    <a:rPr lang="es-MX" sz="1600" b="1" dirty="0"/>
                    <a:t>Especie: </a:t>
                  </a:r>
                  <a:r>
                    <a:rPr lang="es-MX" sz="1600" b="1" dirty="0" err="1"/>
                    <a:t>Chrysopas</a:t>
                  </a:r>
                  <a:endParaRPr lang="es-MX" sz="1600" b="1" dirty="0"/>
                </a:p>
                <a:p>
                  <a:r>
                    <a:rPr lang="es-MX" sz="1600" b="1" dirty="0"/>
                    <a:t>Estado: Entregado</a:t>
                  </a:r>
                  <a:endParaRPr lang="es-PE" sz="1600" b="1" dirty="0"/>
                </a:p>
              </p:txBody>
            </p:sp>
            <p:sp>
              <p:nvSpPr>
                <p:cNvPr id="79" name="Rectángulo 78">
                  <a:extLst>
                    <a:ext uri="{FF2B5EF4-FFF2-40B4-BE49-F238E27FC236}">
                      <a16:creationId xmlns:a16="http://schemas.microsoft.com/office/drawing/2014/main" id="{CF410DB5-64FA-3CFB-3576-761003C297CE}"/>
                    </a:ext>
                  </a:extLst>
                </p:cNvPr>
                <p:cNvSpPr/>
                <p:nvPr/>
              </p:nvSpPr>
              <p:spPr>
                <a:xfrm>
                  <a:off x="12529258" y="4580456"/>
                  <a:ext cx="407889" cy="208439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1100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VER</a:t>
                  </a:r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 </a:t>
                  </a:r>
                </a:p>
              </p:txBody>
            </p:sp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421E0D8A-DC7E-7E52-83A5-7AABD4AB4F65}"/>
                    </a:ext>
                  </a:extLst>
                </p:cNvPr>
                <p:cNvSpPr txBox="1"/>
                <p:nvPr/>
              </p:nvSpPr>
              <p:spPr>
                <a:xfrm>
                  <a:off x="9861672" y="2642878"/>
                  <a:ext cx="2832524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 de Solicitud: 08/07/2025</a:t>
                  </a:r>
                </a:p>
                <a:p>
                  <a:r>
                    <a:rPr lang="es-MX" sz="1600" b="1"/>
                    <a:t>Especie: Chrysopas</a:t>
                  </a:r>
                </a:p>
                <a:p>
                  <a:r>
                    <a:rPr lang="es-MX" sz="1600" b="1"/>
                    <a:t>Estado: Aprobado  </a:t>
                  </a:r>
                </a:p>
                <a:p>
                  <a:endParaRPr lang="es-PE" sz="1600" b="1"/>
                </a:p>
              </p:txBody>
            </p:sp>
            <p:pic>
              <p:nvPicPr>
                <p:cNvPr id="86" name="Imagen 85">
                  <a:extLst>
                    <a:ext uri="{FF2B5EF4-FFF2-40B4-BE49-F238E27FC236}">
                      <a16:creationId xmlns:a16="http://schemas.microsoft.com/office/drawing/2014/main" id="{9C390A39-996E-F598-A6F0-7BC780724D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03906" y="3184235"/>
                  <a:ext cx="216956" cy="218451"/>
                </a:xfrm>
                <a:prstGeom prst="rect">
                  <a:avLst/>
                </a:prstGeom>
              </p:spPr>
            </p:pic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025CB24E-B1A6-C6E8-1F14-AFDCA9EC2306}"/>
                    </a:ext>
                  </a:extLst>
                </p:cNvPr>
                <p:cNvSpPr txBox="1"/>
                <p:nvPr/>
              </p:nvSpPr>
              <p:spPr>
                <a:xfrm>
                  <a:off x="9726176" y="2102314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pic>
              <p:nvPicPr>
                <p:cNvPr id="108" name="Imagen 107">
                  <a:extLst>
                    <a:ext uri="{FF2B5EF4-FFF2-40B4-BE49-F238E27FC236}">
                      <a16:creationId xmlns:a16="http://schemas.microsoft.com/office/drawing/2014/main" id="{504C5B76-8098-5625-10DF-33F368127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14140" y="3368018"/>
                  <a:ext cx="258549" cy="259201"/>
                </a:xfrm>
                <a:prstGeom prst="rect">
                  <a:avLst/>
                </a:prstGeom>
              </p:spPr>
            </p:pic>
            <p:pic>
              <p:nvPicPr>
                <p:cNvPr id="109" name="Imagen 108">
                  <a:extLst>
                    <a:ext uri="{FF2B5EF4-FFF2-40B4-BE49-F238E27FC236}">
                      <a16:creationId xmlns:a16="http://schemas.microsoft.com/office/drawing/2014/main" id="{E203F53E-BD96-1EE4-B7A8-69EF5B3EE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184865" y="4544924"/>
                  <a:ext cx="258549" cy="259201"/>
                </a:xfrm>
                <a:prstGeom prst="rect">
                  <a:avLst/>
                </a:prstGeom>
              </p:spPr>
            </p:pic>
          </p:grpSp>
          <p:sp>
            <p:nvSpPr>
              <p:cNvPr id="2129" name="AutoShape 4" descr="Puntero De Clic Táctil Inteligente PNG ,dibujos Cursor Del Ratón, Puntero  Del Mouse De La Computadora, Símbolo Del Mouse PNG y Vector para Descargar  Gratis | Pngtree">
                <a:extLst>
                  <a:ext uri="{FF2B5EF4-FFF2-40B4-BE49-F238E27FC236}">
                    <a16:creationId xmlns:a16="http://schemas.microsoft.com/office/drawing/2014/main" id="{D662BECA-68E2-294E-136E-34A9D2D842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991600" y="499110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/>
              </a:p>
            </p:txBody>
          </p:sp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BD37DB33-D361-28C0-7EB8-66D754DC1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67254" y="2328199"/>
                <a:ext cx="1824903" cy="355870"/>
              </a:xfrm>
              <a:prstGeom prst="rect">
                <a:avLst/>
              </a:prstGeom>
            </p:spPr>
          </p:pic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C45D068-B9F4-17CE-DD9A-B0CFC0121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19569" t="10214" r="39364" b="79038"/>
            <a:stretch>
              <a:fillRect/>
            </a:stretch>
          </p:blipFill>
          <p:spPr>
            <a:xfrm>
              <a:off x="9638292" y="2596816"/>
              <a:ext cx="1548102" cy="253761"/>
            </a:xfrm>
            <a:prstGeom prst="rect">
              <a:avLst/>
            </a:prstGeom>
          </p:spPr>
        </p:pic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895AFA0C-28CB-4E15-F507-3084E226C61A}"/>
                </a:ext>
              </a:extLst>
            </p:cNvPr>
            <p:cNvSpPr/>
            <p:nvPr/>
          </p:nvSpPr>
          <p:spPr>
            <a:xfrm>
              <a:off x="10222949" y="4986176"/>
              <a:ext cx="1042753" cy="250913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ysClr val="windowText" lastClr="000000"/>
                  </a:solidFill>
                </a:rPr>
                <a:t>RECIBIDO</a:t>
              </a:r>
              <a:endParaRPr lang="es-PE" sz="14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2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lecha: pentágono 37">
            <a:extLst>
              <a:ext uri="{FF2B5EF4-FFF2-40B4-BE49-F238E27FC236}">
                <a16:creationId xmlns:a16="http://schemas.microsoft.com/office/drawing/2014/main" id="{351E50E4-3B59-365D-3807-2A0CAE83C46F}"/>
              </a:ext>
            </a:extLst>
          </p:cNvPr>
          <p:cNvSpPr/>
          <p:nvPr/>
        </p:nvSpPr>
        <p:spPr>
          <a:xfrm>
            <a:off x="822060" y="293001"/>
            <a:ext cx="6848740" cy="841311"/>
          </a:xfrm>
          <a:prstGeom prst="homePlate">
            <a:avLst/>
          </a:prstGeom>
          <a:solidFill>
            <a:srgbClr val="1F497D"/>
          </a:solidFill>
          <a:ln w="57150"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101DFA2-8C71-AED4-96A7-913684634308}"/>
              </a:ext>
            </a:extLst>
          </p:cNvPr>
          <p:cNvSpPr txBox="1"/>
          <p:nvPr/>
        </p:nvSpPr>
        <p:spPr>
          <a:xfrm>
            <a:off x="822060" y="306497"/>
            <a:ext cx="5312040" cy="830997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     VISTA DEL USUARIO                      </a:t>
            </a:r>
            <a:r>
              <a:rPr lang="es-MX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(Jefa de sanidad, encargado de sanidad)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B8B699-106D-9A77-1F9A-88CAD39424EE}"/>
              </a:ext>
            </a:extLst>
          </p:cNvPr>
          <p:cNvSpPr txBox="1"/>
          <p:nvPr/>
        </p:nvSpPr>
        <p:spPr>
          <a:xfrm>
            <a:off x="10440695" y="9071183"/>
            <a:ext cx="3452156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Esta información debe jalar de la vista de “</a:t>
            </a:r>
            <a:r>
              <a:rPr lang="es-MX" sz="1600" b="1" dirty="0"/>
              <a:t>Solicitud de Requerimientos”</a:t>
            </a:r>
            <a:r>
              <a:rPr lang="es-MX" sz="1600" dirty="0"/>
              <a:t>, donde va a ingresar el stock según la presentación.</a:t>
            </a:r>
            <a:endParaRPr lang="es-PE" sz="16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D6F3008-E90E-6863-95E2-38F870B0B7E2}"/>
              </a:ext>
            </a:extLst>
          </p:cNvPr>
          <p:cNvSpPr txBox="1"/>
          <p:nvPr/>
        </p:nvSpPr>
        <p:spPr>
          <a:xfrm>
            <a:off x="14476560" y="7043990"/>
            <a:ext cx="3370425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Una vez que el administrador haya cambiado de estado a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“ENTREGADO”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, te debe aparecer en esta vista las presentaciones que se están entregando para que el usuario tenga la visualización.</a:t>
            </a:r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BE0F6BF5-8678-39A7-D263-BA0761F9CE04}"/>
              </a:ext>
            </a:extLst>
          </p:cNvPr>
          <p:cNvGrpSpPr/>
          <p:nvPr/>
        </p:nvGrpSpPr>
        <p:grpSpPr>
          <a:xfrm>
            <a:off x="10280855" y="1794129"/>
            <a:ext cx="7521695" cy="7061154"/>
            <a:chOff x="10674555" y="1463929"/>
            <a:chExt cx="7521695" cy="7061154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DB5EB42-0C69-5041-7B06-4E496B852CA5}"/>
                </a:ext>
              </a:extLst>
            </p:cNvPr>
            <p:cNvGrpSpPr/>
            <p:nvPr/>
          </p:nvGrpSpPr>
          <p:grpSpPr>
            <a:xfrm>
              <a:off x="10674555" y="1463929"/>
              <a:ext cx="7521695" cy="7061154"/>
              <a:chOff x="9275362" y="1463929"/>
              <a:chExt cx="7521695" cy="7061154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7061A1E8-26C7-8F77-3A94-1B3611392EFE}"/>
                  </a:ext>
                </a:extLst>
              </p:cNvPr>
              <p:cNvGrpSpPr/>
              <p:nvPr/>
            </p:nvGrpSpPr>
            <p:grpSpPr>
              <a:xfrm>
                <a:off x="9275362" y="1463929"/>
                <a:ext cx="7521695" cy="7061154"/>
                <a:chOff x="9275362" y="1463929"/>
                <a:chExt cx="7521695" cy="7061154"/>
              </a:xfrm>
            </p:grpSpPr>
            <p:pic>
              <p:nvPicPr>
                <p:cNvPr id="2079" name="Imagen 2078">
                  <a:extLst>
                    <a:ext uri="{FF2B5EF4-FFF2-40B4-BE49-F238E27FC236}">
                      <a16:creationId xmlns:a16="http://schemas.microsoft.com/office/drawing/2014/main" id="{6D8DAE56-E9EC-8753-7F41-E592221169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5362" y="1463929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2080" name="Rectángulo 2079">
                  <a:extLst>
                    <a:ext uri="{FF2B5EF4-FFF2-40B4-BE49-F238E27FC236}">
                      <a16:creationId xmlns:a16="http://schemas.microsoft.com/office/drawing/2014/main" id="{2CB1B4D4-5F9C-2B53-7104-499AF7C15EA6}"/>
                    </a:ext>
                  </a:extLst>
                </p:cNvPr>
                <p:cNvSpPr/>
                <p:nvPr/>
              </p:nvSpPr>
              <p:spPr>
                <a:xfrm>
                  <a:off x="9303071" y="1696262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081" name="Rectángulo 2080">
                  <a:extLst>
                    <a:ext uri="{FF2B5EF4-FFF2-40B4-BE49-F238E27FC236}">
                      <a16:creationId xmlns:a16="http://schemas.microsoft.com/office/drawing/2014/main" id="{27442641-F4C2-B8B9-A6EC-BF75BF948B4B}"/>
                    </a:ext>
                  </a:extLst>
                </p:cNvPr>
                <p:cNvSpPr/>
                <p:nvPr/>
              </p:nvSpPr>
              <p:spPr>
                <a:xfrm>
                  <a:off x="9392093" y="1755850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sp>
              <p:nvSpPr>
                <p:cNvPr id="2082" name="Rectángulo 2081">
                  <a:extLst>
                    <a:ext uri="{FF2B5EF4-FFF2-40B4-BE49-F238E27FC236}">
                      <a16:creationId xmlns:a16="http://schemas.microsoft.com/office/drawing/2014/main" id="{BC264B6B-2A7A-D060-87F5-D96D8F43A180}"/>
                    </a:ext>
                  </a:extLst>
                </p:cNvPr>
                <p:cNvSpPr/>
                <p:nvPr/>
              </p:nvSpPr>
              <p:spPr>
                <a:xfrm>
                  <a:off x="9471271" y="2377415"/>
                  <a:ext cx="3474972" cy="3607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2078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F3B3E9FE-AEF3-3B88-DC08-E1BB98BB81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17355" y="1744015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70" name="CuadroTexto 2069">
                  <a:extLst>
                    <a:ext uri="{FF2B5EF4-FFF2-40B4-BE49-F238E27FC236}">
                      <a16:creationId xmlns:a16="http://schemas.microsoft.com/office/drawing/2014/main" id="{07C67C9D-9736-81C5-14F1-B04A89FC0356}"/>
                    </a:ext>
                  </a:extLst>
                </p:cNvPr>
                <p:cNvSpPr txBox="1"/>
                <p:nvPr/>
              </p:nvSpPr>
              <p:spPr>
                <a:xfrm>
                  <a:off x="9320048" y="2504988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FUNDO:</a:t>
                  </a:r>
                  <a:endParaRPr lang="es-PE" sz="1600" b="1"/>
                </a:p>
              </p:txBody>
            </p:sp>
            <p:sp>
              <p:nvSpPr>
                <p:cNvPr id="2071" name="CuadroTexto 2070">
                  <a:extLst>
                    <a:ext uri="{FF2B5EF4-FFF2-40B4-BE49-F238E27FC236}">
                      <a16:creationId xmlns:a16="http://schemas.microsoft.com/office/drawing/2014/main" id="{542E6BC9-8F6A-F336-4F5D-F1AFD93EACDF}"/>
                    </a:ext>
                  </a:extLst>
                </p:cNvPr>
                <p:cNvSpPr txBox="1"/>
                <p:nvPr/>
              </p:nvSpPr>
              <p:spPr>
                <a:xfrm>
                  <a:off x="9335678" y="281317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LOTE:</a:t>
                  </a:r>
                  <a:endParaRPr lang="es-PE" sz="1600" b="1"/>
                </a:p>
              </p:txBody>
            </p:sp>
            <p:sp>
              <p:nvSpPr>
                <p:cNvPr id="2072" name="CuadroTexto 2071">
                  <a:extLst>
                    <a:ext uri="{FF2B5EF4-FFF2-40B4-BE49-F238E27FC236}">
                      <a16:creationId xmlns:a16="http://schemas.microsoft.com/office/drawing/2014/main" id="{8C581CBE-BE8E-D04F-B53A-11544768C0A1}"/>
                    </a:ext>
                  </a:extLst>
                </p:cNvPr>
                <p:cNvSpPr txBox="1"/>
                <p:nvPr/>
              </p:nvSpPr>
              <p:spPr>
                <a:xfrm>
                  <a:off x="9335678" y="217850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sp>
              <p:nvSpPr>
                <p:cNvPr id="2074" name="CuadroTexto 2073">
                  <a:extLst>
                    <a:ext uri="{FF2B5EF4-FFF2-40B4-BE49-F238E27FC236}">
                      <a16:creationId xmlns:a16="http://schemas.microsoft.com/office/drawing/2014/main" id="{999353F4-CCED-5458-127A-A7D21B8104A8}"/>
                    </a:ext>
                  </a:extLst>
                </p:cNvPr>
                <p:cNvSpPr txBox="1"/>
                <p:nvPr/>
              </p:nvSpPr>
              <p:spPr>
                <a:xfrm>
                  <a:off x="9335678" y="315018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ESPECIE:</a:t>
                  </a:r>
                  <a:endParaRPr lang="es-PE" sz="1600" b="1"/>
                </a:p>
              </p:txBody>
            </p:sp>
            <p:sp>
              <p:nvSpPr>
                <p:cNvPr id="2075" name="CuadroTexto 2074">
                  <a:extLst>
                    <a:ext uri="{FF2B5EF4-FFF2-40B4-BE49-F238E27FC236}">
                      <a16:creationId xmlns:a16="http://schemas.microsoft.com/office/drawing/2014/main" id="{9EECA21D-E49C-C861-E0D1-D21FA637DC0C}"/>
                    </a:ext>
                  </a:extLst>
                </p:cNvPr>
                <p:cNvSpPr txBox="1"/>
                <p:nvPr/>
              </p:nvSpPr>
              <p:spPr>
                <a:xfrm>
                  <a:off x="9324059" y="3808828"/>
                  <a:ext cx="22224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CANTIDAD/MILLARES:</a:t>
                  </a:r>
                  <a:endParaRPr lang="es-PE" sz="1600" b="1"/>
                </a:p>
              </p:txBody>
            </p:sp>
            <p:pic>
              <p:nvPicPr>
                <p:cNvPr id="2076" name="Imagen 2075">
                  <a:extLst>
                    <a:ext uri="{FF2B5EF4-FFF2-40B4-BE49-F238E27FC236}">
                      <a16:creationId xmlns:a16="http://schemas.microsoft.com/office/drawing/2014/main" id="{788FD087-8791-3CAB-238A-6303CCEC1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336561" y="3801846"/>
                  <a:ext cx="1038370" cy="295316"/>
                </a:xfrm>
                <a:prstGeom prst="rect">
                  <a:avLst/>
                </a:prstGeom>
              </p:spPr>
            </p:pic>
            <p:sp>
              <p:nvSpPr>
                <p:cNvPr id="2049" name="CuadroTexto 2048">
                  <a:extLst>
                    <a:ext uri="{FF2B5EF4-FFF2-40B4-BE49-F238E27FC236}">
                      <a16:creationId xmlns:a16="http://schemas.microsoft.com/office/drawing/2014/main" id="{9D9EF497-A068-C116-D688-AFA9199D0079}"/>
                    </a:ext>
                  </a:extLst>
                </p:cNvPr>
                <p:cNvSpPr txBox="1"/>
                <p:nvPr/>
              </p:nvSpPr>
              <p:spPr>
                <a:xfrm>
                  <a:off x="9345450" y="4013835"/>
                  <a:ext cx="11557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PLAGA OBJETIVO:</a:t>
                  </a:r>
                  <a:endParaRPr lang="es-PE" sz="1600" b="1"/>
                </a:p>
              </p:txBody>
            </p:sp>
            <p:sp>
              <p:nvSpPr>
                <p:cNvPr id="2051" name="CuadroTexto 2050">
                  <a:extLst>
                    <a:ext uri="{FF2B5EF4-FFF2-40B4-BE49-F238E27FC236}">
                      <a16:creationId xmlns:a16="http://schemas.microsoft.com/office/drawing/2014/main" id="{CB3848D6-A4C2-E388-1E99-DFB0F241FDE9}"/>
                    </a:ext>
                  </a:extLst>
                </p:cNvPr>
                <p:cNvSpPr txBox="1"/>
                <p:nvPr/>
              </p:nvSpPr>
              <p:spPr>
                <a:xfrm>
                  <a:off x="9340618" y="5186726"/>
                  <a:ext cx="136144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*FECHA DE LIBERACION :</a:t>
                  </a:r>
                  <a:endParaRPr lang="es-PE" sz="1600" b="1" dirty="0"/>
                </a:p>
              </p:txBody>
            </p:sp>
            <p:sp>
              <p:nvSpPr>
                <p:cNvPr id="2054" name="CuadroTexto 2053">
                  <a:extLst>
                    <a:ext uri="{FF2B5EF4-FFF2-40B4-BE49-F238E27FC236}">
                      <a16:creationId xmlns:a16="http://schemas.microsoft.com/office/drawing/2014/main" id="{98DC5B97-E360-C9DE-C553-FED0A942CACE}"/>
                    </a:ext>
                  </a:extLst>
                </p:cNvPr>
                <p:cNvSpPr txBox="1"/>
                <p:nvPr/>
              </p:nvSpPr>
              <p:spPr>
                <a:xfrm>
                  <a:off x="9341170" y="6375236"/>
                  <a:ext cx="16983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2055" name="Imagen 2054">
                  <a:extLst>
                    <a:ext uri="{FF2B5EF4-FFF2-40B4-BE49-F238E27FC236}">
                      <a16:creationId xmlns:a16="http://schemas.microsoft.com/office/drawing/2014/main" id="{397CD0E0-C9CB-C3DC-8DD1-35E5B1E6D6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66964" y="6375236"/>
                  <a:ext cx="1493033" cy="323496"/>
                </a:xfrm>
                <a:prstGeom prst="rect">
                  <a:avLst/>
                </a:prstGeom>
              </p:spPr>
            </p:pic>
            <p:pic>
              <p:nvPicPr>
                <p:cNvPr id="2056" name="Imagen 2055">
                  <a:extLst>
                    <a:ext uri="{FF2B5EF4-FFF2-40B4-BE49-F238E27FC236}">
                      <a16:creationId xmlns:a16="http://schemas.microsoft.com/office/drawing/2014/main" id="{BD77DE35-206F-C218-18A9-D1A21FCC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73478" y="251501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7" name="Imagen 2056">
                  <a:extLst>
                    <a:ext uri="{FF2B5EF4-FFF2-40B4-BE49-F238E27FC236}">
                      <a16:creationId xmlns:a16="http://schemas.microsoft.com/office/drawing/2014/main" id="{F4B415A9-5214-2983-C0EB-FE7AB41CF5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89357" y="2847872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8" name="Imagen 2057">
                  <a:extLst>
                    <a:ext uri="{FF2B5EF4-FFF2-40B4-BE49-F238E27FC236}">
                      <a16:creationId xmlns:a16="http://schemas.microsoft.com/office/drawing/2014/main" id="{2EEB925D-E52D-20FB-1E23-6B6DB9427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89357" y="316940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9" name="Imagen 2058">
                  <a:extLst>
                    <a:ext uri="{FF2B5EF4-FFF2-40B4-BE49-F238E27FC236}">
                      <a16:creationId xmlns:a16="http://schemas.microsoft.com/office/drawing/2014/main" id="{AFBA5471-B7A3-1B32-9BFF-313636F0FA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29586" y="4280120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60" name="Imagen 2059">
                  <a:extLst>
                    <a:ext uri="{FF2B5EF4-FFF2-40B4-BE49-F238E27FC236}">
                      <a16:creationId xmlns:a16="http://schemas.microsoft.com/office/drawing/2014/main" id="{3ABB0610-024E-F56F-6B7D-F962B3BB4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547054" y="7512004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2062" name="CuadroTexto 2061">
                  <a:extLst>
                    <a:ext uri="{FF2B5EF4-FFF2-40B4-BE49-F238E27FC236}">
                      <a16:creationId xmlns:a16="http://schemas.microsoft.com/office/drawing/2014/main" id="{4C69E5F0-8305-FCD9-8636-CAEF8A51AA2E}"/>
                    </a:ext>
                  </a:extLst>
                </p:cNvPr>
                <p:cNvSpPr txBox="1"/>
                <p:nvPr/>
              </p:nvSpPr>
              <p:spPr>
                <a:xfrm>
                  <a:off x="10232614" y="253260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2063" name="CuadroTexto 2062">
                  <a:extLst>
                    <a:ext uri="{FF2B5EF4-FFF2-40B4-BE49-F238E27FC236}">
                      <a16:creationId xmlns:a16="http://schemas.microsoft.com/office/drawing/2014/main" id="{CC00EAB6-A6FD-6EB5-906C-48338D0E1CF1}"/>
                    </a:ext>
                  </a:extLst>
                </p:cNvPr>
                <p:cNvSpPr txBox="1"/>
                <p:nvPr/>
              </p:nvSpPr>
              <p:spPr>
                <a:xfrm>
                  <a:off x="10238501" y="2876163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2064" name="CuadroTexto 2063">
                  <a:extLst>
                    <a:ext uri="{FF2B5EF4-FFF2-40B4-BE49-F238E27FC236}">
                      <a16:creationId xmlns:a16="http://schemas.microsoft.com/office/drawing/2014/main" id="{C2F8B80D-F358-1F6A-074F-6782D7301861}"/>
                    </a:ext>
                  </a:extLst>
                </p:cNvPr>
                <p:cNvSpPr txBox="1"/>
                <p:nvPr/>
              </p:nvSpPr>
              <p:spPr>
                <a:xfrm>
                  <a:off x="10210680" y="318067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2065" name="CuadroTexto 2064">
                  <a:extLst>
                    <a:ext uri="{FF2B5EF4-FFF2-40B4-BE49-F238E27FC236}">
                      <a16:creationId xmlns:a16="http://schemas.microsoft.com/office/drawing/2014/main" id="{52B45E31-56B3-9D2F-B56A-D5A9BE3E3D66}"/>
                    </a:ext>
                  </a:extLst>
                </p:cNvPr>
                <p:cNvSpPr txBox="1"/>
                <p:nvPr/>
              </p:nvSpPr>
              <p:spPr>
                <a:xfrm>
                  <a:off x="11341812" y="3814534"/>
                  <a:ext cx="9299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2066" name="CuadroTexto 2065">
                  <a:extLst>
                    <a:ext uri="{FF2B5EF4-FFF2-40B4-BE49-F238E27FC236}">
                      <a16:creationId xmlns:a16="http://schemas.microsoft.com/office/drawing/2014/main" id="{99608C76-A320-0673-AB8F-C0FB31C8C60F}"/>
                    </a:ext>
                  </a:extLst>
                </p:cNvPr>
                <p:cNvSpPr txBox="1"/>
                <p:nvPr/>
              </p:nvSpPr>
              <p:spPr>
                <a:xfrm>
                  <a:off x="10361773" y="427479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TRIPS</a:t>
                  </a:r>
                  <a:endParaRPr lang="es-PE" sz="1200"/>
                </a:p>
              </p:txBody>
            </p:sp>
            <p:sp>
              <p:nvSpPr>
                <p:cNvPr id="2083" name="Rectángulo 2082">
                  <a:extLst>
                    <a:ext uri="{FF2B5EF4-FFF2-40B4-BE49-F238E27FC236}">
                      <a16:creationId xmlns:a16="http://schemas.microsoft.com/office/drawing/2014/main" id="{2945772D-54D7-244B-833A-A2BBD042A869}"/>
                    </a:ext>
                  </a:extLst>
                </p:cNvPr>
                <p:cNvSpPr/>
                <p:nvPr/>
              </p:nvSpPr>
              <p:spPr>
                <a:xfrm>
                  <a:off x="9356904" y="5104503"/>
                  <a:ext cx="3701604" cy="122075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2AFCB454-FDD3-6C31-0798-65122F99839D}"/>
                    </a:ext>
                  </a:extLst>
                </p:cNvPr>
                <p:cNvSpPr txBox="1"/>
                <p:nvPr/>
              </p:nvSpPr>
              <p:spPr>
                <a:xfrm>
                  <a:off x="9324059" y="3475206"/>
                  <a:ext cx="18533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ET.FENOLOGICA:</a:t>
                  </a:r>
                  <a:endParaRPr lang="es-PE" sz="1600" b="1"/>
                </a:p>
              </p:txBody>
            </p:sp>
            <p:pic>
              <p:nvPicPr>
                <p:cNvPr id="8" name="Imagen 7">
                  <a:extLst>
                    <a:ext uri="{FF2B5EF4-FFF2-40B4-BE49-F238E27FC236}">
                      <a16:creationId xmlns:a16="http://schemas.microsoft.com/office/drawing/2014/main" id="{D7A27077-01D9-3A6E-866E-3F414BF17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66414" y="3510396"/>
                  <a:ext cx="1508517" cy="264392"/>
                </a:xfrm>
                <a:prstGeom prst="rect">
                  <a:avLst/>
                </a:prstGeom>
              </p:spPr>
            </p:pic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5049A2CE-89FC-E300-C20A-3096CD44B4FB}"/>
                    </a:ext>
                  </a:extLst>
                </p:cNvPr>
                <p:cNvSpPr txBox="1"/>
                <p:nvPr/>
              </p:nvSpPr>
              <p:spPr>
                <a:xfrm>
                  <a:off x="10832633" y="3536486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POST COSECHA</a:t>
                  </a:r>
                  <a:endParaRPr lang="es-PE" sz="1200"/>
                </a:p>
              </p:txBody>
            </p: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376FA798-D581-D758-A534-CFE0DFE10DA4}"/>
                    </a:ext>
                  </a:extLst>
                </p:cNvPr>
                <p:cNvSpPr txBox="1"/>
                <p:nvPr/>
              </p:nvSpPr>
              <p:spPr>
                <a:xfrm>
                  <a:off x="9366069" y="5744603"/>
                  <a:ext cx="19518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*HORA DE LIBERACION :</a:t>
                  </a:r>
                  <a:endParaRPr lang="es-PE" sz="1600" b="1" dirty="0"/>
                </a:p>
              </p:txBody>
            </p:sp>
            <p:pic>
              <p:nvPicPr>
                <p:cNvPr id="11" name="Imagen 10">
                  <a:extLst>
                    <a:ext uri="{FF2B5EF4-FFF2-40B4-BE49-F238E27FC236}">
                      <a16:creationId xmlns:a16="http://schemas.microsoft.com/office/drawing/2014/main" id="{071ECCF1-EF3A-24DB-AF6E-29D06C708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43466" y="5950123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D8B58E68-14BA-54E8-651E-EB7C0535D5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24883" y="5330462"/>
                  <a:ext cx="1704250" cy="304843"/>
                </a:xfrm>
                <a:prstGeom prst="rect">
                  <a:avLst/>
                </a:prstGeom>
              </p:spPr>
            </p:pic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A2733187-F1D8-9378-5E80-DC872CB74FA8}"/>
                    </a:ext>
                  </a:extLst>
                </p:cNvPr>
                <p:cNvSpPr txBox="1"/>
                <p:nvPr/>
              </p:nvSpPr>
              <p:spPr>
                <a:xfrm>
                  <a:off x="10669224" y="5345667"/>
                  <a:ext cx="13614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400" dirty="0"/>
                    <a:t>08/07/2025</a:t>
                  </a:r>
                </a:p>
              </p:txBody>
            </p:sp>
            <p:pic>
              <p:nvPicPr>
                <p:cNvPr id="23" name="Gráfico 22" descr="Cámara con relleno sólido">
                  <a:extLst>
                    <a:ext uri="{FF2B5EF4-FFF2-40B4-BE49-F238E27FC236}">
                      <a16:creationId xmlns:a16="http://schemas.microsoft.com/office/drawing/2014/main" id="{0FFB3A18-0180-546A-A174-5EAEFB503A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53928" y="5292800"/>
                  <a:ext cx="441121" cy="441121"/>
                </a:xfrm>
                <a:prstGeom prst="rect">
                  <a:avLst/>
                </a:prstGeom>
              </p:spPr>
            </p:pic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22CF2BE7-4079-9180-BA2A-2AE88612394D}"/>
                    </a:ext>
                  </a:extLst>
                </p:cNvPr>
                <p:cNvSpPr txBox="1"/>
                <p:nvPr/>
              </p:nvSpPr>
              <p:spPr>
                <a:xfrm>
                  <a:off x="10731481" y="596404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09:30</a:t>
                  </a:r>
                  <a:endParaRPr lang="es-PE" sz="1200"/>
                </a:p>
              </p:txBody>
            </p:sp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4A7C6E83-6442-E689-AC80-24291B288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>
                  <a:off x="12566185" y="5499271"/>
                  <a:ext cx="407047" cy="556704"/>
                </a:xfrm>
                <a:prstGeom prst="rect">
                  <a:avLst/>
                </a:prstGeom>
              </p:spPr>
            </p:pic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AC2B5C39-F4F5-470F-A9F2-42954F052CFA}"/>
                    </a:ext>
                  </a:extLst>
                </p:cNvPr>
                <p:cNvSpPr txBox="1"/>
                <p:nvPr/>
              </p:nvSpPr>
              <p:spPr>
                <a:xfrm>
                  <a:off x="9340618" y="4672888"/>
                  <a:ext cx="13614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ESTADO:</a:t>
                  </a:r>
                  <a:endParaRPr lang="es-PE" sz="1600" b="1" dirty="0"/>
                </a:p>
              </p:txBody>
            </p: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31349411-6DBE-99A4-AFEF-184B086141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70253" y="4683588"/>
                  <a:ext cx="1493033" cy="323496"/>
                </a:xfrm>
                <a:prstGeom prst="rect">
                  <a:avLst/>
                </a:prstGeom>
              </p:spPr>
            </p:pic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7BA8BE4F-7DAF-F5D1-F431-4E87E5BAC195}"/>
                    </a:ext>
                  </a:extLst>
                </p:cNvPr>
                <p:cNvSpPr txBox="1"/>
                <p:nvPr/>
              </p:nvSpPr>
              <p:spPr>
                <a:xfrm>
                  <a:off x="10398031" y="467527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/>
                    <a:t>ENTREGADO</a:t>
                  </a:r>
                  <a:endParaRPr lang="es-PE" sz="1200" dirty="0"/>
                </a:p>
              </p:txBody>
            </p:sp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DFE6FA25-23D0-F775-37EC-6D89DD09F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00451" y="2183549"/>
                  <a:ext cx="1468295" cy="302879"/>
                </a:xfrm>
                <a:prstGeom prst="rect">
                  <a:avLst/>
                </a:prstGeom>
                <a:solidFill>
                  <a:srgbClr val="D9D9D9">
                    <a:alpha val="50000"/>
                  </a:srgbClr>
                </a:solidFill>
                <a:ln>
                  <a:solidFill>
                    <a:srgbClr val="D9D9D9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</p:pic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67D6B87-CE30-5D2B-B561-89B3DC7C780A}"/>
                    </a:ext>
                  </a:extLst>
                </p:cNvPr>
                <p:cNvSpPr txBox="1"/>
                <p:nvPr/>
              </p:nvSpPr>
              <p:spPr>
                <a:xfrm>
                  <a:off x="10243702" y="2197223"/>
                  <a:ext cx="11557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08/07/2025</a:t>
                  </a:r>
                  <a:endParaRPr lang="es-PE" sz="1200"/>
                </a:p>
              </p:txBody>
            </p:sp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3AE9EFF-EA1D-0CD0-26C5-E80EF6942ADA}"/>
                    </a:ext>
                  </a:extLst>
                </p:cNvPr>
                <p:cNvSpPr txBox="1"/>
                <p:nvPr/>
              </p:nvSpPr>
              <p:spPr>
                <a:xfrm>
                  <a:off x="13426634" y="4576961"/>
                  <a:ext cx="3370423" cy="1962076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sz="1350" b="1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La "Fecha y hora de Liberación"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   deben registrar automáticamente en que se subió o tomó la foto correspondiente a la liberación de </a:t>
                  </a:r>
                  <a:r>
                    <a:rPr lang="es-MX" sz="1350" dirty="0" err="1">
                      <a:latin typeface="Poppins" panose="00000500000000000000" pitchFamily="2" charset="0"/>
                      <a:cs typeface="Poppins" panose="00000500000000000000" pitchFamily="2" charset="0"/>
                    </a:rPr>
                    <a:t>chrysopas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 y esto debe enviarle una notificación por correo al administrador.</a:t>
                  </a:r>
                </a:p>
                <a:p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Además, solo esta permitido </a:t>
                  </a:r>
                  <a:r>
                    <a:rPr lang="es-MX" sz="1350" b="1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2 fotos 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como máx.</a:t>
                  </a:r>
                  <a:endParaRPr lang="es-PE" sz="135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5" name="Abrir llave 24">
                  <a:extLst>
                    <a:ext uri="{FF2B5EF4-FFF2-40B4-BE49-F238E27FC236}">
                      <a16:creationId xmlns:a16="http://schemas.microsoft.com/office/drawing/2014/main" id="{C95F7E46-70AD-A177-147D-C0FDDE009309}"/>
                    </a:ext>
                  </a:extLst>
                </p:cNvPr>
                <p:cNvSpPr/>
                <p:nvPr/>
              </p:nvSpPr>
              <p:spPr>
                <a:xfrm flipH="1">
                  <a:off x="13066724" y="5416359"/>
                  <a:ext cx="359911" cy="800293"/>
                </a:xfrm>
                <a:prstGeom prst="leftBrac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DE741126-7A27-2A9A-1D15-83002EB5ED62}"/>
                    </a:ext>
                  </a:extLst>
                </p:cNvPr>
                <p:cNvSpPr/>
                <p:nvPr/>
              </p:nvSpPr>
              <p:spPr>
                <a:xfrm>
                  <a:off x="12357665" y="4679319"/>
                  <a:ext cx="297015" cy="39338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B850A21D-E764-7F9D-0A51-8CE7E1C6087B}"/>
                    </a:ext>
                  </a:extLst>
                </p:cNvPr>
                <p:cNvSpPr txBox="1"/>
                <p:nvPr/>
              </p:nvSpPr>
              <p:spPr>
                <a:xfrm>
                  <a:off x="13287992" y="2143517"/>
                  <a:ext cx="3370424" cy="584775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sz="1600" dirty="0"/>
                    <a:t>El usuario podrá descargar la foto del acta de entrega de insectos benéficos</a:t>
                  </a:r>
                  <a:endParaRPr lang="es-PE" sz="1600" dirty="0"/>
                </a:p>
              </p:txBody>
            </p:sp>
            <p:cxnSp>
              <p:nvCxnSpPr>
                <p:cNvPr id="29" name="Conector: angular 28">
                  <a:extLst>
                    <a:ext uri="{FF2B5EF4-FFF2-40B4-BE49-F238E27FC236}">
                      <a16:creationId xmlns:a16="http://schemas.microsoft.com/office/drawing/2014/main" id="{3B2DA326-1CBE-86AE-9280-B80470E1C3D0}"/>
                    </a:ext>
                  </a:extLst>
                </p:cNvPr>
                <p:cNvCxnSpPr>
                  <a:cxnSpLocks/>
                  <a:stCxn id="27" idx="2"/>
                  <a:endCxn id="26" idx="0"/>
                </p:cNvCxnSpPr>
                <p:nvPr/>
              </p:nvCxnSpPr>
              <p:spPr>
                <a:xfrm rot="5400000">
                  <a:off x="12764176" y="2470290"/>
                  <a:ext cx="1951027" cy="2467031"/>
                </a:xfrm>
                <a:prstGeom prst="bent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0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DDD75DAA-A306-E6B0-700F-0842F9AB53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60" t="8600" r="31610" b="19065"/>
              <a:stretch>
                <a:fillRect/>
              </a:stretch>
            </p:blipFill>
            <p:spPr bwMode="auto">
              <a:xfrm>
                <a:off x="12371522" y="4584751"/>
                <a:ext cx="288738" cy="400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CB4B146-C142-6B2F-129D-DA7F9D744B01}"/>
                </a:ext>
              </a:extLst>
            </p:cNvPr>
            <p:cNvSpPr txBox="1"/>
            <p:nvPr/>
          </p:nvSpPr>
          <p:spPr>
            <a:xfrm>
              <a:off x="10747006" y="6766937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2FE004D8-3D1B-9C17-AA62-ACB19B0B28B3}"/>
                </a:ext>
              </a:extLst>
            </p:cNvPr>
            <p:cNvSpPr txBox="1"/>
            <p:nvPr/>
          </p:nvSpPr>
          <p:spPr>
            <a:xfrm>
              <a:off x="10739788" y="7143762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02C95A6D-B692-2AE9-633C-C59F6CE0BD5D}"/>
                </a:ext>
              </a:extLst>
            </p:cNvPr>
            <p:cNvSpPr txBox="1"/>
            <p:nvPr/>
          </p:nvSpPr>
          <p:spPr>
            <a:xfrm>
              <a:off x="10741666" y="7486388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800D4A37-E73B-D011-F626-ABDCFC9EC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16539" y="7099669"/>
              <a:ext cx="1493033" cy="323496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8D3E0F2D-BC04-45B9-C76D-9D0C0672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53214" y="7591142"/>
              <a:ext cx="1493033" cy="323496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6665527-B35F-194A-C831-8C213075886F}"/>
                </a:ext>
              </a:extLst>
            </p:cNvPr>
            <p:cNvSpPr txBox="1"/>
            <p:nvPr/>
          </p:nvSpPr>
          <p:spPr>
            <a:xfrm>
              <a:off x="12498362" y="711910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AE4D94C-7616-0D6C-EA50-B4A7DBB77567}"/>
                </a:ext>
              </a:extLst>
            </p:cNvPr>
            <p:cNvSpPr txBox="1"/>
            <p:nvPr/>
          </p:nvSpPr>
          <p:spPr>
            <a:xfrm>
              <a:off x="12525722" y="7621952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FFCD8EE8-49E2-0FB7-1492-D1BDA3986B37}"/>
                </a:ext>
              </a:extLst>
            </p:cNvPr>
            <p:cNvSpPr/>
            <p:nvPr/>
          </p:nvSpPr>
          <p:spPr>
            <a:xfrm>
              <a:off x="10760745" y="6756579"/>
              <a:ext cx="3701604" cy="1254377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59248A4F-B34A-6E3D-ACF3-70D5704BDCC5}"/>
                </a:ext>
              </a:extLst>
            </p:cNvPr>
            <p:cNvSpPr/>
            <p:nvPr/>
          </p:nvSpPr>
          <p:spPr>
            <a:xfrm>
              <a:off x="10739139" y="4659952"/>
              <a:ext cx="2542831" cy="34355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48E40CC8-317D-C374-83AF-8B35DE9D8AE2}"/>
              </a:ext>
            </a:extLst>
          </p:cNvPr>
          <p:cNvSpPr txBox="1"/>
          <p:nvPr/>
        </p:nvSpPr>
        <p:spPr>
          <a:xfrm>
            <a:off x="1024292" y="9045088"/>
            <a:ext cx="869661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b="1" dirty="0"/>
              <a:t>NOTA: </a:t>
            </a:r>
            <a:r>
              <a:rPr lang="es-MX" dirty="0"/>
              <a:t>El sistema debe identificar las solicitudes según el usuario que las haya generado, y su visualización debe estar restringida </a:t>
            </a:r>
            <a:r>
              <a:rPr lang="es-MX" dirty="0">
                <a:highlight>
                  <a:srgbClr val="00FFFF"/>
                </a:highlight>
              </a:rPr>
              <a:t>únicamente al usuario correspondiente</a:t>
            </a:r>
            <a:r>
              <a:rPr lang="es-MX" dirty="0"/>
              <a:t>. Asimismo, cualquier cambio de estado o resultado asociado deberá ser notificado exclusivamente al usuario que realizó la solicitud.</a:t>
            </a:r>
          </a:p>
        </p:txBody>
      </p: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EDF68AF7-FC6C-FC15-58A6-2EBDB72DBCCD}"/>
              </a:ext>
            </a:extLst>
          </p:cNvPr>
          <p:cNvGrpSpPr/>
          <p:nvPr/>
        </p:nvGrpSpPr>
        <p:grpSpPr>
          <a:xfrm>
            <a:off x="1881369" y="1860494"/>
            <a:ext cx="6904435" cy="7061154"/>
            <a:chOff x="4535598" y="1638778"/>
            <a:chExt cx="6904435" cy="7061154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2132A96-E475-8EB1-4996-4DC1D73E0079}"/>
                </a:ext>
              </a:extLst>
            </p:cNvPr>
            <p:cNvGrpSpPr/>
            <p:nvPr/>
          </p:nvGrpSpPr>
          <p:grpSpPr>
            <a:xfrm>
              <a:off x="4535598" y="1638778"/>
              <a:ext cx="6904435" cy="7061154"/>
              <a:chOff x="4483678" y="1511365"/>
              <a:chExt cx="6904435" cy="7061154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E3455536-E3A5-4C20-6FE8-0368B8B168DB}"/>
                  </a:ext>
                </a:extLst>
              </p:cNvPr>
              <p:cNvGrpSpPr/>
              <p:nvPr/>
            </p:nvGrpSpPr>
            <p:grpSpPr>
              <a:xfrm>
                <a:off x="4483678" y="1511365"/>
                <a:ext cx="3865418" cy="7061154"/>
                <a:chOff x="4483678" y="1511365"/>
                <a:chExt cx="3865418" cy="7061154"/>
              </a:xfrm>
            </p:grpSpPr>
            <p:grpSp>
              <p:nvGrpSpPr>
                <p:cNvPr id="111" name="Grupo 110">
                  <a:extLst>
                    <a:ext uri="{FF2B5EF4-FFF2-40B4-BE49-F238E27FC236}">
                      <a16:creationId xmlns:a16="http://schemas.microsoft.com/office/drawing/2014/main" id="{ACDF1CC7-C02C-08B8-6271-1249991ED587}"/>
                    </a:ext>
                  </a:extLst>
                </p:cNvPr>
                <p:cNvGrpSpPr/>
                <p:nvPr/>
              </p:nvGrpSpPr>
              <p:grpSpPr>
                <a:xfrm>
                  <a:off x="4483678" y="1511365"/>
                  <a:ext cx="3865418" cy="7061154"/>
                  <a:chOff x="9533693" y="1248414"/>
                  <a:chExt cx="3865418" cy="7061154"/>
                </a:xfrm>
              </p:grpSpPr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C6775B8-2DDF-A3C8-04EE-0DE76777BD60}"/>
                      </a:ext>
                    </a:extLst>
                  </p:cNvPr>
                  <p:cNvGrpSpPr/>
                  <p:nvPr/>
                </p:nvGrpSpPr>
                <p:grpSpPr>
                  <a:xfrm>
                    <a:off x="9533693" y="1248414"/>
                    <a:ext cx="3865418" cy="7061154"/>
                    <a:chOff x="9698670" y="1248414"/>
                    <a:chExt cx="3865418" cy="7061154"/>
                  </a:xfrm>
                </p:grpSpPr>
                <p:grpSp>
                  <p:nvGrpSpPr>
                    <p:cNvPr id="45" name="Grupo 44">
                      <a:extLst>
                        <a:ext uri="{FF2B5EF4-FFF2-40B4-BE49-F238E27FC236}">
                          <a16:creationId xmlns:a16="http://schemas.microsoft.com/office/drawing/2014/main" id="{A210F44C-47EB-FF46-9A71-4932E365BE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98670" y="1248414"/>
                      <a:ext cx="3865418" cy="7061154"/>
                      <a:chOff x="9344819" y="1270548"/>
                      <a:chExt cx="3865418" cy="7061154"/>
                    </a:xfrm>
                  </p:grpSpPr>
                  <p:grpSp>
                    <p:nvGrpSpPr>
                      <p:cNvPr id="46" name="Grupo 45">
                        <a:extLst>
                          <a:ext uri="{FF2B5EF4-FFF2-40B4-BE49-F238E27FC236}">
                            <a16:creationId xmlns:a16="http://schemas.microsoft.com/office/drawing/2014/main" id="{18B66306-F86C-528F-3CD8-D194FDFC1A8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344819" y="1270548"/>
                        <a:ext cx="3865418" cy="7061154"/>
                        <a:chOff x="7322128" y="1054648"/>
                        <a:chExt cx="3865418" cy="7061154"/>
                      </a:xfrm>
                    </p:grpSpPr>
                    <p:grpSp>
                      <p:nvGrpSpPr>
                        <p:cNvPr id="48" name="Grupo 47">
                          <a:extLst>
                            <a:ext uri="{FF2B5EF4-FFF2-40B4-BE49-F238E27FC236}">
                              <a16:creationId xmlns:a16="http://schemas.microsoft.com/office/drawing/2014/main" id="{F24FAF1E-6397-DBB3-C154-CFC207B1CC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322128" y="1054648"/>
                          <a:ext cx="3865418" cy="7061154"/>
                          <a:chOff x="8833428" y="1270548"/>
                          <a:chExt cx="3865418" cy="7061154"/>
                        </a:xfrm>
                      </p:grpSpPr>
                      <p:pic>
                        <p:nvPicPr>
                          <p:cNvPr id="69" name="Imagen 68">
                            <a:extLst>
                              <a:ext uri="{FF2B5EF4-FFF2-40B4-BE49-F238E27FC236}">
                                <a16:creationId xmlns:a16="http://schemas.microsoft.com/office/drawing/2014/main" id="{738C6A7F-6E90-F0DF-8C38-9C04D73D7215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8833428" y="1270548"/>
                            <a:ext cx="3865418" cy="7061154"/>
                          </a:xfrm>
                          <a:prstGeom prst="rect">
                            <a:avLst/>
                          </a:prstGeom>
                          <a:ln w="38100" cap="sq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  <a:effectLst>
                            <a:outerShdw blurRad="50800" dist="38100" dir="2700000" algn="tl" rotWithShape="0">
                              <a:srgbClr val="000000">
                                <a:alpha val="43000"/>
                              </a:srgbClr>
                            </a:outerShdw>
                          </a:effectLst>
                        </p:spPr>
                      </p:pic>
                      <p:sp>
                        <p:nvSpPr>
                          <p:cNvPr id="70" name="Rectángulo 69">
                            <a:extLst>
                              <a:ext uri="{FF2B5EF4-FFF2-40B4-BE49-F238E27FC236}">
                                <a16:creationId xmlns:a16="http://schemas.microsoft.com/office/drawing/2014/main" id="{5E57B0E2-F06F-F195-4504-E0C2B85D38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61137" y="1502881"/>
                            <a:ext cx="3810000" cy="471451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3">
                              <a:shade val="50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PE"/>
                          </a:p>
                        </p:txBody>
                      </p:sp>
                      <p:sp>
                        <p:nvSpPr>
                          <p:cNvPr id="71" name="Rectángulo 70">
                            <a:extLst>
                              <a:ext uri="{FF2B5EF4-FFF2-40B4-BE49-F238E27FC236}">
                                <a16:creationId xmlns:a16="http://schemas.microsoft.com/office/drawing/2014/main" id="{BD81F873-6A46-F339-2D67-1AF644515E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50159" y="1562469"/>
                            <a:ext cx="1434667" cy="352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s-MX" sz="240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Abadi Extra Light" panose="020B0604020202020204" pitchFamily="34" charset="0"/>
                              </a:rPr>
                              <a:t>AGROI+D</a:t>
                            </a:r>
                            <a:endParaRPr lang="es-PE" sz="240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Abadi Extra Light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2" name="Rectángulo 71">
                            <a:extLst>
                              <a:ext uri="{FF2B5EF4-FFF2-40B4-BE49-F238E27FC236}">
                                <a16:creationId xmlns:a16="http://schemas.microsoft.com/office/drawing/2014/main" id="{C6A08A3F-0ABD-1313-EC9F-939BB6276A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29337" y="2184034"/>
                            <a:ext cx="3474972" cy="360799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PE"/>
                          </a:p>
                        </p:txBody>
                      </p:sp>
                    </p:grpSp>
                    <p:pic>
                      <p:nvPicPr>
                        <p:cNvPr id="56" name="Imagen 55">
                          <a:extLst>
                            <a:ext uri="{FF2B5EF4-FFF2-40B4-BE49-F238E27FC236}">
                              <a16:creationId xmlns:a16="http://schemas.microsoft.com/office/drawing/2014/main" id="{5F6D4F45-6183-B54D-FA64-F6E81945020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454394" y="2292034"/>
                          <a:ext cx="3474972" cy="1243986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47" name="Picture 4" descr="Gráficos escalables iconos de computadora gráficos de red portátiles, icono  de salida, cdr, texto, icono de salida png | PNGWing">
                        <a:extLst>
                          <a:ext uri="{FF2B5EF4-FFF2-40B4-BE49-F238E27FC236}">
                            <a16:creationId xmlns:a16="http://schemas.microsoft.com/office/drawing/2014/main" id="{5326116C-4308-1474-350A-582259F53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1895" b="96632" l="543" r="97283">
                                    <a14:foregroundMark x1="50042" y1="12244" x2="36739" y2="5895"/>
                                    <a14:foregroundMark x1="57985" y1="16034" x2="57540" y2="15821"/>
                                    <a14:foregroundMark x1="59239" y1="16632" x2="58355" y2="16210"/>
                                    <a14:foregroundMark x1="36739" y1="5895" x2="20435" y2="7158"/>
                                    <a14:foregroundMark x1="12737" y1="15836" x2="6522" y2="22842"/>
                                    <a14:foregroundMark x1="20435" y1="7158" x2="15617" y2="12589"/>
                                    <a14:foregroundMark x1="6522" y1="22842" x2="5435" y2="74421"/>
                                    <a14:foregroundMark x1="5435" y1="74421" x2="11957" y2="90842"/>
                                    <a14:foregroundMark x1="11957" y1="90842" x2="33587" y2="94947"/>
                                    <a14:foregroundMark x1="33587" y1="94947" x2="55435" y2="90526"/>
                                    <a14:foregroundMark x1="55435" y1="90526" x2="63043" y2="80000"/>
                                    <a14:foregroundMark x1="44565" y1="47263" x2="78696" y2="44632"/>
                                    <a14:foregroundMark x1="77496" y1="56958" x2="76739" y2="64737"/>
                                    <a14:foregroundMark x1="78696" y1="44632" x2="77613" y2="55759"/>
                                    <a14:foregroundMark x1="76739" y1="64737" x2="95000" y2="53684"/>
                                    <a14:foregroundMark x1="95000" y1="53684" x2="79239" y2="39368"/>
                                    <a14:foregroundMark x1="79239" y1="39368" x2="77065" y2="35895"/>
                                    <a14:foregroundMark x1="79130" y1="47579" x2="38804" y2="50632"/>
                                    <a14:foregroundMark x1="38804" y1="50632" x2="81630" y2="47789"/>
                                    <a14:foregroundMark x1="81630" y1="47789" x2="82500" y2="47789"/>
                                    <a14:foregroundMark x1="75870" y1="41158" x2="90479" y2="39510"/>
                                    <a14:foregroundMark x1="91797" y1="39625" x2="94783" y2="52737"/>
                                    <a14:foregroundMark x1="97065" y1="49579" x2="97391" y2="52105"/>
                                    <a14:foregroundMark x1="54365" y1="11816" x2="43913" y2="2526"/>
                                    <a14:foregroundMark x1="59072" y1="16000" x2="57962" y2="15013"/>
                                    <a14:foregroundMark x1="59783" y1="16632" x2="59072" y2="16000"/>
                                    <a14:foregroundMark x1="43913" y1="2526" x2="15761" y2="3579"/>
                                    <a14:foregroundMark x1="15761" y1="3579" x2="1413" y2="14842"/>
                                    <a14:foregroundMark x1="1413" y1="14842" x2="978" y2="72737"/>
                                    <a14:foregroundMark x1="978" y1="72737" x2="9783" y2="23579"/>
                                    <a14:foregroundMark x1="23895" y1="12054" x2="24348" y2="11684"/>
                                    <a14:foregroundMark x1="9783" y1="23579" x2="12657" y2="21232"/>
                                    <a14:foregroundMark x1="56397" y1="12187" x2="57935" y2="12211"/>
                                    <a14:foregroundMark x1="24348" y1="11684" x2="49938" y2="12086"/>
                                    <a14:foregroundMark x1="58952" y1="14352" x2="60435" y2="17474"/>
                                    <a14:foregroundMark x1="57935" y1="12211" x2="58861" y2="14161"/>
                                    <a14:foregroundMark x1="61630" y1="17789" x2="53043" y2="3579"/>
                                    <a14:foregroundMark x1="53043" y1="3579" x2="45543" y2="4947"/>
                                    <a14:foregroundMark x1="53587" y1="1895" x2="67283" y2="9368"/>
                                    <a14:foregroundMark x1="67283" y1="9368" x2="60978" y2="9474"/>
                                    <a14:foregroundMark x1="8261" y1="8421" x2="217" y2="51579"/>
                                    <a14:foregroundMark x1="217" y1="51579" x2="1087" y2="72000"/>
                                    <a14:foregroundMark x1="1087" y1="72000" x2="9891" y2="34211"/>
                                    <a14:foregroundMark x1="3261" y1="77684" x2="9239" y2="96842"/>
                                    <a14:foregroundMark x1="9239" y1="96842" x2="35652" y2="98737"/>
                                    <a14:foregroundMark x1="35652" y1="98737" x2="55435" y2="94000"/>
                                    <a14:foregroundMark x1="55435" y1="94000" x2="67609" y2="84211"/>
                                    <a14:foregroundMark x1="67609" y1="84211" x2="51413" y2="92632"/>
                                    <a14:foregroundMark x1="13242" y1="84716" x2="652" y2="82105"/>
                                    <a14:foregroundMark x1="27115" y1="87593" x2="26755" y2="87518"/>
                                    <a14:foregroundMark x1="51413" y1="92632" x2="28349" y2="87849"/>
                                    <a14:foregroundMark x1="652" y1="82105" x2="1304" y2="79579"/>
                                    <a14:foregroundMark x1="21630" y1="94632" x2="47065" y2="96632"/>
                                    <a14:foregroundMark x1="47065" y1="96632" x2="65000" y2="90211"/>
                                    <a14:foregroundMark x1="65000" y1="90211" x2="69022" y2="86947"/>
                                    <a14:backgroundMark x1="52717" y1="18842" x2="22500" y2="24105"/>
                                    <a14:backgroundMark x1="22500" y1="24105" x2="20326" y2="44632"/>
                                    <a14:backgroundMark x1="20326" y1="44632" x2="28913" y2="62842"/>
                                    <a14:backgroundMark x1="28913" y1="62842" x2="42500" y2="70105"/>
                                    <a14:backgroundMark x1="42500" y1="70105" x2="58152" y2="64105"/>
                                    <a14:backgroundMark x1="58152" y1="64105" x2="72717" y2="74947"/>
                                    <a14:backgroundMark x1="72717" y1="74947" x2="72717" y2="75053"/>
                                    <a14:backgroundMark x1="24783" y1="14737" x2="14565" y2="20947"/>
                                    <a14:backgroundMark x1="22391" y1="14526" x2="14348" y2="19579"/>
                                    <a14:backgroundMark x1="51196" y1="13895" x2="56413" y2="16421"/>
                                    <a14:backgroundMark x1="56630" y1="16421" x2="57391" y2="16105"/>
                                    <a14:backgroundMark x1="57609" y1="17474" x2="55978" y2="13368"/>
                                    <a14:backgroundMark x1="52065" y1="13053" x2="51304" y2="12947"/>
                                    <a14:backgroundMark x1="55109" y1="13158" x2="57283" y2="16211"/>
                                    <a14:backgroundMark x1="57065" y1="14632" x2="57283" y2="16000"/>
                                    <a14:backgroundMark x1="57065" y1="15579" x2="57500" y2="15579"/>
                                    <a14:backgroundMark x1="57500" y1="16000" x2="57500" y2="16000"/>
                                    <a14:backgroundMark x1="57609" y1="16105" x2="57500" y2="15474"/>
                                    <a14:backgroundMark x1="58043" y1="16211" x2="58043" y2="15263"/>
                                    <a14:backgroundMark x1="57826" y1="15053" x2="57717" y2="14842"/>
                                    <a14:backgroundMark x1="56413" y1="13579" x2="50652" y2="12526"/>
                                    <a14:backgroundMark x1="51087" y1="12842" x2="50435" y2="12842"/>
                                    <a14:backgroundMark x1="24674" y1="13263" x2="21304" y2="13158"/>
                                    <a14:backgroundMark x1="15326" y1="13158" x2="13587" y2="15789"/>
                                    <a14:backgroundMark x1="13587" y1="18632" x2="13478" y2="21263"/>
                                    <a14:backgroundMark x1="16304" y1="13158" x2="12935" y2="16000"/>
                                    <a14:backgroundMark x1="15870" y1="12842" x2="15870" y2="13053"/>
                                    <a14:backgroundMark x1="92283" y1="39789" x2="91848" y2="39263"/>
                                    <a14:backgroundMark x1="91087" y1="37263" x2="91848" y2="38421"/>
                                    <a14:backgroundMark x1="92717" y1="39368" x2="91522" y2="38632"/>
                                    <a14:backgroundMark x1="92283" y1="39368" x2="91630" y2="38421"/>
                                    <a14:backgroundMark x1="90326" y1="37053" x2="92609" y2="38947"/>
                                    <a14:backgroundMark x1="92609" y1="39789" x2="92283" y2="39263"/>
                                    <a14:backgroundMark x1="76957" y1="57053" x2="77609" y2="56737"/>
                                    <a14:backgroundMark x1="14130" y1="83579" x2="26957" y2="86737"/>
                                    <a14:backgroundMark x1="27935" y1="87263" x2="26957" y2="87368"/>
                                    <a14:backgroundMark x1="13587" y1="85263" x2="13587" y2="84632"/>
                                    <a14:backgroundMark x1="25761" y1="87474" x2="26848" y2="87368"/>
                                    <a14:backgroundMark x1="13370" y1="84842" x2="13370" y2="84737"/>
                                    <a14:backgroundMark x1="13152" y1="84947" x2="13043" y2="84842"/>
                                    <a14:backgroundMark x1="13261" y1="85053" x2="13152" y2="84842"/>
                                    <a14:backgroundMark x1="13152" y1="84842" x2="13370" y2="84105"/>
                                  </a14:backgroundRemoval>
                                </a14:imgEffect>
                              </a14:imgLayer>
                            </a14:imgProps>
                          </a:ex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6812" y="1550634"/>
                        <a:ext cx="341153" cy="3522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74" name="Rectángulo 73">
                      <a:extLst>
                        <a:ext uri="{FF2B5EF4-FFF2-40B4-BE49-F238E27FC236}">
                          <a16:creationId xmlns:a16="http://schemas.microsoft.com/office/drawing/2014/main" id="{5A6DB7C8-0592-E886-928D-C5166D207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7977" y="3402686"/>
                      <a:ext cx="411504" cy="190959"/>
                    </a:xfrm>
                    <a:prstGeom prst="rect">
                      <a:avLst/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/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1100" b="1">
                          <a:solidFill>
                            <a:schemeClr val="tx1"/>
                          </a:solidFill>
                          <a:latin typeface="Abadi Extra Light" panose="020B0204020104020204" pitchFamily="34" charset="0"/>
                        </a:rPr>
                        <a:t>VER</a:t>
                      </a:r>
                      <a:r>
                        <a:rPr lang="es-MX" b="1">
                          <a:solidFill>
                            <a:schemeClr val="tx1"/>
                          </a:solidFill>
                          <a:latin typeface="Abadi Extra Light" panose="020B0204020104020204" pitchFamily="34" charset="0"/>
                        </a:rPr>
                        <a:t> </a:t>
                      </a:r>
                    </a:p>
                  </p:txBody>
                </p:sp>
              </p:grpSp>
              <p:pic>
                <p:nvPicPr>
                  <p:cNvPr id="77" name="Imagen 76">
                    <a:extLst>
                      <a:ext uri="{FF2B5EF4-FFF2-40B4-BE49-F238E27FC236}">
                        <a16:creationId xmlns:a16="http://schemas.microsoft.com/office/drawing/2014/main" id="{01D591BF-EE57-C5C5-C96B-450F056E32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650424" y="3700032"/>
                    <a:ext cx="3474972" cy="1331471"/>
                  </a:xfrm>
                  <a:prstGeom prst="rect">
                    <a:avLst/>
                  </a:prstGeom>
                </p:spPr>
              </p:pic>
              <p:sp>
                <p:nvSpPr>
                  <p:cNvPr id="78" name="CuadroTexto 77">
                    <a:extLst>
                      <a:ext uri="{FF2B5EF4-FFF2-40B4-BE49-F238E27FC236}">
                        <a16:creationId xmlns:a16="http://schemas.microsoft.com/office/drawing/2014/main" id="{D731E2FF-0C5C-42F7-0EB8-0FE5820D285B}"/>
                      </a:ext>
                    </a:extLst>
                  </p:cNvPr>
                  <p:cNvSpPr txBox="1"/>
                  <p:nvPr/>
                </p:nvSpPr>
                <p:spPr>
                  <a:xfrm>
                    <a:off x="9861672" y="3763928"/>
                    <a:ext cx="2784930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MX" sz="1600" b="1"/>
                      <a:t>Fecha de Solicitud:01/07/2025</a:t>
                    </a:r>
                  </a:p>
                  <a:p>
                    <a:r>
                      <a:rPr lang="es-MX" sz="1600" b="1"/>
                      <a:t>Especie: Chrysopas</a:t>
                    </a:r>
                  </a:p>
                  <a:p>
                    <a:r>
                      <a:rPr lang="es-MX" sz="1600" b="1"/>
                      <a:t>Estado: ENTREGADO</a:t>
                    </a:r>
                    <a:endParaRPr lang="es-PE" sz="1600" b="1"/>
                  </a:p>
                </p:txBody>
              </p:sp>
              <p:sp>
                <p:nvSpPr>
                  <p:cNvPr id="79" name="Rectángulo 78">
                    <a:extLst>
                      <a:ext uri="{FF2B5EF4-FFF2-40B4-BE49-F238E27FC236}">
                        <a16:creationId xmlns:a16="http://schemas.microsoft.com/office/drawing/2014/main" id="{226CCE0A-957A-6149-50BF-9B109635C093}"/>
                      </a:ext>
                    </a:extLst>
                  </p:cNvPr>
                  <p:cNvSpPr/>
                  <p:nvPr/>
                </p:nvSpPr>
                <p:spPr>
                  <a:xfrm>
                    <a:off x="12560149" y="4627679"/>
                    <a:ext cx="407889" cy="208439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/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1100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VER</a:t>
                    </a:r>
                    <a:r>
                      <a:rPr lang="es-MX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 </a:t>
                    </a:r>
                  </a:p>
                </p:txBody>
              </p:sp>
              <p:sp>
                <p:nvSpPr>
                  <p:cNvPr id="83" name="CuadroTexto 82">
                    <a:extLst>
                      <a:ext uri="{FF2B5EF4-FFF2-40B4-BE49-F238E27FC236}">
                        <a16:creationId xmlns:a16="http://schemas.microsoft.com/office/drawing/2014/main" id="{737D491A-3A8B-59FA-57C4-D40E0D69744E}"/>
                      </a:ext>
                    </a:extLst>
                  </p:cNvPr>
                  <p:cNvSpPr txBox="1"/>
                  <p:nvPr/>
                </p:nvSpPr>
                <p:spPr>
                  <a:xfrm>
                    <a:off x="9824414" y="2553427"/>
                    <a:ext cx="2832524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 de Solicitud: 08/07/2025</a:t>
                    </a:r>
                  </a:p>
                  <a:p>
                    <a:r>
                      <a:rPr lang="es-MX" sz="1600" b="1"/>
                      <a:t>Especie: Chrysopas</a:t>
                    </a:r>
                  </a:p>
                  <a:p>
                    <a:r>
                      <a:rPr lang="es-MX" sz="1600" b="1"/>
                      <a:t>Estado: APROBADO  </a:t>
                    </a:r>
                  </a:p>
                </p:txBody>
              </p:sp>
              <p:sp>
                <p:nvSpPr>
                  <p:cNvPr id="88" name="CuadroTexto 87">
                    <a:extLst>
                      <a:ext uri="{FF2B5EF4-FFF2-40B4-BE49-F238E27FC236}">
                        <a16:creationId xmlns:a16="http://schemas.microsoft.com/office/drawing/2014/main" id="{55F156AF-19F7-A0B8-EE66-891BEACCC2C6}"/>
                      </a:ext>
                    </a:extLst>
                  </p:cNvPr>
                  <p:cNvSpPr txBox="1"/>
                  <p:nvPr/>
                </p:nvSpPr>
                <p:spPr>
                  <a:xfrm>
                    <a:off x="9726176" y="2102314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FECHA:</a:t>
                    </a:r>
                    <a:endParaRPr lang="es-PE" sz="1600" b="1"/>
                  </a:p>
                </p:txBody>
              </p:sp>
              <p:pic>
                <p:nvPicPr>
                  <p:cNvPr id="109" name="Imagen 108">
                    <a:extLst>
                      <a:ext uri="{FF2B5EF4-FFF2-40B4-BE49-F238E27FC236}">
                        <a16:creationId xmlns:a16="http://schemas.microsoft.com/office/drawing/2014/main" id="{207D9301-74E2-7D54-38BF-11A3F53116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84865" y="4605708"/>
                    <a:ext cx="258549" cy="25920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Imagen 36">
                  <a:extLst>
                    <a:ext uri="{FF2B5EF4-FFF2-40B4-BE49-F238E27FC236}">
                      <a16:creationId xmlns:a16="http://schemas.microsoft.com/office/drawing/2014/main" id="{0280A57C-9786-1716-06C2-6DDC884F68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>
                  <a:off x="6269622" y="5074818"/>
                  <a:ext cx="407047" cy="556704"/>
                </a:xfrm>
                <a:prstGeom prst="rect">
                  <a:avLst/>
                </a:prstGeom>
              </p:spPr>
            </p:pic>
            <p:pic>
              <p:nvPicPr>
                <p:cNvPr id="32" name="Imagen 31">
                  <a:extLst>
                    <a:ext uri="{FF2B5EF4-FFF2-40B4-BE49-F238E27FC236}">
                      <a16:creationId xmlns:a16="http://schemas.microsoft.com/office/drawing/2014/main" id="{CCB2BB98-D05B-4ECB-97E8-23EFB1ED88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67505" y="2326645"/>
                  <a:ext cx="1824903" cy="355870"/>
                </a:xfrm>
                <a:prstGeom prst="rect">
                  <a:avLst/>
                </a:prstGeom>
              </p:spPr>
            </p:pic>
          </p:grp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CAD2212-929A-A85F-F039-EC8ABFDAFB03}"/>
                  </a:ext>
                </a:extLst>
              </p:cNvPr>
              <p:cNvSpPr txBox="1"/>
              <p:nvPr/>
            </p:nvSpPr>
            <p:spPr>
              <a:xfrm>
                <a:off x="8685695" y="4657562"/>
                <a:ext cx="2702418" cy="2062103"/>
              </a:xfrm>
              <a:prstGeom prst="rect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600" dirty="0"/>
                  <a:t>El usuario al seleccionar el icono de editar solo le deberá permitir modificar, </a:t>
                </a:r>
                <a:r>
                  <a:rPr lang="es-MX" sz="1600" b="1" dirty="0"/>
                  <a:t>“Fecha y hora de Liberación”.</a:t>
                </a:r>
              </a:p>
              <a:p>
                <a:r>
                  <a:rPr lang="es-MX" sz="1600" dirty="0"/>
                  <a:t>El editado solo se debe habilitar después que se haya dado clic en  </a:t>
                </a:r>
                <a:r>
                  <a:rPr lang="es-MX" sz="1600" dirty="0">
                    <a:highlight>
                      <a:srgbClr val="00FFFF"/>
                    </a:highlight>
                  </a:rPr>
                  <a:t>el botón recibido.</a:t>
                </a:r>
              </a:p>
            </p:txBody>
          </p:sp>
        </p:grpSp>
        <p:cxnSp>
          <p:nvCxnSpPr>
            <p:cNvPr id="60" name="Conector: angular 59">
              <a:extLst>
                <a:ext uri="{FF2B5EF4-FFF2-40B4-BE49-F238E27FC236}">
                  <a16:creationId xmlns:a16="http://schemas.microsoft.com/office/drawing/2014/main" id="{51E083D9-F84C-DC8D-EC82-15EE8FF3CBF4}"/>
                </a:ext>
              </a:extLst>
            </p:cNvPr>
            <p:cNvCxnSpPr>
              <a:cxnSpLocks/>
              <a:stCxn id="17" idx="1"/>
              <a:endCxn id="109" idx="2"/>
            </p:cNvCxnSpPr>
            <p:nvPr/>
          </p:nvCxnSpPr>
          <p:spPr>
            <a:xfrm rot="10800000">
              <a:off x="7316045" y="5255273"/>
              <a:ext cx="1421570" cy="560754"/>
            </a:xfrm>
            <a:prstGeom prst="bentConnector2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542A8ED1-8E2C-3441-8F13-EF08ED098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9569" t="10214" r="39364" b="79038"/>
            <a:stretch>
              <a:fillRect/>
            </a:stretch>
          </p:blipFill>
          <p:spPr>
            <a:xfrm>
              <a:off x="5468530" y="2510261"/>
              <a:ext cx="1548102" cy="253761"/>
            </a:xfrm>
            <a:prstGeom prst="rect">
              <a:avLst/>
            </a:prstGeom>
          </p:spPr>
        </p:pic>
        <p:sp>
          <p:nvSpPr>
            <p:cNvPr id="104" name="Rectángulo: esquinas redondeadas 103">
              <a:extLst>
                <a:ext uri="{FF2B5EF4-FFF2-40B4-BE49-F238E27FC236}">
                  <a16:creationId xmlns:a16="http://schemas.microsoft.com/office/drawing/2014/main" id="{6BB0CEB5-D16A-BCEA-5280-A60D2BF15006}"/>
                </a:ext>
              </a:extLst>
            </p:cNvPr>
            <p:cNvSpPr/>
            <p:nvPr/>
          </p:nvSpPr>
          <p:spPr>
            <a:xfrm>
              <a:off x="6043921" y="5018043"/>
              <a:ext cx="1042753" cy="250913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ysClr val="windowText" lastClr="000000"/>
                  </a:solidFill>
                </a:rPr>
                <a:t>RECIBIDO</a:t>
              </a:r>
              <a:endParaRPr lang="es-PE" sz="1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06C2DF56-6CCC-9B34-64C1-F95E114AA816}"/>
                </a:ext>
              </a:extLst>
            </p:cNvPr>
            <p:cNvSpPr/>
            <p:nvPr/>
          </p:nvSpPr>
          <p:spPr>
            <a:xfrm>
              <a:off x="5987438" y="4967374"/>
              <a:ext cx="1141700" cy="35587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6317ED-028F-7073-173C-3FBDB3DCEF89}"/>
              </a:ext>
            </a:extLst>
          </p:cNvPr>
          <p:cNvSpPr txBox="1"/>
          <p:nvPr/>
        </p:nvSpPr>
        <p:spPr>
          <a:xfrm>
            <a:off x="5201932" y="1285650"/>
            <a:ext cx="7834232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Registrar la fecha de liberación de Crisopas</a:t>
            </a:r>
            <a:endParaRPr lang="es-PE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riángulo isósceles 60">
            <a:extLst>
              <a:ext uri="{FF2B5EF4-FFF2-40B4-BE49-F238E27FC236}">
                <a16:creationId xmlns:a16="http://schemas.microsoft.com/office/drawing/2014/main" id="{BE409B38-72F8-E82D-F7E7-64EB8CE01E3A}"/>
              </a:ext>
            </a:extLst>
          </p:cNvPr>
          <p:cNvSpPr/>
          <p:nvPr/>
        </p:nvSpPr>
        <p:spPr>
          <a:xfrm rot="16200000">
            <a:off x="8878106" y="5180917"/>
            <a:ext cx="1159951" cy="180863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E8B9D2C-AAB0-1ADF-6350-597E128D2417}"/>
              </a:ext>
            </a:extLst>
          </p:cNvPr>
          <p:cNvCxnSpPr>
            <a:cxnSpLocks/>
            <a:endCxn id="61" idx="3"/>
          </p:cNvCxnSpPr>
          <p:nvPr/>
        </p:nvCxnSpPr>
        <p:spPr>
          <a:xfrm flipV="1">
            <a:off x="8823228" y="6085232"/>
            <a:ext cx="1539169" cy="4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D5762C1C-2440-3600-2781-A0303D4BB773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12148163" y="8404379"/>
            <a:ext cx="18610" cy="666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079D0636-AF42-F179-DBBC-2F913850542E}"/>
              </a:ext>
            </a:extLst>
          </p:cNvPr>
          <p:cNvCxnSpPr>
            <a:stCxn id="63" idx="1"/>
            <a:endCxn id="44" idx="3"/>
          </p:cNvCxnSpPr>
          <p:nvPr/>
        </p:nvCxnSpPr>
        <p:spPr>
          <a:xfrm flipH="1" flipV="1">
            <a:off x="14068649" y="7713968"/>
            <a:ext cx="407911" cy="22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61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DF949ED-88AE-B4FA-82C7-A6AB00389841}"/>
              </a:ext>
            </a:extLst>
          </p:cNvPr>
          <p:cNvGrpSpPr/>
          <p:nvPr/>
        </p:nvGrpSpPr>
        <p:grpSpPr>
          <a:xfrm>
            <a:off x="3271234" y="1906073"/>
            <a:ext cx="12096487" cy="6233373"/>
            <a:chOff x="3516309" y="2288123"/>
            <a:chExt cx="11503683" cy="5490715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13785051-8769-934C-BFF5-8C6C95BBF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6309" y="2288123"/>
              <a:ext cx="11503683" cy="5490715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7ADA8FC-8BE9-B3A9-391F-04EE35C3ACF7}"/>
                </a:ext>
              </a:extLst>
            </p:cNvPr>
            <p:cNvSpPr/>
            <p:nvPr/>
          </p:nvSpPr>
          <p:spPr>
            <a:xfrm>
              <a:off x="3567826" y="2326760"/>
              <a:ext cx="914022" cy="73152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5" name="Flecha: pentágono 4">
            <a:extLst>
              <a:ext uri="{FF2B5EF4-FFF2-40B4-BE49-F238E27FC236}">
                <a16:creationId xmlns:a16="http://schemas.microsoft.com/office/drawing/2014/main" id="{8968AEBD-FB17-5598-23BA-9D0F561CFC64}"/>
              </a:ext>
            </a:extLst>
          </p:cNvPr>
          <p:cNvSpPr/>
          <p:nvPr/>
        </p:nvSpPr>
        <p:spPr>
          <a:xfrm>
            <a:off x="860442" y="239405"/>
            <a:ext cx="11533890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5FAF85-A693-CDDC-599C-053A754AABB5}"/>
              </a:ext>
            </a:extLst>
          </p:cNvPr>
          <p:cNvSpPr txBox="1"/>
          <p:nvPr/>
        </p:nvSpPr>
        <p:spPr>
          <a:xfrm>
            <a:off x="1110956" y="412350"/>
            <a:ext cx="11014939" cy="58477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MONITOR DE LA PLATAFORMA IN HOUSE</a:t>
            </a:r>
          </a:p>
        </p:txBody>
      </p:sp>
    </p:spTree>
    <p:extLst>
      <p:ext uri="{BB962C8B-B14F-4D97-AF65-F5344CB8AC3E}">
        <p14:creationId xmlns:p14="http://schemas.microsoft.com/office/powerpoint/2010/main" val="389503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73C3B-9C8F-9CF8-E240-2777F8DAA9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En  proceso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3D8472-21DB-E712-44AB-7324D426D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254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B04C5A-4CD2-2C2F-6F5F-948F2F560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6" y="699813"/>
            <a:ext cx="18193522" cy="9008270"/>
          </a:xfrm>
          <a:prstGeom prst="rect">
            <a:avLst/>
          </a:prstGeom>
        </p:spPr>
      </p:pic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D0B46487-2E86-DB5C-7DAB-EC83E612A139}"/>
              </a:ext>
            </a:extLst>
          </p:cNvPr>
          <p:cNvSpPr/>
          <p:nvPr/>
        </p:nvSpPr>
        <p:spPr>
          <a:xfrm>
            <a:off x="783659" y="80232"/>
            <a:ext cx="12584097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9A1A02-4447-665C-AC7B-76FA04E3C48D}"/>
              </a:ext>
            </a:extLst>
          </p:cNvPr>
          <p:cNvSpPr txBox="1"/>
          <p:nvPr/>
        </p:nvSpPr>
        <p:spPr>
          <a:xfrm>
            <a:off x="1110954" y="208499"/>
            <a:ext cx="119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INTERFAS DEL ADMINISTRADOR </a:t>
            </a:r>
            <a:r>
              <a:rPr lang="es-MX" sz="2400" b="1" dirty="0">
                <a:solidFill>
                  <a:schemeClr val="bg1"/>
                </a:solidFill>
              </a:rPr>
              <a:t>(I+D )</a:t>
            </a:r>
            <a:endParaRPr lang="es-MX" sz="3200" b="1" dirty="0">
              <a:solidFill>
                <a:schemeClr val="bg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7B1E507-DADF-9D61-6C1C-8A27C04C3CB4}"/>
              </a:ext>
            </a:extLst>
          </p:cNvPr>
          <p:cNvSpPr/>
          <p:nvPr/>
        </p:nvSpPr>
        <p:spPr>
          <a:xfrm>
            <a:off x="5947379" y="3519750"/>
            <a:ext cx="864092" cy="206592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5F8F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CE3B8DF-B6C2-1BFC-A676-429B94E0A8F3}"/>
              </a:ext>
            </a:extLst>
          </p:cNvPr>
          <p:cNvSpPr/>
          <p:nvPr/>
        </p:nvSpPr>
        <p:spPr>
          <a:xfrm>
            <a:off x="5947379" y="3726343"/>
            <a:ext cx="1648308" cy="162740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44B20A-9F0C-F39A-D75C-A4ED7E4CC52B}"/>
              </a:ext>
            </a:extLst>
          </p:cNvPr>
          <p:cNvSpPr/>
          <p:nvPr/>
        </p:nvSpPr>
        <p:spPr>
          <a:xfrm>
            <a:off x="3482177" y="3326643"/>
            <a:ext cx="11498526" cy="5019432"/>
          </a:xfrm>
          <a:prstGeom prst="rect">
            <a:avLst/>
          </a:prstGeom>
          <a:solidFill>
            <a:srgbClr val="F6F9FF"/>
          </a:solidFill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022F633-B504-306A-020A-7C1CA0EB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5244" y="2924057"/>
            <a:ext cx="119766" cy="5533178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06CB52A4-CBC6-C9E3-0F18-F3164A594126}"/>
              </a:ext>
            </a:extLst>
          </p:cNvPr>
          <p:cNvSpPr/>
          <p:nvPr/>
        </p:nvSpPr>
        <p:spPr>
          <a:xfrm>
            <a:off x="3715349" y="3990727"/>
            <a:ext cx="10971489" cy="35153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0C3974-F120-5E0B-6A6B-18479647C5B6}"/>
              </a:ext>
            </a:extLst>
          </p:cNvPr>
          <p:cNvSpPr txBox="1"/>
          <p:nvPr/>
        </p:nvSpPr>
        <p:spPr>
          <a:xfrm>
            <a:off x="3970715" y="4447323"/>
            <a:ext cx="1414058" cy="39241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defTabSz="1371600"/>
            <a:r>
              <a:rPr lang="es-MX" sz="975" b="1">
                <a:solidFill>
                  <a:srgbClr val="6A99B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Requerimiento de Maquinaria</a:t>
            </a:r>
            <a:endParaRPr lang="es-PE" sz="975" b="1">
              <a:solidFill>
                <a:srgbClr val="6A99B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14F2555-A08E-4C2B-AE22-2A0C33FFFDCF}"/>
              </a:ext>
            </a:extLst>
          </p:cNvPr>
          <p:cNvSpPr/>
          <p:nvPr/>
        </p:nvSpPr>
        <p:spPr>
          <a:xfrm>
            <a:off x="3752831" y="4473662"/>
            <a:ext cx="1812162" cy="40111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F8A5BBA-B7C0-53E7-12EF-18D937C3DED7}"/>
              </a:ext>
            </a:extLst>
          </p:cNvPr>
          <p:cNvSpPr/>
          <p:nvPr/>
        </p:nvSpPr>
        <p:spPr>
          <a:xfrm>
            <a:off x="3768149" y="4269105"/>
            <a:ext cx="8457278" cy="2998571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0828AF5-AEA4-EC73-DC64-4AC9DDFB103F}"/>
              </a:ext>
            </a:extLst>
          </p:cNvPr>
          <p:cNvSpPr txBox="1"/>
          <p:nvPr/>
        </p:nvSpPr>
        <p:spPr>
          <a:xfrm>
            <a:off x="8003045" y="5730007"/>
            <a:ext cx="1201350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MX" sz="975" b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COMSUMIDOR</a:t>
            </a:r>
            <a:endParaRPr lang="es-PE" sz="975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8344D2F-5A24-DEFF-B340-93AE51AB32D1}"/>
              </a:ext>
            </a:extLst>
          </p:cNvPr>
          <p:cNvSpPr/>
          <p:nvPr/>
        </p:nvSpPr>
        <p:spPr>
          <a:xfrm>
            <a:off x="3494140" y="4151766"/>
            <a:ext cx="10971489" cy="391322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F1A1BBE0-F68C-A668-D970-F84852C6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6663" y="4356545"/>
            <a:ext cx="1308870" cy="297254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57B16531-A77A-5771-9D3D-90B53F6CAC88}"/>
              </a:ext>
            </a:extLst>
          </p:cNvPr>
          <p:cNvGrpSpPr/>
          <p:nvPr/>
        </p:nvGrpSpPr>
        <p:grpSpPr>
          <a:xfrm>
            <a:off x="3457036" y="4718283"/>
            <a:ext cx="10921089" cy="624689"/>
            <a:chOff x="4157070" y="5911310"/>
            <a:chExt cx="7017256" cy="416459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11C52982-D31E-2DA9-B889-9DBDF1C8F677}"/>
                </a:ext>
              </a:extLst>
            </p:cNvPr>
            <p:cNvSpPr/>
            <p:nvPr/>
          </p:nvSpPr>
          <p:spPr>
            <a:xfrm>
              <a:off x="4157070" y="5911310"/>
              <a:ext cx="7017256" cy="416459"/>
            </a:xfrm>
            <a:prstGeom prst="rect">
              <a:avLst/>
            </a:prstGeom>
            <a:solidFill>
              <a:srgbClr val="3C4651"/>
            </a:solidFill>
            <a:ln w="19050" cap="flat" cmpd="sng" algn="ctr">
              <a:solidFill>
                <a:srgbClr val="3C465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5CBD0336-0217-B9B6-3DA0-749E6A8F83F9}"/>
                </a:ext>
              </a:extLst>
            </p:cNvPr>
            <p:cNvSpPr txBox="1"/>
            <p:nvPr/>
          </p:nvSpPr>
          <p:spPr>
            <a:xfrm>
              <a:off x="4982834" y="5999023"/>
              <a:ext cx="547431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SEMANA</a:t>
              </a:r>
              <a:endParaRPr kumimoji="0" lang="es-PE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7D27BD56-76C9-36AD-5C91-AB543B592C85}"/>
                </a:ext>
              </a:extLst>
            </p:cNvPr>
            <p:cNvSpPr/>
            <p:nvPr/>
          </p:nvSpPr>
          <p:spPr>
            <a:xfrm>
              <a:off x="5001194" y="6134538"/>
              <a:ext cx="479952" cy="150303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750" b="0" i="0" u="none" strike="noStrike" kern="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BUSCAR</a:t>
              </a:r>
              <a:endParaRPr kumimoji="0" lang="es-PE" sz="75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254462C3-3817-B29F-E744-71CBAE0723E4}"/>
                </a:ext>
              </a:extLst>
            </p:cNvPr>
            <p:cNvSpPr/>
            <p:nvPr/>
          </p:nvSpPr>
          <p:spPr>
            <a:xfrm>
              <a:off x="5640741" y="6106031"/>
              <a:ext cx="887156" cy="164147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750" b="0" i="0" u="none" strike="noStrike" kern="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BUSCAR</a:t>
              </a:r>
              <a:endParaRPr kumimoji="0" lang="es-PE" sz="75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6FE6A036-7167-2AE6-7CFF-25D0D8EF6DB1}"/>
                </a:ext>
              </a:extLst>
            </p:cNvPr>
            <p:cNvSpPr txBox="1"/>
            <p:nvPr/>
          </p:nvSpPr>
          <p:spPr>
            <a:xfrm>
              <a:off x="5902562" y="5965651"/>
              <a:ext cx="547431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FECHA</a:t>
              </a:r>
              <a:endParaRPr kumimoji="0" lang="es-PE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AEAF4376-77E5-17D4-9B46-44BC8903692F}"/>
                </a:ext>
              </a:extLst>
            </p:cNvPr>
            <p:cNvSpPr txBox="1"/>
            <p:nvPr/>
          </p:nvSpPr>
          <p:spPr>
            <a:xfrm>
              <a:off x="6742625" y="5925557"/>
              <a:ext cx="2098593" cy="246221"/>
            </a:xfrm>
            <a:prstGeom prst="rect">
              <a:avLst/>
            </a:prstGeom>
            <a:solidFill>
              <a:srgbClr val="212429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STOCK INICIAL </a:t>
              </a:r>
              <a:endParaRPr kumimoji="0" lang="es-PE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90DBE435-DE67-DD8F-9B79-1084C0A1D518}"/>
                </a:ext>
              </a:extLst>
            </p:cNvPr>
            <p:cNvSpPr txBox="1"/>
            <p:nvPr/>
          </p:nvSpPr>
          <p:spPr>
            <a:xfrm>
              <a:off x="6601008" y="6141162"/>
              <a:ext cx="971754" cy="164147"/>
            </a:xfrm>
            <a:prstGeom prst="rect">
              <a:avLst/>
            </a:prstGeom>
            <a:noFill/>
            <a:ln>
              <a:solidFill>
                <a:sysClr val="window" lastClr="FFFFFF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PAPEL  CON </a:t>
              </a:r>
              <a:r>
                <a:rPr kumimoji="0" lang="es-MX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POSTURA</a:t>
              </a:r>
              <a:endParaRPr kumimoji="0" lang="es-PE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BE5ADB2D-4AC6-F14C-49BE-7A0224AFA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370" t="28235" r="63299" b="33085"/>
            <a:stretch>
              <a:fillRect/>
            </a:stretch>
          </p:blipFill>
          <p:spPr>
            <a:xfrm>
              <a:off x="5753044" y="5971664"/>
              <a:ext cx="145701" cy="90436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39752C3C-30C6-7195-6110-6DFEB59A7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370" t="28235" r="63299" b="33085"/>
            <a:stretch>
              <a:fillRect/>
            </a:stretch>
          </p:blipFill>
          <p:spPr>
            <a:xfrm>
              <a:off x="5327782" y="6028153"/>
              <a:ext cx="145701" cy="90436"/>
            </a:xfrm>
            <a:prstGeom prst="rect">
              <a:avLst/>
            </a:prstGeom>
          </p:spPr>
        </p:pic>
      </p:grpSp>
      <p:pic>
        <p:nvPicPr>
          <p:cNvPr id="42" name="Imagen 41">
            <a:extLst>
              <a:ext uri="{FF2B5EF4-FFF2-40B4-BE49-F238E27FC236}">
                <a16:creationId xmlns:a16="http://schemas.microsoft.com/office/drawing/2014/main" id="{74DE6140-FCBF-D530-1626-FE1B53B878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054" t="21866" r="40079" b="16403"/>
          <a:stretch/>
        </p:blipFill>
        <p:spPr>
          <a:xfrm flipV="1">
            <a:off x="12372462" y="6073552"/>
            <a:ext cx="214376" cy="281625"/>
          </a:xfrm>
          <a:prstGeom prst="rect">
            <a:avLst/>
          </a:prstGeom>
          <a:solidFill>
            <a:srgbClr val="4EA72E"/>
          </a:solidFill>
          <a:ln>
            <a:solidFill>
              <a:srgbClr val="4EA72E"/>
            </a:solidFill>
          </a:ln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9EECB47-A0B6-EE21-03FC-FD260949D9B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9593"/>
          <a:stretch/>
        </p:blipFill>
        <p:spPr>
          <a:xfrm>
            <a:off x="5638004" y="5376485"/>
            <a:ext cx="1501378" cy="1156619"/>
          </a:xfrm>
          <a:prstGeom prst="rect">
            <a:avLst/>
          </a:prstGeom>
          <a:ln w="3175">
            <a:solidFill>
              <a:sysClr val="windowText" lastClr="000000"/>
            </a:solidFill>
          </a:ln>
        </p:spPr>
      </p:pic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CE074760-C3A7-8DDE-BBB5-EDD3959E0EDC}"/>
              </a:ext>
            </a:extLst>
          </p:cNvPr>
          <p:cNvSpPr/>
          <p:nvPr/>
        </p:nvSpPr>
        <p:spPr>
          <a:xfrm>
            <a:off x="8541010" y="3967744"/>
            <a:ext cx="2668534" cy="245698"/>
          </a:xfrm>
          <a:prstGeom prst="roundRect">
            <a:avLst/>
          </a:prstGeom>
          <a:solidFill>
            <a:srgbClr val="3E4853"/>
          </a:solidFill>
          <a:ln w="3175" cap="flat" cmpd="sng" algn="ctr">
            <a:solidFill>
              <a:srgbClr val="888E9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 CUMPLIMIENTO MENSUAL</a:t>
            </a: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958B44D7-ECA9-A8F9-A164-913A6C4588E6}"/>
              </a:ext>
            </a:extLst>
          </p:cNvPr>
          <p:cNvGrpSpPr/>
          <p:nvPr/>
        </p:nvGrpSpPr>
        <p:grpSpPr>
          <a:xfrm>
            <a:off x="3468483" y="4080759"/>
            <a:ext cx="2002019" cy="410775"/>
            <a:chOff x="5868759" y="4166487"/>
            <a:chExt cx="2002019" cy="410775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8CB9D5A4-00B4-C57C-B0BA-621A0F5A4CD6}"/>
                </a:ext>
              </a:extLst>
            </p:cNvPr>
            <p:cNvGrpSpPr/>
            <p:nvPr/>
          </p:nvGrpSpPr>
          <p:grpSpPr>
            <a:xfrm>
              <a:off x="5868759" y="4166487"/>
              <a:ext cx="2002019" cy="410775"/>
              <a:chOff x="5783031" y="4109335"/>
              <a:chExt cx="2002019" cy="410775"/>
            </a:xfrm>
          </p:grpSpPr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0F77386E-150C-FE30-9DB0-774C305C972A}"/>
                  </a:ext>
                </a:extLst>
              </p:cNvPr>
              <p:cNvSpPr/>
              <p:nvPr/>
            </p:nvSpPr>
            <p:spPr>
              <a:xfrm>
                <a:off x="5783031" y="4118993"/>
                <a:ext cx="1765245" cy="401117"/>
              </a:xfrm>
              <a:prstGeom prst="roundRect">
                <a:avLst/>
              </a:prstGeom>
              <a:solidFill>
                <a:srgbClr val="3E4853"/>
              </a:solidFill>
              <a:ln w="3175" cap="flat" cmpd="sng" algn="ctr">
                <a:solidFill>
                  <a:srgbClr val="888E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just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3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MES </a:t>
                </a:r>
                <a:endParaRPr kumimoji="0" lang="es-PE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54CA2502-B7DC-837C-5DE7-05D1B08ED8B7}"/>
                  </a:ext>
                </a:extLst>
              </p:cNvPr>
              <p:cNvSpPr/>
              <p:nvPr/>
            </p:nvSpPr>
            <p:spPr>
              <a:xfrm>
                <a:off x="6589658" y="4109335"/>
                <a:ext cx="1195392" cy="405950"/>
              </a:xfrm>
              <a:prstGeom prst="roundRect">
                <a:avLst/>
              </a:prstGeom>
              <a:solidFill>
                <a:srgbClr val="3E4853"/>
              </a:solidFill>
              <a:ln w="3175" cap="flat" cmpd="sng" algn="ctr">
                <a:solidFill>
                  <a:srgbClr val="888E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3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Mayo  </a:t>
                </a:r>
                <a:endParaRPr kumimoji="0" lang="es-PE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D0FD5065-293A-26FD-2993-51B6E10C7CA1}"/>
                </a:ext>
              </a:extLst>
            </p:cNvPr>
            <p:cNvSpPr/>
            <p:nvPr/>
          </p:nvSpPr>
          <p:spPr>
            <a:xfrm>
              <a:off x="7586719" y="4246708"/>
              <a:ext cx="231051" cy="270486"/>
            </a:xfrm>
            <a:prstGeom prst="rect">
              <a:avLst/>
            </a:prstGeom>
            <a:solidFill>
              <a:srgbClr val="0E2841"/>
            </a:solidFill>
            <a:ln w="19050" cap="flat" cmpd="sng" algn="ctr">
              <a:solidFill>
                <a:srgbClr val="196B2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</a:t>
              </a:r>
              <a:endPara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ADF74BF-40D6-9ACB-E4EA-B1BA212A0C2C}"/>
              </a:ext>
            </a:extLst>
          </p:cNvPr>
          <p:cNvSpPr txBox="1"/>
          <p:nvPr/>
        </p:nvSpPr>
        <p:spPr>
          <a:xfrm>
            <a:off x="2253411" y="2527174"/>
            <a:ext cx="3590654" cy="76174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Al ingresar el mes, deben mostrarse automáticamente los números de la semana correspondiente.</a:t>
            </a:r>
            <a:endParaRPr kumimoji="0" lang="es-PE" sz="14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04D8A8A1-7C22-B3F2-EE38-03CB8DA1141D}"/>
              </a:ext>
            </a:extLst>
          </p:cNvPr>
          <p:cNvGrpSpPr/>
          <p:nvPr/>
        </p:nvGrpSpPr>
        <p:grpSpPr>
          <a:xfrm>
            <a:off x="5745267" y="3878521"/>
            <a:ext cx="2257757" cy="639385"/>
            <a:chOff x="8426509" y="2780042"/>
            <a:chExt cx="1529880" cy="400023"/>
          </a:xfrm>
        </p:grpSpPr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501AF571-5C3A-8625-7CED-7A2EB253180E}"/>
                </a:ext>
              </a:extLst>
            </p:cNvPr>
            <p:cNvSpPr/>
            <p:nvPr/>
          </p:nvSpPr>
          <p:spPr>
            <a:xfrm>
              <a:off x="8426509" y="2858632"/>
              <a:ext cx="1529880" cy="321433"/>
            </a:xfrm>
            <a:prstGeom prst="roundRect">
              <a:avLst/>
            </a:prstGeom>
            <a:solidFill>
              <a:srgbClr val="3C4651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DB6EC3F3-D265-B91E-B624-725CF01C9C8F}"/>
                </a:ext>
              </a:extLst>
            </p:cNvPr>
            <p:cNvSpPr/>
            <p:nvPr/>
          </p:nvSpPr>
          <p:spPr>
            <a:xfrm>
              <a:off x="8564688" y="2869606"/>
              <a:ext cx="1238522" cy="141423"/>
            </a:xfrm>
            <a:prstGeom prst="roundRect">
              <a:avLst/>
            </a:prstGeom>
            <a:solidFill>
              <a:srgbClr val="EDEFE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B3E9290A-35B1-0B11-241E-1E98C205AAC2}"/>
                </a:ext>
              </a:extLst>
            </p:cNvPr>
            <p:cNvSpPr txBox="1"/>
            <p:nvPr/>
          </p:nvSpPr>
          <p:spPr>
            <a:xfrm>
              <a:off x="8583330" y="2859949"/>
              <a:ext cx="1262435" cy="144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Proyectado Mensual (Mill)</a:t>
              </a:r>
              <a:endParaRPr kumimoji="0" lang="es-PE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2A538530-D590-B586-7BFD-93DF069EAB85}"/>
                </a:ext>
              </a:extLst>
            </p:cNvPr>
            <p:cNvCxnSpPr>
              <a:cxnSpLocks/>
            </p:cNvCxnSpPr>
            <p:nvPr/>
          </p:nvCxnSpPr>
          <p:spPr>
            <a:xfrm>
              <a:off x="8929745" y="2780042"/>
              <a:ext cx="0" cy="0"/>
            </a:xfrm>
            <a:prstGeom prst="line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pic>
          <p:nvPicPr>
            <p:cNvPr id="56" name="Imagen 55">
              <a:extLst>
                <a:ext uri="{FF2B5EF4-FFF2-40B4-BE49-F238E27FC236}">
                  <a16:creationId xmlns:a16="http://schemas.microsoft.com/office/drawing/2014/main" id="{5566A103-4EAF-1EB1-07EA-A3088C3E6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7000" b="90000" l="7000" r="86375">
                          <a14:foregroundMark x1="22375" y1="20750" x2="71625" y2="20750"/>
                          <a14:foregroundMark x1="20625" y1="19750" x2="29125" y2="81750"/>
                          <a14:foregroundMark x1="29125" y1="81750" x2="29125" y2="81125"/>
                          <a14:foregroundMark x1="27375" y1="81125" x2="84625" y2="73875"/>
                          <a14:foregroundMark x1="85500" y1="73875" x2="82750" y2="20250"/>
                          <a14:foregroundMark x1="81500" y1="16250" x2="7250" y2="21125"/>
                          <a14:foregroundMark x1="13000" y1="23375" x2="12000" y2="64000"/>
                          <a14:foregroundMark x1="12000" y1="64000" x2="16125" y2="80125"/>
                          <a14:foregroundMark x1="16125" y1="80125" x2="48750" y2="82375"/>
                          <a14:foregroundMark x1="19750" y1="80625" x2="70875" y2="91250"/>
                          <a14:foregroundMark x1="70875" y1="91250" x2="94500" y2="69875"/>
                          <a14:foregroundMark x1="94500" y1="69875" x2="94625" y2="42375"/>
                          <a14:foregroundMark x1="94625" y1="42375" x2="87250" y2="18875"/>
                          <a14:foregroundMark x1="87250" y1="18875" x2="64500" y2="10625"/>
                          <a14:foregroundMark x1="64500" y1="10625" x2="38375" y2="12250"/>
                          <a14:foregroundMark x1="38375" y1="12250" x2="15375" y2="25875"/>
                          <a14:foregroundMark x1="15375" y1="25875" x2="13875" y2="28750"/>
                          <a14:foregroundMark x1="22000" y1="30125" x2="50875" y2="64875"/>
                          <a14:foregroundMark x1="50875" y1="64875" x2="76500" y2="61375"/>
                          <a14:foregroundMark x1="82750" y1="18500" x2="57750" y2="76125"/>
                          <a14:foregroundMark x1="34000" y1="24250" x2="57750" y2="59625"/>
                          <a14:foregroundMark x1="68000" y1="22000" x2="56875" y2="69375"/>
                          <a14:foregroundMark x1="56875" y1="69375" x2="57250" y2="76625"/>
                          <a14:foregroundMark x1="59125" y1="31000" x2="46250" y2="61375"/>
                          <a14:foregroundMark x1="46250" y1="61375" x2="55000" y2="52500"/>
                          <a14:foregroundMark x1="31750" y1="36750" x2="57250" y2="25625"/>
                          <a14:foregroundMark x1="13500" y1="35500" x2="39000" y2="31000"/>
                          <a14:foregroundMark x1="39000" y1="31000" x2="48375" y2="7250"/>
                          <a14:foregroundMark x1="47500" y1="7250" x2="40750" y2="25625"/>
                          <a14:foregroundMark x1="21500" y1="13125" x2="41625" y2="14875"/>
                          <a14:foregroundMark x1="33125" y1="10375" x2="20625" y2="18500"/>
                          <a14:foregroundMark x1="39000" y1="44875" x2="40250" y2="70375"/>
                          <a14:foregroundMark x1="56000" y1="39500" x2="56875" y2="68125"/>
                          <a14:foregroundMark x1="73000" y1="36375" x2="70250" y2="60500"/>
                          <a14:foregroundMark x1="77375" y1="34125" x2="72875" y2="66500"/>
                          <a14:foregroundMark x1="72875" y1="66500" x2="69375" y2="73875"/>
                          <a14:foregroundMark x1="26375" y1="86875" x2="86375" y2="84250"/>
                          <a14:foregroundMark x1="28250" y1="90000" x2="73000" y2="90000"/>
                          <a14:foregroundMark x1="80500" y1="31875" x2="55500" y2="64125"/>
                          <a14:foregroundMark x1="74750" y1="35000" x2="38000" y2="72625"/>
                          <a14:foregroundMark x1="26000" y1="47125" x2="48750" y2="69500"/>
                          <a14:foregroundMark x1="48750" y1="69500" x2="49250" y2="69500"/>
                          <a14:foregroundMark x1="32250" y1="59625" x2="42125" y2="73000"/>
                        </a14:backgroundRemoval>
                      </a14:imgEffect>
                    </a14:imgLayer>
                  </a14:imgProps>
                </a:ext>
              </a:extLst>
            </a:blip>
            <a:srcRect l="10728" t="9841" r="9447" b="10141"/>
            <a:stretch>
              <a:fillRect/>
            </a:stretch>
          </p:blipFill>
          <p:spPr>
            <a:xfrm>
              <a:off x="8603282" y="3025090"/>
              <a:ext cx="127615" cy="1279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4EA72E"/>
              </a:solidFill>
            </a:ln>
          </p:spPr>
        </p:pic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9D24F550-A77B-C101-9EC6-BDE15AFC352C}"/>
                </a:ext>
              </a:extLst>
            </p:cNvPr>
            <p:cNvSpPr/>
            <p:nvPr/>
          </p:nvSpPr>
          <p:spPr>
            <a:xfrm>
              <a:off x="8770458" y="3019176"/>
              <a:ext cx="459955" cy="158422"/>
            </a:xfrm>
            <a:prstGeom prst="roundRect">
              <a:avLst/>
            </a:prstGeom>
            <a:solidFill>
              <a:sysClr val="window" lastClr="FFFFFF"/>
            </a:solidFill>
            <a:ln w="317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5000</a:t>
              </a:r>
              <a:endParaRPr kumimoji="0" lang="es-PE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F7C03544-DEF6-DF03-7590-9E915093EFB6}"/>
              </a:ext>
            </a:extLst>
          </p:cNvPr>
          <p:cNvGrpSpPr/>
          <p:nvPr/>
        </p:nvGrpSpPr>
        <p:grpSpPr>
          <a:xfrm>
            <a:off x="8555298" y="4235580"/>
            <a:ext cx="2654246" cy="264981"/>
            <a:chOff x="10955574" y="4277106"/>
            <a:chExt cx="1948034" cy="292919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2AC8A266-E521-AED0-A1AE-1DE1832B162C}"/>
                </a:ext>
              </a:extLst>
            </p:cNvPr>
            <p:cNvSpPr/>
            <p:nvPr/>
          </p:nvSpPr>
          <p:spPr>
            <a:xfrm>
              <a:off x="10955574" y="4277106"/>
              <a:ext cx="952022" cy="281292"/>
            </a:xfrm>
            <a:prstGeom prst="rect">
              <a:avLst/>
            </a:prstGeom>
            <a:solidFill>
              <a:srgbClr val="4EA72E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DC122D69-2AEB-5E97-5504-8E6D5EF1911D}"/>
                </a:ext>
              </a:extLst>
            </p:cNvPr>
            <p:cNvSpPr/>
            <p:nvPr/>
          </p:nvSpPr>
          <p:spPr>
            <a:xfrm>
              <a:off x="11917490" y="4291891"/>
              <a:ext cx="986118" cy="278134"/>
            </a:xfrm>
            <a:prstGeom prst="rect">
              <a:avLst/>
            </a:prstGeom>
            <a:solidFill>
              <a:srgbClr val="C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37060606-A165-9E14-DF8D-EAB855E76C3D}"/>
              </a:ext>
            </a:extLst>
          </p:cNvPr>
          <p:cNvGrpSpPr/>
          <p:nvPr/>
        </p:nvGrpSpPr>
        <p:grpSpPr>
          <a:xfrm>
            <a:off x="7221068" y="5326611"/>
            <a:ext cx="3481149" cy="1191301"/>
            <a:chOff x="9578480" y="5430435"/>
            <a:chExt cx="3481149" cy="1191301"/>
          </a:xfrm>
        </p:grpSpPr>
        <p:pic>
          <p:nvPicPr>
            <p:cNvPr id="62" name="Imagen 61">
              <a:extLst>
                <a:ext uri="{FF2B5EF4-FFF2-40B4-BE49-F238E27FC236}">
                  <a16:creationId xmlns:a16="http://schemas.microsoft.com/office/drawing/2014/main" id="{416BC139-D58A-C4CD-549B-02D0D4BD49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27609"/>
            <a:stretch/>
          </p:blipFill>
          <p:spPr>
            <a:xfrm>
              <a:off x="9578480" y="5482840"/>
              <a:ext cx="1567888" cy="1138896"/>
            </a:xfrm>
            <a:prstGeom prst="rect">
              <a:avLst/>
            </a:prstGeom>
            <a:ln w="3175">
              <a:solidFill>
                <a:sysClr val="windowText" lastClr="000000"/>
              </a:solidFill>
            </a:ln>
          </p:spPr>
        </p:pic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03176E7E-DB8E-D2E0-D7EC-D17C1C2603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0024" r="25040"/>
            <a:stretch/>
          </p:blipFill>
          <p:spPr>
            <a:xfrm>
              <a:off x="11157612" y="5430435"/>
              <a:ext cx="1902017" cy="1156619"/>
            </a:xfrm>
            <a:prstGeom prst="rect">
              <a:avLst/>
            </a:prstGeom>
            <a:ln w="3175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588A8D5-04D5-51F3-92A8-EA04CE374C22}"/>
              </a:ext>
            </a:extLst>
          </p:cNvPr>
          <p:cNvSpPr txBox="1"/>
          <p:nvPr/>
        </p:nvSpPr>
        <p:spPr>
          <a:xfrm>
            <a:off x="10760838" y="4747511"/>
            <a:ext cx="3532527" cy="369332"/>
          </a:xfrm>
          <a:prstGeom prst="rect">
            <a:avLst/>
          </a:prstGeom>
          <a:solidFill>
            <a:srgbClr val="212429"/>
          </a:solidFill>
        </p:spPr>
        <p:txBody>
          <a:bodyPr wrap="square" rtlCol="0">
            <a:spAutoFit/>
          </a:bodyPr>
          <a:lstStyle/>
          <a:p>
            <a:pPr algn="ctr" defTabSz="1371600"/>
            <a:r>
              <a:rPr lang="es-MX" b="1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STOCK FINAL </a:t>
            </a:r>
            <a:endParaRPr lang="es-PE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1C58FD18-54C7-6BCC-81F3-34DF38FA87E3}"/>
              </a:ext>
            </a:extLst>
          </p:cNvPr>
          <p:cNvGrpSpPr/>
          <p:nvPr/>
        </p:nvGrpSpPr>
        <p:grpSpPr>
          <a:xfrm>
            <a:off x="10873625" y="5383794"/>
            <a:ext cx="3445139" cy="1191301"/>
            <a:chOff x="9578480" y="5430435"/>
            <a:chExt cx="3445139" cy="1191301"/>
          </a:xfrm>
        </p:grpSpPr>
        <p:pic>
          <p:nvPicPr>
            <p:cNvPr id="66" name="Imagen 65">
              <a:extLst>
                <a:ext uri="{FF2B5EF4-FFF2-40B4-BE49-F238E27FC236}">
                  <a16:creationId xmlns:a16="http://schemas.microsoft.com/office/drawing/2014/main" id="{69FEEEB4-9254-03FC-0AB8-E03C0864ED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27609"/>
            <a:stretch/>
          </p:blipFill>
          <p:spPr>
            <a:xfrm>
              <a:off x="9578480" y="5482840"/>
              <a:ext cx="1567888" cy="1138896"/>
            </a:xfrm>
            <a:prstGeom prst="rect">
              <a:avLst/>
            </a:prstGeom>
            <a:ln w="3175">
              <a:solidFill>
                <a:sysClr val="windowText" lastClr="000000"/>
              </a:solidFill>
            </a:ln>
          </p:spPr>
        </p:pic>
        <p:pic>
          <p:nvPicPr>
            <p:cNvPr id="67" name="Imagen 66">
              <a:extLst>
                <a:ext uri="{FF2B5EF4-FFF2-40B4-BE49-F238E27FC236}">
                  <a16:creationId xmlns:a16="http://schemas.microsoft.com/office/drawing/2014/main" id="{4C118953-C0AD-E954-AFEA-6DE93ACD93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0024" r="25040"/>
            <a:stretch/>
          </p:blipFill>
          <p:spPr>
            <a:xfrm>
              <a:off x="11121602" y="5430435"/>
              <a:ext cx="1902017" cy="1156619"/>
            </a:xfrm>
            <a:prstGeom prst="rect">
              <a:avLst/>
            </a:prstGeom>
            <a:ln w="3175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44CC8AB1-068D-B378-55BE-6AF63A0DA83F}"/>
              </a:ext>
            </a:extLst>
          </p:cNvPr>
          <p:cNvGrpSpPr/>
          <p:nvPr/>
        </p:nvGrpSpPr>
        <p:grpSpPr>
          <a:xfrm>
            <a:off x="10904333" y="5071499"/>
            <a:ext cx="3539022" cy="260883"/>
            <a:chOff x="13321095" y="5172597"/>
            <a:chExt cx="3539022" cy="260883"/>
          </a:xfrm>
        </p:grpSpPr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51620F01-FE9D-571E-39E3-A23952F38393}"/>
                </a:ext>
              </a:extLst>
            </p:cNvPr>
            <p:cNvSpPr txBox="1"/>
            <p:nvPr/>
          </p:nvSpPr>
          <p:spPr>
            <a:xfrm>
              <a:off x="14946855" y="5187259"/>
              <a:ext cx="1913262" cy="246221"/>
            </a:xfrm>
            <a:prstGeom prst="rect">
              <a:avLst/>
            </a:prstGeom>
            <a:noFill/>
            <a:ln>
              <a:solidFill>
                <a:sysClr val="window" lastClr="FFFFFF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SOBRE CON CASCARILLA</a:t>
              </a:r>
              <a:endParaRPr kumimoji="0" lang="es-PE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69FB7E-555E-FDF5-FADC-7E4EB9242E50}"/>
                </a:ext>
              </a:extLst>
            </p:cNvPr>
            <p:cNvSpPr txBox="1"/>
            <p:nvPr/>
          </p:nvSpPr>
          <p:spPr>
            <a:xfrm>
              <a:off x="13321095" y="5172597"/>
              <a:ext cx="1588532" cy="246221"/>
            </a:xfrm>
            <a:prstGeom prst="rect">
              <a:avLst/>
            </a:prstGeom>
            <a:noFill/>
            <a:ln>
              <a:solidFill>
                <a:sysClr val="window" lastClr="FFFFFF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PAPEL  CON </a:t>
              </a:r>
              <a:r>
                <a:rPr kumimoji="0" lang="es-MX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POSTURA</a:t>
              </a:r>
              <a:endParaRPr kumimoji="0" lang="es-PE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1" name="CuadroTexto 70">
            <a:extLst>
              <a:ext uri="{FF2B5EF4-FFF2-40B4-BE49-F238E27FC236}">
                <a16:creationId xmlns:a16="http://schemas.microsoft.com/office/drawing/2014/main" id="{11587ECF-331C-C9F4-CC19-2498588B6D55}"/>
              </a:ext>
            </a:extLst>
          </p:cNvPr>
          <p:cNvSpPr txBox="1"/>
          <p:nvPr/>
        </p:nvSpPr>
        <p:spPr>
          <a:xfrm>
            <a:off x="10475828" y="7212448"/>
            <a:ext cx="2694853" cy="1208023"/>
          </a:xfrm>
          <a:prstGeom prst="rect">
            <a:avLst/>
          </a:prstGeom>
          <a:solidFill>
            <a:srgbClr val="0E2841">
              <a:lumMod val="25000"/>
              <a:lumOff val="75000"/>
            </a:srgbClr>
          </a:solidFill>
          <a:ln w="3175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5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Después de revisar  el programa, el administrador puede guardar y publicar  el programa semanal .</a:t>
            </a:r>
          </a:p>
        </p:txBody>
      </p: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07CB1F3A-CC83-F4D6-C4F6-4E37F4C19B6E}"/>
              </a:ext>
            </a:extLst>
          </p:cNvPr>
          <p:cNvCxnSpPr>
            <a:cxnSpLocks/>
            <a:stCxn id="74" idx="2"/>
            <a:endCxn id="71" idx="3"/>
          </p:cNvCxnSpPr>
          <p:nvPr/>
        </p:nvCxnSpPr>
        <p:spPr>
          <a:xfrm rot="5400000">
            <a:off x="12855416" y="7311547"/>
            <a:ext cx="820178" cy="189648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7B68EDE2-9694-397B-5D24-FD4FF25315F4}"/>
              </a:ext>
            </a:extLst>
          </p:cNvPr>
          <p:cNvGrpSpPr/>
          <p:nvPr/>
        </p:nvGrpSpPr>
        <p:grpSpPr>
          <a:xfrm>
            <a:off x="12304105" y="6648220"/>
            <a:ext cx="2112447" cy="1211580"/>
            <a:chOff x="14704381" y="6733948"/>
            <a:chExt cx="2112447" cy="1211580"/>
          </a:xfrm>
        </p:grpSpPr>
        <p:pic>
          <p:nvPicPr>
            <p:cNvPr id="74" name="Imagen 73">
              <a:extLst>
                <a:ext uri="{FF2B5EF4-FFF2-40B4-BE49-F238E27FC236}">
                  <a16:creationId xmlns:a16="http://schemas.microsoft.com/office/drawing/2014/main" id="{7EF8B242-4709-17B1-F79B-0EBF160BD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704381" y="6752797"/>
              <a:ext cx="2112447" cy="329213"/>
            </a:xfrm>
            <a:prstGeom prst="rect">
              <a:avLst/>
            </a:prstGeom>
          </p:spPr>
        </p:pic>
        <p:pic>
          <p:nvPicPr>
            <p:cNvPr id="75" name="Picture 2" descr="滑动解锁图标图片-滑动解锁图标图片素材免费下载-千库网">
              <a:extLst>
                <a:ext uri="{FF2B5EF4-FFF2-40B4-BE49-F238E27FC236}">
                  <a16:creationId xmlns:a16="http://schemas.microsoft.com/office/drawing/2014/main" id="{F7CA34B0-3DB5-A9DF-3325-8B5A68C066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6939" y="6733948"/>
              <a:ext cx="1209255" cy="1211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6" name="CuadroTexto 75">
            <a:extLst>
              <a:ext uri="{FF2B5EF4-FFF2-40B4-BE49-F238E27FC236}">
                <a16:creationId xmlns:a16="http://schemas.microsoft.com/office/drawing/2014/main" id="{EAF4FFBB-6C8B-0989-4750-E34A8FF69307}"/>
              </a:ext>
            </a:extLst>
          </p:cNvPr>
          <p:cNvSpPr txBox="1"/>
          <p:nvPr/>
        </p:nvSpPr>
        <p:spPr>
          <a:xfrm>
            <a:off x="8790318" y="5067774"/>
            <a:ext cx="1913262" cy="246221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SOBRE CON CASCARILLA</a:t>
            </a:r>
            <a:endParaRPr kumimoji="0" lang="es-PE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97C64452-31CC-4975-3959-0B03CDC6E9E5}"/>
              </a:ext>
            </a:extLst>
          </p:cNvPr>
          <p:cNvSpPr txBox="1"/>
          <p:nvPr/>
        </p:nvSpPr>
        <p:spPr>
          <a:xfrm>
            <a:off x="3741218" y="4887632"/>
            <a:ext cx="8519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MX" sz="900" b="1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ESTADO</a:t>
            </a:r>
            <a:endParaRPr lang="es-PE" sz="900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8" name="Imagen 77">
            <a:extLst>
              <a:ext uri="{FF2B5EF4-FFF2-40B4-BE49-F238E27FC236}">
                <a16:creationId xmlns:a16="http://schemas.microsoft.com/office/drawing/2014/main" id="{1FCD8196-BDC6-3B7E-75D3-C44969B09B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054" t="21866" r="40079" b="16403"/>
          <a:stretch/>
        </p:blipFill>
        <p:spPr>
          <a:xfrm flipV="1">
            <a:off x="13955159" y="4755645"/>
            <a:ext cx="242269" cy="31826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ABB885B1-4FC5-4813-F71D-1A769E69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70" t="28235" r="63299" b="33085"/>
          <a:stretch>
            <a:fillRect/>
          </a:stretch>
        </p:blipFill>
        <p:spPr>
          <a:xfrm>
            <a:off x="4396787" y="4914296"/>
            <a:ext cx="218552" cy="135654"/>
          </a:xfrm>
          <a:prstGeom prst="rect">
            <a:avLst/>
          </a:prstGeom>
        </p:spPr>
      </p:pic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9425340F-CC51-AA47-AAE0-B5A680FBA827}"/>
              </a:ext>
            </a:extLst>
          </p:cNvPr>
          <p:cNvSpPr/>
          <p:nvPr/>
        </p:nvSpPr>
        <p:spPr>
          <a:xfrm>
            <a:off x="3765864" y="5091221"/>
            <a:ext cx="746958" cy="225455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5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BUSCAR</a:t>
            </a:r>
            <a:endParaRPr kumimoji="0" lang="es-PE" sz="750" b="0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08216FBF-9489-51C9-E765-F6A0D13E89D0}"/>
              </a:ext>
            </a:extLst>
          </p:cNvPr>
          <p:cNvGrpSpPr/>
          <p:nvPr/>
        </p:nvGrpSpPr>
        <p:grpSpPr>
          <a:xfrm>
            <a:off x="3833702" y="5359465"/>
            <a:ext cx="1640692" cy="1156619"/>
            <a:chOff x="2847832" y="5445193"/>
            <a:chExt cx="1640692" cy="1156619"/>
          </a:xfrm>
        </p:grpSpPr>
        <p:pic>
          <p:nvPicPr>
            <p:cNvPr id="82" name="Imagen 81">
              <a:extLst>
                <a:ext uri="{FF2B5EF4-FFF2-40B4-BE49-F238E27FC236}">
                  <a16:creationId xmlns:a16="http://schemas.microsoft.com/office/drawing/2014/main" id="{B0331B5D-49F5-4067-4699-E597B81496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29423" t="50474"/>
            <a:stretch/>
          </p:blipFill>
          <p:spPr>
            <a:xfrm>
              <a:off x="3917576" y="5445193"/>
              <a:ext cx="570948" cy="1156619"/>
            </a:xfrm>
            <a:prstGeom prst="rect">
              <a:avLst/>
            </a:prstGeom>
            <a:ln w="3175">
              <a:solidFill>
                <a:sysClr val="windowText" lastClr="000000"/>
              </a:solidFill>
            </a:ln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D2B82BAE-EC01-8EE6-3649-98AC9DE90CBB}"/>
                </a:ext>
              </a:extLst>
            </p:cNvPr>
            <p:cNvGrpSpPr/>
            <p:nvPr/>
          </p:nvGrpSpPr>
          <p:grpSpPr>
            <a:xfrm>
              <a:off x="2847832" y="5469849"/>
              <a:ext cx="965781" cy="1079428"/>
              <a:chOff x="2847832" y="5469849"/>
              <a:chExt cx="965781" cy="1079428"/>
            </a:xfrm>
          </p:grpSpPr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47A74FF7-5A6A-1264-78D1-A4C874D773FF}"/>
                  </a:ext>
                </a:extLst>
              </p:cNvPr>
              <p:cNvSpPr txBox="1"/>
              <p:nvPr/>
            </p:nvSpPr>
            <p:spPr>
              <a:xfrm>
                <a:off x="3082321" y="5498564"/>
                <a:ext cx="721767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PROCESO</a:t>
                </a:r>
                <a:endParaRPr kumimoji="0" lang="es-P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CFBB3247-3E77-95F1-C4C8-D38BF0148145}"/>
                  </a:ext>
                </a:extLst>
              </p:cNvPr>
              <p:cNvSpPr txBox="1"/>
              <p:nvPr/>
            </p:nvSpPr>
            <p:spPr>
              <a:xfrm>
                <a:off x="3072791" y="5774788"/>
                <a:ext cx="721767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PROCESO</a:t>
                </a:r>
                <a:endParaRPr kumimoji="0" lang="es-P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92C7CB02-BA31-3586-1134-1934D52FDFB0}"/>
                  </a:ext>
                </a:extLst>
              </p:cNvPr>
              <p:cNvSpPr txBox="1"/>
              <p:nvPr/>
            </p:nvSpPr>
            <p:spPr>
              <a:xfrm>
                <a:off x="3082317" y="6027204"/>
                <a:ext cx="721767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PROCESO</a:t>
                </a:r>
                <a:endParaRPr kumimoji="0" lang="es-P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87" name="Grupo 86">
                <a:extLst>
                  <a:ext uri="{FF2B5EF4-FFF2-40B4-BE49-F238E27FC236}">
                    <a16:creationId xmlns:a16="http://schemas.microsoft.com/office/drawing/2014/main" id="{2461E8D3-3772-61C6-6321-445624014A0F}"/>
                  </a:ext>
                </a:extLst>
              </p:cNvPr>
              <p:cNvGrpSpPr/>
              <p:nvPr/>
            </p:nvGrpSpPr>
            <p:grpSpPr>
              <a:xfrm>
                <a:off x="2847832" y="5469849"/>
                <a:ext cx="270003" cy="1079428"/>
                <a:chOff x="2847832" y="5469849"/>
                <a:chExt cx="270003" cy="1079428"/>
              </a:xfrm>
            </p:grpSpPr>
            <p:grpSp>
              <p:nvGrpSpPr>
                <p:cNvPr id="89" name="Grupo 88">
                  <a:extLst>
                    <a:ext uri="{FF2B5EF4-FFF2-40B4-BE49-F238E27FC236}">
                      <a16:creationId xmlns:a16="http://schemas.microsoft.com/office/drawing/2014/main" id="{48BEDD9D-ECDA-4D45-5F23-D1AFA70CDC68}"/>
                    </a:ext>
                  </a:extLst>
                </p:cNvPr>
                <p:cNvGrpSpPr/>
                <p:nvPr/>
              </p:nvGrpSpPr>
              <p:grpSpPr>
                <a:xfrm>
                  <a:off x="2847832" y="5469849"/>
                  <a:ext cx="260474" cy="784148"/>
                  <a:chOff x="2847832" y="5469849"/>
                  <a:chExt cx="260474" cy="784148"/>
                </a:xfrm>
              </p:grpSpPr>
              <p:pic>
                <p:nvPicPr>
                  <p:cNvPr id="91" name="Imagen 90">
                    <a:extLst>
                      <a:ext uri="{FF2B5EF4-FFF2-40B4-BE49-F238E27FC236}">
                        <a16:creationId xmlns:a16="http://schemas.microsoft.com/office/drawing/2014/main" id="{D7173F9C-EAD3-3070-D417-11BB7A1064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78267" t="18137" r="724" b="20980"/>
                  <a:stretch/>
                </p:blipFill>
                <p:spPr>
                  <a:xfrm>
                    <a:off x="2847832" y="5469849"/>
                    <a:ext cx="231902" cy="226932"/>
                  </a:xfrm>
                  <a:prstGeom prst="rect">
                    <a:avLst/>
                  </a:prstGeom>
                </p:spPr>
              </p:pic>
              <p:pic>
                <p:nvPicPr>
                  <p:cNvPr id="92" name="Imagen 91">
                    <a:extLst>
                      <a:ext uri="{FF2B5EF4-FFF2-40B4-BE49-F238E27FC236}">
                        <a16:creationId xmlns:a16="http://schemas.microsoft.com/office/drawing/2014/main" id="{12A2857C-B9F8-D623-CD0C-C8F2620350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78267" t="18137" r="724" b="20980"/>
                  <a:stretch/>
                </p:blipFill>
                <p:spPr>
                  <a:xfrm>
                    <a:off x="2866878" y="5774649"/>
                    <a:ext cx="231902" cy="226932"/>
                  </a:xfrm>
                  <a:prstGeom prst="rect">
                    <a:avLst/>
                  </a:prstGeom>
                </p:spPr>
              </p:pic>
              <p:pic>
                <p:nvPicPr>
                  <p:cNvPr id="93" name="Imagen 92">
                    <a:extLst>
                      <a:ext uri="{FF2B5EF4-FFF2-40B4-BE49-F238E27FC236}">
                        <a16:creationId xmlns:a16="http://schemas.microsoft.com/office/drawing/2014/main" id="{BC1E18A6-19BE-38B2-5722-0CA115E1E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78267" t="18137" r="724" b="20980"/>
                  <a:stretch/>
                </p:blipFill>
                <p:spPr>
                  <a:xfrm>
                    <a:off x="2876404" y="6027065"/>
                    <a:ext cx="231902" cy="22693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0" name="Imagen 89">
                  <a:extLst>
                    <a:ext uri="{FF2B5EF4-FFF2-40B4-BE49-F238E27FC236}">
                      <a16:creationId xmlns:a16="http://schemas.microsoft.com/office/drawing/2014/main" id="{B6625944-47D1-9B5C-E383-D862A77E86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78267" t="18137" r="724" b="20980"/>
                <a:stretch/>
              </p:blipFill>
              <p:spPr>
                <a:xfrm>
                  <a:off x="2885933" y="6322345"/>
                  <a:ext cx="231902" cy="226932"/>
                </a:xfrm>
                <a:prstGeom prst="rect">
                  <a:avLst/>
                </a:prstGeom>
              </p:spPr>
            </p:pic>
          </p:grpSp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F457B283-E401-9F15-E4D6-EF8AE5745F03}"/>
                  </a:ext>
                </a:extLst>
              </p:cNvPr>
              <p:cNvSpPr txBox="1"/>
              <p:nvPr/>
            </p:nvSpPr>
            <p:spPr>
              <a:xfrm>
                <a:off x="3091846" y="6322484"/>
                <a:ext cx="721767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PROCESO</a:t>
                </a:r>
                <a:endParaRPr kumimoji="0" lang="es-PE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97" name="CuadroTexto 96">
            <a:extLst>
              <a:ext uri="{FF2B5EF4-FFF2-40B4-BE49-F238E27FC236}">
                <a16:creationId xmlns:a16="http://schemas.microsoft.com/office/drawing/2014/main" id="{D1E334A0-83D3-E702-0A8D-CE49B0214A7E}"/>
              </a:ext>
            </a:extLst>
          </p:cNvPr>
          <p:cNvSpPr txBox="1"/>
          <p:nvPr/>
        </p:nvSpPr>
        <p:spPr>
          <a:xfrm>
            <a:off x="15315913" y="4459819"/>
            <a:ext cx="3665453" cy="246221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-En la 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“</a:t>
            </a:r>
            <a:r>
              <a:rPr kumimoji="0" lang="es-MX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Proy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 Inicial”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te debe permitir ingresar las cantidades dentro de los 3 días previos al inicio del siguiente mes, con hora límite hasta las 23:59 del último día.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-En la 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“</a:t>
            </a:r>
            <a:r>
              <a:rPr kumimoji="0" lang="es-MX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Proy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 Final”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 debe permitir ingresar las cantidades todos los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lunes y jueves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cada semana, con hora límite hasta las 23:59 del mismo </a:t>
            </a:r>
            <a:r>
              <a:rPr lang="es-MX" sz="1400" kern="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día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Adicional la cantidad ingresada no debe ser menor a la solicitada.</a:t>
            </a:r>
          </a:p>
        </p:txBody>
      </p: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59AD9065-46FB-29EF-7E25-C201DE87CF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62868" y="3726147"/>
            <a:ext cx="1119006" cy="1"/>
          </a:xfrm>
          <a:prstGeom prst="bentConnector3">
            <a:avLst/>
          </a:prstGeom>
          <a:noFill/>
          <a:ln w="12700" cap="flat" cmpd="sng" algn="ctr">
            <a:solidFill>
              <a:srgbClr val="E9713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9" name="Cerrar llave 98">
            <a:extLst>
              <a:ext uri="{FF2B5EF4-FFF2-40B4-BE49-F238E27FC236}">
                <a16:creationId xmlns:a16="http://schemas.microsoft.com/office/drawing/2014/main" id="{3AEE6252-3EEF-E505-BC9C-E9BDE966DBDE}"/>
              </a:ext>
            </a:extLst>
          </p:cNvPr>
          <p:cNvSpPr/>
          <p:nvPr/>
        </p:nvSpPr>
        <p:spPr>
          <a:xfrm>
            <a:off x="13978140" y="5075571"/>
            <a:ext cx="1209255" cy="1572649"/>
          </a:xfrm>
          <a:prstGeom prst="rightBrace">
            <a:avLst>
              <a:gd name="adj1" fmla="val 8333"/>
              <a:gd name="adj2" fmla="val 54665"/>
            </a:avLst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20F3A715-3D6F-B81F-BEC6-5432324E0668}"/>
              </a:ext>
            </a:extLst>
          </p:cNvPr>
          <p:cNvSpPr txBox="1"/>
          <p:nvPr/>
        </p:nvSpPr>
        <p:spPr>
          <a:xfrm>
            <a:off x="15547406" y="3547180"/>
            <a:ext cx="2678172" cy="30777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Permite editar el stock real</a:t>
            </a:r>
          </a:p>
        </p:txBody>
      </p: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B2723142-A755-D5B0-CBE5-2C76C4A5C8B3}"/>
              </a:ext>
            </a:extLst>
          </p:cNvPr>
          <p:cNvCxnSpPr>
            <a:stCxn id="100" idx="1"/>
            <a:endCxn id="78" idx="3"/>
          </p:cNvCxnSpPr>
          <p:nvPr/>
        </p:nvCxnSpPr>
        <p:spPr>
          <a:xfrm flipH="1">
            <a:off x="14197428" y="3701069"/>
            <a:ext cx="1349978" cy="1213709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0A2F63DF-009D-3A2B-7D52-CEA34D9DBBA7}"/>
              </a:ext>
            </a:extLst>
          </p:cNvPr>
          <p:cNvSpPr txBox="1"/>
          <p:nvPr/>
        </p:nvSpPr>
        <p:spPr>
          <a:xfrm>
            <a:off x="7385352" y="7185136"/>
            <a:ext cx="2874390" cy="1169551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Una vez se haya llenado y guardado la información de la  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“PROY. INICIAL”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no se podrá modificar estos campos.</a:t>
            </a:r>
            <a:endParaRPr kumimoji="0" lang="es-P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3" name="Cerrar llave 102">
            <a:extLst>
              <a:ext uri="{FF2B5EF4-FFF2-40B4-BE49-F238E27FC236}">
                <a16:creationId xmlns:a16="http://schemas.microsoft.com/office/drawing/2014/main" id="{20339749-4EB6-0937-9D82-143DED762366}"/>
              </a:ext>
            </a:extLst>
          </p:cNvPr>
          <p:cNvSpPr/>
          <p:nvPr/>
        </p:nvSpPr>
        <p:spPr>
          <a:xfrm rot="5400000">
            <a:off x="8655944" y="5041780"/>
            <a:ext cx="578372" cy="3505494"/>
          </a:xfrm>
          <a:prstGeom prst="rightBrace">
            <a:avLst/>
          </a:prstGeom>
          <a:noFill/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BD99B8A9-AD0A-9C44-C3FC-A4A410A90083}"/>
              </a:ext>
            </a:extLst>
          </p:cNvPr>
          <p:cNvSpPr txBox="1"/>
          <p:nvPr/>
        </p:nvSpPr>
        <p:spPr>
          <a:xfrm>
            <a:off x="2154613" y="8290351"/>
            <a:ext cx="4529861" cy="1384995"/>
          </a:xfrm>
          <a:prstGeom prst="rect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 defTabSz="1371600">
              <a:defRPr/>
            </a:pPr>
            <a:r>
              <a:rPr lang="es-MX" sz="14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ESTADO: </a:t>
            </a:r>
            <a:r>
              <a:rPr lang="es-MX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 modificará según las acciones del administrador:</a:t>
            </a:r>
          </a:p>
          <a:p>
            <a:pPr marL="257175" indent="-257175" algn="just">
              <a:buFont typeface="Arial" panose="020B0604020202020204" pitchFamily="34" charset="0"/>
              <a:buChar char="•"/>
              <a:defRPr/>
            </a:pPr>
            <a:r>
              <a:rPr lang="es-PE" sz="14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Publicado: </a:t>
            </a:r>
            <a:r>
              <a:rPr lang="es-PE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 momento de dar guardar y publicar el icono se convertirá en </a:t>
            </a:r>
          </a:p>
          <a:p>
            <a:pPr algn="just">
              <a:defRPr/>
            </a:pPr>
            <a:endParaRPr lang="es-PE" sz="14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57175" indent="-257175" algn="just" defTabSz="1371600">
              <a:buFont typeface="Arial" panose="020B0604020202020204" pitchFamily="34" charset="0"/>
              <a:buChar char="•"/>
              <a:defRPr/>
            </a:pPr>
            <a:r>
              <a:rPr lang="es-PE" sz="14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Proceso: </a:t>
            </a:r>
            <a:r>
              <a:rPr lang="es-PE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Aun no se ha publicado.</a:t>
            </a:r>
          </a:p>
        </p:txBody>
      </p:sp>
      <p:pic>
        <p:nvPicPr>
          <p:cNvPr id="105" name="Imagen 104">
            <a:extLst>
              <a:ext uri="{FF2B5EF4-FFF2-40B4-BE49-F238E27FC236}">
                <a16:creationId xmlns:a16="http://schemas.microsoft.com/office/drawing/2014/main" id="{0A7AE2FE-CB10-7691-FDDA-2E67D158C2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000" b="90000" l="7000" r="86375">
                        <a14:foregroundMark x1="22375" y1="20750" x2="71625" y2="20750"/>
                        <a14:foregroundMark x1="20625" y1="19750" x2="29125" y2="81750"/>
                        <a14:foregroundMark x1="29125" y1="81750" x2="29125" y2="81125"/>
                        <a14:foregroundMark x1="27375" y1="81125" x2="84625" y2="73875"/>
                        <a14:foregroundMark x1="85500" y1="73875" x2="82750" y2="20250"/>
                        <a14:foregroundMark x1="81500" y1="16250" x2="7250" y2="21125"/>
                        <a14:foregroundMark x1="13000" y1="23375" x2="12000" y2="64000"/>
                        <a14:foregroundMark x1="12000" y1="64000" x2="16125" y2="80125"/>
                        <a14:foregroundMark x1="16125" y1="80125" x2="48750" y2="82375"/>
                        <a14:foregroundMark x1="19750" y1="80625" x2="70875" y2="91250"/>
                        <a14:foregroundMark x1="70875" y1="91250" x2="94500" y2="69875"/>
                        <a14:foregroundMark x1="94500" y1="69875" x2="94625" y2="42375"/>
                        <a14:foregroundMark x1="94625" y1="42375" x2="87250" y2="18875"/>
                        <a14:foregroundMark x1="87250" y1="18875" x2="64500" y2="10625"/>
                        <a14:foregroundMark x1="64500" y1="10625" x2="38375" y2="12250"/>
                        <a14:foregroundMark x1="38375" y1="12250" x2="15375" y2="25875"/>
                        <a14:foregroundMark x1="15375" y1="25875" x2="13875" y2="28750"/>
                        <a14:foregroundMark x1="22000" y1="30125" x2="50875" y2="64875"/>
                        <a14:foregroundMark x1="50875" y1="64875" x2="76500" y2="61375"/>
                        <a14:foregroundMark x1="82750" y1="18500" x2="57750" y2="76125"/>
                        <a14:foregroundMark x1="34000" y1="24250" x2="57750" y2="59625"/>
                        <a14:foregroundMark x1="68000" y1="22000" x2="56875" y2="69375"/>
                        <a14:foregroundMark x1="56875" y1="69375" x2="57250" y2="76625"/>
                        <a14:foregroundMark x1="59125" y1="31000" x2="46250" y2="61375"/>
                        <a14:foregroundMark x1="46250" y1="61375" x2="55000" y2="52500"/>
                        <a14:foregroundMark x1="31750" y1="36750" x2="57250" y2="25625"/>
                        <a14:foregroundMark x1="13500" y1="35500" x2="39000" y2="31000"/>
                        <a14:foregroundMark x1="39000" y1="31000" x2="48375" y2="7250"/>
                        <a14:foregroundMark x1="47500" y1="7250" x2="40750" y2="25625"/>
                        <a14:foregroundMark x1="21500" y1="13125" x2="41625" y2="14875"/>
                        <a14:foregroundMark x1="33125" y1="10375" x2="20625" y2="18500"/>
                        <a14:foregroundMark x1="39000" y1="44875" x2="40250" y2="70375"/>
                        <a14:foregroundMark x1="56000" y1="39500" x2="56875" y2="68125"/>
                        <a14:foregroundMark x1="73000" y1="36375" x2="70250" y2="60500"/>
                        <a14:foregroundMark x1="77375" y1="34125" x2="72875" y2="66500"/>
                        <a14:foregroundMark x1="72875" y1="66500" x2="69375" y2="73875"/>
                        <a14:foregroundMark x1="26375" y1="86875" x2="86375" y2="84250"/>
                        <a14:foregroundMark x1="28250" y1="90000" x2="73000" y2="90000"/>
                        <a14:foregroundMark x1="80500" y1="31875" x2="55500" y2="64125"/>
                        <a14:foregroundMark x1="74750" y1="35000" x2="38000" y2="72625"/>
                        <a14:foregroundMark x1="26000" y1="47125" x2="48750" y2="69500"/>
                        <a14:foregroundMark x1="48750" y1="69500" x2="49250" y2="69500"/>
                        <a14:foregroundMark x1="32250" y1="59625" x2="42125" y2="73000"/>
                      </a14:backgroundRemoval>
                    </a14:imgEffect>
                  </a14:imgLayer>
                </a14:imgProps>
              </a:ext>
            </a:extLst>
          </a:blip>
          <a:srcRect l="10728" t="9841" r="9447" b="10141"/>
          <a:stretch>
            <a:fillRect/>
          </a:stretch>
        </p:blipFill>
        <p:spPr>
          <a:xfrm>
            <a:off x="5573360" y="9006829"/>
            <a:ext cx="188331" cy="204470"/>
          </a:xfrm>
          <a:prstGeom prst="rect">
            <a:avLst/>
          </a:prstGeom>
          <a:solidFill>
            <a:srgbClr val="C00000"/>
          </a:solidFill>
          <a:ln>
            <a:solidFill>
              <a:srgbClr val="4EA72E"/>
            </a:solidFill>
          </a:ln>
        </p:spPr>
      </p:pic>
      <p:grpSp>
        <p:nvGrpSpPr>
          <p:cNvPr id="108" name="Grupo 107">
            <a:extLst>
              <a:ext uri="{FF2B5EF4-FFF2-40B4-BE49-F238E27FC236}">
                <a16:creationId xmlns:a16="http://schemas.microsoft.com/office/drawing/2014/main" id="{B352481F-0F66-BA8C-99D6-4DDDD74DC8FD}"/>
              </a:ext>
            </a:extLst>
          </p:cNvPr>
          <p:cNvGrpSpPr/>
          <p:nvPr/>
        </p:nvGrpSpPr>
        <p:grpSpPr>
          <a:xfrm>
            <a:off x="1750427" y="1182399"/>
            <a:ext cx="16498199" cy="3331436"/>
            <a:chOff x="1863361" y="1307758"/>
            <a:chExt cx="16498199" cy="3331436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89479D2-3A56-6CB1-8670-0DFCE24DA827}"/>
                </a:ext>
              </a:extLst>
            </p:cNvPr>
            <p:cNvGrpSpPr/>
            <p:nvPr/>
          </p:nvGrpSpPr>
          <p:grpSpPr>
            <a:xfrm>
              <a:off x="1863361" y="1307758"/>
              <a:ext cx="16498199" cy="3331436"/>
              <a:chOff x="31539" y="734695"/>
              <a:chExt cx="11037352" cy="2220957"/>
            </a:xfrm>
          </p:grpSpPr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75BDB9BB-A4E2-75A5-411B-6C825247F9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l="4865" b="89453"/>
              <a:stretch/>
            </p:blipFill>
            <p:spPr>
              <a:xfrm>
                <a:off x="31539" y="734695"/>
                <a:ext cx="11037352" cy="391080"/>
              </a:xfrm>
              <a:prstGeom prst="rect">
                <a:avLst/>
              </a:prstGeom>
            </p:spPr>
          </p:pic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88A75CAC-D9FF-CD02-5907-8A7122BCC0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l="11189" r="19048"/>
              <a:stretch/>
            </p:blipFill>
            <p:spPr>
              <a:xfrm>
                <a:off x="8133684" y="1901239"/>
                <a:ext cx="463595" cy="207282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AC1864C3-E04C-F33D-372B-A780F56FF6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0815" y="2763292"/>
                <a:ext cx="155367" cy="192360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F06D31E5-6442-DFF0-0596-14590A0F7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06315" y="2668745"/>
                <a:ext cx="180654" cy="224011"/>
              </a:xfrm>
              <a:prstGeom prst="rect">
                <a:avLst/>
              </a:prstGeom>
            </p:spPr>
          </p:pic>
        </p:grpSp>
        <p:pic>
          <p:nvPicPr>
            <p:cNvPr id="107" name="Imagen 106">
              <a:extLst>
                <a:ext uri="{FF2B5EF4-FFF2-40B4-BE49-F238E27FC236}">
                  <a16:creationId xmlns:a16="http://schemas.microsoft.com/office/drawing/2014/main" id="{0923BC96-1452-F27B-F4E0-0D52B1EEB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036822" y="1391214"/>
              <a:ext cx="400106" cy="276264"/>
            </a:xfrm>
            <a:prstGeom prst="rect">
              <a:avLst/>
            </a:prstGeom>
          </p:spPr>
        </p:pic>
      </p:grpSp>
      <p:pic>
        <p:nvPicPr>
          <p:cNvPr id="110" name="Imagen 109">
            <a:extLst>
              <a:ext uri="{FF2B5EF4-FFF2-40B4-BE49-F238E27FC236}">
                <a16:creationId xmlns:a16="http://schemas.microsoft.com/office/drawing/2014/main" id="{3AC62F34-988D-7688-ABFE-7608182A0C5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17577" y="1780859"/>
            <a:ext cx="2343477" cy="71428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C4CB819-4C82-035E-3BB8-29761A2DA179}"/>
              </a:ext>
            </a:extLst>
          </p:cNvPr>
          <p:cNvSpPr txBox="1"/>
          <p:nvPr/>
        </p:nvSpPr>
        <p:spPr>
          <a:xfrm>
            <a:off x="1912192" y="1744879"/>
            <a:ext cx="490297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MX" sz="165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Programación mensual </a:t>
            </a:r>
            <a:endParaRPr lang="es-PE" sz="24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BAC62A8-727C-376F-ADFE-FDDCC22CBD82}"/>
              </a:ext>
            </a:extLst>
          </p:cNvPr>
          <p:cNvSpPr txBox="1"/>
          <p:nvPr/>
        </p:nvSpPr>
        <p:spPr>
          <a:xfrm>
            <a:off x="2521506" y="2128698"/>
            <a:ext cx="6145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MX" sz="11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Programa  Semanal</a:t>
            </a:r>
            <a:endParaRPr lang="es-PE" sz="1100" dirty="0">
              <a:solidFill>
                <a:srgbClr val="0070C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0C2057F8-AADA-E01A-0D26-EEE9C4C0AE5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847461" y="3048719"/>
            <a:ext cx="933580" cy="382953"/>
          </a:xfrm>
          <a:prstGeom prst="rect">
            <a:avLst/>
          </a:prstGeom>
        </p:spPr>
      </p:pic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CAC35BAA-2173-97EB-DFF1-E6B51C217D53}"/>
              </a:ext>
            </a:extLst>
          </p:cNvPr>
          <p:cNvCxnSpPr>
            <a:cxnSpLocks/>
          </p:cNvCxnSpPr>
          <p:nvPr/>
        </p:nvCxnSpPr>
        <p:spPr>
          <a:xfrm flipV="1">
            <a:off x="4124418" y="6540413"/>
            <a:ext cx="14925" cy="17499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81D1C74-9E40-02C2-35F6-BB18C7A2245A}"/>
              </a:ext>
            </a:extLst>
          </p:cNvPr>
          <p:cNvSpPr txBox="1"/>
          <p:nvPr/>
        </p:nvSpPr>
        <p:spPr>
          <a:xfrm>
            <a:off x="7595687" y="912793"/>
            <a:ext cx="5128041" cy="30008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s-PE" sz="135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Base de datos Crisopas 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FD86C30D-06B4-E338-B08E-DE8764B773D8}"/>
              </a:ext>
            </a:extLst>
          </p:cNvPr>
          <p:cNvGrpSpPr/>
          <p:nvPr/>
        </p:nvGrpSpPr>
        <p:grpSpPr>
          <a:xfrm>
            <a:off x="154320" y="1978289"/>
            <a:ext cx="1626239" cy="5206847"/>
            <a:chOff x="154320" y="1978289"/>
            <a:chExt cx="1626239" cy="520684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CD15FB9-53C4-5066-8E4E-2DA94B51A0A9}"/>
                </a:ext>
              </a:extLst>
            </p:cNvPr>
            <p:cNvGrpSpPr/>
            <p:nvPr/>
          </p:nvGrpSpPr>
          <p:grpSpPr>
            <a:xfrm>
              <a:off x="154320" y="1978289"/>
              <a:ext cx="1534107" cy="299200"/>
              <a:chOff x="8137721" y="5174581"/>
              <a:chExt cx="1215771" cy="392250"/>
            </a:xfrm>
          </p:grpSpPr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DAA174D5-8E36-9FA5-DF65-D8681F6466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00806" y="5174581"/>
                <a:ext cx="1152686" cy="357201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78C706A-D2BC-09EF-171B-06F5EB789906}"/>
                  </a:ext>
                </a:extLst>
              </p:cNvPr>
              <p:cNvSpPr txBox="1"/>
              <p:nvPr/>
            </p:nvSpPr>
            <p:spPr>
              <a:xfrm>
                <a:off x="8137721" y="5183512"/>
                <a:ext cx="1185033" cy="383319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PE" sz="13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Programa</a:t>
                </a:r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FDDD0BA1-73E8-733D-FE8C-C4DC07D4E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76906" y="2347625"/>
              <a:ext cx="1603653" cy="4837511"/>
            </a:xfrm>
            <a:prstGeom prst="rect">
              <a:avLst/>
            </a:prstGeom>
          </p:spPr>
        </p:pic>
      </p:grpSp>
      <p:pic>
        <p:nvPicPr>
          <p:cNvPr id="41" name="Imagen 40">
            <a:extLst>
              <a:ext uri="{FF2B5EF4-FFF2-40B4-BE49-F238E27FC236}">
                <a16:creationId xmlns:a16="http://schemas.microsoft.com/office/drawing/2014/main" id="{2150675B-57ED-22F8-9FD3-5559FACB680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000" b="90000" l="10000" r="90000"/>
                    </a14:imgEffect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5123309" y="4090164"/>
            <a:ext cx="357692" cy="393745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69F375A9-5208-1E0A-6651-B34B2F5E2A2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76555" y="3451641"/>
            <a:ext cx="8928930" cy="384668"/>
          </a:xfrm>
          <a:prstGeom prst="rect">
            <a:avLst/>
          </a:prstGeom>
        </p:spPr>
      </p:pic>
      <p:sp>
        <p:nvSpPr>
          <p:cNvPr id="117" name="CuadroTexto 116">
            <a:extLst>
              <a:ext uri="{FF2B5EF4-FFF2-40B4-BE49-F238E27FC236}">
                <a16:creationId xmlns:a16="http://schemas.microsoft.com/office/drawing/2014/main" id="{2CE1691D-14FC-EABD-BDF2-19E4E3B2DAC4}"/>
              </a:ext>
            </a:extLst>
          </p:cNvPr>
          <p:cNvSpPr txBox="1"/>
          <p:nvPr/>
        </p:nvSpPr>
        <p:spPr>
          <a:xfrm>
            <a:off x="134285" y="2814998"/>
            <a:ext cx="1637261" cy="307777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Saldo</a:t>
            </a:r>
            <a:endParaRPr kumimoji="0" lang="es-PE" sz="1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5479ACC1-CE64-254C-24B8-99896E561804}"/>
              </a:ext>
            </a:extLst>
          </p:cNvPr>
          <p:cNvSpPr txBox="1"/>
          <p:nvPr/>
        </p:nvSpPr>
        <p:spPr>
          <a:xfrm>
            <a:off x="115626" y="3197848"/>
            <a:ext cx="1664933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>
                <a:solidFill>
                  <a:prstClr val="white"/>
                </a:solidFill>
                <a:latin typeface="Calibri"/>
              </a:rPr>
              <a:t> </a:t>
            </a:r>
            <a:r>
              <a:rPr lang="es-ES" sz="1400" dirty="0">
                <a:solidFill>
                  <a:prstClr val="white"/>
                </a:solidFill>
                <a:latin typeface="Calibri"/>
              </a:rPr>
              <a:t>Consolidado</a:t>
            </a:r>
            <a:r>
              <a:rPr lang="es-ES" dirty="0">
                <a:solidFill>
                  <a:prstClr val="white"/>
                </a:solidFill>
                <a:latin typeface="Calibri"/>
              </a:rPr>
              <a:t> </a:t>
            </a:r>
            <a:endParaRPr kumimoji="0" lang="es-PE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2F631DF0-0084-9779-79AD-F862BB2B30C7}"/>
              </a:ext>
            </a:extLst>
          </p:cNvPr>
          <p:cNvSpPr txBox="1"/>
          <p:nvPr/>
        </p:nvSpPr>
        <p:spPr>
          <a:xfrm>
            <a:off x="94478" y="3635764"/>
            <a:ext cx="1637261" cy="3385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Grafica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ED056722-2799-BAA7-A455-6CF64E432CD6}"/>
              </a:ext>
            </a:extLst>
          </p:cNvPr>
          <p:cNvSpPr txBox="1"/>
          <p:nvPr/>
        </p:nvSpPr>
        <p:spPr>
          <a:xfrm>
            <a:off x="143352" y="2373063"/>
            <a:ext cx="1624507" cy="30777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s-PE" sz="1400" dirty="0" err="1">
                <a:solidFill>
                  <a:prstClr val="white"/>
                </a:solidFill>
                <a:latin typeface="Calibri"/>
              </a:rPr>
              <a:t>equerimiento</a:t>
            </a:r>
            <a:r>
              <a:rPr lang="es-PE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kumimoji="0" lang="es-PE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1C202AD7-CB8B-23E3-C41C-44C784CCA4EC}"/>
              </a:ext>
            </a:extLst>
          </p:cNvPr>
          <p:cNvSpPr txBox="1"/>
          <p:nvPr/>
        </p:nvSpPr>
        <p:spPr>
          <a:xfrm>
            <a:off x="93186" y="1594445"/>
            <a:ext cx="1686081" cy="2616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CRONTROL CRISOPAS</a:t>
            </a:r>
          </a:p>
        </p:txBody>
      </p:sp>
    </p:spTree>
    <p:extLst>
      <p:ext uri="{BB962C8B-B14F-4D97-AF65-F5344CB8AC3E}">
        <p14:creationId xmlns:p14="http://schemas.microsoft.com/office/powerpoint/2010/main" val="424441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Imagen 1052">
            <a:extLst>
              <a:ext uri="{FF2B5EF4-FFF2-40B4-BE49-F238E27FC236}">
                <a16:creationId xmlns:a16="http://schemas.microsoft.com/office/drawing/2014/main" id="{1F868491-0C27-7EB8-8F77-CD5D7A5B6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2" y="1019837"/>
            <a:ext cx="2498206" cy="4462961"/>
          </a:xfrm>
          <a:prstGeom prst="rect">
            <a:avLst/>
          </a:prstGeom>
        </p:spPr>
      </p:pic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E180E56A-DFD6-F55C-D3DD-384519036BB1}"/>
              </a:ext>
            </a:extLst>
          </p:cNvPr>
          <p:cNvSpPr/>
          <p:nvPr/>
        </p:nvSpPr>
        <p:spPr>
          <a:xfrm>
            <a:off x="860442" y="239405"/>
            <a:ext cx="11533890" cy="841311"/>
          </a:xfrm>
          <a:prstGeom prst="homePlate">
            <a:avLst/>
          </a:prstGeom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A606A0-4651-88F5-F57F-5D976565DDE7}"/>
              </a:ext>
            </a:extLst>
          </p:cNvPr>
          <p:cNvSpPr txBox="1"/>
          <p:nvPr/>
        </p:nvSpPr>
        <p:spPr>
          <a:xfrm>
            <a:off x="1110956" y="412350"/>
            <a:ext cx="11014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>
                <a:solidFill>
                  <a:schemeClr val="bg1"/>
                </a:solidFill>
              </a:rPr>
              <a:t>VISTA INICIAL DEL ADMINISTRADOR Y DEL USUARIO DE APP I+D</a:t>
            </a:r>
          </a:p>
        </p:txBody>
      </p:sp>
      <p:pic>
        <p:nvPicPr>
          <p:cNvPr id="1095" name="Imagen 1094">
            <a:extLst>
              <a:ext uri="{FF2B5EF4-FFF2-40B4-BE49-F238E27FC236}">
                <a16:creationId xmlns:a16="http://schemas.microsoft.com/office/drawing/2014/main" id="{CCE42895-7B20-9106-B1A7-DB0762B3B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18" y="2705370"/>
            <a:ext cx="2561928" cy="4301516"/>
          </a:xfrm>
          <a:prstGeom prst="rect">
            <a:avLst/>
          </a:prstGeom>
        </p:spPr>
      </p:pic>
      <p:pic>
        <p:nvPicPr>
          <p:cNvPr id="1160" name="Imagen 1159">
            <a:extLst>
              <a:ext uri="{FF2B5EF4-FFF2-40B4-BE49-F238E27FC236}">
                <a16:creationId xmlns:a16="http://schemas.microsoft.com/office/drawing/2014/main" id="{CFA04B18-6C62-2D8F-435A-81C5F615F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18" y="5606931"/>
            <a:ext cx="2594142" cy="4641326"/>
          </a:xfrm>
          <a:prstGeom prst="rect">
            <a:avLst/>
          </a:prstGeom>
        </p:spPr>
      </p:pic>
      <p:sp>
        <p:nvSpPr>
          <p:cNvPr id="1164" name="Rectángulo 1163">
            <a:extLst>
              <a:ext uri="{FF2B5EF4-FFF2-40B4-BE49-F238E27FC236}">
                <a16:creationId xmlns:a16="http://schemas.microsoft.com/office/drawing/2014/main" id="{DCEECEAB-9F80-727B-3FF3-7DD3EF56BB3A}"/>
              </a:ext>
            </a:extLst>
          </p:cNvPr>
          <p:cNvSpPr/>
          <p:nvPr/>
        </p:nvSpPr>
        <p:spPr>
          <a:xfrm>
            <a:off x="773404" y="3133776"/>
            <a:ext cx="2561928" cy="45549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69" name="Elipse 1168">
            <a:extLst>
              <a:ext uri="{FF2B5EF4-FFF2-40B4-BE49-F238E27FC236}">
                <a16:creationId xmlns:a16="http://schemas.microsoft.com/office/drawing/2014/main" id="{58E3017D-6D25-17DE-F384-BC6728A8BCB2}"/>
              </a:ext>
            </a:extLst>
          </p:cNvPr>
          <p:cNvSpPr/>
          <p:nvPr/>
        </p:nvSpPr>
        <p:spPr>
          <a:xfrm>
            <a:off x="684180" y="2985654"/>
            <a:ext cx="207475" cy="233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0528E96-8BCA-A03B-4288-4F8DA29DE0A9}"/>
              </a:ext>
            </a:extLst>
          </p:cNvPr>
          <p:cNvSpPr/>
          <p:nvPr/>
        </p:nvSpPr>
        <p:spPr>
          <a:xfrm>
            <a:off x="737968" y="6233759"/>
            <a:ext cx="2654327" cy="3384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E5FC16-249B-1C72-222B-94FE50598A93}"/>
              </a:ext>
            </a:extLst>
          </p:cNvPr>
          <p:cNvSpPr/>
          <p:nvPr/>
        </p:nvSpPr>
        <p:spPr>
          <a:xfrm>
            <a:off x="620379" y="6082742"/>
            <a:ext cx="207475" cy="2331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2</a:t>
            </a:r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E7ED79E-7A8A-7E2D-3DBE-4CCB37A558A7}"/>
              </a:ext>
            </a:extLst>
          </p:cNvPr>
          <p:cNvSpPr/>
          <p:nvPr/>
        </p:nvSpPr>
        <p:spPr>
          <a:xfrm>
            <a:off x="771306" y="3616955"/>
            <a:ext cx="1437327" cy="1344527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BB927A87-128D-B54D-63CC-4593493CC1EB}"/>
              </a:ext>
            </a:extLst>
          </p:cNvPr>
          <p:cNvSpPr/>
          <p:nvPr/>
        </p:nvSpPr>
        <p:spPr>
          <a:xfrm>
            <a:off x="651026" y="3545564"/>
            <a:ext cx="207475" cy="23310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3</a:t>
            </a:r>
            <a:endParaRPr lang="es-PE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6F76DBC-FF35-A4A5-BFD5-1A7C9A4E5DBB}"/>
              </a:ext>
            </a:extLst>
          </p:cNvPr>
          <p:cNvSpPr/>
          <p:nvPr/>
        </p:nvSpPr>
        <p:spPr>
          <a:xfrm>
            <a:off x="2256174" y="3620448"/>
            <a:ext cx="756531" cy="13445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0AA16CA1-2FCC-4717-962D-D9FADC64D31B}"/>
              </a:ext>
            </a:extLst>
          </p:cNvPr>
          <p:cNvSpPr/>
          <p:nvPr/>
        </p:nvSpPr>
        <p:spPr>
          <a:xfrm>
            <a:off x="2160139" y="3523265"/>
            <a:ext cx="207475" cy="23310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4</a:t>
            </a:r>
            <a:endParaRPr lang="es-PE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F69AC9E9-03D1-9FB4-163B-050E7685B63F}"/>
              </a:ext>
            </a:extLst>
          </p:cNvPr>
          <p:cNvSpPr/>
          <p:nvPr/>
        </p:nvSpPr>
        <p:spPr>
          <a:xfrm>
            <a:off x="715033" y="7693676"/>
            <a:ext cx="2654327" cy="338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84F2FC9-C41C-9141-97C6-E957BBC3A8DC}"/>
              </a:ext>
            </a:extLst>
          </p:cNvPr>
          <p:cNvSpPr/>
          <p:nvPr/>
        </p:nvSpPr>
        <p:spPr>
          <a:xfrm>
            <a:off x="596781" y="7588764"/>
            <a:ext cx="207475" cy="23310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5</a:t>
            </a:r>
            <a:endParaRPr lang="es-PE"/>
          </a:p>
        </p:txBody>
      </p:sp>
      <p:sp>
        <p:nvSpPr>
          <p:cNvPr id="1054" name="Rectángulo 1053">
            <a:extLst>
              <a:ext uri="{FF2B5EF4-FFF2-40B4-BE49-F238E27FC236}">
                <a16:creationId xmlns:a16="http://schemas.microsoft.com/office/drawing/2014/main" id="{BA8FA4CE-CDDD-7642-D88B-72626ABBEA2E}"/>
              </a:ext>
            </a:extLst>
          </p:cNvPr>
          <p:cNvSpPr/>
          <p:nvPr/>
        </p:nvSpPr>
        <p:spPr>
          <a:xfrm>
            <a:off x="771306" y="1901483"/>
            <a:ext cx="2678211" cy="282571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55" name="Elipse 1054">
            <a:extLst>
              <a:ext uri="{FF2B5EF4-FFF2-40B4-BE49-F238E27FC236}">
                <a16:creationId xmlns:a16="http://schemas.microsoft.com/office/drawing/2014/main" id="{EB18302B-1E6F-4D33-AE90-C8A32CC6411F}"/>
              </a:ext>
            </a:extLst>
          </p:cNvPr>
          <p:cNvSpPr/>
          <p:nvPr/>
        </p:nvSpPr>
        <p:spPr>
          <a:xfrm>
            <a:off x="664661" y="1802844"/>
            <a:ext cx="207475" cy="23310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6</a:t>
            </a:r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4D4C68-A3CE-2660-591B-1BD325EE99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927"/>
          <a:stretch>
            <a:fillRect/>
          </a:stretch>
        </p:blipFill>
        <p:spPr>
          <a:xfrm>
            <a:off x="3780513" y="1407886"/>
            <a:ext cx="11768705" cy="7670800"/>
          </a:xfrm>
          <a:prstGeom prst="rect">
            <a:avLst/>
          </a:prstGeom>
        </p:spPr>
      </p:pic>
      <p:sp>
        <p:nvSpPr>
          <p:cNvPr id="5" name="CuadroTexto 74">
            <a:extLst>
              <a:ext uri="{FF2B5EF4-FFF2-40B4-BE49-F238E27FC236}">
                <a16:creationId xmlns:a16="http://schemas.microsoft.com/office/drawing/2014/main" id="{C61B8286-35F3-476B-47C4-FCBCBA373165}"/>
              </a:ext>
            </a:extLst>
          </p:cNvPr>
          <p:cNvSpPr txBox="1"/>
          <p:nvPr/>
        </p:nvSpPr>
        <p:spPr>
          <a:xfrm>
            <a:off x="6811870" y="3781129"/>
            <a:ext cx="1265880" cy="237399"/>
          </a:xfrm>
          <a:prstGeom prst="rect">
            <a:avLst/>
          </a:prstGeom>
          <a:solidFill>
            <a:srgbClr val="3C4651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AREA</a:t>
            </a:r>
            <a:endParaRPr lang="es-PE" sz="9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uadroTexto 74">
            <a:extLst>
              <a:ext uri="{FF2B5EF4-FFF2-40B4-BE49-F238E27FC236}">
                <a16:creationId xmlns:a16="http://schemas.microsoft.com/office/drawing/2014/main" id="{077B17CD-2E50-1D37-1B2D-E620BA376635}"/>
              </a:ext>
            </a:extLst>
          </p:cNvPr>
          <p:cNvSpPr txBox="1"/>
          <p:nvPr/>
        </p:nvSpPr>
        <p:spPr>
          <a:xfrm>
            <a:off x="8469213" y="3791921"/>
            <a:ext cx="1265880" cy="237399"/>
          </a:xfrm>
          <a:prstGeom prst="rect">
            <a:avLst/>
          </a:prstGeom>
          <a:solidFill>
            <a:srgbClr val="3C4651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FUNDO</a:t>
            </a:r>
            <a:endParaRPr lang="es-PE" sz="9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CuadroTexto 74">
            <a:extLst>
              <a:ext uri="{FF2B5EF4-FFF2-40B4-BE49-F238E27FC236}">
                <a16:creationId xmlns:a16="http://schemas.microsoft.com/office/drawing/2014/main" id="{EE4C0E98-115D-DE0A-B4B8-5E5B16AF4254}"/>
              </a:ext>
            </a:extLst>
          </p:cNvPr>
          <p:cNvSpPr txBox="1"/>
          <p:nvPr/>
        </p:nvSpPr>
        <p:spPr>
          <a:xfrm>
            <a:off x="10149376" y="3781129"/>
            <a:ext cx="1265880" cy="237399"/>
          </a:xfrm>
          <a:prstGeom prst="rect">
            <a:avLst/>
          </a:prstGeom>
          <a:solidFill>
            <a:srgbClr val="3C4651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LOTE</a:t>
            </a:r>
            <a:endParaRPr lang="es-PE" sz="9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6FC20F-4BF4-B7AE-359E-C0977F12EBB5}"/>
              </a:ext>
            </a:extLst>
          </p:cNvPr>
          <p:cNvSpPr txBox="1"/>
          <p:nvPr/>
        </p:nvSpPr>
        <p:spPr>
          <a:xfrm>
            <a:off x="6457112" y="2240200"/>
            <a:ext cx="4920789" cy="379838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r>
              <a:rPr lang="es-MX">
                <a:solidFill>
                  <a:srgbClr val="7B95C1"/>
                </a:solidFill>
              </a:rPr>
              <a:t>Programación Semanal</a:t>
            </a:r>
            <a:endParaRPr lang="es-PE">
              <a:solidFill>
                <a:srgbClr val="7B95C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8F5FF7E-C3DC-B6FB-7971-CD3CCEC24614}"/>
              </a:ext>
            </a:extLst>
          </p:cNvPr>
          <p:cNvSpPr txBox="1"/>
          <p:nvPr/>
        </p:nvSpPr>
        <p:spPr>
          <a:xfrm>
            <a:off x="4072508" y="2806317"/>
            <a:ext cx="2015087" cy="443145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>
                <a:solidFill>
                  <a:srgbClr val="7B95C1"/>
                </a:solidFill>
              </a:rPr>
              <a:t>Programación de insectos benéficos</a:t>
            </a:r>
            <a:endParaRPr lang="es-PE" sz="1100">
              <a:solidFill>
                <a:srgbClr val="7B95C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02D31EA-E1DA-E208-3C86-2A46D8FE0428}"/>
              </a:ext>
            </a:extLst>
          </p:cNvPr>
          <p:cNvSpPr/>
          <p:nvPr/>
        </p:nvSpPr>
        <p:spPr>
          <a:xfrm>
            <a:off x="6967697" y="3021039"/>
            <a:ext cx="2559730" cy="284879"/>
          </a:xfrm>
          <a:prstGeom prst="roundRect">
            <a:avLst/>
          </a:prstGeom>
          <a:solidFill>
            <a:srgbClr val="FFFFFF"/>
          </a:solidFill>
          <a:ln>
            <a:solidFill>
              <a:srgbClr val="D9DE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152DA17-394C-FFC2-283E-DE218899B47D}"/>
              </a:ext>
            </a:extLst>
          </p:cNvPr>
          <p:cNvSpPr/>
          <p:nvPr/>
        </p:nvSpPr>
        <p:spPr>
          <a:xfrm>
            <a:off x="3893048" y="3240041"/>
            <a:ext cx="2015087" cy="135837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F2627C88-B5D8-4254-C908-C10352289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884" y="4209507"/>
            <a:ext cx="2397311" cy="1468638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F3D4F1CC-9274-DA32-8A62-0362B7738AEF}"/>
              </a:ext>
            </a:extLst>
          </p:cNvPr>
          <p:cNvSpPr txBox="1"/>
          <p:nvPr/>
        </p:nvSpPr>
        <p:spPr>
          <a:xfrm>
            <a:off x="4072507" y="3176540"/>
            <a:ext cx="2015087" cy="269052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>
                <a:solidFill>
                  <a:schemeClr val="bg1">
                    <a:lumMod val="65000"/>
                  </a:schemeClr>
                </a:solidFill>
              </a:rPr>
              <a:t>Solicitud de Ensayos</a:t>
            </a:r>
            <a:endParaRPr lang="es-PE" sz="11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025EB40-AF87-9BAE-AEF3-1C9870F4A7C2}"/>
              </a:ext>
            </a:extLst>
          </p:cNvPr>
          <p:cNvSpPr txBox="1"/>
          <p:nvPr/>
        </p:nvSpPr>
        <p:spPr>
          <a:xfrm>
            <a:off x="4072506" y="3424617"/>
            <a:ext cx="2015087" cy="261139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endParaRPr lang="es-PE" sz="105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CBA93A8-545B-A9D9-121D-12379F857F30}"/>
              </a:ext>
            </a:extLst>
          </p:cNvPr>
          <p:cNvSpPr/>
          <p:nvPr/>
        </p:nvSpPr>
        <p:spPr>
          <a:xfrm>
            <a:off x="13176414" y="2785343"/>
            <a:ext cx="2790841" cy="6392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E5D9816-EAF3-58C2-FFC9-144CCF8C250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569" t="10214" r="39364" b="79038"/>
          <a:stretch>
            <a:fillRect/>
          </a:stretch>
        </p:blipFill>
        <p:spPr>
          <a:xfrm>
            <a:off x="7018444" y="3045288"/>
            <a:ext cx="1548102" cy="253761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2AB364AD-E985-A7A6-5E44-7E2BA0797A07}"/>
              </a:ext>
            </a:extLst>
          </p:cNvPr>
          <p:cNvGrpSpPr/>
          <p:nvPr/>
        </p:nvGrpSpPr>
        <p:grpSpPr>
          <a:xfrm>
            <a:off x="13926698" y="1407886"/>
            <a:ext cx="3509636" cy="7670800"/>
            <a:chOff x="12151093" y="984945"/>
            <a:chExt cx="3780514" cy="8284219"/>
          </a:xfrm>
        </p:grpSpPr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FB5D6893-D302-97B6-69E9-161A83E2D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7015"/>
            <a:stretch>
              <a:fillRect/>
            </a:stretch>
          </p:blipFill>
          <p:spPr>
            <a:xfrm>
              <a:off x="12151093" y="984945"/>
              <a:ext cx="3780514" cy="8284219"/>
            </a:xfrm>
            <a:prstGeom prst="rect">
              <a:avLst/>
            </a:prstGeom>
          </p:spPr>
        </p:pic>
        <p:pic>
          <p:nvPicPr>
            <p:cNvPr id="1025" name="Imagen 1024">
              <a:extLst>
                <a:ext uri="{FF2B5EF4-FFF2-40B4-BE49-F238E27FC236}">
                  <a16:creationId xmlns:a16="http://schemas.microsoft.com/office/drawing/2014/main" id="{0EF852F3-9F91-3393-6C5E-CFEC6D0F4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318234" y="984945"/>
              <a:ext cx="1448704" cy="491923"/>
            </a:xfrm>
            <a:prstGeom prst="rect">
              <a:avLst/>
            </a:prstGeom>
          </p:spPr>
        </p:pic>
      </p:grpSp>
      <p:sp>
        <p:nvSpPr>
          <p:cNvPr id="59" name="Rectángulo 58">
            <a:extLst>
              <a:ext uri="{FF2B5EF4-FFF2-40B4-BE49-F238E27FC236}">
                <a16:creationId xmlns:a16="http://schemas.microsoft.com/office/drawing/2014/main" id="{A1EB154D-97BB-EDE4-01E6-3605A3B2D1EC}"/>
              </a:ext>
            </a:extLst>
          </p:cNvPr>
          <p:cNvSpPr/>
          <p:nvPr/>
        </p:nvSpPr>
        <p:spPr>
          <a:xfrm>
            <a:off x="12995848" y="2937742"/>
            <a:ext cx="2790841" cy="6392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32" name="Imagen 1031">
            <a:extLst>
              <a:ext uri="{FF2B5EF4-FFF2-40B4-BE49-F238E27FC236}">
                <a16:creationId xmlns:a16="http://schemas.microsoft.com/office/drawing/2014/main" id="{0C3119B3-D17C-796B-8255-FC7C807449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8518" y="4920158"/>
            <a:ext cx="11282330" cy="2555586"/>
          </a:xfrm>
          <a:prstGeom prst="rect">
            <a:avLst/>
          </a:prstGeom>
        </p:spPr>
      </p:pic>
      <p:sp>
        <p:nvSpPr>
          <p:cNvPr id="1034" name="CuadroTexto 1033">
            <a:extLst>
              <a:ext uri="{FF2B5EF4-FFF2-40B4-BE49-F238E27FC236}">
                <a16:creationId xmlns:a16="http://schemas.microsoft.com/office/drawing/2014/main" id="{0AAA737C-95BD-2AF7-2D37-F442E5686D5A}"/>
              </a:ext>
            </a:extLst>
          </p:cNvPr>
          <p:cNvSpPr txBox="1"/>
          <p:nvPr/>
        </p:nvSpPr>
        <p:spPr>
          <a:xfrm>
            <a:off x="4153431" y="3171392"/>
            <a:ext cx="2015087" cy="269052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sz="1100">
                <a:solidFill>
                  <a:schemeClr val="bg1">
                    <a:lumMod val="65000"/>
                  </a:schemeClr>
                </a:solidFill>
              </a:rPr>
              <a:t>Programación semanal</a:t>
            </a:r>
            <a:endParaRPr lang="es-PE" sz="11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35" name="CuadroTexto 1034">
            <a:extLst>
              <a:ext uri="{FF2B5EF4-FFF2-40B4-BE49-F238E27FC236}">
                <a16:creationId xmlns:a16="http://schemas.microsoft.com/office/drawing/2014/main" id="{FFFC8B95-0F89-E8A1-D9D9-5A07371371C1}"/>
              </a:ext>
            </a:extLst>
          </p:cNvPr>
          <p:cNvSpPr txBox="1"/>
          <p:nvPr/>
        </p:nvSpPr>
        <p:spPr>
          <a:xfrm>
            <a:off x="3972192" y="2710449"/>
            <a:ext cx="2063088" cy="461665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s-MX" sz="1200">
                <a:solidFill>
                  <a:schemeClr val="bg1">
                    <a:lumMod val="65000"/>
                  </a:schemeClr>
                </a:solidFill>
              </a:rPr>
              <a:t>Requerimiento de insectos benéficos</a:t>
            </a:r>
            <a:endParaRPr lang="es-P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ACA86CC8-C5E6-CF98-0D66-21CA9E2E9649}"/>
              </a:ext>
            </a:extLst>
          </p:cNvPr>
          <p:cNvSpPr txBox="1"/>
          <p:nvPr/>
        </p:nvSpPr>
        <p:spPr>
          <a:xfrm>
            <a:off x="3975868" y="3178339"/>
            <a:ext cx="2204443" cy="276999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s-MX" sz="1200" dirty="0">
                <a:solidFill>
                  <a:srgbClr val="93A9CC"/>
                </a:solidFill>
              </a:rPr>
              <a:t>Programación Semanal</a:t>
            </a:r>
            <a:endParaRPr lang="es-PE" sz="1200" dirty="0">
              <a:solidFill>
                <a:srgbClr val="93A9CC"/>
              </a:solidFill>
            </a:endParaRPr>
          </a:p>
        </p:txBody>
      </p:sp>
      <p:sp>
        <p:nvSpPr>
          <p:cNvPr id="1040" name="CuadroTexto 1039">
            <a:extLst>
              <a:ext uri="{FF2B5EF4-FFF2-40B4-BE49-F238E27FC236}">
                <a16:creationId xmlns:a16="http://schemas.microsoft.com/office/drawing/2014/main" id="{F362EC5B-10D4-68B3-D375-CCB4B7678BBA}"/>
              </a:ext>
            </a:extLst>
          </p:cNvPr>
          <p:cNvSpPr txBox="1"/>
          <p:nvPr/>
        </p:nvSpPr>
        <p:spPr>
          <a:xfrm>
            <a:off x="3991527" y="3424617"/>
            <a:ext cx="2211473" cy="461665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s-MX" sz="1200">
                <a:solidFill>
                  <a:schemeClr val="bg1">
                    <a:lumMod val="65000"/>
                  </a:schemeClr>
                </a:solidFill>
              </a:rPr>
              <a:t>Requerimiento de Evaluación de Nematodos</a:t>
            </a:r>
            <a:endParaRPr lang="es-P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41" name="CuadroTexto 1040">
            <a:extLst>
              <a:ext uri="{FF2B5EF4-FFF2-40B4-BE49-F238E27FC236}">
                <a16:creationId xmlns:a16="http://schemas.microsoft.com/office/drawing/2014/main" id="{BCF717E2-7A3E-5A82-C199-1A973C6A5701}"/>
              </a:ext>
            </a:extLst>
          </p:cNvPr>
          <p:cNvSpPr txBox="1"/>
          <p:nvPr/>
        </p:nvSpPr>
        <p:spPr>
          <a:xfrm>
            <a:off x="4008467" y="3850539"/>
            <a:ext cx="2246072" cy="276999"/>
          </a:xfrm>
          <a:prstGeom prst="rect">
            <a:avLst/>
          </a:prstGeom>
          <a:solidFill>
            <a:srgbClr val="FEFEFE"/>
          </a:solidFill>
          <a:ln>
            <a:solidFill>
              <a:srgbClr val="F4FFFF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s-MX" sz="1200">
                <a:solidFill>
                  <a:schemeClr val="bg1">
                    <a:lumMod val="65000"/>
                  </a:schemeClr>
                </a:solidFill>
              </a:rPr>
              <a:t>Evaluación de Nematodos</a:t>
            </a:r>
            <a:endParaRPr lang="es-P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42" name="Rectángulo 1041">
            <a:extLst>
              <a:ext uri="{FF2B5EF4-FFF2-40B4-BE49-F238E27FC236}">
                <a16:creationId xmlns:a16="http://schemas.microsoft.com/office/drawing/2014/main" id="{CDE1451A-082D-03BA-1DFB-E6741818353D}"/>
              </a:ext>
            </a:extLst>
          </p:cNvPr>
          <p:cNvSpPr/>
          <p:nvPr/>
        </p:nvSpPr>
        <p:spPr>
          <a:xfrm rot="16200000">
            <a:off x="2738331" y="5317056"/>
            <a:ext cx="7015730" cy="184585"/>
          </a:xfrm>
          <a:prstGeom prst="rect">
            <a:avLst/>
          </a:prstGeom>
          <a:solidFill>
            <a:srgbClr val="F6F9FF"/>
          </a:solidFill>
          <a:ln>
            <a:solidFill>
              <a:srgbClr val="F6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63" name="Rectángulo 1162">
            <a:extLst>
              <a:ext uri="{FF2B5EF4-FFF2-40B4-BE49-F238E27FC236}">
                <a16:creationId xmlns:a16="http://schemas.microsoft.com/office/drawing/2014/main" id="{013BBE9F-341B-83C6-2F8D-9B623ABA678D}"/>
              </a:ext>
            </a:extLst>
          </p:cNvPr>
          <p:cNvSpPr/>
          <p:nvPr/>
        </p:nvSpPr>
        <p:spPr>
          <a:xfrm>
            <a:off x="3960340" y="3201755"/>
            <a:ext cx="1897704" cy="29342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66" name="CuadroTexto 1165">
            <a:extLst>
              <a:ext uri="{FF2B5EF4-FFF2-40B4-BE49-F238E27FC236}">
                <a16:creationId xmlns:a16="http://schemas.microsoft.com/office/drawing/2014/main" id="{D8E05FBC-B6A0-F42B-580F-90CA25094454}"/>
              </a:ext>
            </a:extLst>
          </p:cNvPr>
          <p:cNvSpPr txBox="1"/>
          <p:nvPr/>
        </p:nvSpPr>
        <p:spPr>
          <a:xfrm>
            <a:off x="9162477" y="6397482"/>
            <a:ext cx="156569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Esta información es extraída de la vista </a:t>
            </a:r>
            <a:r>
              <a:rPr lang="es-MX" sz="1600" b="1" dirty="0"/>
              <a:t>“Programación Semanal”</a:t>
            </a:r>
            <a:endParaRPr lang="es-PE" sz="1600" b="1" dirty="0"/>
          </a:p>
        </p:txBody>
      </p:sp>
      <p:cxnSp>
        <p:nvCxnSpPr>
          <p:cNvPr id="1168" name="Conector recto de flecha 1167">
            <a:extLst>
              <a:ext uri="{FF2B5EF4-FFF2-40B4-BE49-F238E27FC236}">
                <a16:creationId xmlns:a16="http://schemas.microsoft.com/office/drawing/2014/main" id="{0F31B99F-CC5D-1A9C-7035-81E8E28EB933}"/>
              </a:ext>
            </a:extLst>
          </p:cNvPr>
          <p:cNvCxnSpPr>
            <a:cxnSpLocks/>
            <a:stCxn id="1166" idx="0"/>
            <a:endCxn id="1165" idx="2"/>
          </p:cNvCxnSpPr>
          <p:nvPr/>
        </p:nvCxnSpPr>
        <p:spPr>
          <a:xfrm flipV="1">
            <a:off x="9945325" y="5954737"/>
            <a:ext cx="51860" cy="442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70" name="Elipse 1169">
            <a:extLst>
              <a:ext uri="{FF2B5EF4-FFF2-40B4-BE49-F238E27FC236}">
                <a16:creationId xmlns:a16="http://schemas.microsoft.com/office/drawing/2014/main" id="{AF5E43D2-C648-755A-EF69-673D17D484F0}"/>
              </a:ext>
            </a:extLst>
          </p:cNvPr>
          <p:cNvSpPr/>
          <p:nvPr/>
        </p:nvSpPr>
        <p:spPr>
          <a:xfrm>
            <a:off x="8936525" y="6290899"/>
            <a:ext cx="207475" cy="233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  <a:endParaRPr lang="es-PE"/>
          </a:p>
        </p:txBody>
      </p:sp>
      <p:sp>
        <p:nvSpPr>
          <p:cNvPr id="1172" name="CuadroTexto 1171">
            <a:extLst>
              <a:ext uri="{FF2B5EF4-FFF2-40B4-BE49-F238E27FC236}">
                <a16:creationId xmlns:a16="http://schemas.microsoft.com/office/drawing/2014/main" id="{106DD0A9-4FF6-E051-D455-CEFA7BA20C36}"/>
              </a:ext>
            </a:extLst>
          </p:cNvPr>
          <p:cNvSpPr txBox="1"/>
          <p:nvPr/>
        </p:nvSpPr>
        <p:spPr>
          <a:xfrm>
            <a:off x="4716245" y="6290899"/>
            <a:ext cx="1953240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/>
              <a:t>Se debe mostrar fecha en la que se realizo el registro de la programación, es decir una vez que se haya ingresado las cantidades de la “</a:t>
            </a:r>
            <a:r>
              <a:rPr lang="es-MX" sz="1600" b="1"/>
              <a:t>Proy. Inicial”.</a:t>
            </a:r>
          </a:p>
          <a:p>
            <a:r>
              <a:rPr lang="es-MX" sz="1600"/>
              <a:t>Esto se encuentra en la vista</a:t>
            </a:r>
            <a:r>
              <a:rPr lang="es-MX" sz="1600" b="1"/>
              <a:t> “Programación Semanal”</a:t>
            </a:r>
            <a:endParaRPr lang="es-PE" sz="1600" b="1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44E224A-3DB5-1DDD-3840-C1535B2F254F}"/>
              </a:ext>
            </a:extLst>
          </p:cNvPr>
          <p:cNvCxnSpPr>
            <a:cxnSpLocks/>
          </p:cNvCxnSpPr>
          <p:nvPr/>
        </p:nvCxnSpPr>
        <p:spPr>
          <a:xfrm flipV="1">
            <a:off x="5692865" y="5936998"/>
            <a:ext cx="461038" cy="380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C466CBC-8F39-4038-956A-D76DCC2DFA8D}"/>
              </a:ext>
            </a:extLst>
          </p:cNvPr>
          <p:cNvSpPr txBox="1"/>
          <p:nvPr/>
        </p:nvSpPr>
        <p:spPr>
          <a:xfrm>
            <a:off x="6827591" y="6289427"/>
            <a:ext cx="1953240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/>
              <a:t>Al registrar la fecha de </a:t>
            </a:r>
            <a:r>
              <a:rPr lang="es-MX" sz="1600" b="1"/>
              <a:t>“Ejecutado” </a:t>
            </a:r>
            <a:r>
              <a:rPr lang="es-MX" sz="1600"/>
              <a:t>el sistema debe mostrar la fecha de dicha actualización que se muestra en la vista </a:t>
            </a:r>
            <a:r>
              <a:rPr lang="es-MX" sz="1600" b="1"/>
              <a:t>“Nuevo Requerimiento”.</a:t>
            </a:r>
            <a:endParaRPr lang="es-PE" sz="1600" b="1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FAD166E-F323-DE20-1D84-5CD06C91C2C6}"/>
              </a:ext>
            </a:extLst>
          </p:cNvPr>
          <p:cNvSpPr/>
          <p:nvPr/>
        </p:nvSpPr>
        <p:spPr>
          <a:xfrm>
            <a:off x="6757541" y="6168749"/>
            <a:ext cx="207475" cy="2331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2</a:t>
            </a:r>
            <a:endParaRPr lang="es-PE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43C64AE-8AA0-63A6-06E6-0A7DBC0ADC25}"/>
              </a:ext>
            </a:extLst>
          </p:cNvPr>
          <p:cNvCxnSpPr>
            <a:cxnSpLocks/>
          </p:cNvCxnSpPr>
          <p:nvPr/>
        </p:nvCxnSpPr>
        <p:spPr>
          <a:xfrm flipH="1" flipV="1">
            <a:off x="7594600" y="5943512"/>
            <a:ext cx="445892" cy="348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EB70109-100F-4CC8-DC5E-771FA8072D1E}"/>
              </a:ext>
            </a:extLst>
          </p:cNvPr>
          <p:cNvSpPr txBox="1"/>
          <p:nvPr/>
        </p:nvSpPr>
        <p:spPr>
          <a:xfrm>
            <a:off x="11914496" y="6434308"/>
            <a:ext cx="195324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/>
              <a:t>Esta información es extraída del cuadro de planificación semanal en la vista </a:t>
            </a:r>
            <a:r>
              <a:rPr lang="es-MX" sz="1600" b="1"/>
              <a:t>“Programacion Semanal”</a:t>
            </a:r>
            <a:endParaRPr lang="es-PE" sz="1600" b="1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54233C5-A664-4C4A-F6F1-D8A049BE1EA4}"/>
              </a:ext>
            </a:extLst>
          </p:cNvPr>
          <p:cNvCxnSpPr>
            <a:cxnSpLocks/>
            <a:stCxn id="34" idx="0"/>
            <a:endCxn id="29" idx="2"/>
          </p:cNvCxnSpPr>
          <p:nvPr/>
        </p:nvCxnSpPr>
        <p:spPr>
          <a:xfrm flipV="1">
            <a:off x="12891116" y="5954737"/>
            <a:ext cx="20466" cy="479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7A0028CD-2885-8BC0-2737-125F37F87905}"/>
              </a:ext>
            </a:extLst>
          </p:cNvPr>
          <p:cNvSpPr/>
          <p:nvPr/>
        </p:nvSpPr>
        <p:spPr>
          <a:xfrm>
            <a:off x="11851908" y="6310045"/>
            <a:ext cx="207475" cy="23310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3</a:t>
            </a:r>
            <a:endParaRPr lang="es-PE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F0385B0-DCAD-308C-E267-17B7C0303D5C}"/>
              </a:ext>
            </a:extLst>
          </p:cNvPr>
          <p:cNvSpPr txBox="1"/>
          <p:nvPr/>
        </p:nvSpPr>
        <p:spPr>
          <a:xfrm>
            <a:off x="14189348" y="6434308"/>
            <a:ext cx="195324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/>
              <a:t>Al ingresar un valor en </a:t>
            </a:r>
            <a:r>
              <a:rPr lang="es-MX" sz="1600" b="1"/>
              <a:t>“Proyección Final”</a:t>
            </a:r>
            <a:r>
              <a:rPr lang="es-MX" sz="1600"/>
              <a:t> dentro de la vista </a:t>
            </a:r>
            <a:r>
              <a:rPr lang="es-MX" sz="1600" b="1"/>
              <a:t>“Programación Semanal”</a:t>
            </a:r>
            <a:r>
              <a:rPr lang="es-MX" sz="1600"/>
              <a:t>, el sistema debe capturar la fecha del registro.</a:t>
            </a:r>
            <a:endParaRPr lang="es-PE" sz="1600"/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A325694-B247-82B6-FCC7-B4442D93BFC7}"/>
              </a:ext>
            </a:extLst>
          </p:cNvPr>
          <p:cNvCxnSpPr>
            <a:cxnSpLocks/>
            <a:stCxn id="51" idx="0"/>
            <a:endCxn id="47" idx="2"/>
          </p:cNvCxnSpPr>
          <p:nvPr/>
        </p:nvCxnSpPr>
        <p:spPr>
          <a:xfrm flipV="1">
            <a:off x="15165968" y="5954737"/>
            <a:ext cx="381" cy="479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B12A4858-8C3B-558E-13F2-1E226E349E63}"/>
              </a:ext>
            </a:extLst>
          </p:cNvPr>
          <p:cNvSpPr/>
          <p:nvPr/>
        </p:nvSpPr>
        <p:spPr>
          <a:xfrm>
            <a:off x="14110300" y="6337913"/>
            <a:ext cx="207475" cy="23310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4</a:t>
            </a:r>
            <a:endParaRPr lang="es-PE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E0D164A-28DD-1FB8-31E4-41267A2FA1CE}"/>
              </a:ext>
            </a:extLst>
          </p:cNvPr>
          <p:cNvSpPr txBox="1"/>
          <p:nvPr/>
        </p:nvSpPr>
        <p:spPr>
          <a:xfrm>
            <a:off x="16315094" y="6412537"/>
            <a:ext cx="188452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/>
              <a:t>Esta información proviene del campo </a:t>
            </a:r>
            <a:r>
              <a:rPr lang="es-MX" sz="1600" b="1"/>
              <a:t>“Cantidad”</a:t>
            </a:r>
            <a:r>
              <a:rPr lang="es-MX" sz="1600"/>
              <a:t> de la vista </a:t>
            </a:r>
            <a:r>
              <a:rPr lang="es-MX" sz="1600" b="1"/>
              <a:t>”Nuevo Requerimiento”</a:t>
            </a:r>
          </a:p>
          <a:p>
            <a:r>
              <a:rPr lang="es-MX" sz="1600"/>
              <a:t>Esto debe ser segregado según su fecha de cada solicitud realizada.</a:t>
            </a:r>
            <a:endParaRPr lang="es-PE" sz="1600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7317EBF-1568-2B50-7EC3-526E433AA1F5}"/>
              </a:ext>
            </a:extLst>
          </p:cNvPr>
          <p:cNvSpPr/>
          <p:nvPr/>
        </p:nvSpPr>
        <p:spPr>
          <a:xfrm>
            <a:off x="16227414" y="6317754"/>
            <a:ext cx="207475" cy="23310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5</a:t>
            </a:r>
            <a:endParaRPr lang="es-PE"/>
          </a:p>
        </p:txBody>
      </p:sp>
      <p:sp>
        <p:nvSpPr>
          <p:cNvPr id="1056" name="Elipse 1055">
            <a:extLst>
              <a:ext uri="{FF2B5EF4-FFF2-40B4-BE49-F238E27FC236}">
                <a16:creationId xmlns:a16="http://schemas.microsoft.com/office/drawing/2014/main" id="{1F5355B5-F35F-9567-8CEF-4C60F8EEA8D2}"/>
              </a:ext>
            </a:extLst>
          </p:cNvPr>
          <p:cNvSpPr/>
          <p:nvPr/>
        </p:nvSpPr>
        <p:spPr>
          <a:xfrm>
            <a:off x="4662824" y="6193491"/>
            <a:ext cx="207475" cy="23310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6</a:t>
            </a:r>
            <a:endParaRPr lang="es-PE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B57C635-A8D2-70BB-7E54-5B1167A2075A}"/>
              </a:ext>
            </a:extLst>
          </p:cNvPr>
          <p:cNvCxnSpPr>
            <a:stCxn id="58" idx="0"/>
            <a:endCxn id="50" idx="2"/>
          </p:cNvCxnSpPr>
          <p:nvPr/>
        </p:nvCxnSpPr>
        <p:spPr>
          <a:xfrm flipH="1" flipV="1">
            <a:off x="16640308" y="5936998"/>
            <a:ext cx="617048" cy="475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4" name="Rectángulo: esquinas redondeadas 1023">
            <a:extLst>
              <a:ext uri="{FF2B5EF4-FFF2-40B4-BE49-F238E27FC236}">
                <a16:creationId xmlns:a16="http://schemas.microsoft.com/office/drawing/2014/main" id="{74012EB6-18B0-62BB-AA7F-0218891DB301}"/>
              </a:ext>
            </a:extLst>
          </p:cNvPr>
          <p:cNvSpPr/>
          <p:nvPr/>
        </p:nvSpPr>
        <p:spPr>
          <a:xfrm>
            <a:off x="9594079" y="3017931"/>
            <a:ext cx="1531778" cy="284879"/>
          </a:xfrm>
          <a:prstGeom prst="roundRect">
            <a:avLst/>
          </a:prstGeom>
          <a:solidFill>
            <a:srgbClr val="FFFFFF"/>
          </a:solidFill>
          <a:ln>
            <a:solidFill>
              <a:srgbClr val="D9DE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9832BA5C-349E-4AB6-E288-D8256A9828A2}"/>
              </a:ext>
            </a:extLst>
          </p:cNvPr>
          <p:cNvSpPr txBox="1"/>
          <p:nvPr/>
        </p:nvSpPr>
        <p:spPr>
          <a:xfrm>
            <a:off x="9537354" y="2754232"/>
            <a:ext cx="9298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798EB3"/>
                </a:solidFill>
              </a:rPr>
              <a:t>Mes</a:t>
            </a:r>
            <a:endParaRPr lang="es-PE" sz="1400">
              <a:solidFill>
                <a:srgbClr val="798EB3"/>
              </a:solidFill>
            </a:endParaRPr>
          </a:p>
        </p:txBody>
      </p:sp>
      <p:sp>
        <p:nvSpPr>
          <p:cNvPr id="1028" name="CuadroTexto 1027">
            <a:extLst>
              <a:ext uri="{FF2B5EF4-FFF2-40B4-BE49-F238E27FC236}">
                <a16:creationId xmlns:a16="http://schemas.microsoft.com/office/drawing/2014/main" id="{AF11F29F-C165-0B46-2BED-2BB4854ACFFE}"/>
              </a:ext>
            </a:extLst>
          </p:cNvPr>
          <p:cNvSpPr txBox="1"/>
          <p:nvPr/>
        </p:nvSpPr>
        <p:spPr>
          <a:xfrm>
            <a:off x="9594080" y="3037725"/>
            <a:ext cx="1182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/>
              <a:t>JULIO</a:t>
            </a:r>
            <a:endParaRPr lang="es-PE" sz="1050"/>
          </a:p>
        </p:txBody>
      </p:sp>
      <p:sp>
        <p:nvSpPr>
          <p:cNvPr id="1030" name="CuadroTexto 1029">
            <a:extLst>
              <a:ext uri="{FF2B5EF4-FFF2-40B4-BE49-F238E27FC236}">
                <a16:creationId xmlns:a16="http://schemas.microsoft.com/office/drawing/2014/main" id="{AB5594F8-D22B-AB87-26F6-6B037CD8762F}"/>
              </a:ext>
            </a:extLst>
          </p:cNvPr>
          <p:cNvSpPr txBox="1"/>
          <p:nvPr/>
        </p:nvSpPr>
        <p:spPr>
          <a:xfrm>
            <a:off x="8917506" y="1462407"/>
            <a:ext cx="1173800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/>
              <a:t>Tener filtro por mes</a:t>
            </a:r>
            <a:endParaRPr lang="es-PE" sz="1600"/>
          </a:p>
        </p:txBody>
      </p:sp>
      <p:cxnSp>
        <p:nvCxnSpPr>
          <p:cNvPr id="1031" name="Conector: angular 1030">
            <a:extLst>
              <a:ext uri="{FF2B5EF4-FFF2-40B4-BE49-F238E27FC236}">
                <a16:creationId xmlns:a16="http://schemas.microsoft.com/office/drawing/2014/main" id="{40451835-1CAD-1DAC-FD27-91C558F41ADE}"/>
              </a:ext>
            </a:extLst>
          </p:cNvPr>
          <p:cNvCxnSpPr>
            <a:cxnSpLocks/>
            <a:stCxn id="1030" idx="2"/>
            <a:endCxn id="1029" idx="0"/>
          </p:cNvCxnSpPr>
          <p:nvPr/>
        </p:nvCxnSpPr>
        <p:spPr>
          <a:xfrm rot="16200000" flipH="1">
            <a:off x="9561810" y="1989777"/>
            <a:ext cx="779227" cy="8940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3" name="Rectángulo 1032">
            <a:extLst>
              <a:ext uri="{FF2B5EF4-FFF2-40B4-BE49-F238E27FC236}">
                <a16:creationId xmlns:a16="http://schemas.microsoft.com/office/drawing/2014/main" id="{04EA6935-F5D5-5994-D22F-513074B1997A}"/>
              </a:ext>
            </a:extLst>
          </p:cNvPr>
          <p:cNvSpPr/>
          <p:nvPr/>
        </p:nvSpPr>
        <p:spPr>
          <a:xfrm>
            <a:off x="6647582" y="2826409"/>
            <a:ext cx="2899469" cy="496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36" name="CuadroTexto 1035">
            <a:extLst>
              <a:ext uri="{FF2B5EF4-FFF2-40B4-BE49-F238E27FC236}">
                <a16:creationId xmlns:a16="http://schemas.microsoft.com/office/drawing/2014/main" id="{5CDE243B-F4C3-388A-5C12-47B35726EB7E}"/>
              </a:ext>
            </a:extLst>
          </p:cNvPr>
          <p:cNvSpPr txBox="1"/>
          <p:nvPr/>
        </p:nvSpPr>
        <p:spPr>
          <a:xfrm>
            <a:off x="4743632" y="1239641"/>
            <a:ext cx="2311276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/>
              <a:t>Al momento de seleccionar la fecha que sea la fecha de creación del registro</a:t>
            </a:r>
            <a:endParaRPr lang="es-PE" sz="1600"/>
          </a:p>
        </p:txBody>
      </p:sp>
      <p:cxnSp>
        <p:nvCxnSpPr>
          <p:cNvPr id="1037" name="Conector: angular 1036">
            <a:extLst>
              <a:ext uri="{FF2B5EF4-FFF2-40B4-BE49-F238E27FC236}">
                <a16:creationId xmlns:a16="http://schemas.microsoft.com/office/drawing/2014/main" id="{0620F90B-2337-BE71-E13D-D1014F7AF77B}"/>
              </a:ext>
            </a:extLst>
          </p:cNvPr>
          <p:cNvCxnSpPr>
            <a:cxnSpLocks/>
            <a:stCxn id="1036" idx="2"/>
            <a:endCxn id="1033" idx="0"/>
          </p:cNvCxnSpPr>
          <p:nvPr/>
        </p:nvCxnSpPr>
        <p:spPr>
          <a:xfrm rot="16200000" flipH="1">
            <a:off x="6743518" y="1472610"/>
            <a:ext cx="509550" cy="21980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CB248DF5-E8FC-C9D5-5694-F28A05EA74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7117" y="2994327"/>
            <a:ext cx="1113405" cy="34070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296DE63-DD90-DE17-C614-6A95C22A3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8628" y="2960883"/>
            <a:ext cx="302572" cy="34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E0A5A321-04F5-AC89-0353-293A1593D5C4}"/>
              </a:ext>
            </a:extLst>
          </p:cNvPr>
          <p:cNvSpPr/>
          <p:nvPr/>
        </p:nvSpPr>
        <p:spPr>
          <a:xfrm>
            <a:off x="12366757" y="2960883"/>
            <a:ext cx="335952" cy="34070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43" name="CuadroTexto 1042">
            <a:extLst>
              <a:ext uri="{FF2B5EF4-FFF2-40B4-BE49-F238E27FC236}">
                <a16:creationId xmlns:a16="http://schemas.microsoft.com/office/drawing/2014/main" id="{B308A4CE-B7B2-ABB8-FE0E-069CEA4BD7FC}"/>
              </a:ext>
            </a:extLst>
          </p:cNvPr>
          <p:cNvSpPr txBox="1"/>
          <p:nvPr/>
        </p:nvSpPr>
        <p:spPr>
          <a:xfrm>
            <a:off x="12649536" y="1716888"/>
            <a:ext cx="1849912" cy="83099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/>
              <a:t>Te debe permitir descargar en Excel la data registrada.</a:t>
            </a:r>
            <a:endParaRPr lang="es-PE" sz="1600"/>
          </a:p>
        </p:txBody>
      </p:sp>
      <p:cxnSp>
        <p:nvCxnSpPr>
          <p:cNvPr id="1044" name="Conector: angular 1043">
            <a:extLst>
              <a:ext uri="{FF2B5EF4-FFF2-40B4-BE49-F238E27FC236}">
                <a16:creationId xmlns:a16="http://schemas.microsoft.com/office/drawing/2014/main" id="{74355991-1DC8-8310-2E30-C816150DC7BB}"/>
              </a:ext>
            </a:extLst>
          </p:cNvPr>
          <p:cNvCxnSpPr>
            <a:cxnSpLocks/>
            <a:stCxn id="1043" idx="2"/>
            <a:endCxn id="39" idx="0"/>
          </p:cNvCxnSpPr>
          <p:nvPr/>
        </p:nvCxnSpPr>
        <p:spPr>
          <a:xfrm rot="5400000">
            <a:off x="12848114" y="2234505"/>
            <a:ext cx="412998" cy="10397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9" name="Rectángulo 1028">
            <a:extLst>
              <a:ext uri="{FF2B5EF4-FFF2-40B4-BE49-F238E27FC236}">
                <a16:creationId xmlns:a16="http://schemas.microsoft.com/office/drawing/2014/main" id="{1D4A1130-0BEA-7C3F-0F05-C96F0C5E90F4}"/>
              </a:ext>
            </a:extLst>
          </p:cNvPr>
          <p:cNvSpPr/>
          <p:nvPr/>
        </p:nvSpPr>
        <p:spPr>
          <a:xfrm>
            <a:off x="9594079" y="2826409"/>
            <a:ext cx="1608723" cy="496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67" name="Rectángulo 1066">
            <a:extLst>
              <a:ext uri="{FF2B5EF4-FFF2-40B4-BE49-F238E27FC236}">
                <a16:creationId xmlns:a16="http://schemas.microsoft.com/office/drawing/2014/main" id="{22BC6DDF-8EBE-6EAB-7365-B84BF1CB02E9}"/>
              </a:ext>
            </a:extLst>
          </p:cNvPr>
          <p:cNvSpPr/>
          <p:nvPr/>
        </p:nvSpPr>
        <p:spPr>
          <a:xfrm>
            <a:off x="15949785" y="4056876"/>
            <a:ext cx="1365825" cy="387743"/>
          </a:xfrm>
          <a:prstGeom prst="rect">
            <a:avLst/>
          </a:prstGeom>
          <a:solidFill>
            <a:srgbClr val="0B3040"/>
          </a:solidFill>
          <a:ln>
            <a:solidFill>
              <a:srgbClr val="0B3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75" name="Imagen 1074">
            <a:extLst>
              <a:ext uri="{FF2B5EF4-FFF2-40B4-BE49-F238E27FC236}">
                <a16:creationId xmlns:a16="http://schemas.microsoft.com/office/drawing/2014/main" id="{3692BEBC-7FA2-5797-B0C5-BC2F0E3AD5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61658" y="3765996"/>
            <a:ext cx="11908755" cy="2308323"/>
          </a:xfrm>
          <a:prstGeom prst="rect">
            <a:avLst/>
          </a:prstGeom>
          <a:ln w="38100" cap="sq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406A579D-78DE-8C01-0705-8CD5F3366939}"/>
              </a:ext>
            </a:extLst>
          </p:cNvPr>
          <p:cNvSpPr/>
          <p:nvPr/>
        </p:nvSpPr>
        <p:spPr>
          <a:xfrm>
            <a:off x="15905515" y="3514877"/>
            <a:ext cx="1469586" cy="242212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9EE523C-CB2F-0699-C29A-EC8C5641579A}"/>
              </a:ext>
            </a:extLst>
          </p:cNvPr>
          <p:cNvSpPr/>
          <p:nvPr/>
        </p:nvSpPr>
        <p:spPr>
          <a:xfrm>
            <a:off x="14394952" y="3532616"/>
            <a:ext cx="1542793" cy="242212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57EB74-8F01-C067-251F-0970203AF0A0}"/>
              </a:ext>
            </a:extLst>
          </p:cNvPr>
          <p:cNvSpPr/>
          <p:nvPr/>
        </p:nvSpPr>
        <p:spPr>
          <a:xfrm>
            <a:off x="11423071" y="3532616"/>
            <a:ext cx="2977022" cy="242212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65" name="Rectángulo 1164">
            <a:extLst>
              <a:ext uri="{FF2B5EF4-FFF2-40B4-BE49-F238E27FC236}">
                <a16:creationId xmlns:a16="http://schemas.microsoft.com/office/drawing/2014/main" id="{CF20F76E-583C-ADE5-DD18-8027E873E05A}"/>
              </a:ext>
            </a:extLst>
          </p:cNvPr>
          <p:cNvSpPr/>
          <p:nvPr/>
        </p:nvSpPr>
        <p:spPr>
          <a:xfrm>
            <a:off x="8654273" y="3532616"/>
            <a:ext cx="2685824" cy="242212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71" name="Rectángulo 1170">
            <a:extLst>
              <a:ext uri="{FF2B5EF4-FFF2-40B4-BE49-F238E27FC236}">
                <a16:creationId xmlns:a16="http://schemas.microsoft.com/office/drawing/2014/main" id="{6CF79A9F-E1B5-8454-DDB7-69667FAE1616}"/>
              </a:ext>
            </a:extLst>
          </p:cNvPr>
          <p:cNvSpPr/>
          <p:nvPr/>
        </p:nvSpPr>
        <p:spPr>
          <a:xfrm>
            <a:off x="5365899" y="3533094"/>
            <a:ext cx="3296963" cy="242212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51FB247-DE4B-710A-C290-708C3BE68AD3}"/>
              </a:ext>
            </a:extLst>
          </p:cNvPr>
          <p:cNvCxnSpPr>
            <a:cxnSpLocks/>
          </p:cNvCxnSpPr>
          <p:nvPr/>
        </p:nvCxnSpPr>
        <p:spPr>
          <a:xfrm flipH="1">
            <a:off x="7147939" y="3533094"/>
            <a:ext cx="29675" cy="24196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20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D9E4-8380-8BF6-AD37-15E0C578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rupo 1023">
            <a:extLst>
              <a:ext uri="{FF2B5EF4-FFF2-40B4-BE49-F238E27FC236}">
                <a16:creationId xmlns:a16="http://schemas.microsoft.com/office/drawing/2014/main" id="{BFD6531C-5ADE-A5DE-A2F4-C1B4A92BAFBC}"/>
              </a:ext>
            </a:extLst>
          </p:cNvPr>
          <p:cNvGrpSpPr/>
          <p:nvPr/>
        </p:nvGrpSpPr>
        <p:grpSpPr>
          <a:xfrm>
            <a:off x="203789" y="258456"/>
            <a:ext cx="18084211" cy="9353662"/>
            <a:chOff x="203789" y="239405"/>
            <a:chExt cx="18084211" cy="9353662"/>
          </a:xfrm>
        </p:grpSpPr>
        <p:sp>
          <p:nvSpPr>
            <p:cNvPr id="18" name="Flecha: pentágono 17">
              <a:extLst>
                <a:ext uri="{FF2B5EF4-FFF2-40B4-BE49-F238E27FC236}">
                  <a16:creationId xmlns:a16="http://schemas.microsoft.com/office/drawing/2014/main" id="{63909CA1-17AD-CB1F-A40B-FB89E9863C3B}"/>
                </a:ext>
              </a:extLst>
            </p:cNvPr>
            <p:cNvSpPr/>
            <p:nvPr/>
          </p:nvSpPr>
          <p:spPr>
            <a:xfrm>
              <a:off x="860442" y="239405"/>
              <a:ext cx="11533890" cy="841311"/>
            </a:xfrm>
            <a:prstGeom prst="homePlate">
              <a:avLst/>
            </a:prstGeom>
            <a:ln w="57150">
              <a:solidFill>
                <a:srgbClr val="D3D3D7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BF178D5-AC10-1BDE-4D7C-1C005D1D8BDC}"/>
                </a:ext>
              </a:extLst>
            </p:cNvPr>
            <p:cNvSpPr txBox="1"/>
            <p:nvPr/>
          </p:nvSpPr>
          <p:spPr>
            <a:xfrm>
              <a:off x="1110956" y="412350"/>
              <a:ext cx="11014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200" b="1">
                  <a:solidFill>
                    <a:schemeClr val="bg1"/>
                  </a:solidFill>
                </a:rPr>
                <a:t>VISTA INICIAL DEL ADMINISTRADOR Y DEL USUARIO DE APP I+D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A577E9C-3F63-A177-780C-6F505D566FAC}"/>
                </a:ext>
              </a:extLst>
            </p:cNvPr>
            <p:cNvSpPr txBox="1"/>
            <p:nvPr/>
          </p:nvSpPr>
          <p:spPr>
            <a:xfrm>
              <a:off x="203789" y="1395563"/>
              <a:ext cx="2311276" cy="378565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 dirty="0"/>
                <a:t>Esta plataforma tiene como objetivo recopilar los datos generados por la aplicación móvil, procesarlos y transformarlos en gráficos comparativos. Además, nos debe permitir descargar los registros recopilados.</a:t>
              </a:r>
            </a:p>
            <a:p>
              <a:pPr algn="just"/>
              <a:r>
                <a:rPr lang="es-MX" sz="1600" dirty="0"/>
                <a:t>Para este reporte se mostrara todos los estados que están pasando el requerimiento.</a:t>
              </a:r>
              <a:endParaRPr lang="es-PE" sz="1600" dirty="0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7505C180-9B87-5A00-56C8-4548D5FE7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7213" y="1407886"/>
              <a:ext cx="15269487" cy="767080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7E845E1-3D45-9899-2013-3A1E60406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2746" y="3756939"/>
              <a:ext cx="11768705" cy="679760"/>
            </a:xfrm>
            <a:prstGeom prst="rect">
              <a:avLst/>
            </a:prstGeom>
          </p:spPr>
        </p:pic>
        <p:sp>
          <p:nvSpPr>
            <p:cNvPr id="5" name="CuadroTexto 74">
              <a:extLst>
                <a:ext uri="{FF2B5EF4-FFF2-40B4-BE49-F238E27FC236}">
                  <a16:creationId xmlns:a16="http://schemas.microsoft.com/office/drawing/2014/main" id="{0DE50A3D-348A-0FFE-1908-CA35A94EF416}"/>
                </a:ext>
              </a:extLst>
            </p:cNvPr>
            <p:cNvSpPr txBox="1"/>
            <p:nvPr/>
          </p:nvSpPr>
          <p:spPr>
            <a:xfrm>
              <a:off x="5808570" y="3781129"/>
              <a:ext cx="1265880" cy="237399"/>
            </a:xfrm>
            <a:prstGeom prst="rect">
              <a:avLst/>
            </a:prstGeom>
            <a:solidFill>
              <a:srgbClr val="3C4651"/>
            </a:solidFill>
          </p:spPr>
          <p:txBody>
            <a:bodyPr wrap="square" rtlCol="0">
              <a:spAutoFit/>
            </a:bodyPr>
            <a:lstStyle>
              <a:defPPr>
                <a:defRPr lang="es-P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MX" sz="9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AREA</a:t>
              </a:r>
              <a:endParaRPr lang="es-PE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CuadroTexto 74">
              <a:extLst>
                <a:ext uri="{FF2B5EF4-FFF2-40B4-BE49-F238E27FC236}">
                  <a16:creationId xmlns:a16="http://schemas.microsoft.com/office/drawing/2014/main" id="{E40C78B5-C10A-D539-C810-CE75084A082B}"/>
                </a:ext>
              </a:extLst>
            </p:cNvPr>
            <p:cNvSpPr txBox="1"/>
            <p:nvPr/>
          </p:nvSpPr>
          <p:spPr>
            <a:xfrm>
              <a:off x="7465913" y="3791921"/>
              <a:ext cx="1265880" cy="237399"/>
            </a:xfrm>
            <a:prstGeom prst="rect">
              <a:avLst/>
            </a:prstGeom>
            <a:solidFill>
              <a:srgbClr val="3C4651"/>
            </a:solidFill>
          </p:spPr>
          <p:txBody>
            <a:bodyPr wrap="square" rtlCol="0">
              <a:spAutoFit/>
            </a:bodyPr>
            <a:lstStyle>
              <a:defPPr>
                <a:defRPr lang="es-P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MX" sz="9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FUNDO</a:t>
              </a:r>
              <a:endParaRPr lang="es-PE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CuadroTexto 74">
              <a:extLst>
                <a:ext uri="{FF2B5EF4-FFF2-40B4-BE49-F238E27FC236}">
                  <a16:creationId xmlns:a16="http://schemas.microsoft.com/office/drawing/2014/main" id="{27B8909A-A9FE-8264-9C92-2792F13DA42E}"/>
                </a:ext>
              </a:extLst>
            </p:cNvPr>
            <p:cNvSpPr txBox="1"/>
            <p:nvPr/>
          </p:nvSpPr>
          <p:spPr>
            <a:xfrm>
              <a:off x="9146076" y="3781129"/>
              <a:ext cx="1265880" cy="237399"/>
            </a:xfrm>
            <a:prstGeom prst="rect">
              <a:avLst/>
            </a:prstGeom>
            <a:solidFill>
              <a:srgbClr val="3C4651"/>
            </a:solidFill>
          </p:spPr>
          <p:txBody>
            <a:bodyPr wrap="square" rtlCol="0">
              <a:spAutoFit/>
            </a:bodyPr>
            <a:lstStyle>
              <a:defPPr>
                <a:defRPr lang="es-P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MX" sz="9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LOTE</a:t>
              </a:r>
              <a:endParaRPr lang="es-PE" sz="9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E1C8E760-AFDC-7EFF-4BC1-70BB22227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551055" y="1407886"/>
              <a:ext cx="1344903" cy="481166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A18494AE-D1BD-5E73-467F-B84AD410AD80}"/>
                </a:ext>
              </a:extLst>
            </p:cNvPr>
            <p:cNvSpPr txBox="1"/>
            <p:nvPr/>
          </p:nvSpPr>
          <p:spPr>
            <a:xfrm>
              <a:off x="5491166" y="2240428"/>
              <a:ext cx="4920789" cy="379838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4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7B95C1"/>
                  </a:solidFill>
                </a:rPr>
                <a:t>Requerimiento de insectos benéficos</a:t>
              </a:r>
              <a:endParaRPr lang="es-PE" dirty="0">
                <a:solidFill>
                  <a:srgbClr val="7B95C1"/>
                </a:solidFill>
              </a:endParaRP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4EAFC179-88FC-1BD2-0D4F-78FE1BDE2DF3}"/>
                </a:ext>
              </a:extLst>
            </p:cNvPr>
            <p:cNvSpPr txBox="1"/>
            <p:nvPr/>
          </p:nvSpPr>
          <p:spPr>
            <a:xfrm>
              <a:off x="3069208" y="2806317"/>
              <a:ext cx="2015087" cy="430887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4FFFF"/>
              </a:solidFill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s-MX" sz="1100" dirty="0">
                  <a:solidFill>
                    <a:srgbClr val="7B95C1"/>
                  </a:solidFill>
                </a:rPr>
                <a:t>Requerimiento de insectos benéficos</a:t>
              </a:r>
              <a:endParaRPr lang="es-PE" sz="1100" dirty="0">
                <a:solidFill>
                  <a:srgbClr val="7B95C1"/>
                </a:solidFill>
              </a:endParaRP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27D8794-7BAE-D28A-4040-D1F06B6ACBA6}"/>
                </a:ext>
              </a:extLst>
            </p:cNvPr>
            <p:cNvSpPr/>
            <p:nvPr/>
          </p:nvSpPr>
          <p:spPr>
            <a:xfrm>
              <a:off x="5964397" y="3021039"/>
              <a:ext cx="2559730" cy="284879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9DE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A229823-31F6-8A89-E715-66D39C154627}"/>
                </a:ext>
              </a:extLst>
            </p:cNvPr>
            <p:cNvSpPr/>
            <p:nvPr/>
          </p:nvSpPr>
          <p:spPr>
            <a:xfrm>
              <a:off x="2889748" y="3240041"/>
              <a:ext cx="2015087" cy="13583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A9B8A1E9-F0AA-EAC6-6F26-C5ABDF7DB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53393" y="3781130"/>
              <a:ext cx="2397311" cy="1468638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3E69E3D-90E9-FA44-B331-21C15321DF51}"/>
                </a:ext>
              </a:extLst>
            </p:cNvPr>
            <p:cNvSpPr txBox="1"/>
            <p:nvPr/>
          </p:nvSpPr>
          <p:spPr>
            <a:xfrm>
              <a:off x="3073783" y="3207466"/>
              <a:ext cx="2015087" cy="269052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4FFFF"/>
              </a:solidFill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s-MX" sz="1100">
                  <a:solidFill>
                    <a:schemeClr val="bg1">
                      <a:lumMod val="65000"/>
                    </a:schemeClr>
                  </a:solidFill>
                </a:rPr>
                <a:t>Programación semanal</a:t>
              </a:r>
              <a:endParaRPr lang="es-PE" sz="11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C8067F54-E9A2-62A1-2F09-12B7EC922794}"/>
                </a:ext>
              </a:extLst>
            </p:cNvPr>
            <p:cNvSpPr txBox="1"/>
            <p:nvPr/>
          </p:nvSpPr>
          <p:spPr>
            <a:xfrm>
              <a:off x="3069206" y="3424617"/>
              <a:ext cx="2015087" cy="261139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4FFFF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105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1D4FEA2D-CF9B-F382-7A48-65AD10AF92B6}"/>
                </a:ext>
              </a:extLst>
            </p:cNvPr>
            <p:cNvSpPr txBox="1"/>
            <p:nvPr/>
          </p:nvSpPr>
          <p:spPr>
            <a:xfrm>
              <a:off x="3069205" y="3424617"/>
              <a:ext cx="2015087" cy="269052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4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100">
                  <a:solidFill>
                    <a:schemeClr val="bg1">
                      <a:lumMod val="65000"/>
                    </a:schemeClr>
                  </a:solidFill>
                </a:rPr>
                <a:t>Evaluación de Nematodos</a:t>
              </a:r>
              <a:endParaRPr lang="es-PE" sz="11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BF626F39-6F42-9D95-4453-8FFD2A42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19635" y="2981087"/>
              <a:ext cx="1113405" cy="340706"/>
            </a:xfrm>
            <a:prstGeom prst="rect">
              <a:avLst/>
            </a:prstGeom>
          </p:spPr>
        </p:pic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075B5A5E-058C-5BFA-519E-20F9ACE769C5}"/>
                </a:ext>
              </a:extLst>
            </p:cNvPr>
            <p:cNvSpPr/>
            <p:nvPr/>
          </p:nvSpPr>
          <p:spPr>
            <a:xfrm>
              <a:off x="12181238" y="2774168"/>
              <a:ext cx="2790841" cy="63927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565AE4-1387-6319-16B1-4EDA5E6E6184}"/>
                </a:ext>
              </a:extLst>
            </p:cNvPr>
            <p:cNvSpPr/>
            <p:nvPr/>
          </p:nvSpPr>
          <p:spPr>
            <a:xfrm>
              <a:off x="3116264" y="2830001"/>
              <a:ext cx="1788571" cy="35998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5827A67-EADB-A2CC-73B0-412B28BD2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6271" y="2958343"/>
              <a:ext cx="302572" cy="342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0AB1017-5F8C-CFA5-959B-8F373BE12F6E}"/>
                </a:ext>
              </a:extLst>
            </p:cNvPr>
            <p:cNvSpPr txBox="1"/>
            <p:nvPr/>
          </p:nvSpPr>
          <p:spPr>
            <a:xfrm>
              <a:off x="12394332" y="5492122"/>
              <a:ext cx="1849912" cy="156966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Cada que se haga un cambio de estado, en automático te debe registrar la fecha del cambio.</a:t>
              </a:r>
              <a:endParaRPr lang="es-PE" sz="1600"/>
            </a:p>
          </p:txBody>
        </p:sp>
        <p:sp>
          <p:nvSpPr>
            <p:cNvPr id="27" name="Cerrar llave 26">
              <a:extLst>
                <a:ext uri="{FF2B5EF4-FFF2-40B4-BE49-F238E27FC236}">
                  <a16:creationId xmlns:a16="http://schemas.microsoft.com/office/drawing/2014/main" id="{6B5B31F8-419E-95B7-EF7D-A36F32AE969A}"/>
                </a:ext>
              </a:extLst>
            </p:cNvPr>
            <p:cNvSpPr/>
            <p:nvPr/>
          </p:nvSpPr>
          <p:spPr>
            <a:xfrm rot="5400000">
              <a:off x="10379871" y="3621443"/>
              <a:ext cx="149187" cy="2992470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BA07663-2D9C-C215-2C25-5F84CF47D4FE}"/>
                </a:ext>
              </a:extLst>
            </p:cNvPr>
            <p:cNvSpPr txBox="1"/>
            <p:nvPr/>
          </p:nvSpPr>
          <p:spPr>
            <a:xfrm>
              <a:off x="4544261" y="5174539"/>
              <a:ext cx="1849912" cy="1323439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La información de estos campos se extraerá desde la vista </a:t>
              </a:r>
              <a:r>
                <a:rPr lang="es-MX" sz="1600" b="1"/>
                <a:t>“Solicitud de Requerimiento”.</a:t>
              </a:r>
              <a:endParaRPr lang="es-PE" sz="1600" b="1"/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83D9790-6167-56E1-D412-5873E51AE374}"/>
                </a:ext>
              </a:extLst>
            </p:cNvPr>
            <p:cNvSpPr/>
            <p:nvPr/>
          </p:nvSpPr>
          <p:spPr>
            <a:xfrm>
              <a:off x="11506271" y="2958343"/>
              <a:ext cx="335952" cy="34070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3CCB3AD9-FB0A-D2CE-DCB5-2EB3F19CB1D1}"/>
                </a:ext>
              </a:extLst>
            </p:cNvPr>
            <p:cNvSpPr txBox="1"/>
            <p:nvPr/>
          </p:nvSpPr>
          <p:spPr>
            <a:xfrm>
              <a:off x="9649553" y="1110066"/>
              <a:ext cx="1849912" cy="830997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Te debe permitir descargar en Excel la data registrada.</a:t>
              </a:r>
              <a:endParaRPr lang="es-PE" sz="1600"/>
            </a:p>
          </p:txBody>
        </p:sp>
        <p:cxnSp>
          <p:nvCxnSpPr>
            <p:cNvPr id="44" name="Conector: angular 43">
              <a:extLst>
                <a:ext uri="{FF2B5EF4-FFF2-40B4-BE49-F238E27FC236}">
                  <a16:creationId xmlns:a16="http://schemas.microsoft.com/office/drawing/2014/main" id="{F360601E-6FB7-3B90-4EDF-ACD75DB0F150}"/>
                </a:ext>
              </a:extLst>
            </p:cNvPr>
            <p:cNvCxnSpPr>
              <a:cxnSpLocks/>
              <a:stCxn id="43" idx="2"/>
              <a:endCxn id="39" idx="0"/>
            </p:cNvCxnSpPr>
            <p:nvPr/>
          </p:nvCxnSpPr>
          <p:spPr>
            <a:xfrm rot="16200000" flipH="1">
              <a:off x="10615738" y="1899834"/>
              <a:ext cx="1017280" cy="10997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06E29106-577B-E0ED-7736-F756FEE5DEA4}"/>
                </a:ext>
              </a:extLst>
            </p:cNvPr>
            <p:cNvSpPr txBox="1"/>
            <p:nvPr/>
          </p:nvSpPr>
          <p:spPr>
            <a:xfrm>
              <a:off x="16743989" y="5501662"/>
              <a:ext cx="1544011" cy="830997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600"/>
                <a:t>Opción para descargar el acta de entrega </a:t>
              </a:r>
              <a:endParaRPr lang="es-PE" sz="160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9762A8C-AC08-0C96-7C79-22A4FC78B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9569" t="10214" r="39364" b="79038"/>
            <a:stretch>
              <a:fillRect/>
            </a:stretch>
          </p:blipFill>
          <p:spPr>
            <a:xfrm>
              <a:off x="6091403" y="3044885"/>
              <a:ext cx="1548102" cy="253761"/>
            </a:xfrm>
            <a:prstGeom prst="rect">
              <a:avLst/>
            </a:prstGeom>
          </p:spPr>
        </p:pic>
        <p:sp>
          <p:nvSpPr>
            <p:cNvPr id="24" name="Cerrar llave 23">
              <a:extLst>
                <a:ext uri="{FF2B5EF4-FFF2-40B4-BE49-F238E27FC236}">
                  <a16:creationId xmlns:a16="http://schemas.microsoft.com/office/drawing/2014/main" id="{998C5C74-97C7-0CBD-F4C2-22BCC1DD3833}"/>
                </a:ext>
              </a:extLst>
            </p:cNvPr>
            <p:cNvSpPr/>
            <p:nvPr/>
          </p:nvSpPr>
          <p:spPr>
            <a:xfrm rot="5400000">
              <a:off x="16762564" y="4385493"/>
              <a:ext cx="182617" cy="1001168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Cerrar llave 56">
              <a:extLst>
                <a:ext uri="{FF2B5EF4-FFF2-40B4-BE49-F238E27FC236}">
                  <a16:creationId xmlns:a16="http://schemas.microsoft.com/office/drawing/2014/main" id="{BC754259-D46C-B0F6-8B76-8EC942FB030F}"/>
                </a:ext>
              </a:extLst>
            </p:cNvPr>
            <p:cNvSpPr/>
            <p:nvPr/>
          </p:nvSpPr>
          <p:spPr>
            <a:xfrm rot="5400000">
              <a:off x="5698733" y="1919415"/>
              <a:ext cx="187150" cy="6284202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2" name="Cerrar llave 61">
              <a:extLst>
                <a:ext uri="{FF2B5EF4-FFF2-40B4-BE49-F238E27FC236}">
                  <a16:creationId xmlns:a16="http://schemas.microsoft.com/office/drawing/2014/main" id="{64C41325-0275-7CD2-8523-19A24E9AE45F}"/>
                </a:ext>
              </a:extLst>
            </p:cNvPr>
            <p:cNvSpPr/>
            <p:nvPr/>
          </p:nvSpPr>
          <p:spPr>
            <a:xfrm rot="16200000">
              <a:off x="12727493" y="2537039"/>
              <a:ext cx="88970" cy="1755022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F1987F8A-4EA6-465E-A967-2F9FEE4B67F5}"/>
                </a:ext>
              </a:extLst>
            </p:cNvPr>
            <p:cNvSpPr txBox="1"/>
            <p:nvPr/>
          </p:nvSpPr>
          <p:spPr>
            <a:xfrm>
              <a:off x="11848491" y="1883864"/>
              <a:ext cx="1849912" cy="1323439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600"/>
                <a:t>La información de estos campos se obtendrá de la vista </a:t>
              </a:r>
              <a:r>
                <a:rPr lang="es-MX" sz="1600" b="1"/>
                <a:t>“Solicitud de Requerimiento”</a:t>
              </a:r>
              <a:endParaRPr lang="es-PE" sz="1600" b="1"/>
            </a:p>
          </p:txBody>
        </p:sp>
        <p:sp>
          <p:nvSpPr>
            <p:cNvPr id="1036" name="Cerrar llave 1035">
              <a:extLst>
                <a:ext uri="{FF2B5EF4-FFF2-40B4-BE49-F238E27FC236}">
                  <a16:creationId xmlns:a16="http://schemas.microsoft.com/office/drawing/2014/main" id="{D19215DF-6E63-0C37-853B-1DBBF3AF0CBF}"/>
                </a:ext>
              </a:extLst>
            </p:cNvPr>
            <p:cNvSpPr/>
            <p:nvPr/>
          </p:nvSpPr>
          <p:spPr>
            <a:xfrm rot="16200000">
              <a:off x="15449533" y="2636655"/>
              <a:ext cx="131125" cy="1597942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37" name="CuadroTexto 1036">
              <a:extLst>
                <a:ext uri="{FF2B5EF4-FFF2-40B4-BE49-F238E27FC236}">
                  <a16:creationId xmlns:a16="http://schemas.microsoft.com/office/drawing/2014/main" id="{06154BDF-DDD6-C6AB-758A-C0B153B9EF7B}"/>
                </a:ext>
              </a:extLst>
            </p:cNvPr>
            <p:cNvSpPr txBox="1"/>
            <p:nvPr/>
          </p:nvSpPr>
          <p:spPr>
            <a:xfrm>
              <a:off x="14360336" y="1943170"/>
              <a:ext cx="1849912" cy="830997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Esta data se ve en la vista </a:t>
              </a:r>
              <a:r>
                <a:rPr lang="es-MX" sz="1600" b="1"/>
                <a:t>“Solicitud de Requerimientos”</a:t>
              </a:r>
              <a:endParaRPr lang="es-PE" sz="1600" b="1"/>
            </a:p>
          </p:txBody>
        </p:sp>
        <p:cxnSp>
          <p:nvCxnSpPr>
            <p:cNvPr id="1041" name="Conector recto de flecha 1040">
              <a:extLst>
                <a:ext uri="{FF2B5EF4-FFF2-40B4-BE49-F238E27FC236}">
                  <a16:creationId xmlns:a16="http://schemas.microsoft.com/office/drawing/2014/main" id="{D0B5F24F-AE59-B29C-58AA-AE57A7672532}"/>
                </a:ext>
              </a:extLst>
            </p:cNvPr>
            <p:cNvCxnSpPr>
              <a:cxnSpLocks/>
              <a:stCxn id="63" idx="2"/>
              <a:endCxn id="62" idx="1"/>
            </p:cNvCxnSpPr>
            <p:nvPr/>
          </p:nvCxnSpPr>
          <p:spPr>
            <a:xfrm flipH="1">
              <a:off x="12771978" y="3207303"/>
              <a:ext cx="1469" cy="1627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55" name="Elipse 1154">
              <a:extLst>
                <a:ext uri="{FF2B5EF4-FFF2-40B4-BE49-F238E27FC236}">
                  <a16:creationId xmlns:a16="http://schemas.microsoft.com/office/drawing/2014/main" id="{E1FBA1C8-344D-4121-C7EB-69E2CC04B35F}"/>
                </a:ext>
              </a:extLst>
            </p:cNvPr>
            <p:cNvSpPr/>
            <p:nvPr/>
          </p:nvSpPr>
          <p:spPr>
            <a:xfrm>
              <a:off x="4485504" y="5075717"/>
              <a:ext cx="207475" cy="2331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1</a:t>
              </a:r>
              <a:endParaRPr lang="es-PE"/>
            </a:p>
          </p:txBody>
        </p:sp>
        <p:sp>
          <p:nvSpPr>
            <p:cNvPr id="1159" name="CuadroTexto 1158">
              <a:extLst>
                <a:ext uri="{FF2B5EF4-FFF2-40B4-BE49-F238E27FC236}">
                  <a16:creationId xmlns:a16="http://schemas.microsoft.com/office/drawing/2014/main" id="{CCEABFCD-FA82-2C6E-A001-57126D9C32F1}"/>
                </a:ext>
              </a:extLst>
            </p:cNvPr>
            <p:cNvSpPr txBox="1"/>
            <p:nvPr/>
          </p:nvSpPr>
          <p:spPr>
            <a:xfrm>
              <a:off x="9529509" y="5611230"/>
              <a:ext cx="1849912" cy="15696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600"/>
                <a:t>La información de cada cambio de estado se extraerá de la vista </a:t>
              </a:r>
              <a:r>
                <a:rPr lang="es-MX" sz="1600" b="1"/>
                <a:t>“Solicitud de requerimientos”</a:t>
              </a:r>
              <a:endParaRPr lang="es-PE" sz="1600" b="1"/>
            </a:p>
          </p:txBody>
        </p:sp>
        <p:cxnSp>
          <p:nvCxnSpPr>
            <p:cNvPr id="1161" name="Conector recto de flecha 1160">
              <a:extLst>
                <a:ext uri="{FF2B5EF4-FFF2-40B4-BE49-F238E27FC236}">
                  <a16:creationId xmlns:a16="http://schemas.microsoft.com/office/drawing/2014/main" id="{DC99C931-C70B-2523-962F-0C86F62E8A80}"/>
                </a:ext>
              </a:extLst>
            </p:cNvPr>
            <p:cNvCxnSpPr>
              <a:stCxn id="1159" idx="0"/>
              <a:endCxn id="27" idx="1"/>
            </p:cNvCxnSpPr>
            <p:nvPr/>
          </p:nvCxnSpPr>
          <p:spPr>
            <a:xfrm flipV="1">
              <a:off x="10454465" y="5192272"/>
              <a:ext cx="0" cy="4189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64" name="Elipse 1163">
              <a:extLst>
                <a:ext uri="{FF2B5EF4-FFF2-40B4-BE49-F238E27FC236}">
                  <a16:creationId xmlns:a16="http://schemas.microsoft.com/office/drawing/2014/main" id="{EAC70BDF-31B3-A7F9-7A41-5DA9235A80E3}"/>
                </a:ext>
              </a:extLst>
            </p:cNvPr>
            <p:cNvSpPr/>
            <p:nvPr/>
          </p:nvSpPr>
          <p:spPr>
            <a:xfrm>
              <a:off x="9442083" y="5492122"/>
              <a:ext cx="207475" cy="23310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2</a:t>
              </a:r>
              <a:endParaRPr lang="es-PE"/>
            </a:p>
          </p:txBody>
        </p:sp>
        <p:sp>
          <p:nvSpPr>
            <p:cNvPr id="1167" name="Elipse 1166">
              <a:extLst>
                <a:ext uri="{FF2B5EF4-FFF2-40B4-BE49-F238E27FC236}">
                  <a16:creationId xmlns:a16="http://schemas.microsoft.com/office/drawing/2014/main" id="{B374FBA4-E108-855B-1C75-B0F1E8ABDD7B}"/>
                </a:ext>
              </a:extLst>
            </p:cNvPr>
            <p:cNvSpPr/>
            <p:nvPr/>
          </p:nvSpPr>
          <p:spPr>
            <a:xfrm>
              <a:off x="11713504" y="1739410"/>
              <a:ext cx="207475" cy="233108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3</a:t>
              </a:r>
              <a:endParaRPr lang="es-PE"/>
            </a:p>
          </p:txBody>
        </p:sp>
        <p:sp>
          <p:nvSpPr>
            <p:cNvPr id="1171" name="CuadroTexto 1170">
              <a:extLst>
                <a:ext uri="{FF2B5EF4-FFF2-40B4-BE49-F238E27FC236}">
                  <a16:creationId xmlns:a16="http://schemas.microsoft.com/office/drawing/2014/main" id="{E4B2937B-C92F-1E6C-03CD-594E72957E5F}"/>
                </a:ext>
              </a:extLst>
            </p:cNvPr>
            <p:cNvSpPr txBox="1"/>
            <p:nvPr/>
          </p:nvSpPr>
          <p:spPr>
            <a:xfrm>
              <a:off x="13198532" y="1202412"/>
              <a:ext cx="1849912" cy="584775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Vista </a:t>
              </a:r>
              <a:r>
                <a:rPr lang="es-MX" sz="1600" b="1"/>
                <a:t>“Solicitud de Requerimiento”</a:t>
              </a:r>
              <a:endParaRPr lang="es-PE" sz="1600" b="1"/>
            </a:p>
          </p:txBody>
        </p:sp>
        <p:sp>
          <p:nvSpPr>
            <p:cNvPr id="1174" name="Elipse 1173">
              <a:extLst>
                <a:ext uri="{FF2B5EF4-FFF2-40B4-BE49-F238E27FC236}">
                  <a16:creationId xmlns:a16="http://schemas.microsoft.com/office/drawing/2014/main" id="{83709AD1-9DFE-418A-F0D6-08BAB7FAAEA5}"/>
                </a:ext>
              </a:extLst>
            </p:cNvPr>
            <p:cNvSpPr/>
            <p:nvPr/>
          </p:nvSpPr>
          <p:spPr>
            <a:xfrm>
              <a:off x="13096896" y="1121319"/>
              <a:ext cx="207475" cy="233108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4</a:t>
              </a:r>
              <a:endParaRPr lang="es-PE"/>
            </a:p>
          </p:txBody>
        </p:sp>
        <p:pic>
          <p:nvPicPr>
            <p:cNvPr id="1152" name="Imagen 1151">
              <a:extLst>
                <a:ext uri="{FF2B5EF4-FFF2-40B4-BE49-F238E27FC236}">
                  <a16:creationId xmlns:a16="http://schemas.microsoft.com/office/drawing/2014/main" id="{170D8832-80EC-964C-E089-9445E3A3D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1777" y="5210361"/>
              <a:ext cx="2449593" cy="4382706"/>
            </a:xfrm>
            <a:prstGeom prst="rect">
              <a:avLst/>
            </a:prstGeom>
          </p:spPr>
        </p:pic>
        <p:sp>
          <p:nvSpPr>
            <p:cNvPr id="1153" name="Rectángulo 1152">
              <a:extLst>
                <a:ext uri="{FF2B5EF4-FFF2-40B4-BE49-F238E27FC236}">
                  <a16:creationId xmlns:a16="http://schemas.microsoft.com/office/drawing/2014/main" id="{70C4F269-CEBE-812E-F3F9-F24D22169FC2}"/>
                </a:ext>
              </a:extLst>
            </p:cNvPr>
            <p:cNvSpPr/>
            <p:nvPr/>
          </p:nvSpPr>
          <p:spPr>
            <a:xfrm>
              <a:off x="629077" y="5637052"/>
              <a:ext cx="2449593" cy="1532272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54" name="Elipse 1153">
              <a:extLst>
                <a:ext uri="{FF2B5EF4-FFF2-40B4-BE49-F238E27FC236}">
                  <a16:creationId xmlns:a16="http://schemas.microsoft.com/office/drawing/2014/main" id="{C256F34D-C95D-A68A-F61A-EA40FD17CA1D}"/>
                </a:ext>
              </a:extLst>
            </p:cNvPr>
            <p:cNvSpPr/>
            <p:nvPr/>
          </p:nvSpPr>
          <p:spPr>
            <a:xfrm>
              <a:off x="510090" y="5517749"/>
              <a:ext cx="207475" cy="2331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1</a:t>
              </a:r>
              <a:endParaRPr lang="es-PE"/>
            </a:p>
          </p:txBody>
        </p:sp>
        <p:sp>
          <p:nvSpPr>
            <p:cNvPr id="1156" name="Rectángulo 1155">
              <a:extLst>
                <a:ext uri="{FF2B5EF4-FFF2-40B4-BE49-F238E27FC236}">
                  <a16:creationId xmlns:a16="http://schemas.microsoft.com/office/drawing/2014/main" id="{E1336852-F1B3-EDBC-945C-E8D7E593504D}"/>
                </a:ext>
              </a:extLst>
            </p:cNvPr>
            <p:cNvSpPr/>
            <p:nvPr/>
          </p:nvSpPr>
          <p:spPr>
            <a:xfrm>
              <a:off x="629077" y="7169324"/>
              <a:ext cx="2449593" cy="32717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57" name="Elipse 1156">
              <a:extLst>
                <a:ext uri="{FF2B5EF4-FFF2-40B4-BE49-F238E27FC236}">
                  <a16:creationId xmlns:a16="http://schemas.microsoft.com/office/drawing/2014/main" id="{BEDDF9B3-0CA5-90AF-14DB-85E7217EB0D9}"/>
                </a:ext>
              </a:extLst>
            </p:cNvPr>
            <p:cNvSpPr/>
            <p:nvPr/>
          </p:nvSpPr>
          <p:spPr>
            <a:xfrm>
              <a:off x="490746" y="7050021"/>
              <a:ext cx="207475" cy="23310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2</a:t>
              </a:r>
              <a:endParaRPr lang="es-PE"/>
            </a:p>
          </p:txBody>
        </p:sp>
        <p:sp>
          <p:nvSpPr>
            <p:cNvPr id="1165" name="Rectángulo 1164">
              <a:extLst>
                <a:ext uri="{FF2B5EF4-FFF2-40B4-BE49-F238E27FC236}">
                  <a16:creationId xmlns:a16="http://schemas.microsoft.com/office/drawing/2014/main" id="{4B15B92C-31AD-C7D7-1BB8-6096DDE779CC}"/>
                </a:ext>
              </a:extLst>
            </p:cNvPr>
            <p:cNvSpPr/>
            <p:nvPr/>
          </p:nvSpPr>
          <p:spPr>
            <a:xfrm>
              <a:off x="626527" y="7529319"/>
              <a:ext cx="2449593" cy="685965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66" name="Elipse 1165">
              <a:extLst>
                <a:ext uri="{FF2B5EF4-FFF2-40B4-BE49-F238E27FC236}">
                  <a16:creationId xmlns:a16="http://schemas.microsoft.com/office/drawing/2014/main" id="{85180D52-B92D-772B-85A5-EC8976AB2A44}"/>
                </a:ext>
              </a:extLst>
            </p:cNvPr>
            <p:cNvSpPr/>
            <p:nvPr/>
          </p:nvSpPr>
          <p:spPr>
            <a:xfrm>
              <a:off x="507539" y="7449526"/>
              <a:ext cx="207475" cy="233108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3</a:t>
              </a:r>
              <a:endParaRPr lang="es-PE"/>
            </a:p>
          </p:txBody>
        </p:sp>
        <p:sp>
          <p:nvSpPr>
            <p:cNvPr id="1168" name="Rectángulo 1167">
              <a:extLst>
                <a:ext uri="{FF2B5EF4-FFF2-40B4-BE49-F238E27FC236}">
                  <a16:creationId xmlns:a16="http://schemas.microsoft.com/office/drawing/2014/main" id="{2F9007A3-7677-250F-80E8-151ECF123988}"/>
                </a:ext>
              </a:extLst>
            </p:cNvPr>
            <p:cNvSpPr/>
            <p:nvPr/>
          </p:nvSpPr>
          <p:spPr>
            <a:xfrm>
              <a:off x="611276" y="8239311"/>
              <a:ext cx="2449593" cy="229178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69" name="Elipse 1168">
              <a:extLst>
                <a:ext uri="{FF2B5EF4-FFF2-40B4-BE49-F238E27FC236}">
                  <a16:creationId xmlns:a16="http://schemas.microsoft.com/office/drawing/2014/main" id="{199551F4-41E5-3708-8656-471E308A2E09}"/>
                </a:ext>
              </a:extLst>
            </p:cNvPr>
            <p:cNvSpPr/>
            <p:nvPr/>
          </p:nvSpPr>
          <p:spPr>
            <a:xfrm>
              <a:off x="477037" y="8122757"/>
              <a:ext cx="207475" cy="233108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4</a:t>
              </a:r>
              <a:endParaRPr lang="es-PE"/>
            </a:p>
          </p:txBody>
        </p:sp>
        <p:sp>
          <p:nvSpPr>
            <p:cNvPr id="1175" name="Rectángulo 1174">
              <a:extLst>
                <a:ext uri="{FF2B5EF4-FFF2-40B4-BE49-F238E27FC236}">
                  <a16:creationId xmlns:a16="http://schemas.microsoft.com/office/drawing/2014/main" id="{A6B28456-38C2-051D-A47B-1792D7F4DDA0}"/>
                </a:ext>
              </a:extLst>
            </p:cNvPr>
            <p:cNvSpPr/>
            <p:nvPr/>
          </p:nvSpPr>
          <p:spPr>
            <a:xfrm>
              <a:off x="607183" y="8505623"/>
              <a:ext cx="2449593" cy="687403"/>
            </a:xfrm>
            <a:prstGeom prst="rect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76" name="Elipse 1175">
              <a:extLst>
                <a:ext uri="{FF2B5EF4-FFF2-40B4-BE49-F238E27FC236}">
                  <a16:creationId xmlns:a16="http://schemas.microsoft.com/office/drawing/2014/main" id="{1CB328AF-DAC6-631A-4858-978BCAC2F274}"/>
                </a:ext>
              </a:extLst>
            </p:cNvPr>
            <p:cNvSpPr/>
            <p:nvPr/>
          </p:nvSpPr>
          <p:spPr>
            <a:xfrm>
              <a:off x="490745" y="8439331"/>
              <a:ext cx="207475" cy="233108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5</a:t>
              </a:r>
              <a:endParaRPr lang="es-PE"/>
            </a:p>
          </p:txBody>
        </p:sp>
        <p:sp>
          <p:nvSpPr>
            <p:cNvPr id="1177" name="Elipse 1176">
              <a:extLst>
                <a:ext uri="{FF2B5EF4-FFF2-40B4-BE49-F238E27FC236}">
                  <a16:creationId xmlns:a16="http://schemas.microsoft.com/office/drawing/2014/main" id="{481062E0-1F3C-B55B-F0C2-C4DFDC4EF286}"/>
                </a:ext>
              </a:extLst>
            </p:cNvPr>
            <p:cNvSpPr/>
            <p:nvPr/>
          </p:nvSpPr>
          <p:spPr>
            <a:xfrm>
              <a:off x="14223729" y="1798309"/>
              <a:ext cx="207475" cy="233108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5</a:t>
              </a:r>
              <a:endParaRPr lang="es-PE"/>
            </a:p>
          </p:txBody>
        </p:sp>
        <p:cxnSp>
          <p:nvCxnSpPr>
            <p:cNvPr id="1180" name="Conector recto de flecha 1179">
              <a:extLst>
                <a:ext uri="{FF2B5EF4-FFF2-40B4-BE49-F238E27FC236}">
                  <a16:creationId xmlns:a16="http://schemas.microsoft.com/office/drawing/2014/main" id="{3F48926C-9F28-2FEF-B72B-A687F23E8D4B}"/>
                </a:ext>
              </a:extLst>
            </p:cNvPr>
            <p:cNvCxnSpPr>
              <a:cxnSpLocks/>
              <a:stCxn id="1171" idx="2"/>
            </p:cNvCxnSpPr>
            <p:nvPr/>
          </p:nvCxnSpPr>
          <p:spPr>
            <a:xfrm>
              <a:off x="14123488" y="1787187"/>
              <a:ext cx="40494" cy="16778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81" name="CuadroTexto 1180">
              <a:extLst>
                <a:ext uri="{FF2B5EF4-FFF2-40B4-BE49-F238E27FC236}">
                  <a16:creationId xmlns:a16="http://schemas.microsoft.com/office/drawing/2014/main" id="{510F02F5-777C-4A18-D199-A9B916EB2A7A}"/>
                </a:ext>
              </a:extLst>
            </p:cNvPr>
            <p:cNvSpPr txBox="1"/>
            <p:nvPr/>
          </p:nvSpPr>
          <p:spPr>
            <a:xfrm>
              <a:off x="16298549" y="1774667"/>
              <a:ext cx="1875157" cy="156966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600"/>
                <a:t>Esta información se extrae de la vista </a:t>
              </a:r>
              <a:r>
                <a:rPr lang="es-MX" sz="1600" b="1"/>
                <a:t>“Historial de Requerimientos”</a:t>
              </a:r>
              <a:r>
                <a:rPr lang="es-MX" sz="1600"/>
                <a:t> al presionar el botón </a:t>
              </a:r>
              <a:r>
                <a:rPr lang="es-MX" sz="1600" b="1"/>
                <a:t>“Recibido”</a:t>
              </a:r>
              <a:r>
                <a:rPr lang="es-MX" sz="1600"/>
                <a:t>.</a:t>
              </a:r>
              <a:endParaRPr lang="es-PE" sz="1600"/>
            </a:p>
          </p:txBody>
        </p:sp>
        <p:pic>
          <p:nvPicPr>
            <p:cNvPr id="1238" name="Imagen 1237">
              <a:extLst>
                <a:ext uri="{FF2B5EF4-FFF2-40B4-BE49-F238E27FC236}">
                  <a16:creationId xmlns:a16="http://schemas.microsoft.com/office/drawing/2014/main" id="{778AB9BB-9B45-C781-CE5A-8E10666EA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431204" y="5544279"/>
              <a:ext cx="2218250" cy="3968797"/>
            </a:xfrm>
            <a:prstGeom prst="rect">
              <a:avLst/>
            </a:prstGeom>
          </p:spPr>
        </p:pic>
        <p:sp>
          <p:nvSpPr>
            <p:cNvPr id="1239" name="Rectángulo 1238">
              <a:extLst>
                <a:ext uri="{FF2B5EF4-FFF2-40B4-BE49-F238E27FC236}">
                  <a16:creationId xmlns:a16="http://schemas.microsoft.com/office/drawing/2014/main" id="{460332B8-0503-F2C4-4ED4-9A4948D65BF9}"/>
                </a:ext>
              </a:extLst>
            </p:cNvPr>
            <p:cNvSpPr/>
            <p:nvPr/>
          </p:nvSpPr>
          <p:spPr>
            <a:xfrm>
              <a:off x="14410082" y="6921500"/>
              <a:ext cx="2229873" cy="8509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241" name="Conector: angular 1240">
              <a:extLst>
                <a:ext uri="{FF2B5EF4-FFF2-40B4-BE49-F238E27FC236}">
                  <a16:creationId xmlns:a16="http://schemas.microsoft.com/office/drawing/2014/main" id="{B51A6ADB-FBCE-1DE0-48AE-FF39E0842352}"/>
                </a:ext>
              </a:extLst>
            </p:cNvPr>
            <p:cNvCxnSpPr>
              <a:cxnSpLocks/>
              <a:stCxn id="1181" idx="2"/>
            </p:cNvCxnSpPr>
            <p:nvPr/>
          </p:nvCxnSpPr>
          <p:spPr>
            <a:xfrm rot="5400000">
              <a:off x="16962373" y="3255252"/>
              <a:ext cx="184681" cy="3628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42" name="Elipse 1241">
              <a:extLst>
                <a:ext uri="{FF2B5EF4-FFF2-40B4-BE49-F238E27FC236}">
                  <a16:creationId xmlns:a16="http://schemas.microsoft.com/office/drawing/2014/main" id="{52FBBE27-9869-5F5E-683E-619A96523F97}"/>
                </a:ext>
              </a:extLst>
            </p:cNvPr>
            <p:cNvSpPr/>
            <p:nvPr/>
          </p:nvSpPr>
          <p:spPr>
            <a:xfrm>
              <a:off x="14336669" y="6829812"/>
              <a:ext cx="207475" cy="233108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6</a:t>
              </a:r>
              <a:endParaRPr lang="es-PE"/>
            </a:p>
          </p:txBody>
        </p:sp>
        <p:sp>
          <p:nvSpPr>
            <p:cNvPr id="1243" name="Elipse 1242">
              <a:extLst>
                <a:ext uri="{FF2B5EF4-FFF2-40B4-BE49-F238E27FC236}">
                  <a16:creationId xmlns:a16="http://schemas.microsoft.com/office/drawing/2014/main" id="{8A8907A5-72C3-179E-E96F-0CB4726E8ABC}"/>
                </a:ext>
              </a:extLst>
            </p:cNvPr>
            <p:cNvSpPr/>
            <p:nvPr/>
          </p:nvSpPr>
          <p:spPr>
            <a:xfrm>
              <a:off x="16227933" y="1658113"/>
              <a:ext cx="207475" cy="233108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6</a:t>
              </a:r>
              <a:endParaRPr lang="es-PE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05247E0-8A8D-E1CF-3750-2A2B44825FF1}"/>
                </a:ext>
              </a:extLst>
            </p:cNvPr>
            <p:cNvSpPr txBox="1"/>
            <p:nvPr/>
          </p:nvSpPr>
          <p:spPr>
            <a:xfrm>
              <a:off x="3563069" y="1070975"/>
              <a:ext cx="2311276" cy="10772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es-MX" sz="1600"/>
                <a:t>Al momento de seleccionar la fecha que sea la fecha de creación del requerimiento</a:t>
              </a:r>
              <a:endParaRPr lang="es-PE" sz="1600"/>
            </a:p>
          </p:txBody>
        </p: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6FFE99F3-2D36-932B-30A9-13690B5873D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16200000" flipH="1">
              <a:off x="5547115" y="1319784"/>
              <a:ext cx="699534" cy="2356351"/>
            </a:xfrm>
            <a:prstGeom prst="bentConnector3">
              <a:avLst>
                <a:gd name="adj1" fmla="val 69223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Conector: angular 54">
              <a:extLst>
                <a:ext uri="{FF2B5EF4-FFF2-40B4-BE49-F238E27FC236}">
                  <a16:creationId xmlns:a16="http://schemas.microsoft.com/office/drawing/2014/main" id="{266AC07E-DDBB-B941-BF02-8270854A50B8}"/>
                </a:ext>
              </a:extLst>
            </p:cNvPr>
            <p:cNvCxnSpPr>
              <a:stCxn id="26" idx="0"/>
              <a:endCxn id="24" idx="1"/>
            </p:cNvCxnSpPr>
            <p:nvPr/>
          </p:nvCxnSpPr>
          <p:spPr>
            <a:xfrm rot="5400000" flipH="1" flipV="1">
              <a:off x="14829212" y="3467462"/>
              <a:ext cx="514736" cy="3534585"/>
            </a:xfrm>
            <a:prstGeom prst="bentConnector3">
              <a:avLst>
                <a:gd name="adj1" fmla="val 20074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Conector: angular 48">
              <a:extLst>
                <a:ext uri="{FF2B5EF4-FFF2-40B4-BE49-F238E27FC236}">
                  <a16:creationId xmlns:a16="http://schemas.microsoft.com/office/drawing/2014/main" id="{8D3E9B6C-003B-9A91-FC4D-3FB75F2CCBCD}"/>
                </a:ext>
              </a:extLst>
            </p:cNvPr>
            <p:cNvCxnSpPr>
              <a:stCxn id="26" idx="0"/>
              <a:endCxn id="27" idx="1"/>
            </p:cNvCxnSpPr>
            <p:nvPr/>
          </p:nvCxnSpPr>
          <p:spPr>
            <a:xfrm rot="16200000" flipV="1">
              <a:off x="11736952" y="3909785"/>
              <a:ext cx="299850" cy="2864823"/>
            </a:xfrm>
            <a:prstGeom prst="bentConnector3">
              <a:avLst>
                <a:gd name="adj1" fmla="val 30908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31" name="Rectángulo: esquinas redondeadas 1030">
            <a:extLst>
              <a:ext uri="{FF2B5EF4-FFF2-40B4-BE49-F238E27FC236}">
                <a16:creationId xmlns:a16="http://schemas.microsoft.com/office/drawing/2014/main" id="{87F84432-D028-BED1-BC75-D9D0F0966970}"/>
              </a:ext>
            </a:extLst>
          </p:cNvPr>
          <p:cNvSpPr/>
          <p:nvPr/>
        </p:nvSpPr>
        <p:spPr>
          <a:xfrm>
            <a:off x="8640922" y="3055965"/>
            <a:ext cx="1531778" cy="284879"/>
          </a:xfrm>
          <a:prstGeom prst="roundRect">
            <a:avLst/>
          </a:prstGeom>
          <a:solidFill>
            <a:srgbClr val="FFFFFF"/>
          </a:solidFill>
          <a:ln>
            <a:solidFill>
              <a:srgbClr val="D9DE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32" name="CuadroTexto 1031">
            <a:extLst>
              <a:ext uri="{FF2B5EF4-FFF2-40B4-BE49-F238E27FC236}">
                <a16:creationId xmlns:a16="http://schemas.microsoft.com/office/drawing/2014/main" id="{439C5F47-829B-9E91-C658-590192F7495A}"/>
              </a:ext>
            </a:extLst>
          </p:cNvPr>
          <p:cNvSpPr txBox="1"/>
          <p:nvPr/>
        </p:nvSpPr>
        <p:spPr>
          <a:xfrm>
            <a:off x="8584197" y="2792266"/>
            <a:ext cx="9298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798EB3"/>
                </a:solidFill>
              </a:rPr>
              <a:t>Fundo</a:t>
            </a:r>
            <a:endParaRPr lang="es-PE" sz="1400">
              <a:solidFill>
                <a:srgbClr val="798EB3"/>
              </a:solidFill>
            </a:endParaRPr>
          </a:p>
        </p:txBody>
      </p:sp>
      <p:sp>
        <p:nvSpPr>
          <p:cNvPr id="1034" name="CuadroTexto 1033">
            <a:extLst>
              <a:ext uri="{FF2B5EF4-FFF2-40B4-BE49-F238E27FC236}">
                <a16:creationId xmlns:a16="http://schemas.microsoft.com/office/drawing/2014/main" id="{A7B83FE1-4357-8290-6F92-BF463388E2E1}"/>
              </a:ext>
            </a:extLst>
          </p:cNvPr>
          <p:cNvSpPr txBox="1"/>
          <p:nvPr/>
        </p:nvSpPr>
        <p:spPr>
          <a:xfrm>
            <a:off x="8640923" y="3075759"/>
            <a:ext cx="1182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/>
              <a:t>LOS LAURELES</a:t>
            </a:r>
            <a:endParaRPr lang="es-PE" sz="1050"/>
          </a:p>
        </p:txBody>
      </p:sp>
      <p:sp>
        <p:nvSpPr>
          <p:cNvPr id="1040" name="CuadroTexto 1039">
            <a:extLst>
              <a:ext uri="{FF2B5EF4-FFF2-40B4-BE49-F238E27FC236}">
                <a16:creationId xmlns:a16="http://schemas.microsoft.com/office/drawing/2014/main" id="{CD287920-E06D-370E-A47D-8E873103F8EC}"/>
              </a:ext>
            </a:extLst>
          </p:cNvPr>
          <p:cNvSpPr txBox="1"/>
          <p:nvPr/>
        </p:nvSpPr>
        <p:spPr>
          <a:xfrm>
            <a:off x="7664171" y="1205317"/>
            <a:ext cx="1849912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/>
              <a:t>Tener filtro por fundo y lote</a:t>
            </a:r>
            <a:endParaRPr lang="es-PE" sz="1600"/>
          </a:p>
        </p:txBody>
      </p:sp>
      <p:cxnSp>
        <p:nvCxnSpPr>
          <p:cNvPr id="1043" name="Conector: angular 1042">
            <a:extLst>
              <a:ext uri="{FF2B5EF4-FFF2-40B4-BE49-F238E27FC236}">
                <a16:creationId xmlns:a16="http://schemas.microsoft.com/office/drawing/2014/main" id="{87316761-5EE7-2F43-896C-36E89A220A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85621" y="1914676"/>
            <a:ext cx="1048343" cy="8511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51" name="Imagen 1050">
            <a:extLst>
              <a:ext uri="{FF2B5EF4-FFF2-40B4-BE49-F238E27FC236}">
                <a16:creationId xmlns:a16="http://schemas.microsoft.com/office/drawing/2014/main" id="{A2F1F303-500E-7681-2585-11A97191F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8119" y="2864443"/>
            <a:ext cx="5201937" cy="472926"/>
          </a:xfrm>
          <a:prstGeom prst="rect">
            <a:avLst/>
          </a:prstGeom>
        </p:spPr>
      </p:pic>
      <p:sp>
        <p:nvSpPr>
          <p:cNvPr id="1046" name="Rectángulo 1045">
            <a:extLst>
              <a:ext uri="{FF2B5EF4-FFF2-40B4-BE49-F238E27FC236}">
                <a16:creationId xmlns:a16="http://schemas.microsoft.com/office/drawing/2014/main" id="{5C0F177F-A1DB-46D3-39B1-CBCEE1E6BF60}"/>
              </a:ext>
            </a:extLst>
          </p:cNvPr>
          <p:cNvSpPr/>
          <p:nvPr/>
        </p:nvSpPr>
        <p:spPr>
          <a:xfrm>
            <a:off x="5423898" y="2866778"/>
            <a:ext cx="2444531" cy="496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47" name="Rectángulo 1046">
            <a:extLst>
              <a:ext uri="{FF2B5EF4-FFF2-40B4-BE49-F238E27FC236}">
                <a16:creationId xmlns:a16="http://schemas.microsoft.com/office/drawing/2014/main" id="{FAD5A511-2A06-B92E-E578-5E3E31A67A0B}"/>
              </a:ext>
            </a:extLst>
          </p:cNvPr>
          <p:cNvSpPr/>
          <p:nvPr/>
        </p:nvSpPr>
        <p:spPr>
          <a:xfrm>
            <a:off x="7868428" y="2864443"/>
            <a:ext cx="2771628" cy="496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D1B957C-C43A-A9E0-31FC-FE98E755C1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0629" y="3588236"/>
            <a:ext cx="15617371" cy="1367778"/>
          </a:xfrm>
          <a:prstGeom prst="rect">
            <a:avLst/>
          </a:prstGeom>
          <a:ln w="38100" cap="sq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DBDF706-3A4B-39F2-EEAC-01299DDE4A66}"/>
              </a:ext>
            </a:extLst>
          </p:cNvPr>
          <p:cNvSpPr/>
          <p:nvPr/>
        </p:nvSpPr>
        <p:spPr>
          <a:xfrm>
            <a:off x="8991600" y="3458152"/>
            <a:ext cx="2879047" cy="162108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924507A-B658-84B6-88A8-2CDDF25E1CC9}"/>
              </a:ext>
            </a:extLst>
          </p:cNvPr>
          <p:cNvSpPr/>
          <p:nvPr/>
        </p:nvSpPr>
        <p:spPr>
          <a:xfrm>
            <a:off x="13694009" y="3512682"/>
            <a:ext cx="1022116" cy="1511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767379-F55F-B185-C219-26117B3A234D}"/>
              </a:ext>
            </a:extLst>
          </p:cNvPr>
          <p:cNvSpPr/>
          <p:nvPr/>
        </p:nvSpPr>
        <p:spPr>
          <a:xfrm>
            <a:off x="16372714" y="3548059"/>
            <a:ext cx="1001167" cy="147595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B3D8340-A444-9378-8CC8-AA7ADB1D9414}"/>
              </a:ext>
            </a:extLst>
          </p:cNvPr>
          <p:cNvSpPr/>
          <p:nvPr/>
        </p:nvSpPr>
        <p:spPr>
          <a:xfrm>
            <a:off x="17913414" y="4559479"/>
            <a:ext cx="335952" cy="34070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1175CCC3-849F-BD69-1862-C56F81D4FDF3}"/>
              </a:ext>
            </a:extLst>
          </p:cNvPr>
          <p:cNvCxnSpPr>
            <a:cxnSpLocks/>
            <a:endCxn id="28" idx="2"/>
          </p:cNvCxnSpPr>
          <p:nvPr/>
        </p:nvCxnSpPr>
        <p:spPr>
          <a:xfrm rot="5400000" flipH="1" flipV="1">
            <a:off x="17502474" y="4999997"/>
            <a:ext cx="678728" cy="4791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97617349-0FA2-829B-1C80-87597A246AAF}"/>
              </a:ext>
            </a:extLst>
          </p:cNvPr>
          <p:cNvCxnSpPr>
            <a:stCxn id="1037" idx="2"/>
            <a:endCxn id="1036" idx="1"/>
          </p:cNvCxnSpPr>
          <p:nvPr/>
        </p:nvCxnSpPr>
        <p:spPr>
          <a:xfrm rot="16200000" flipH="1">
            <a:off x="15102246" y="2976264"/>
            <a:ext cx="595897" cy="229804"/>
          </a:xfrm>
          <a:prstGeom prst="bentConnector3">
            <a:avLst>
              <a:gd name="adj1" fmla="val 468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149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0CAE-AA24-ECD9-3659-7DCA6453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298C58-3884-701F-B80C-435E1D91EEB3}"/>
              </a:ext>
            </a:extLst>
          </p:cNvPr>
          <p:cNvSpPr txBox="1"/>
          <p:nvPr/>
        </p:nvSpPr>
        <p:spPr>
          <a:xfrm>
            <a:off x="5844540" y="585298"/>
            <a:ext cx="6598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/>
              <a:t>TABLAS DE MANTENIMIENTO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5E6C94-4882-23B5-8702-C490DBC26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377" y="1331053"/>
            <a:ext cx="1548190" cy="24660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C73821-AC2E-6E45-BFAC-485FB613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0832" y="1350609"/>
            <a:ext cx="1565434" cy="1721977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5597FDC-6DF4-C769-7136-6E77FBB57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2491" y="2793709"/>
            <a:ext cx="1489050" cy="1695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170929-E6CE-36B3-EE5F-98EE7138E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9798" y="1343542"/>
            <a:ext cx="1565434" cy="134801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FE8EC54-AC5F-FDDD-D3DD-C28E3F175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8" y="1343541"/>
            <a:ext cx="2425338" cy="588487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7D87E7-3F83-2856-190A-D0F20F342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69" y="1343541"/>
            <a:ext cx="1993903" cy="223046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AF91D16-C46D-91D3-FE8B-BA09B24F3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7982" y="1343542"/>
            <a:ext cx="2588623" cy="528585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C7B36BE-EA03-4C24-6A73-F1EF8E77A2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166" y="3684155"/>
            <a:ext cx="2086929" cy="242049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78D586E-F557-6EFB-1330-54187F330E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7178" y="1343542"/>
            <a:ext cx="2178464" cy="584340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49F1CCE-E004-8DB3-A737-7C07EEFC2E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3840" y="1350609"/>
            <a:ext cx="2391109" cy="70875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EC2613C-B716-D358-9012-8911AAB692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11897" y="3104624"/>
            <a:ext cx="2062039" cy="13849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F940476-67EE-6326-88D8-143B4A983B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20096" y="3846272"/>
            <a:ext cx="1582722" cy="6433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FE6C77-010C-BE11-49F8-1E7E88FAF4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20832" y="4530990"/>
            <a:ext cx="1614797" cy="12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3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432538D-7DB7-4D9A-692F-145297B22CE0}"/>
              </a:ext>
            </a:extLst>
          </p:cNvPr>
          <p:cNvGrpSpPr/>
          <p:nvPr/>
        </p:nvGrpSpPr>
        <p:grpSpPr>
          <a:xfrm>
            <a:off x="837129" y="268801"/>
            <a:ext cx="6663764" cy="841311"/>
            <a:chOff x="759854" y="215728"/>
            <a:chExt cx="6663764" cy="841311"/>
          </a:xfrm>
        </p:grpSpPr>
        <p:sp>
          <p:nvSpPr>
            <p:cNvPr id="4" name="Flecha: pentágono 3">
              <a:extLst>
                <a:ext uri="{FF2B5EF4-FFF2-40B4-BE49-F238E27FC236}">
                  <a16:creationId xmlns:a16="http://schemas.microsoft.com/office/drawing/2014/main" id="{A57D0EDF-5420-8EFB-961C-833CBD3CB773}"/>
                </a:ext>
              </a:extLst>
            </p:cNvPr>
            <p:cNvSpPr/>
            <p:nvPr/>
          </p:nvSpPr>
          <p:spPr>
            <a:xfrm>
              <a:off x="759854" y="215728"/>
              <a:ext cx="6663764" cy="841311"/>
            </a:xfrm>
            <a:prstGeom prst="homePlate">
              <a:avLst/>
            </a:prstGeom>
            <a:ln w="57150">
              <a:solidFill>
                <a:srgbClr val="D3D3D7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288B3212-3D94-461E-1D2D-C06E277EA833}"/>
                </a:ext>
              </a:extLst>
            </p:cNvPr>
            <p:cNvSpPr txBox="1"/>
            <p:nvPr/>
          </p:nvSpPr>
          <p:spPr>
            <a:xfrm>
              <a:off x="1179378" y="370996"/>
              <a:ext cx="59780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200" b="1">
                  <a:solidFill>
                    <a:schemeClr val="bg1"/>
                  </a:solidFill>
                </a:rPr>
                <a:t>VISTA DEL ADMINISTRADOR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2CF490D-E7EC-143F-9A02-635537E925BF}"/>
              </a:ext>
            </a:extLst>
          </p:cNvPr>
          <p:cNvGrpSpPr/>
          <p:nvPr/>
        </p:nvGrpSpPr>
        <p:grpSpPr>
          <a:xfrm>
            <a:off x="1769961" y="2027154"/>
            <a:ext cx="16189185" cy="5892212"/>
            <a:chOff x="1769961" y="2027154"/>
            <a:chExt cx="16189185" cy="5892212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092B41D-7E29-1F57-9F64-556E2D433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8154" y="2027154"/>
              <a:ext cx="13070992" cy="5892212"/>
            </a:xfrm>
            <a:prstGeom prst="rect">
              <a:avLst/>
            </a:prstGeom>
          </p:spPr>
        </p:pic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43C42C4-7C2B-FB79-86A2-D6C0F8E7035C}"/>
                </a:ext>
              </a:extLst>
            </p:cNvPr>
            <p:cNvSpPr/>
            <p:nvPr/>
          </p:nvSpPr>
          <p:spPr>
            <a:xfrm>
              <a:off x="16679474" y="2047136"/>
              <a:ext cx="1086678" cy="368777"/>
            </a:xfrm>
            <a:prstGeom prst="rect">
              <a:avLst/>
            </a:prstGeom>
            <a:solidFill>
              <a:srgbClr val="3C4651"/>
            </a:solidFill>
            <a:ln>
              <a:solidFill>
                <a:srgbClr val="3C46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s-MX">
                  <a:latin typeface="Calibri" panose="020F0502020204030204" pitchFamily="34" charset="0"/>
                  <a:cs typeface="Calibri" panose="020F0502020204030204" pitchFamily="34" charset="0"/>
                </a:rPr>
                <a:t>Admin</a:t>
              </a:r>
              <a:endParaRPr lang="es-PE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9" name="Imagen 8" descr="Una fruta redonda&#10;&#10;Descripción generada automáticamente con confianza media">
              <a:extLst>
                <a:ext uri="{FF2B5EF4-FFF2-40B4-BE49-F238E27FC236}">
                  <a16:creationId xmlns:a16="http://schemas.microsoft.com/office/drawing/2014/main" id="{CA1D1206-5931-70DF-1263-1A6560170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79474" y="2064840"/>
              <a:ext cx="269979" cy="306866"/>
            </a:xfrm>
            <a:prstGeom prst="flowChartConnector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383D75D-AB29-A9F9-864A-8DD0ECB5DACC}"/>
                </a:ext>
              </a:extLst>
            </p:cNvPr>
            <p:cNvSpPr/>
            <p:nvPr/>
          </p:nvSpPr>
          <p:spPr>
            <a:xfrm>
              <a:off x="7234742" y="5406887"/>
              <a:ext cx="10390649" cy="168302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2257D0DB-3499-00CB-488C-612527364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4742" y="3745903"/>
              <a:ext cx="10390649" cy="2277949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BC82E70-98E8-B221-D1AF-BBE7F6990EDE}"/>
                </a:ext>
              </a:extLst>
            </p:cNvPr>
            <p:cNvSpPr txBox="1"/>
            <p:nvPr/>
          </p:nvSpPr>
          <p:spPr>
            <a:xfrm>
              <a:off x="1769961" y="5143500"/>
              <a:ext cx="2665738" cy="258532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/>
                <a:t>El administrador debe tener privilegios sobre la vista </a:t>
              </a:r>
              <a:r>
                <a:rPr lang="es-MX" b="1"/>
                <a:t>"Configuración",</a:t>
              </a:r>
              <a:r>
                <a:rPr lang="es-MX"/>
                <a:t> donde podrá crear usuarios tanto para el aplicativo móvil como para la vista "IN HOUSE", y asignarles los permisos según sea necesario.</a:t>
              </a:r>
              <a:endParaRPr lang="es-PE"/>
            </a:p>
          </p:txBody>
        </p:sp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3F5F8F48-B44B-82E2-42AA-2AD5B7938015}"/>
                </a:ext>
              </a:extLst>
            </p:cNvPr>
            <p:cNvSpPr/>
            <p:nvPr/>
          </p:nvSpPr>
          <p:spPr>
            <a:xfrm>
              <a:off x="5080000" y="3886200"/>
              <a:ext cx="1625600" cy="3429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0" name="Conector: angular 9">
              <a:extLst>
                <a:ext uri="{FF2B5EF4-FFF2-40B4-BE49-F238E27FC236}">
                  <a16:creationId xmlns:a16="http://schemas.microsoft.com/office/drawing/2014/main" id="{FCB13A0A-EC58-1133-45BA-F397FFF0DA0A}"/>
                </a:ext>
              </a:extLst>
            </p:cNvPr>
            <p:cNvCxnSpPr>
              <a:cxnSpLocks/>
              <a:stCxn id="13" idx="3"/>
              <a:endCxn id="2" idx="2"/>
            </p:cNvCxnSpPr>
            <p:nvPr/>
          </p:nvCxnSpPr>
          <p:spPr>
            <a:xfrm flipV="1">
              <a:off x="4435699" y="4229100"/>
              <a:ext cx="1457101" cy="220706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29407B9-29F6-C3D7-7052-202D15085489}"/>
                </a:ext>
              </a:extLst>
            </p:cNvPr>
            <p:cNvSpPr/>
            <p:nvPr/>
          </p:nvSpPr>
          <p:spPr>
            <a:xfrm>
              <a:off x="7234741" y="3745902"/>
              <a:ext cx="10390649" cy="227794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5" name="Conector: angular 14">
              <a:extLst>
                <a:ext uri="{FF2B5EF4-FFF2-40B4-BE49-F238E27FC236}">
                  <a16:creationId xmlns:a16="http://schemas.microsoft.com/office/drawing/2014/main" id="{C1436F31-A295-0D70-EB79-231B416C2914}"/>
                </a:ext>
              </a:extLst>
            </p:cNvPr>
            <p:cNvCxnSpPr>
              <a:cxnSpLocks/>
              <a:stCxn id="13" idx="3"/>
              <a:endCxn id="6" idx="1"/>
            </p:cNvCxnSpPr>
            <p:nvPr/>
          </p:nvCxnSpPr>
          <p:spPr>
            <a:xfrm flipV="1">
              <a:off x="4435699" y="4884877"/>
              <a:ext cx="2799042" cy="1551285"/>
            </a:xfrm>
            <a:prstGeom prst="bentConnector3">
              <a:avLst>
                <a:gd name="adj1" fmla="val 51815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933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2748B6-2806-43EE-99D1-3ECCB49DD127}"/>
              </a:ext>
            </a:extLst>
          </p:cNvPr>
          <p:cNvSpPr txBox="1"/>
          <p:nvPr/>
        </p:nvSpPr>
        <p:spPr>
          <a:xfrm>
            <a:off x="1905000" y="4914900"/>
            <a:ext cx="10090884" cy="912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8800" spc="61">
                <a:solidFill>
                  <a:schemeClr val="bg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47229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f7de6e-bdef-4e7a-b6bc-df125b3cc854">
      <Terms xmlns="http://schemas.microsoft.com/office/infopath/2007/PartnerControls"/>
    </lcf76f155ced4ddcb4097134ff3c332f>
    <TaxCatchAll xmlns="92f1baa7-5e33-4db7-bbea-146f6332166d" xsi:nil="true"/>
    <Estado xmlns="12f7de6e-bdef-4e7a-b6bc-df125b3cc8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76B0048288934EAC834BDDA95F5471" ma:contentTypeVersion="18" ma:contentTypeDescription="Crear nuevo documento." ma:contentTypeScope="" ma:versionID="d4644d7fac3c0d7dfa50d6634fe4c07d">
  <xsd:schema xmlns:xsd="http://www.w3.org/2001/XMLSchema" xmlns:xs="http://www.w3.org/2001/XMLSchema" xmlns:p="http://schemas.microsoft.com/office/2006/metadata/properties" xmlns:ns2="12f7de6e-bdef-4e7a-b6bc-df125b3cc854" xmlns:ns3="92f1baa7-5e33-4db7-bbea-146f6332166d" targetNamespace="http://schemas.microsoft.com/office/2006/metadata/properties" ma:root="true" ma:fieldsID="4592f8ff85c86fd95a60861d1f1abc12" ns2:_="" ns3:_="">
    <xsd:import namespace="12f7de6e-bdef-4e7a-b6bc-df125b3cc854"/>
    <xsd:import namespace="92f1baa7-5e33-4db7-bbea-146f633216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Estado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7de6e-bdef-4e7a-b6bc-df125b3cc8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26e05b81-5f5b-4446-be1e-2fcad1503e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Estado" ma:index="23" nillable="true" ma:displayName="Estado" ma:format="Dropdown" ma:internalName="Estado">
      <xsd:simpleType>
        <xsd:restriction base="dms:Choice">
          <xsd:enumeration value="Pendiente"/>
          <xsd:enumeration value="En proceso"/>
          <xsd:enumeration value="Revisado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f1baa7-5e33-4db7-bbea-146f6332166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bc27a6-d2d7-4e97-be60-baad0eca3bd8}" ma:internalName="TaxCatchAll" ma:showField="CatchAllData" ma:web="92f1baa7-5e33-4db7-bbea-146f633216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447F5B-1B79-4BB6-B071-D23F173D0A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FEAFDF-6B90-46FB-A90C-14FF7AE342D2}">
  <ds:schemaRefs>
    <ds:schemaRef ds:uri="http://schemas.openxmlformats.org/package/2006/metadata/core-properties"/>
    <ds:schemaRef ds:uri="http://purl.org/dc/terms/"/>
    <ds:schemaRef ds:uri="12f7de6e-bdef-4e7a-b6bc-df125b3cc854"/>
    <ds:schemaRef ds:uri="http://purl.org/dc/elements/1.1/"/>
    <ds:schemaRef ds:uri="http://schemas.microsoft.com/office/infopath/2007/PartnerControls"/>
    <ds:schemaRef ds:uri="92f1baa7-5e33-4db7-bbea-146f6332166d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6708921-1C51-4119-9D7D-703C0055F2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f7de6e-bdef-4e7a-b6bc-df125b3cc854"/>
    <ds:schemaRef ds:uri="92f1baa7-5e33-4db7-bbea-146f63321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4e05ea3-3981-4a7b-9be2-17535cf34b8f}" enabled="0" method="" siteId="{04e05ea3-3981-4a7b-9be2-17535cf34b8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4848</TotalTime>
  <Words>2557</Words>
  <Application>Microsoft Office PowerPoint</Application>
  <PresentationFormat>Personalizado</PresentationFormat>
  <Paragraphs>465</Paragraphs>
  <Slides>18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Wingdings</vt:lpstr>
      <vt:lpstr>Poppins</vt:lpstr>
      <vt:lpstr>Courier New</vt:lpstr>
      <vt:lpstr>Calibri</vt:lpstr>
      <vt:lpstr>Aptos</vt:lpstr>
      <vt:lpstr>Abadi Extra Light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  proceso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PPT - VGI 2024-v2.pptx</dc:title>
  <dc:creator>Andrea Mansilla</dc:creator>
  <cp:lastModifiedBy>José Anyarin</cp:lastModifiedBy>
  <cp:revision>20</cp:revision>
  <dcterms:created xsi:type="dcterms:W3CDTF">2006-08-16T00:00:00Z</dcterms:created>
  <dcterms:modified xsi:type="dcterms:W3CDTF">2026-05-22T16:52:59Z</dcterms:modified>
  <dc:identifier>DAGBkj2nUgY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0x0101008B76B0048288934EAC834BDDA95F5471</vt:lpwstr>
  </property>
  <property fmtid="{D5CDD505-2E9C-101B-9397-08002B2CF9AE}" pid="3" name="MediaServiceImageTags">
    <vt:lpwstr/>
  </property>
</Properties>
</file>